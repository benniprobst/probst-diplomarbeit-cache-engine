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PRT-ART Termin 8 — Sprint V12-V31 Stand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Benjamin Probst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PRT-ART Diplomarbeit — Termin 8</a:t>
            </a:r>
          </a:p>
          <a:p>
            <a:pPr lvl="0" indent="0" marL="0">
              <a:buNone/>
            </a:pPr>
            <a:r>
              <a:rPr/>
              <a:t>Sprint-Block V12-V31 (20 Sprints seit Termin 7)</a:t>
            </a:r>
          </a:p>
          <a:p>
            <a:pPr lvl="0" indent="0" marL="0">
              <a:buNone/>
            </a:pPr>
            <a:r>
              <a:rPr/>
              <a:t>Stand 2026-05-15 · Benjamin Probst · TU Dresden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Wo wir stehen (Repo-Stand + Pin-Kette)</a:t>
            </a:r>
          </a:p>
          <a:p>
            <a:pPr lvl="0" indent="-342900" marL="342900">
              <a:buAutoNum type="arabicPeriod"/>
            </a:pPr>
            <a:r>
              <a:rPr/>
              <a:t>Sprint-Block V12-V18 — std-API + Manuskript + Codegen-Templates</a:t>
            </a:r>
          </a:p>
          <a:p>
            <a:pPr lvl="0" indent="-342900" marL="342900">
              <a:buAutoNum type="arabicPeriod"/>
            </a:pPr>
            <a:r>
              <a:rPr/>
              <a:t>Sprint-Block V19-V22 — Profile-Stack + Mess-Pipeline E2E</a:t>
            </a:r>
          </a:p>
          <a:p>
            <a:pPr lvl="0" indent="-342900" marL="342900">
              <a:buAutoNum type="arabicPeriod"/>
            </a:pPr>
            <a:r>
              <a:rPr/>
              <a:t>Sprint-Block V23-V24 — cache-engine Layout-Refactoring</a:t>
            </a:r>
          </a:p>
          <a:p>
            <a:pPr lvl="0" indent="-342900" marL="342900">
              <a:buAutoNum type="arabicPeriod"/>
            </a:pPr>
            <a:r>
              <a:rPr/>
              <a:t>Sprint-Block V25-V29 — Profile-Erweiterung + Allokator-Override</a:t>
            </a:r>
          </a:p>
          <a:p>
            <a:pPr lvl="0" indent="-342900" marL="342900">
              <a:buAutoNum type="arabicPeriod"/>
            </a:pPr>
            <a:r>
              <a:rPr/>
              <a:t>Sprint V30 — libs/-Migration vollstaendig</a:t>
            </a:r>
          </a:p>
          <a:p>
            <a:pPr lvl="0" indent="-342900" marL="342900">
              <a:buAutoNum type="arabicPeriod"/>
            </a:pPr>
            <a:r>
              <a:rPr/>
              <a:t>Sprint V31 — 22 Adapter + P27 hp-soft-Integration</a:t>
            </a:r>
          </a:p>
          <a:p>
            <a:pPr lvl="0" indent="-342900" marL="342900">
              <a:buAutoNum type="arabicPeriod"/>
            </a:pPr>
            <a:r>
              <a:rPr/>
              <a:t>Architekt-Direktive II (User 2026-05-14)</a:t>
            </a:r>
          </a:p>
          <a:p>
            <a:pPr lvl="0" indent="-342900" marL="342900">
              <a:buAutoNum type="arabicPeriod"/>
            </a:pPr>
            <a:r>
              <a:rPr/>
              <a:t>Diskussionspunkte</a:t>
            </a:r>
          </a:p>
          <a:p>
            <a:pPr lvl="0" indent="-342900" marL="342900">
              <a:buAutoNum type="arabicPeriod"/>
            </a:pPr>
            <a:r>
              <a:rPr/>
              <a:t>Naechster Termin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Drei-Repo-Stand (Bestaetigung)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Push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comdare-cache-engine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WIE + Werkzeuge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16176ee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comdare-prt-art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Pruefling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1a36ab4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Diplomarbeit/Code/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 + Auswertung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75e92d8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Pin-Kette gespiegelt durch Diplomarbeit/Code/external/-Submodules</a:t>
            </a:r>
          </a:p>
          <a:p>
            <a:pPr lvl="0"/>
            <a:r>
              <a:rPr/>
              <a:t>~180 Tests gruen ueber alle 3 Repos</a:t>
            </a:r>
          </a:p>
          <a:p>
            <a:pPr lvl="0"/>
            <a:r>
              <a:rPr/>
              <a:t>thesis/main.pdf 24 Seiten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Sprint V12-V18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std-API + Manuskript + Codegen-Templates</a:t>
            </a:r>
          </a:p>
          <a:p>
            <a:pPr lvl="0"/>
            <a:r>
              <a:rPr/>
              <a:t>V12: Vector-API +5 / Map-API +8 / Container-Vertraege / Naming-Audit</a:t>
            </a:r>
          </a:p>
          <a:p>
            <a:pPr lvl="0"/>
            <a:r>
              <a:rPr/>
              <a:t>V13: runtime_codegen + functional_tests + CMake Stage-1/2 + thesis/-Skelett (9 Kapitel)</a:t>
            </a:r>
          </a:p>
          <a:p>
            <a:pPr lvl="0"/>
            <a:r>
              <a:rPr/>
              <a:t>V14: 76 neue Tests + CI Test-Discovery-Workaround + Manuskript Kapitel 02-04</a:t>
            </a:r>
          </a:p>
          <a:p>
            <a:pPr lvl="0"/>
            <a:r>
              <a:rPr/>
              <a:t>V15: Manuskript Kapitel 01+05+06+07</a:t>
            </a:r>
          </a:p>
          <a:p>
            <a:pPr lvl="0"/>
            <a:r>
              <a:rPr/>
              <a:t>V16: Build-Verifikation + ART (P01) Module-Body Vorlage</a:t>
            </a:r>
          </a:p>
          <a:p>
            <a:pPr lvl="0"/>
            <a:r>
              <a:rPr/>
              <a:t>V17: 7 Tier-1 SOTA-Module-Body-Templates</a:t>
            </a:r>
          </a:p>
          <a:p>
            <a:pPr lvl="0"/>
            <a:r>
              <a:rPr/>
              <a:t>V18: Codegen Multi-Template-Path (cache-engine + prt-art)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Sprint V19-V22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Profile-Stack + Mess-Pipeline E2E</a:t>
            </a:r>
          </a:p>
          <a:p>
            <a:pPr lvl="0"/>
            <a:r>
              <a:rPr/>
              <a:t>V19: </a:t>
            </a:r>
            <a:r>
              <a:rPr>
                <a:latin typeface="Courier"/>
              </a:rPr>
              <a:t>&lt;expected_workload&gt;</a:t>
            </a:r>
            <a:r>
              <a:rPr/>
              <a:t>-Tag in algorithm_profiles XML-Schema</a:t>
            </a:r>
          </a:p>
          <a:p>
            <a:pPr lvl="0"/>
            <a:r>
              <a:rPr/>
              <a:t>V20: PermutationResult.workload_used Field + ResultAggregator CSV/JSON</a:t>
            </a:r>
          </a:p>
          <a:p>
            <a:pPr lvl="0"/>
            <a:r>
              <a:rPr/>
              <a:t>V21: Sample-Mess-Daten + thesis chapter 06 Sample-Diagramm</a:t>
            </a:r>
          </a:p>
          <a:p>
            <a:pPr lvl="0"/>
            <a:r>
              <a:rPr/>
              <a:t>V22: diagram_generator plot_by_workload + End-to-End Sample-Pipeline-Test</a:t>
            </a:r>
          </a:p>
          <a:p>
            <a:pPr lvl="0" indent="0" marL="0">
              <a:buNone/>
            </a:pPr>
            <a:r>
              <a:rPr b="1"/>
              <a:t>Ergebnis:</a:t>
            </a:r>
            <a:r>
              <a:rPr/>
              <a:t> Mess-Pipeline E2E-faehig OHNE reale Hardware (Sample-Daten).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Sprint V23-V24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cache-engine Layout-Refactoring (Pitchfork Layout)</a:t>
            </a:r>
          </a:p>
          <a:p>
            <a:pPr lvl="0"/>
            <a:r>
              <a:rPr/>
              <a:t>V23.A Cleanup (build-Dirs, .gitignore, CMakePresets)</a:t>
            </a:r>
          </a:p>
          <a:p>
            <a:pPr lvl="0"/>
            <a:r>
              <a:rPr/>
              <a:t>V23.B </a:t>
            </a:r>
            <a:r>
              <a:rPr>
                <a:latin typeface="Courier"/>
              </a:rPr>
              <a:t>apps/cache_engine_builder/</a:t>
            </a:r>
            <a:r>
              <a:rPr/>
              <a:t> extrahieren</a:t>
            </a:r>
          </a:p>
          <a:p>
            <a:pPr lvl="0"/>
            <a:r>
              <a:rPr/>
              <a:t>V23.C </a:t>
            </a:r>
            <a:r>
              <a:rPr>
                <a:latin typeface="Courier"/>
              </a:rPr>
              <a:t>libs/common/{succinct,serialization,platform,measurement}/</a:t>
            </a:r>
          </a:p>
          <a:p>
            <a:pPr lvl="0"/>
            <a:r>
              <a:rPr/>
              <a:t>V23.D </a:t>
            </a:r>
            <a:r>
              <a:rPr>
                <a:latin typeface="Courier"/>
              </a:rPr>
              <a:t>libs/domain/</a:t>
            </a:r>
            <a:r>
              <a:rPr/>
              <a:t> — DEFERRED → V30</a:t>
            </a:r>
          </a:p>
          <a:p>
            <a:pPr lvl="0"/>
            <a:r>
              <a:rPr/>
              <a:t>V23.E </a:t>
            </a:r>
            <a:r>
              <a:rPr>
                <a:latin typeface="Courier"/>
              </a:rPr>
              <a:t>libs/deprecated/prt_art_legacy/</a:t>
            </a:r>
            <a:r>
              <a:rPr/>
              <a:t> (Folly-Idiom)</a:t>
            </a:r>
          </a:p>
          <a:p>
            <a:pPr lvl="0"/>
            <a:r>
              <a:rPr/>
              <a:t>V23.F </a:t>
            </a:r>
            <a:r>
              <a:rPr>
                <a:latin typeface="Courier"/>
              </a:rPr>
              <a:t>libs/test_infra/{workload_generator,test_data,benchmark_suite}/</a:t>
            </a:r>
          </a:p>
          <a:p>
            <a:pPr lvl="0"/>
            <a:r>
              <a:rPr/>
              <a:t>V24.A-E: prt-art + Diplomarbeit Cleanup + 3 PROJECT_LAYER_MAPs Update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Sprint V25-V29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Profile-Erweiterung + Allokator-Override</a:t>
            </a:r>
          </a:p>
          <a:p>
            <a:pPr lvl="0"/>
            <a:r>
              <a:rPr b="1"/>
              <a:t>30 SOTA-Profile</a:t>
            </a:r>
            <a:r>
              <a:rPr/>
              <a:t> mit </a:t>
            </a:r>
            <a:r>
              <a:rPr>
                <a:latin typeface="Courier"/>
              </a:rPr>
              <a:t>&lt;expected_workload&gt;</a:t>
            </a:r>
            <a:r>
              <a:rPr/>
              <a:t> (V25.B)</a:t>
            </a:r>
          </a:p>
          <a:p>
            <a:pPr lvl="0"/>
            <a:r>
              <a:rPr b="1"/>
              <a:t>10 Allokator-Profile</a:t>
            </a:r>
            <a:r>
              <a:rPr/>
              <a:t> A01-A20 mit Workload-Tag (V26.A)</a:t>
            </a:r>
          </a:p>
          <a:p>
            <a:pPr lvl="0"/>
            <a:r>
              <a:rPr b="1"/>
              <a:t>21 Adapter-Skelette</a:t>
            </a:r>
            <a:r>
              <a:rPr/>
              <a:t> (V25.C 11 SOTA + V26.B 10 Allokator)</a:t>
            </a:r>
          </a:p>
          <a:p>
            <a:pPr lvl="0"/>
            <a:r>
              <a:rPr/>
              <a:t>thesis chapter 02 +SOTA/Allokator-Profile-Tabellen (V28)</a:t>
            </a:r>
          </a:p>
          <a:p>
            <a:pPr lvl="0"/>
            <a:r>
              <a:rPr/>
              <a:t>ExperimentDriver </a:t>
            </a:r>
            <a:r>
              <a:rPr>
                <a:latin typeface="Courier"/>
              </a:rPr>
              <a:t>&lt;allocator_override&gt;</a:t>
            </a:r>
            <a:r>
              <a:rPr/>
              <a:t>-Tag (V29) — z.B. “ART nutzt mimalloc statt jemalloc”</a:t>
            </a:r>
          </a:p>
          <a:p>
            <a:pPr lvl="0" indent="0" marL="0">
              <a:buNone/>
            </a:pPr>
            <a:r>
              <a:rPr b="1"/>
              <a:t>Permutationsraum:</a:t>
            </a:r>
            <a:r>
              <a:rPr/>
              <a:t> 30 × 10 × 6 = </a:t>
            </a:r>
            <a:r>
              <a:rPr b="1"/>
              <a:t>1800 deklarierte Permutationen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8 — Sprint V30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libs/-Migration vollstaendig (User-Direktive Option C+: ohne </a:t>
            </a:r>
            <a:r>
              <a:rPr b="1">
                <a:latin typeface="Courier"/>
              </a:rPr>
              <a:t>domain/</a:t>
            </a:r>
            <a:r>
              <a:rPr b="1"/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V30.D.1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experiment/</a:t>
                      </a:r>
                      <a:r>
                        <a:rPr/>
                        <a:t> → </a:t>
                      </a:r>
                      <a:r>
                        <a:rPr>
                          <a:latin typeface="Courier"/>
                        </a:rPr>
                        <a:t>libs/execution_engine/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31/31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V30.D.2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search_engine/</a:t>
                      </a:r>
                      <a:r>
                        <a:rPr/>
                        <a:t> → </a:t>
                      </a:r>
                      <a:r>
                        <a:rPr>
                          <a:latin typeface="Courier"/>
                        </a:rPr>
                        <a:t>libs/search_engine/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V30.D.3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engine_choice/</a:t>
                      </a:r>
                      <a:r>
                        <a:rPr/>
                        <a:t> → </a:t>
                      </a:r>
                      <a:r>
                        <a:rPr>
                          <a:latin typeface="Courier"/>
                        </a:rPr>
                        <a:t>libs/common/config/</a:t>
                      </a:r>
                      <a:r>
                        <a:rPr/>
                        <a:t> + ALIAS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V30.D.4+5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cache_engine/</a:t>
                      </a:r>
                      <a:r>
                        <a:rPr/>
                        <a:t> → </a:t>
                      </a:r>
                      <a:r>
                        <a:rPr>
                          <a:latin typeface="Courier"/>
                        </a:rPr>
                        <a:t>libs/cache_engine/</a:t>
                      </a:r>
                      <a:r>
                        <a:rPr/>
                        <a:t> (134 .hpp + 7 .cpp + 22 Builder-Subs)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31/31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Top-Level cache-engine:</a:t>
            </a:r>
            <a:r>
              <a:rPr/>
              <a:t> 8 → 5 Verzeichnisse (libs/, apps/, adapters/, ext/, tools/). </a:t>
            </a:r>
            <a:r>
              <a:rPr b="1"/>
              <a:t>9 hardcodierte Pfade</a:t>
            </a:r>
            <a:r>
              <a:rPr/>
              <a:t> aktualisiert.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Sprint V31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22 Adapter + P27 hp-soft + NOTICE Architekt-Direktive II</a:t>
            </a:r>
          </a:p>
          <a:p>
            <a:pPr lvl="0"/>
            <a:r>
              <a:rPr/>
              <a:t>V31-PRE: Lizenz-Audit aller 22 ext/-Repos</a:t>
            </a:r>
          </a:p>
          <a:p>
            <a:pPr lvl="0"/>
            <a:r>
              <a:rPr/>
              <a:t>V31.A: NOTICE +Architekt-Direktive II 2026-05-14</a:t>
            </a:r>
          </a:p>
          <a:p>
            <a:pPr lvl="0"/>
            <a:r>
              <a:rPr/>
              <a:t>V31.K1-K4: 12 SOTA + 10 Allokator-Adapter (Header + CMake-Flag)</a:t>
            </a:r>
          </a:p>
          <a:p>
            <a:pPr lvl="0"/>
            <a:r>
              <a:rPr/>
              <a:t>V31.K5: P27 </a:t>
            </a:r>
            <a:r>
              <a:rPr>
                <a:latin typeface="Courier"/>
              </a:rPr>
              <a:t>tools/p27_bundle_finder/</a:t>
            </a:r>
            <a:r>
              <a:rPr/>
              <a:t> (C++23-Port hp_soft.py)</a:t>
            </a:r>
          </a:p>
          <a:p>
            <a:pPr lvl="0"/>
            <a:r>
              <a:rPr/>
              <a:t>V31.K6: P27 </a:t>
            </a:r>
            <a:r>
              <a:rPr>
                <a:latin typeface="Courier"/>
              </a:rPr>
              <a:t>HierarchicalBundlePrefetcher</a:t>
            </a:r>
            <a:r>
              <a:rPr/>
              <a:t> (5 Tests gruen)</a:t>
            </a:r>
          </a:p>
          <a:p>
            <a:pPr lvl="0"/>
            <a:r>
              <a:rPr/>
              <a:t>V31.F: 23/23 V31-Adapter-Smoke-Tests gruen (incl. A04-Mimalloc Bug-Fix)</a:t>
            </a:r>
          </a:p>
          <a:p>
            <a:pPr lvl="0"/>
            <a:r>
              <a:rPr/>
              <a:t>V31.I: thesis chapter 04 +V25-V31 + Habich-Briefing-Refresh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Adapter-Pattern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BC7A00"/>
                </a:solidFill>
                <a:latin typeface="Courier"/>
              </a:rPr>
              <a:t>#if defined(COMDARE_HAVE_&lt;X&gt;)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  include </a:t>
            </a:r>
            <a:r>
              <a:rPr b="1">
                <a:solidFill>
                  <a:srgbClr val="008000"/>
                </a:solidFill>
                <a:latin typeface="Courier"/>
              </a:rPr>
              <a:t>"&lt;original&gt;.h"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#endif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namespace</a:t>
            </a:r>
            <a:r>
              <a:rPr>
                <a:latin typeface="Courier"/>
              </a:rPr>
              <a:t> comdare</a:t>
            </a:r>
            <a:r>
              <a:rPr>
                <a:solidFill>
                  <a:srgbClr val="666666"/>
                </a:solidFill>
                <a:latin typeface="Courier"/>
              </a:rPr>
              <a:t>::</a:t>
            </a:r>
            <a:r>
              <a:rPr>
                <a:latin typeface="Courier"/>
              </a:rPr>
              <a:t>adapter</a:t>
            </a:r>
            <a:r>
              <a:rPr>
                <a:solidFill>
                  <a:srgbClr val="666666"/>
                </a:solidFill>
                <a:latin typeface="Courier"/>
              </a:rPr>
              <a:t>::&lt;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XxxAdapter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r>
              <a:rPr>
                <a:latin typeface="Courier"/>
              </a:rPr>
              <a:t> insert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 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 v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#if defined(COMDARE_HAVE_&lt;X&gt;)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original_api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k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#else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throw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std::</a:t>
            </a:r>
            <a:r>
              <a:rPr>
                <a:latin typeface="Courier"/>
              </a:rPr>
              <a:t>runtime_error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"not enabled"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ODER std::malloc(size) bei Allokatoren</a:t>
            </a:r>
            <a:br/>
            <a:r>
              <a:rPr>
                <a:solidFill>
                  <a:srgbClr val="BC7A00"/>
                </a:solidFill>
                <a:latin typeface="Courier"/>
              </a:rPr>
              <a:t>#endif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Vorteile:</a:t>
            </a:r>
            <a:r>
              <a:rPr/>
              <a:t> - Build laeuft ohne ext-Repo-Aktivierung - Per </a:t>
            </a:r>
            <a:r>
              <a:rPr>
                <a:latin typeface="Courier"/>
              </a:rPr>
              <a:t>-DCOMDARE_HAVE_&lt;X&gt;=ON</a:t>
            </a:r>
            <a:r>
              <a:rPr/>
              <a:t> aktivierbar - Saubere Trennung Adapter (C++23) / Original (ext/)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11 — Architekt-Direktive II (User 2026-05-14)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“Da wir alle Algorithmus-Bestandteile zerschneiden, entsteht fuer alle Permutations-Achsen ein neues Werk. Das gilt fuer alle Lizenztypen. Repos ohne Lizenztypen haben nur ein formales copyright.”</a:t>
            </a:r>
          </a:p>
          <a:p>
            <a:pPr lvl="0" indent="0" marL="0">
              <a:buNone/>
            </a:pPr>
            <a:r>
              <a:rPr b="1"/>
              <a:t>Konsequenz: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Lizenz-Klasse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Apache-2.0 / MIT / ISC / BSD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GPL-3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P04-CoCo-trie, P07-Wormhole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freigegeben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LGPL-2.1+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P29-RCU/userspace-rcu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freigegeben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No-LICENSE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P06, P25, P30, A03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freigegeben (Zitation)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</a:t>
            </a:r>
            <a:r>
              <a:rPr>
                <a:latin typeface="Courier"/>
              </a:rPr>
              <a:t>NOTICE</a:t>
            </a:r>
            <a:r>
              <a:rPr/>
              <a:t> verankert mit Implikationen pro Klasse.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P27 hp-soft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Mail-Antwort Boris Grot/Youhui Zhang 2026-05-14: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hp-soft.zip</a:t>
            </a:r>
            <a:r>
              <a:rPr/>
              <a:t> (1981 B) mit </a:t>
            </a:r>
            <a:r>
              <a:rPr>
                <a:latin typeface="Courier"/>
              </a:rPr>
              <a:t>hp_soft.py</a:t>
            </a:r>
            <a:r>
              <a:rPr/>
              <a:t> + </a:t>
            </a:r>
            <a:r>
              <a:rPr>
                <a:latin typeface="Courier"/>
              </a:rPr>
              <a:t>readme.txt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Was es leistet:</a:t>
            </a:r>
            <a:r>
              <a:rPr/>
              <a:t> - Build-Time Call-Graph-Analyse via </a:t>
            </a:r>
            <a:r>
              <a:rPr>
                <a:latin typeface="Courier"/>
              </a:rPr>
              <a:t>objdump -d</a:t>
            </a:r>
            <a:r>
              <a:rPr/>
              <a:t> / </a:t>
            </a:r>
            <a:r>
              <a:rPr>
                <a:latin typeface="Courier"/>
              </a:rPr>
              <a:t>objdump -t</a:t>
            </a:r>
            <a:r>
              <a:rPr/>
              <a:t> - Identifiziert Funktionen mit Subtree-Footprint &gt; Threshold (240KB) - → “Potential entry points of Bundles” fuer Hierarchical-Bundle-Prefetcher</a:t>
            </a:r>
          </a:p>
          <a:p>
            <a:pPr lvl="0" indent="0" marL="0">
              <a:buNone/>
            </a:pPr>
            <a:r>
              <a:rPr b="1"/>
              <a:t>Unsere Integration:</a:t>
            </a:r>
            <a:r>
              <a:rPr/>
              <a:t> - C++23-Port als </a:t>
            </a:r>
            <a:r>
              <a:rPr>
                <a:latin typeface="Courier"/>
              </a:rPr>
              <a:t>tools/p27_bundle_finder/</a:t>
            </a:r>
            <a:r>
              <a:rPr/>
              <a:t> (Library + CLI) - Runtime: </a:t>
            </a:r>
            <a:r>
              <a:rPr>
                <a:latin typeface="Courier"/>
              </a:rPr>
              <a:t>HierarchicalBundlePrefetcher</a:t>
            </a:r>
            <a:r>
              <a:rPr/>
              <a:t> (5 Tests gruen) - User-Hinweis: “Mehr kommt nicht” → keine Folge-Mails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Test-Status (~180 Tests gruen)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981200"/>
                <a:gridCol w="22733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Anzahl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Codegen+Workload+Aggregator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V31 Adapter Smoke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Concepts (HBM, succinct, RCU)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ModuleLoader + Permutation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prt-art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PrtArtSearchEngine 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66+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prt-art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P27 BundlePrefetcher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prt-art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Adapter + ValueHandle + Memory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gruen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Diplomarbeit/Code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messung_driver + diagram_gen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konfiguriert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Diskussionspunkte (1/3)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Architekt-Direktive II OK?</a:t>
            </a:r>
            <a:r>
              <a:rPr/>
              <a:t> GPL-3 / LGPL / no-LICENSE-Adapter freigegeben. → Habich-Bestaetigung erbeten.</a:t>
            </a:r>
          </a:p>
          <a:p>
            <a:pPr lvl="0" indent="0" marL="0">
              <a:buNone/>
            </a:pPr>
            <a:r>
              <a:rPr b="1"/>
              <a:t>2. libs/-Layout ohne </a:t>
            </a:r>
            <a:r>
              <a:rPr b="1">
                <a:latin typeface="Courier"/>
              </a:rPr>
              <a:t>domain/</a:t>
            </a:r>
            <a:r>
              <a:rPr b="1"/>
              <a:t>-Zwischenebene OK?</a:t>
            </a:r>
            <a:r>
              <a:rPr/>
              <a:t> User-Direktive “Option C+”: flach </a:t>
            </a:r>
            <a:r>
              <a:rPr>
                <a:latin typeface="Courier"/>
              </a:rPr>
              <a:t>libs/&lt;modul&gt;/</a:t>
            </a:r>
            <a:r>
              <a:rPr/>
              <a:t>. → Habich-Sichtweise?</a:t>
            </a:r>
          </a:p>
          <a:p>
            <a:pPr lvl="0" indent="0" marL="0">
              <a:buNone/>
            </a:pPr>
            <a:r>
              <a:rPr b="1"/>
              <a:t>3. P27 hp_soft Sammelsurium akzeptabel?</a:t>
            </a:r>
            <a:r>
              <a:rPr/>
              <a:t> Build-Time-Tool da, Runtime ist Skelett. → Was fehlt fuer wissenschaftliche Akzeptanz?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Diskussionspunkte (2/3)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4. HW-E2E Mess-Reihe — konkretes Setup?</a:t>
            </a:r>
            <a:r>
              <a:rPr/>
              <a:t> - i7-1270P lokal (Cache + DRAM, kein NUMA) - ZIH Barnard (CPU, NUMA) - ZIH Capella (GPU NVIDIA A100) - HBM-Hardware (welche genau?)</a:t>
            </a:r>
          </a:p>
          <a:p>
            <a:pPr lvl="0" indent="0" marL="0">
              <a:buNone/>
            </a:pPr>
            <a:r>
              <a:rPr b="1"/>
              <a:t>5. Manuskript-Tiefe pro Kapitel?</a:t>
            </a:r>
            <a:r>
              <a:rPr/>
              <a:t> thesis 24 S Skelett — Habich-Richtwert?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 — Diskussionspunkte (3/3)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6. Permutationsexplosion (5,5 × 10^9)</a:t>
            </a:r>
            <a:r>
              <a:rPr/>
              <a:t> Strategie: Profile-Filter + MessreihenMode::Defined fuer Manuskript-Plots, Full-Mode nur fuer ZIH-Cluster-Laeufe. → Habich-Bestaetigung?</a:t>
            </a:r>
          </a:p>
          <a:p>
            <a:pPr lvl="0" indent="0" marL="0">
              <a:buNone/>
            </a:pPr>
            <a:r>
              <a:rPr b="1"/>
              <a:t>7. Naechster Termin?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 — Was als Naechstes (Prio-Plan)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Prio 1 (kurzfristig):</a:t>
            </a:r>
            <a:r>
              <a:rPr/>
              <a:t> - HW-E2E Mess-Reihe (V21.2) — User-Aktion - Cluster-Migration (paralleler User-Agent)</a:t>
            </a:r>
          </a:p>
          <a:p>
            <a:pPr lvl="0" indent="0" marL="0">
              <a:buNone/>
            </a:pPr>
            <a:r>
              <a:rPr b="1"/>
              <a:t>Prio 2 (mittelfristig):</a:t>
            </a:r>
            <a:r>
              <a:rPr/>
              <a:t> - Master-Plan Phasen K-B bis K-J (~11 Tage) - docs/architektur/, docs/glossar/, docs/bausteine/, docs/forschungslandkarte/ - drawio REV7 (REV6 erweitern + Master-Tab)</a:t>
            </a:r>
          </a:p>
          <a:p>
            <a:pPr lvl="0" indent="0" marL="0">
              <a:buNone/>
            </a:pPr>
            <a:r>
              <a:rPr b="1"/>
              <a:t>Prio 3 (laengerfristig):</a:t>
            </a:r>
            <a:r>
              <a:rPr/>
              <a:t> - ext-Repo-Aktivierung (Original-Compiler-Setup) - Manuskript-Vollausbau Kapitel 06 mit echten Mess-Daten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18 — Querverweise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Arbeitsplan</a:t>
            </a:r>
            <a:r>
              <a:rPr/>
              <a:t>: </a:t>
            </a:r>
            <a:r>
              <a:rPr>
                <a:latin typeface="Courier"/>
              </a:rPr>
              <a:t>Arbeitsplan_Termin8.md</a:t>
            </a:r>
          </a:p>
          <a:p>
            <a:pPr lvl="0"/>
            <a:r>
              <a:rPr b="1"/>
              <a:t>Arbeitsergebnis</a:t>
            </a:r>
            <a:r>
              <a:rPr/>
              <a:t>: </a:t>
            </a:r>
            <a:r>
              <a:rPr>
                <a:latin typeface="Courier"/>
              </a:rPr>
              <a:t>Arbeitsergebnis_Termin8.md</a:t>
            </a:r>
          </a:p>
          <a:p>
            <a:pPr lvl="0"/>
            <a:r>
              <a:rPr b="1"/>
              <a:t>Master-Plan</a:t>
            </a:r>
            <a:r>
              <a:rPr/>
              <a:t>: </a:t>
            </a:r>
            <a:r>
              <a:rPr>
                <a:latin typeface="Courier"/>
              </a:rPr>
              <a:t>docs/MASTERPLAN_KONSOLIDIERUNG_TERMINE.md</a:t>
            </a:r>
          </a:p>
          <a:p>
            <a:pPr lvl="0"/>
            <a:r>
              <a:rPr b="1"/>
              <a:t>Fortschrittsdoku</a:t>
            </a:r>
            <a:r>
              <a:rPr/>
              <a:t>: </a:t>
            </a:r>
            <a:r>
              <a:rPr>
                <a:latin typeface="Courier"/>
              </a:rPr>
              <a:t>docs/sessions/20260514-4600-fortschrittsdokumentation-v30-v31.md</a:t>
            </a:r>
          </a:p>
          <a:p>
            <a:pPr lvl="0"/>
            <a:r>
              <a:rPr b="1"/>
              <a:t>Briefing-Refresh</a:t>
            </a:r>
            <a:r>
              <a:rPr/>
              <a:t>: </a:t>
            </a:r>
            <a:r>
              <a:rPr>
                <a:latin typeface="Courier"/>
              </a:rPr>
              <a:t>docs/sessions/20260514-4500-habich-termin-8-briefing-refresh-v19-v31.md</a:t>
            </a:r>
          </a:p>
          <a:p>
            <a:pPr lvl="0"/>
            <a:r>
              <a:rPr b="1"/>
              <a:t>Termin-7-Stand</a:t>
            </a:r>
            <a:r>
              <a:rPr/>
              <a:t>: </a:t>
            </a:r>
            <a:r>
              <a:rPr>
                <a:latin typeface="Courier"/>
              </a:rPr>
              <a:t>docs/termine/20260508 Termin 7/HABICH_TERMIN7_ZUSAMMENFASSUNG_2026_05_13.md</a:t>
            </a:r>
          </a:p>
          <a:p>
            <a:pPr lvl="0"/>
            <a:r>
              <a:rPr b="1"/>
              <a:t>thesis main.pdf</a:t>
            </a:r>
            <a:r>
              <a:rPr/>
              <a:t>: </a:t>
            </a:r>
            <a:r>
              <a:rPr>
                <a:latin typeface="Courier"/>
              </a:rPr>
              <a:t>thesis/main.pdf</a:t>
            </a:r>
            <a:r>
              <a:rPr/>
              <a:t> (24 Seiten)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19 — Fragen?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Vielen Dank fuer Ihre Zeit, Herr Habich.</a:t>
            </a:r>
          </a:p>
          <a:p>
            <a:pPr lvl="0" indent="0" marL="0">
              <a:buNone/>
            </a:pPr>
            <a:r>
              <a:rPr/>
              <a:t>Repository-Links auf Wunsch.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Termin 8 — Sprint V12-V31 Stand</dc:title>
  <dc:creator>Benjamin Probst</dc:creator>
  <cp:keywords/>
  <dcterms:created xsi:type="dcterms:W3CDTF">2026-05-15T10:24:13Z</dcterms:created>
  <dcterms:modified xsi:type="dcterms:W3CDTF">2026-05-15T10:24:13Z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2026-05-15</vt:lpwstr>
  </property>
</Properties>
</file>