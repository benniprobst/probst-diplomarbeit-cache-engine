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Intel Core i7-1270P specifications: https://www.intel.com/content/www/us/en/products/sku/226255/intel-core-i71270p-processor-18m-cache-up-to-4-80-ghz/specifications.html
- Barnard hardware overview: https://compendium.hpc.tu-dresden.de/jobs_and_resources/hardware_overview/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ART paper landing page (TUM): https://portal.fis.tum.de/en/publications/the-adaptive-radix-tree-artful-indexing-for-main-memory-databases/
- START paper PDF: https://db.in.tum.de/~fent/papers/Self%20Tuning%20Art.pdf
- HOT paper PDF: https://evazangerle.at/publication/binna-sigmod-2018/binna-sigmod-2018.pdf
- B²-tree paper: https://link.springer.com/article/10.1007/s13222-022-00409-y
- CoCo-trie paper: https://www.sciencedirect.com/science/article/pii/S0306437923001527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Barnard hardware overview: https://compendium.hpc.tu-dresden.de/jobs_and_resources/hardware_overview/
- perf hybrid support man page: https://man7.org/linux/man-pages/man1/perf-stat.1.html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Intel Core i7-1270P specifications: https://www.intel.com/content/www/us/en/products/sku/226255/intel-core-i71270p-processor-18m-cache-up-to-4-80-ghz/specifications.html
- Barnard hardware overview: https://compendium.hpc.tu-dresden.de/jobs_and_resources/hardware_overview/
- Xeon Platinum 8470 specifications: https://www.intel.com/content/www/us/en/products/sku/231728/intel-xeon-platinum-8470-processor-105m-cache-2-00-ghz/specifications.html
- ZIH perf overview: https://compendium.hpc.tu-dresden.de/software/performance_engineering_overview/
- ZIH perf tools: https://compendium.hpc.tu-dresden.de/software/perf_tools/
- ZIH PAPI: https://compendium.hpc.tu-dresden.de/software/papi/
- ZIH PIKA: https://compendium.hpc.tu-dresden.de/software/pika/
- GCC function multiversioning: https://gcc.gnu.org/onlinedocs/gcc/Function-Multiversioning.html
- GCC prefetch builtin: https://gcc.gnu.org/onlinedocs/gcc-13.4.0/gcc/Other-Builtins.html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ART/START/HOT/B²-tree/CoCo-trie literature as architecture anchors; see previous slides.
- Intel Advisor MAP cache simulation docs: https://www.intel.com/content/www/us/en/docs/advisor/user-guide/2025-0/cpu-metrics.html and https://www.intel.com/content/www/us/en/docs/advisor/user-guide/2024-0/cachesim-mode.html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407C"/>
          </a:solidFill>
          <a:ln w="12700">
            <a:solidFill>
              <a:srgbClr val="1E4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30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PRT-ART Termin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Scope-Freeze: finale Forschungsfrage, Architekturgrenzen und Prioritäten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5EA8"/>
                </a:solidFill>
              </a:rPr>
              <a:t>Finale Leitfrage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EEF4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7C"/>
                </a:solidFill>
              </a:rPr>
              <a:t>Wie stark verbessern aktive, explizite cache-aware Layout-, Seitentyp- und Value-Ablageentscheidungen die Leistung trie-basierter Suchbäume gegenüber passiven, statischen Layouts auf Hybrid-CPUs und Sapphire-Rapids-Systemen?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3474720" cy="2240280"/>
          </a:xfrm>
          <a:prstGeom prst="roundRect">
            <a:avLst>
              <a:gd name="adj" fmla="val 2449"/>
            </a:avLst>
          </a:prstGeom>
          <a:solidFill>
            <a:srgbClr val="EAF5EC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3136392"/>
            <a:ext cx="3145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Was jetzt eingefroren ist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4838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9264" y="3474720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PRT-ART-Kern plus Cache-Engine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37216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9264" y="3712464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Pflichtplattformen lokal + Barnard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39593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9264" y="395020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Baselines nur als Originalartefakte mit Wrappern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" y="41970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9264" y="4187952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Reproduzierbarer Datenpfad aus Termin 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3063240"/>
            <a:ext cx="3474720" cy="2240280"/>
          </a:xfrm>
          <a:prstGeom prst="roundRect">
            <a:avLst>
              <a:gd name="adj" fmla="val 2449"/>
            </a:avLst>
          </a:prstGeom>
          <a:solidFill>
            <a:srgbClr val="FFF5E5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53712" y="3136392"/>
            <a:ext cx="3145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Was nicht mehr offen ist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53712" y="34838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18304" y="3474720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GPU und DBMS-Integration nicht im Kern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53712" y="37216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18304" y="3712464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Keine Nachimplementierung fremder Algorithmen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53712" y="39593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18304" y="395020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P-/E-Core-Trennung bleibt Pflicht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53712" y="41970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18304" y="4187952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Single-Thread + Read-Scaling vor Multiwriter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3063240"/>
            <a:ext cx="3474720" cy="2240280"/>
          </a:xfrm>
          <a:prstGeom prst="roundRect">
            <a:avLst>
              <a:gd name="adj" fmla="val 2449"/>
            </a:avLst>
          </a:prstGeom>
          <a:solidFill>
            <a:srgbClr val="F4EDF8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02752" y="3136392"/>
            <a:ext cx="3145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Einziger Optional-Block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02752" y="34838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67344" y="3474720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multiples multithreaded Schreiben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02752" y="37216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67344" y="3712464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alles andere bleibt im Scope, aber priorisiert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02752" y="39593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67344" y="395020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Vollfaktor-Läufe bleiben Pflichtziel der Evaluation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PRT-ART · Termin 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384280" y="642823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407C"/>
          </a:solidFill>
          <a:ln w="12700">
            <a:solidFill>
              <a:srgbClr val="1E4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30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Architektur-Freeze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PRT-ART wird als Suchbaum plus aktive Cache-Engine eingefroren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931920" cy="4526280"/>
          </a:xfrm>
          <a:prstGeom prst="roundRect">
            <a:avLst>
              <a:gd name="adj" fmla="val 1395"/>
            </a:avLst>
          </a:prstGeom>
          <a:solidFill>
            <a:srgbClr val="F7FAFE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7C"/>
                </a:solidFill>
              </a:rPr>
              <a:t>PRT-ART Kernpfad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3337560" cy="310896"/>
          </a:xfrm>
          <a:prstGeom prst="roundRect">
            <a:avLst>
              <a:gd name="adj" fmla="val 11765"/>
            </a:avLst>
          </a:prstGeom>
          <a:solidFill>
            <a:srgbClr val="EEF4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01952"/>
            <a:ext cx="3063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2E"/>
                </a:solidFill>
              </a:rPr>
              <a:t>Key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2340864"/>
            <a:ext cx="3337560" cy="310896"/>
          </a:xfrm>
          <a:prstGeom prst="roundRect">
            <a:avLst>
              <a:gd name="adj" fmla="val 11765"/>
            </a:avLst>
          </a:prstGeom>
          <a:solidFill>
            <a:srgbClr val="EAF5E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14016"/>
            <a:ext cx="3063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2E"/>
                </a:solidFill>
              </a:rPr>
              <a:t>Redirect / Collapsed Path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2852928"/>
            <a:ext cx="3337560" cy="310896"/>
          </a:xfrm>
          <a:prstGeom prst="roundRect">
            <a:avLst>
              <a:gd name="adj" fmla="val 11765"/>
            </a:avLst>
          </a:prstGeom>
          <a:solidFill>
            <a:srgbClr val="EEF4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26080"/>
            <a:ext cx="3063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2E"/>
                </a:solidFill>
              </a:rPr>
              <a:t>Search Pages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3364992"/>
            <a:ext cx="3337560" cy="310896"/>
          </a:xfrm>
          <a:prstGeom prst="roundRect">
            <a:avLst>
              <a:gd name="adj" fmla="val 11765"/>
            </a:avLst>
          </a:prstGeom>
          <a:solidFill>
            <a:srgbClr val="EAF5E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38144"/>
            <a:ext cx="3063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2E"/>
                </a:solidFill>
              </a:rPr>
              <a:t>terminaler Knoten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3877056"/>
            <a:ext cx="3337560" cy="310896"/>
          </a:xfrm>
          <a:prstGeom prst="roundRect">
            <a:avLst>
              <a:gd name="adj" fmla="val 11765"/>
            </a:avLst>
          </a:prstGeom>
          <a:solidFill>
            <a:srgbClr val="EEF4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950208"/>
            <a:ext cx="3063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12E"/>
                </a:solidFill>
              </a:rPr>
              <a:t>ValueHandle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4389120"/>
            <a:ext cx="3337560" cy="310896"/>
          </a:xfrm>
          <a:prstGeom prst="roundRect">
            <a:avLst>
              <a:gd name="adj" fmla="val 11765"/>
            </a:avLst>
          </a:prstGeom>
          <a:solidFill>
            <a:srgbClr val="EAF5E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462272"/>
            <a:ext cx="3063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2E"/>
                </a:solidFill>
              </a:rPr>
              <a:t>Inline-Value oder externer Payload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83480" y="1234440"/>
            <a:ext cx="64922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41732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7C"/>
                </a:solidFill>
              </a:rPr>
              <a:t>Cache-Engine als Mikro-Kern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178308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EEF4FD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68112" y="185623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Beobachten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68112" y="22037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32704" y="2194560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Cache-lines, Seiten und Pools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68112" y="24414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32704" y="243230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P-/E-Core und ISA-Pfad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68112" y="26791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32704" y="2670048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Access Patterns, Misses, Footprint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75320" y="178308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EAF5EC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39912" y="185623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Entscheiden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439912" y="22037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04504" y="2194560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Seitentyp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39912" y="24414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04504" y="243230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Layout und Affinity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39912" y="26791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604504" y="2670048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Inline vs Handle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303520" y="338328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FFF5E5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68112" y="345643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Vorbereiten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468112" y="38039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32704" y="3794760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Prefetch-Hinweise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68112" y="4041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632704" y="403250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Header-Wahrscheinlichkeiten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68112" y="42793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32704" y="4270248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Cache-related blocks L3/L2/L1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275320" y="338328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F8ECEC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439912" y="345643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Umlagern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439912" y="38039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604504" y="3794760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Pages neu aufbauen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439912" y="4041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604504" y="403250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Pools/Seiten verschieben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439912" y="42793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604504" y="4270248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nur Multiwriter bleibt optional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303520" y="52578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12E"/>
                </a:solidFill>
              </a:rPr>
              <a:t>Seitentypen im Kernscope: Redirect · Dense ART · START-Multilevel · HOT-Sparse · B² Decision/Span · Custom aligned page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02920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PRT-ART · Termin 4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384280" y="642823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407C"/>
          </a:solidFill>
          <a:ln w="12700">
            <a:solidFill>
              <a:srgbClr val="1E4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30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Prioritäten und Cut-Regeln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4 friert die Implementationsreihenfolge ein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463040"/>
            <a:ext cx="10515600" cy="384048"/>
          </a:xfrm>
          <a:prstGeom prst="rect">
            <a:avLst/>
          </a:prstGeom>
          <a:solidFill>
            <a:srgbClr val="EEF4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7C"/>
                </a:solidFill>
              </a:rPr>
              <a:t>Priorität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28800" y="1572768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7C"/>
                </a:solidFill>
              </a:rPr>
              <a:t>Block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77640" y="1572768"/>
            <a:ext cx="6035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7C"/>
                </a:solidFill>
              </a:rPr>
              <a:t>Inhalt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22992" y="1572768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7C"/>
                </a:solidFill>
              </a:rPr>
              <a:t>Status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83664"/>
            <a:ext cx="914400" cy="658368"/>
          </a:xfrm>
          <a:prstGeom prst="rect">
            <a:avLst/>
          </a:prstGeom>
          <a:solidFill>
            <a:srgbClr val="EEF4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03120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7C"/>
                </a:solidFill>
              </a:rPr>
              <a:t>P0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64208" y="1883664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88" y="1883664"/>
            <a:ext cx="61447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20656" y="1883664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20116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12E"/>
                </a:solidFill>
              </a:rPr>
              <a:t>Erster lauffähiger Kern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1956816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A212E"/>
                </a:solidFill>
              </a:rPr>
              <a:t>Plain Byte Keys, Redirects, Dense ART, Sparse HOT, ValueHandle, externer Payload, Scalar, lokaler perf-Pfad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921240" y="210312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07C"/>
                </a:solidFill>
              </a:rPr>
              <a:t>Pflicht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2633472"/>
            <a:ext cx="914400" cy="658368"/>
          </a:xfrm>
          <a:prstGeom prst="rect">
            <a:avLst/>
          </a:prstGeom>
          <a:solidFill>
            <a:srgbClr val="EAF5E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852928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7C"/>
                </a:solidFill>
              </a:rPr>
              <a:t>P1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664208" y="2633472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2633472"/>
            <a:ext cx="61447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20656" y="2633472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27614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12E"/>
                </a:solidFill>
              </a:rPr>
              <a:t>Forschungs-Kern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2706624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A212E"/>
                </a:solidFill>
              </a:rPr>
              <a:t>Cache-Engine v1, START-Multilevel, Inline/Handle-Umschaltung, 3 Ordnungsmodi, P-/E-Core-Trennung, Barnard AVX-512, Baseline-Wrapper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9921240" y="2852928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07C"/>
                </a:solidFill>
              </a:rPr>
              <a:t>Pflicht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" y="3383280"/>
            <a:ext cx="914400" cy="658368"/>
          </a:xfrm>
          <a:prstGeom prst="rect">
            <a:avLst/>
          </a:prstGeom>
          <a:solidFill>
            <a:srgbClr val="FFF5E5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3602736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7C"/>
                </a:solidFill>
              </a:rPr>
              <a:t>P2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664208" y="338328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75888" y="3383280"/>
            <a:ext cx="61447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0656" y="3383280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55648" y="35112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12E"/>
                </a:solidFill>
              </a:rPr>
              <a:t>Ausbau im Kernscope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3456432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A212E"/>
                </a:solidFill>
              </a:rPr>
              <a:t>B² Decision/Span, Custom Page, Online-Rebuild, Page/Pool-Affinity, Prefetch-Regeln, erste Kostenmodelle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9921240" y="360273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07C"/>
                </a:solidFill>
              </a:rPr>
              <a:t>Pflicht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9808" y="4133088"/>
            <a:ext cx="914400" cy="658368"/>
          </a:xfrm>
          <a:prstGeom prst="rect">
            <a:avLst/>
          </a:prstGeom>
          <a:solidFill>
            <a:srgbClr val="F8ECE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4352544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7C"/>
                </a:solidFill>
              </a:rPr>
              <a:t>P3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664208" y="4133088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75888" y="4133088"/>
            <a:ext cx="61447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20656" y="4133088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55648" y="42611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12E"/>
                </a:solidFill>
              </a:rPr>
              <a:t>Späterer Pflichtblock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94760" y="4206240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A212E"/>
                </a:solidFill>
              </a:rPr>
              <a:t>Fingerprint-Overlays, volle Permutationsläufe, Seitengrößen-Sweeps, Feinkalibrierung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9921240" y="435254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07C"/>
                </a:solidFill>
              </a:rPr>
              <a:t>Pflicht, spät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9808" y="4882896"/>
            <a:ext cx="914400" cy="658368"/>
          </a:xfrm>
          <a:prstGeom prst="rect">
            <a:avLst/>
          </a:prstGeom>
          <a:solidFill>
            <a:srgbClr val="F4ED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102352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7C"/>
                </a:solidFill>
              </a:rPr>
              <a:t>OPT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664208" y="4882896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75888" y="4882896"/>
            <a:ext cx="61447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20656" y="4882896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55648" y="50109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12E"/>
                </a:solidFill>
              </a:rPr>
              <a:t>Einzige Optional-Komponente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794760" y="4956048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A212E"/>
                </a:solidFill>
              </a:rPr>
              <a:t>multiples multithreaded Schreiben</a:t>
            </a:r>
            <a:endParaRPr lang="en-US" sz="1120" dirty="0"/>
          </a:p>
        </p:txBody>
      </p:sp>
      <p:sp>
        <p:nvSpPr>
          <p:cNvPr id="49" name="Text 47"/>
          <p:cNvSpPr/>
          <p:nvPr/>
        </p:nvSpPr>
        <p:spPr>
          <a:xfrm>
            <a:off x="9921240" y="510235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07C"/>
                </a:solidFill>
              </a:rPr>
              <a:t>Optional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22960" y="5833872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7C"/>
                </a:solidFill>
              </a:rPr>
              <a:t>Cut-Regel: zuerst P3 ausdünnen, dann P2 minimal halten – P0 und P1 bleiben unantastbar.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PRT-ART · Termin 4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384280" y="642823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407C"/>
          </a:solidFill>
          <a:ln w="12700">
            <a:solidFill>
              <a:srgbClr val="1E4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30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Plattformen, Messpfade und Binaries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4 friert auch den technischen Ausführungsrahmen ein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429000" cy="2194560"/>
          </a:xfrm>
          <a:prstGeom prst="roundRect">
            <a:avLst>
              <a:gd name="adj" fmla="val 2500"/>
            </a:avLst>
          </a:prstGeom>
          <a:solidFill>
            <a:srgbClr val="EEF4FD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399032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Lokale Pflichtplattform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50392" y="17465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14984" y="1737360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Intel Core i7-1270P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19842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14984" y="1975104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4 P-Cores + 8 E-Cores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0392" y="22219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14984" y="2212848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18 MB Smart Cache, AVX2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" y="24597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14984" y="2450592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perf: cpu_core / cpu_atom getrennt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1325880"/>
            <a:ext cx="3429000" cy="2194560"/>
          </a:xfrm>
          <a:prstGeom prst="roundRect">
            <a:avLst>
              <a:gd name="adj" fmla="val 2500"/>
            </a:avLst>
          </a:prstGeom>
          <a:solidFill>
            <a:srgbClr val="EAF5EC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53712" y="1399032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ZIH Barnard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53712" y="17465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18304" y="1737360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2× Xeon Platinum 8470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53712" y="19842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18304" y="1975104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104 Kerne pro Node, RHEL 9.6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53712" y="22219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18304" y="2212848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AVX-512 verfügbar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53712" y="24597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18304" y="2450592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Batch-Läufe über Slurm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2440" y="1325880"/>
            <a:ext cx="3429000" cy="2194560"/>
          </a:xfrm>
          <a:prstGeom prst="roundRect">
            <a:avLst>
              <a:gd name="adj" fmla="val 2500"/>
            </a:avLst>
          </a:prstGeom>
          <a:solidFill>
            <a:srgbClr val="FFF5E5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57032" y="1399032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Messwerkzeuge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57032" y="17465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21624" y="1737360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lokal: perf + Intel Advisor MAP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57032" y="19842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21624" y="1975104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Barnard: perf / PAPI / PIKA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57032" y="22219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21624" y="2212848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für eigene Counter: no_monitoring + exclusive empfohlen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3794760"/>
            <a:ext cx="109728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977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7C"/>
                </a:solidFill>
              </a:rPr>
              <a:t>Build-Strategie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43891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12E"/>
                </a:solidFill>
              </a:rPr>
              <a:t>•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78992" y="4379976"/>
            <a:ext cx="10076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12E"/>
                </a:solidFill>
              </a:rPr>
              <a:t>C++23-Modul-/Template-Aufbau; Varianten werden faktisch als ABI-stabile Modul-Binaries ausgeprägt.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470001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12E"/>
                </a:solidFill>
              </a:rPr>
              <a:t>•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78992" y="4690872"/>
            <a:ext cx="10076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12E"/>
                </a:solidFill>
              </a:rPr>
              <a:t>GNU Function Multiversioning für ISA-spezifische Klone; minimaler Runtime-Resolver statt großem dynamischen Dispatcher.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4400" y="501091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12E"/>
                </a:solidFill>
              </a:rPr>
              <a:t>•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78992" y="5001768"/>
            <a:ext cx="10076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12E"/>
                </a:solidFill>
              </a:rPr>
              <a:t>Prefetch-Pfade werden explizit modelliert; __builtin_prefetch bleibt technischer Hebel, aber nicht der Forschungsbeitrag an sich.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PRT-ART · Termin 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384280" y="642823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407C"/>
          </a:solidFill>
          <a:ln w="12700">
            <a:solidFill>
              <a:srgbClr val="1E4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30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 Termin 4 jetzt endgültig festzieht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 hier beginnt Implementierung statt weiterer Ideensammlung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EAF5EC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399032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Fix eingefroren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50392" y="17465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14984" y="1737360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aktive Cache-Engine als Mikro-Kern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19842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14984" y="1975104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Seitentypwahl + Layoutwahl + Value-Ablage getrennt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0392" y="22219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14984" y="2212848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Pflichtplattformen lokal + Barnard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" y="24597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14984" y="2450592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Baselines in Originalfassung via Wrapper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26974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14984" y="2688336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reproduzierbarer Datenpfad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34840" y="1325880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FFF5E5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99432" y="1399032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Bewusst nicht Kern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99432" y="17465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64024" y="1737360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GPU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99432" y="19842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64024" y="1975104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vollständige DBMS-Integration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99432" y="22219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64024" y="2212848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generische SIMD-Forschung außerhalb des Indexkerns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99432" y="24597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64024" y="2450592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Multiwriter nicht als Pflicht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83880" y="1325880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EEF4FD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48472" y="1399032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7C"/>
                </a:solidFill>
              </a:rPr>
              <a:t>Direkter nächster Schritt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48472" y="17465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13064" y="1737360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PRT-ART P0/P1 implementieren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48472" y="19842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13064" y="1975104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Cache-Engine v1 anschließen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48472" y="22219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13064" y="2212848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Pflichtmatrix lokal validieren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48472" y="24597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•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513064" y="2450592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12E"/>
                </a:solidFill>
              </a:rPr>
              <a:t>Barnard-Läufe und Batch-Permutationen starten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68680" y="5257800"/>
            <a:ext cx="10789920" cy="640080"/>
          </a:xfrm>
          <a:prstGeom prst="roundRect">
            <a:avLst>
              <a:gd name="adj" fmla="val 7143"/>
            </a:avLst>
          </a:prstGeom>
          <a:solidFill>
            <a:srgbClr val="1E407C"/>
          </a:solidFill>
          <a:ln w="12700">
            <a:solidFill>
              <a:srgbClr val="1E40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5468112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Termin 4 verschiebt das Thema von „welcher Trie ist besser?“ zu „wie definiert und misst man eine aktive Cache-Engine über trie-basierter Suche?“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PRT-ART · Termin 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384280" y="642823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PRT-ART Termin 4 – Scope Freeze</dc:title>
  <dc:subject>PRT-ART Termin 4</dc:subject>
  <dc:creator>OpenAI</dc:creator>
  <cp:lastModifiedBy>OpenAI</cp:lastModifiedBy>
  <cp:revision>1</cp:revision>
  <dcterms:created xsi:type="dcterms:W3CDTF">2026-04-12T12:27:09Z</dcterms:created>
  <dcterms:modified xsi:type="dcterms:W3CDTF">2026-04-12T12:27:09Z</dcterms:modified>
</cp:coreProperties>
</file>