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5" d="100"/>
          <a:sy n="165" d="100"/>
        </p:scale>
        <p:origin x="100" y="4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629474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ART: https://db.in.tum.de/~leis/papers/ART.pdf
- START: https://db.in.tum.de/~fent/papers/Self%20Tuning%20Art.pdf
- HOT: https://evazangerle.at/publication/binna-sigmod-2018/binna-sigmod-2018.pdf
- CoCo-trie: https://www.sciencedirect.com/science/article/pii/S0306437923001527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ART general properties and node families: https://db.in.tum.de/~leis/papers/ART.pdf
- START multilevel nodes and cost model: https://db.in.tum.de/~fent/papers/Self%20Tuning%20Art.pdf
- HOT discriminative bits and sparse layouts: https://evazangerle.at/publication/binna-sigmod-2018/binna-sigmod-2018.pdf
- Masstree layout and 8-byte slices: https://www.read.seas.harvard.edu/~kohler/pubs/mao12cache.pdf
- CSS-tree: https://www.vldb.org/conf/1999/P7.pdf
- CSB+-tree: https://courses.cs.duke.edu/spring03/cps216/papers/rao-ross-2000.pdf
- B²-tree: https://link.springer.com/article/10.1007/s13222-022-00409-y
- CoCo-trie: https://www.sciencedirect.com/science/article/pii/S0306437923001527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ART lexicographic order, path compression, adaptive node families: https://db.in.tum.de/~leis/papers/ART.pdf
- START multilevel nodes and optimizer/cost model: https://db.in.tum.de/~fent/papers/Self%20Tuning%20Art.pdf
- HOT sparse k-constrained layouts: https://evazangerle.at/publication/binna-sigmod-2018/binna-sigmod-2018.pdf
- CoCo-trie macro-node compression: https://www.sciencedirect.com/science/article/pii/S0306437923001527
- CSS/CSB+ cache-aware layout principles: https://www.vldb.org/conf/1999/P7.pdf ; https://courses.cs.duke.edu/spring03/cps216/papers/rao-ross-2000.pdf
- B²-tree page-local narrowing: https://link.springer.com/article/10.1007/s13222-022-00409-y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ART node-type-dependent child search: https://db.in.tum.de/~leis/papers/ART.pdf
- START cost-model-based multilevel nodes: https://db.in.tum.de/~fent/papers/Self%20Tuning%20Art.pdf
- HOT fanout 32, up to 31 bit positions, 9 layouts: https://evazangerle.at/publication/binna-sigmod-2018/binna-sigmod-2018.pdf
- B²-tree page-local narrowing and fewer cache lines: https://link.springer.com/article/10.1007/s13222-022-00409-y
- Processor-conscious CSB+: https://pure.itu.dk/en/publications/making-csb-trees-processor-conscious/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Intel Advisor MAP / cache-line utilization and cache misses: https://www.intel.com/content/www/us/en/docs/advisor/user-guide/2024-2/cpu-metrics.html ; https://www.intel.com/content/www/us/en/docs/advisor/user-guide/2024-1/cachesim-cacheline-size.html
- Intel Advisor memory access patterns cookbook: https://www.intel.com/content/www/us/en/docs/advisor/cookbook/2023-0/optimize-memory-access-patterns.html
- Intel Core i7-1270P specs (AVX2, 18 MB Smart Cache): https://www.intel.de/content/www/de/de/products/sku/226255/intel-core-i71270p-processor-18m-cache-up-to-4-80-ghz/specifications.html
- YCSB percentiles and histogram/timeseries output: https://github-wiki-see.page/m/hixiaoxi/YCSB/wiki/Running-a-Workload ; https://github.com/brianfrankcooper/YCSB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594360" y="6473952"/>
            <a:ext cx="11000232" cy="0"/>
          </a:xfrm>
          <a:prstGeom prst="line">
            <a:avLst/>
          </a:prstGeom>
          <a:noFill/>
          <a:ln w="12700">
            <a:solidFill>
              <a:srgbClr val="B9C7D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" name="Text 2"/>
          <p:cNvSpPr/>
          <p:nvPr/>
        </p:nvSpPr>
        <p:spPr>
          <a:xfrm>
            <a:off x="658368" y="649224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172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PRT-ART | Termin 2</a:t>
            </a:r>
            <a:endParaRPr lang="en-US" sz="9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11480"/>
            <a:ext cx="10515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4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PRT-ART – Termin 2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58368" y="886968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E6A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cache-line-aware Entwurf, Architektur-Freeze und Übergang zu Termin 3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749808" y="1389888"/>
            <a:ext cx="10607040" cy="786384"/>
          </a:xfrm>
          <a:prstGeom prst="roundRect">
            <a:avLst>
              <a:gd name="adj" fmla="val 6977"/>
            </a:avLst>
          </a:prstGeom>
          <a:solidFill>
            <a:srgbClr val="EAF1F8"/>
          </a:solidFill>
          <a:ln w="12700">
            <a:solidFill>
              <a:srgbClr val="AFC1D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932688" y="1572768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2332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Ziel des Wiederholungstermins: Aus der Literatur kein loses Framework ableiten, sondern einen kleinen, architektonisch plausiblen Kern einfrieren – mit expliziter Cache-Engine, begrenzter Seitentypenfamilie und messbaren Termin-3-Fragen.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749808" y="2542032"/>
            <a:ext cx="347472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7D3E0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7" name="Text 5"/>
          <p:cNvSpPr/>
          <p:nvPr/>
        </p:nvSpPr>
        <p:spPr>
          <a:xfrm>
            <a:off x="896112" y="2633472"/>
            <a:ext cx="3182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34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Was bleibt fest?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96112" y="2871216"/>
            <a:ext cx="3182112" cy="14081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230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Trie-Hülle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2230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Redirect-Kompaktion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2230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externe Payload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2230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ValueHandle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2230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cache-line-aware Layout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70832" y="2542032"/>
            <a:ext cx="33832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7D3E0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0" name="Text 8"/>
          <p:cNvSpPr/>
          <p:nvPr/>
        </p:nvSpPr>
        <p:spPr>
          <a:xfrm>
            <a:off x="4517136" y="2633472"/>
            <a:ext cx="3090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34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Was wird bewusst vertagt?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17136" y="2871216"/>
            <a:ext cx="3090672" cy="14081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230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Multi-Writer-Concurrency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2230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GPU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2230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IAM-Integration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2230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breites Hash/Fingerprint-Framework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900416" y="2542032"/>
            <a:ext cx="343814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7D3E0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3" name="Text 11"/>
          <p:cNvSpPr/>
          <p:nvPr/>
        </p:nvSpPr>
        <p:spPr>
          <a:xfrm>
            <a:off x="8046720" y="2633472"/>
            <a:ext cx="3145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34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Was ist der Neuheitskern?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046720" y="2871216"/>
            <a:ext cx="3145536" cy="14081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230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Nicht ein neuer Grundtyp, sondern die Kombination aus Redirects, lokalen Seitentypen, Hot/Cold-Split und expliziter Cache-Awareness.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68096" y="475488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734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Termin-2-Merksatz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768096" y="5010912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2A39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„Der Baum ist die Wegbeschreibung zur Value-Referenz; die Cache-Engine optimiert, wie dieser Weg lokal kodiert und traversiert wird.“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11480"/>
            <a:ext cx="10515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4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Welche Literaturprinzipien Termin 2 wirklich übernimmt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58368" y="886968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E6A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Nicht alle Paper werden kopiert; jede Quelle liefert genau einen klaren Beitrag zum PRT-ART-Kern.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749808" y="1572768"/>
            <a:ext cx="2926080" cy="1426464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C7D3E0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896112" y="1664208"/>
            <a:ext cx="2633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34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CoCo-trie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96112" y="1901952"/>
            <a:ext cx="2633472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230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Redirects und kollabierte Restpfade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2230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als Key-Handling für eindeutige Subtries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986784" y="1572768"/>
            <a:ext cx="2926080" cy="1426464"/>
          </a:xfrm>
          <a:prstGeom prst="roundRect">
            <a:avLst>
              <a:gd name="adj" fmla="val 5128"/>
            </a:avLst>
          </a:prstGeom>
          <a:solidFill>
            <a:srgbClr val="F4F8FC"/>
          </a:solidFill>
          <a:ln w="12700">
            <a:solidFill>
              <a:srgbClr val="C7D3E0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8" name="Text 6"/>
          <p:cNvSpPr/>
          <p:nvPr/>
        </p:nvSpPr>
        <p:spPr>
          <a:xfrm>
            <a:off x="4133088" y="1664208"/>
            <a:ext cx="2633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34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ART / START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133088" y="1901952"/>
            <a:ext cx="2633472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230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Dense Pages: lokale Radixnavigation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2230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plus mehrbyteige Nodes und Kostenmodell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269480" y="1572768"/>
            <a:ext cx="4169664" cy="1426464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C7D3E0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1" name="Text 9"/>
          <p:cNvSpPr/>
          <p:nvPr/>
        </p:nvSpPr>
        <p:spPr>
          <a:xfrm>
            <a:off x="7415784" y="1664208"/>
            <a:ext cx="3877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34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415784" y="1901952"/>
            <a:ext cx="3877056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230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Sparse Patricia-/Mehrbit-Seiten mit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2230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diskriminierenden Bits und kompakten Layouts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49808" y="3401568"/>
            <a:ext cx="2926080" cy="1426464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C7D3E0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4" name="Text 12"/>
          <p:cNvSpPr/>
          <p:nvPr/>
        </p:nvSpPr>
        <p:spPr>
          <a:xfrm>
            <a:off x="896112" y="3493008"/>
            <a:ext cx="2633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34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CSS / CSB+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96112" y="3730752"/>
            <a:ext cx="2633472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230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Cache-line-große Layoutdisziplin,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2230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Node-Groups und möglichst wenige Kinderpointer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3986784" y="3401568"/>
            <a:ext cx="2926080" cy="1426464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C7D3E0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7" name="Text 15"/>
          <p:cNvSpPr/>
          <p:nvPr/>
        </p:nvSpPr>
        <p:spPr>
          <a:xfrm>
            <a:off x="4133088" y="3493008"/>
            <a:ext cx="2633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34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B² / Masstree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133088" y="3730752"/>
            <a:ext cx="2633472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230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Page-lokale Suchraum-Einengung,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2230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Fences, Layer-Regeln und range-nahe Ordnung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96112" y="5239512"/>
            <a:ext cx="10058400" cy="0"/>
          </a:xfrm>
          <a:prstGeom prst="line">
            <a:avLst/>
          </a:prstGeom>
          <a:noFill/>
          <a:ln w="16510">
            <a:solidFill>
              <a:srgbClr val="A9B7C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0" name="Text 18"/>
          <p:cNvSpPr/>
          <p:nvPr/>
        </p:nvSpPr>
        <p:spPr>
          <a:xfrm>
            <a:off x="914400" y="5340096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34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Interpretation für Termin 2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14400" y="5577840"/>
            <a:ext cx="10241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2634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Die Neuheit liegt nicht in einem einzelnen übernommenen Feature, sondern in der kontrollierten Kombination: Trie-Hülle + Redirect-Kompaktion + begrenzte Seitentypenfamilie + externer Payload + Cache-Engine.</a:t>
            </a:r>
            <a:endParaRPr lang="en-US" sz="1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11480"/>
            <a:ext cx="10515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4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Eingefrorene PRT-ART-Architektur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58368" y="886968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E6A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Trie-Engine und Cache-Engine sind getrennte Verantwortungen.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786384" y="1426464"/>
            <a:ext cx="1005840" cy="256032"/>
          </a:xfrm>
          <a:prstGeom prst="roundRect">
            <a:avLst>
              <a:gd name="adj" fmla="val 42857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786384" y="1453896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1920240" y="1426464"/>
            <a:ext cx="1828800" cy="256032"/>
          </a:xfrm>
          <a:prstGeom prst="roundRect">
            <a:avLst>
              <a:gd name="adj" fmla="val 42857"/>
            </a:avLst>
          </a:prstGeom>
          <a:solidFill>
            <a:srgbClr val="4177B6"/>
          </a:solidFill>
          <a:ln w="12700">
            <a:solidFill>
              <a:srgbClr val="4177B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" name="Text 5"/>
          <p:cNvSpPr/>
          <p:nvPr/>
        </p:nvSpPr>
        <p:spPr>
          <a:xfrm>
            <a:off x="1920240" y="145389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Trie-Engine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986784" y="1426464"/>
            <a:ext cx="2103120" cy="256032"/>
          </a:xfrm>
          <a:prstGeom prst="roundRect">
            <a:avLst>
              <a:gd name="adj" fmla="val 42857"/>
            </a:avLst>
          </a:prstGeom>
          <a:solidFill>
            <a:srgbClr val="6699CC"/>
          </a:solidFill>
          <a:ln w="12700">
            <a:solidFill>
              <a:srgbClr val="6699CC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/>
          <p:nvPr/>
        </p:nvSpPr>
        <p:spPr>
          <a:xfrm>
            <a:off x="3986784" y="1453896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lokale Suchseiten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327648" y="1426464"/>
            <a:ext cx="1737360" cy="256032"/>
          </a:xfrm>
          <a:prstGeom prst="roundRect">
            <a:avLst>
              <a:gd name="adj" fmla="val 42857"/>
            </a:avLst>
          </a:prstGeom>
          <a:solidFill>
            <a:srgbClr val="8BB0D6"/>
          </a:solidFill>
          <a:ln w="12700">
            <a:solidFill>
              <a:srgbClr val="8BB0D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1" name="Text 9"/>
          <p:cNvSpPr/>
          <p:nvPr/>
        </p:nvSpPr>
        <p:spPr>
          <a:xfrm>
            <a:off x="6327648" y="1453896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734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ValueHandle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247888" y="1426464"/>
            <a:ext cx="2057400" cy="256032"/>
          </a:xfrm>
          <a:prstGeom prst="roundRect">
            <a:avLst>
              <a:gd name="adj" fmla="val 42857"/>
            </a:avLst>
          </a:prstGeom>
          <a:solidFill>
            <a:srgbClr val="D8E6F3"/>
          </a:solidFill>
          <a:ln w="12700">
            <a:solidFill>
              <a:srgbClr val="D8E6F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" name="Text 11"/>
          <p:cNvSpPr/>
          <p:nvPr/>
        </p:nvSpPr>
        <p:spPr>
          <a:xfrm>
            <a:off x="8247888" y="1453896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734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Payload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1792224" y="1554480"/>
            <a:ext cx="128016" cy="0"/>
          </a:xfrm>
          <a:prstGeom prst="line">
            <a:avLst/>
          </a:prstGeom>
          <a:noFill/>
          <a:ln w="22860">
            <a:solidFill>
              <a:srgbClr val="17345B"/>
            </a:solidFill>
            <a:prstDash val="solid"/>
            <a:tailEnd type="triangle"/>
          </a:ln>
        </p:spPr>
        <p:txBody>
          <a:bodyPr/>
          <a:lstStyle/>
          <a:p>
            <a:endParaRPr lang="de-DE"/>
          </a:p>
        </p:txBody>
      </p:sp>
      <p:sp>
        <p:nvSpPr>
          <p:cNvPr id="15" name="Shape 13"/>
          <p:cNvSpPr/>
          <p:nvPr/>
        </p:nvSpPr>
        <p:spPr>
          <a:xfrm>
            <a:off x="3822192" y="1554480"/>
            <a:ext cx="128016" cy="0"/>
          </a:xfrm>
          <a:prstGeom prst="line">
            <a:avLst/>
          </a:prstGeom>
          <a:noFill/>
          <a:ln w="22860">
            <a:solidFill>
              <a:srgbClr val="17345B"/>
            </a:solidFill>
            <a:prstDash val="solid"/>
            <a:tailEnd type="triangle"/>
          </a:ln>
        </p:spPr>
        <p:txBody>
          <a:bodyPr/>
          <a:lstStyle/>
          <a:p>
            <a:endParaRPr lang="de-DE"/>
          </a:p>
        </p:txBody>
      </p:sp>
      <p:sp>
        <p:nvSpPr>
          <p:cNvPr id="16" name="Shape 14"/>
          <p:cNvSpPr/>
          <p:nvPr/>
        </p:nvSpPr>
        <p:spPr>
          <a:xfrm>
            <a:off x="6153912" y="1554480"/>
            <a:ext cx="128016" cy="0"/>
          </a:xfrm>
          <a:prstGeom prst="line">
            <a:avLst/>
          </a:prstGeom>
          <a:noFill/>
          <a:ln w="22860">
            <a:solidFill>
              <a:srgbClr val="17345B"/>
            </a:solidFill>
            <a:prstDash val="solid"/>
            <a:tailEnd type="triangle"/>
          </a:ln>
        </p:spPr>
        <p:txBody>
          <a:bodyPr/>
          <a:lstStyle/>
          <a:p>
            <a:endParaRPr lang="de-DE"/>
          </a:p>
        </p:txBody>
      </p:sp>
      <p:sp>
        <p:nvSpPr>
          <p:cNvPr id="17" name="Shape 15"/>
          <p:cNvSpPr/>
          <p:nvPr/>
        </p:nvSpPr>
        <p:spPr>
          <a:xfrm>
            <a:off x="8119872" y="1554480"/>
            <a:ext cx="128016" cy="0"/>
          </a:xfrm>
          <a:prstGeom prst="line">
            <a:avLst/>
          </a:prstGeom>
          <a:noFill/>
          <a:ln w="22860">
            <a:solidFill>
              <a:srgbClr val="17345B"/>
            </a:solidFill>
            <a:prstDash val="solid"/>
            <a:tailEnd type="triangle"/>
          </a:ln>
        </p:spPr>
        <p:txBody>
          <a:bodyPr/>
          <a:lstStyle/>
          <a:p>
            <a:endParaRPr lang="de-DE"/>
          </a:p>
        </p:txBody>
      </p:sp>
      <p:sp>
        <p:nvSpPr>
          <p:cNvPr id="18" name="Shape 16"/>
          <p:cNvSpPr/>
          <p:nvPr/>
        </p:nvSpPr>
        <p:spPr>
          <a:xfrm>
            <a:off x="786384" y="1938528"/>
            <a:ext cx="3456432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C7D3E0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9" name="Text 17"/>
          <p:cNvSpPr/>
          <p:nvPr/>
        </p:nvSpPr>
        <p:spPr>
          <a:xfrm>
            <a:off x="932688" y="2029968"/>
            <a:ext cx="3163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34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Trie-Engine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32688" y="2267712"/>
            <a:ext cx="3163824" cy="16824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230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Ordnungserhaltende Hülle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2230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Redirect-Knoten für eindeutige Restpfade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2230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terminale Knoten statt terminaler Blätter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370832" y="1938528"/>
            <a:ext cx="310896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C7D3E0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2" name="Text 20"/>
          <p:cNvSpPr/>
          <p:nvPr/>
        </p:nvSpPr>
        <p:spPr>
          <a:xfrm>
            <a:off x="4517136" y="2029968"/>
            <a:ext cx="2816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34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Seitentypenfamilie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517136" y="2267712"/>
            <a:ext cx="2816352" cy="16824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230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Redirect-Page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2230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Dense-Byte-Page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2230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Extended Dense Page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2230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Sparse Patricia Page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2230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PRT-Custom-Cache-Page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7626096" y="1938528"/>
            <a:ext cx="3639312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C7D3E0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5" name="Text 23"/>
          <p:cNvSpPr/>
          <p:nvPr/>
        </p:nvSpPr>
        <p:spPr>
          <a:xfrm>
            <a:off x="7772400" y="2029968"/>
            <a:ext cx="33467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34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ValueHandle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772400" y="2267712"/>
            <a:ext cx="3346704" cy="16824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230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Inline oder External als Kern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2230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ChainRef nur als vertagte Erweiterung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2230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Payload bleibt standardmäßig außerhalb des heißen Pfads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1901952" y="4443984"/>
            <a:ext cx="8449056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C7D3E0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8" name="Text 26"/>
          <p:cNvSpPr/>
          <p:nvPr/>
        </p:nvSpPr>
        <p:spPr>
          <a:xfrm>
            <a:off x="2048256" y="4535424"/>
            <a:ext cx="8156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34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Cache-Engine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2048256" y="4773168"/>
            <a:ext cx="8156448" cy="8138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230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Beobachtet lokale Dichte, Präfixentropie, Value-Größe, erwartete Cache-Lines und ISA/HW-Profil. Sie entscheidet über Seitentyp, Alignment, lokale Ordnung und Inline-vs.-Pointer-Value.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2926080" y="4160520"/>
            <a:ext cx="0" cy="256032"/>
          </a:xfrm>
          <a:prstGeom prst="line">
            <a:avLst/>
          </a:prstGeom>
          <a:noFill/>
          <a:ln w="15240">
            <a:solidFill>
              <a:srgbClr val="7A93B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de-DE"/>
          </a:p>
        </p:txBody>
      </p:sp>
      <p:sp>
        <p:nvSpPr>
          <p:cNvPr id="31" name="Shape 29"/>
          <p:cNvSpPr/>
          <p:nvPr/>
        </p:nvSpPr>
        <p:spPr>
          <a:xfrm>
            <a:off x="5897880" y="4160520"/>
            <a:ext cx="0" cy="256032"/>
          </a:xfrm>
          <a:prstGeom prst="line">
            <a:avLst/>
          </a:prstGeom>
          <a:noFill/>
          <a:ln w="15240">
            <a:solidFill>
              <a:srgbClr val="7A93B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de-DE"/>
          </a:p>
        </p:txBody>
      </p:sp>
      <p:sp>
        <p:nvSpPr>
          <p:cNvPr id="32" name="Shape 30"/>
          <p:cNvSpPr/>
          <p:nvPr/>
        </p:nvSpPr>
        <p:spPr>
          <a:xfrm>
            <a:off x="9052560" y="4160520"/>
            <a:ext cx="0" cy="256032"/>
          </a:xfrm>
          <a:prstGeom prst="line">
            <a:avLst/>
          </a:prstGeom>
          <a:noFill/>
          <a:ln w="15240">
            <a:solidFill>
              <a:srgbClr val="7A93B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de-DE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11480"/>
            <a:ext cx="10515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4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Welche Seitentypen wofür gedacht sind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58368" y="886968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E6A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Termin 2 friert die Familien ein – nicht bereits die finalen Schwellwerte.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749808" y="1426464"/>
            <a:ext cx="2139696" cy="1389888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C7D3E0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896112" y="1517904"/>
            <a:ext cx="1847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34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Redirect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96112" y="1755648"/>
            <a:ext cx="1847088" cy="9692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230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Eindeutige Restpfade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2230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wenige Knoten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2230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Ziele lokal bündeln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017520" y="1426464"/>
            <a:ext cx="2139696" cy="1389888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C7D3E0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8" name="Text 6"/>
          <p:cNvSpPr/>
          <p:nvPr/>
        </p:nvSpPr>
        <p:spPr>
          <a:xfrm>
            <a:off x="3163824" y="1517904"/>
            <a:ext cx="1847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34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Dense Byte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163824" y="1755648"/>
            <a:ext cx="1847088" cy="9692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230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ART-artige lokale Dichte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2230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direkte Transition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2230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vorhersagbare Traversierung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285232" y="1426464"/>
            <a:ext cx="2139696" cy="1389888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C7D3E0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1" name="Text 9"/>
          <p:cNvSpPr/>
          <p:nvPr/>
        </p:nvSpPr>
        <p:spPr>
          <a:xfrm>
            <a:off x="5431536" y="1517904"/>
            <a:ext cx="1847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34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Extended Dense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431536" y="1755648"/>
            <a:ext cx="1847088" cy="9692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230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START-artig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2230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mehrere Byte-Schritte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2230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Höhe lokal reduzieren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552944" y="1426464"/>
            <a:ext cx="2139696" cy="1389888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C7D3E0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4" name="Text 12"/>
          <p:cNvSpPr/>
          <p:nvPr/>
        </p:nvSpPr>
        <p:spPr>
          <a:xfrm>
            <a:off x="7699248" y="1517904"/>
            <a:ext cx="1847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34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Sparse Patricia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699248" y="1755648"/>
            <a:ext cx="1847088" cy="9692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230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HOT-artig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2230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diskriminierende Bits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2230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kompakte Suche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820656" y="1426464"/>
            <a:ext cx="1627632" cy="1389888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C7D3E0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7" name="Text 15"/>
          <p:cNvSpPr/>
          <p:nvPr/>
        </p:nvSpPr>
        <p:spPr>
          <a:xfrm>
            <a:off x="9966960" y="1517903"/>
            <a:ext cx="1445678" cy="3649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34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 Cache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993968" y="1965960"/>
            <a:ext cx="1140878" cy="640311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230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B²-ähnliche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2230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Seitensuche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68096" y="3108960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34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Umschaltlogik als Termin-2-Ergebnis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68096" y="3438144"/>
            <a:ext cx="2395728" cy="4567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34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Nicht behaupten, sondern messen: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74364" y="4206240"/>
            <a:ext cx="3291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634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lokale Dichte und Fanout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634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Präfixentropie / gemeinsame Restpfade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634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Value-Größe und Inline-Eignung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634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erwartete Cache-Line-Kosten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634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ISA/HW-Profil (AVX2, optional AVX-512)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4315968" y="3401568"/>
            <a:ext cx="6675120" cy="2039112"/>
          </a:xfrm>
          <a:prstGeom prst="roundRect">
            <a:avLst>
              <a:gd name="adj" fmla="val 2841"/>
            </a:avLst>
          </a:prstGeom>
          <a:solidFill>
            <a:srgbClr val="EEF3F9"/>
          </a:solidFill>
          <a:ln w="12700">
            <a:solidFill>
              <a:srgbClr val="B3C4D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3" name="Text 21"/>
          <p:cNvSpPr/>
          <p:nvPr/>
        </p:nvSpPr>
        <p:spPr>
          <a:xfrm>
            <a:off x="4498848" y="354787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34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Termin-2-Festlegung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498848" y="3822191"/>
            <a:ext cx="6236702" cy="1318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332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Schwellwerte bleiben Policy-Hooks.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332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Der Wiederholungstermin muss nur das Entscheidungsgerüst und die Invarianten festziehen: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332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welche Eingaben die Cache-Engine sehen darf, welche Ausgaben sie ändern darf und welche Seitentypen überhaupt im Kern existieren.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11480"/>
            <a:ext cx="10515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4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Termin 2 endet mit klaren Grenzen – und klaren Fragen an Termin 3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58368" y="886968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E6A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Nur so bleibt PRT-ART als Diplomarbeit relevant, neu genug und bearbeitbar.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749808" y="1426464"/>
            <a:ext cx="3529584" cy="2212848"/>
          </a:xfrm>
          <a:prstGeom prst="roundRect">
            <a:avLst>
              <a:gd name="adj" fmla="val 3306"/>
            </a:avLst>
          </a:prstGeom>
          <a:solidFill>
            <a:srgbClr val="FFFFFF"/>
          </a:solidFill>
          <a:ln w="12700">
            <a:solidFill>
              <a:srgbClr val="C7D3E0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896112" y="1517904"/>
            <a:ext cx="32369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34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Fix für Termin 2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96112" y="1755648"/>
            <a:ext cx="3236976" cy="17922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230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globale Trie-Hülle mit Redirects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2230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fünf logische Seitentypen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2230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ValueHandle (Inline / External)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2230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optionaler Lex-Modus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2230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Cache-Engine als Entscheidungswerk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370832" y="1426464"/>
            <a:ext cx="3236976" cy="2212848"/>
          </a:xfrm>
          <a:prstGeom prst="roundRect">
            <a:avLst>
              <a:gd name="adj" fmla="val 3306"/>
            </a:avLst>
          </a:prstGeom>
          <a:solidFill>
            <a:srgbClr val="FFFFFF"/>
          </a:solidFill>
          <a:ln w="12700">
            <a:solidFill>
              <a:srgbClr val="C7D3E0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8" name="Text 6"/>
          <p:cNvSpPr/>
          <p:nvPr/>
        </p:nvSpPr>
        <p:spPr>
          <a:xfrm>
            <a:off x="4517136" y="1517904"/>
            <a:ext cx="2944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34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Nicht Kern von Termin 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17136" y="1755648"/>
            <a:ext cx="2944368" cy="17922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230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Multi-Writer-Concurrency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2230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vollständiges Hash/Fingerprint-Framework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2230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generischer Sortiervergleich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2230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breite DBMS-Integration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2230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GPU/SIMD als Hauptthema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735824" y="1426464"/>
            <a:ext cx="3456432" cy="2212848"/>
          </a:xfrm>
          <a:prstGeom prst="roundRect">
            <a:avLst>
              <a:gd name="adj" fmla="val 3306"/>
            </a:avLst>
          </a:prstGeom>
          <a:solidFill>
            <a:srgbClr val="FFFFFF"/>
          </a:solidFill>
          <a:ln w="12700">
            <a:solidFill>
              <a:srgbClr val="C7D3E0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1" name="Text 9"/>
          <p:cNvSpPr/>
          <p:nvPr/>
        </p:nvSpPr>
        <p:spPr>
          <a:xfrm>
            <a:off x="7882128" y="1517904"/>
            <a:ext cx="3163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34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Was Termin 3 klären muss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882128" y="1755648"/>
            <a:ext cx="3163824" cy="17922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230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Pflichtdatensätze und synthetische Stressfälle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2230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welche Baselines wirklich implementiert werden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2230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perf / Advisor / Mikrobenchmarks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2230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Fairness für Inline-Werte und ISA-Pfade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22960" y="4078224"/>
            <a:ext cx="10351008" cy="1097280"/>
          </a:xfrm>
          <a:prstGeom prst="roundRect">
            <a:avLst>
              <a:gd name="adj" fmla="val 4167"/>
            </a:avLst>
          </a:prstGeom>
          <a:solidFill>
            <a:srgbClr val="17345B"/>
          </a:solidFill>
          <a:ln w="12700">
            <a:solidFill>
              <a:srgbClr val="17345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4" name="Text 12"/>
          <p:cNvSpPr/>
          <p:nvPr/>
        </p:nvSpPr>
        <p:spPr>
          <a:xfrm>
            <a:off x="1060703" y="4242816"/>
            <a:ext cx="372877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Termin 2 Ziel: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060704" y="4498848"/>
            <a:ext cx="9692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„Termin 2 friert den cache-line-aware Kern von PRT-ART ein: Redirect-Kompaktion, Seitentypenfamilie, ValueHandle und Cache-Engine. Termin 3 kalibriert diesen Kern experimentell.“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1359</Words>
  <Application>Microsoft Office PowerPoint</Application>
  <PresentationFormat>Breitbild</PresentationFormat>
  <Paragraphs>123</Paragraphs>
  <Slides>5</Slides>
  <Notes>5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PRT-ART Termin 2</dc:title>
  <dc:subject>PRT-ART Termin 2</dc:subject>
  <dc:creator>OpenAI</dc:creator>
  <cp:lastModifiedBy>Benjamin-Elias Probst</cp:lastModifiedBy>
  <cp:revision>5</cp:revision>
  <dcterms:created xsi:type="dcterms:W3CDTF">2026-04-05T21:48:50Z</dcterms:created>
  <dcterms:modified xsi:type="dcterms:W3CDTF">2026-04-09T22:57:34Z</dcterms:modified>
</cp:coreProperties>
</file>