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-Elias Probst" userId="ed3c63fefcac5ed3" providerId="LiveId" clId="{4D0D08F5-47D1-4615-B1A3-9EACB94514F4}"/>
    <pc:docChg chg="modSld">
      <pc:chgData name="Benjamin-Elias Probst" userId="ed3c63fefcac5ed3" providerId="LiveId" clId="{4D0D08F5-47D1-4615-B1A3-9EACB94514F4}" dt="2026-04-13T07:17:25.089" v="12" actId="20577"/>
      <pc:docMkLst>
        <pc:docMk/>
      </pc:docMkLst>
      <pc:sldChg chg="modSp mod">
        <pc:chgData name="Benjamin-Elias Probst" userId="ed3c63fefcac5ed3" providerId="LiveId" clId="{4D0D08F5-47D1-4615-B1A3-9EACB94514F4}" dt="2026-04-13T07:08:48.083" v="4" actId="14100"/>
        <pc:sldMkLst>
          <pc:docMk/>
          <pc:sldMk cId="0" sldId="258"/>
        </pc:sldMkLst>
        <pc:spChg chg="mod">
          <ac:chgData name="Benjamin-Elias Probst" userId="ed3c63fefcac5ed3" providerId="LiveId" clId="{4D0D08F5-47D1-4615-B1A3-9EACB94514F4}" dt="2026-04-13T07:08:42.439" v="3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Benjamin-Elias Probst" userId="ed3c63fefcac5ed3" providerId="LiveId" clId="{4D0D08F5-47D1-4615-B1A3-9EACB94514F4}" dt="2026-04-13T07:08:48.083" v="4" actId="14100"/>
          <ac:spMkLst>
            <pc:docMk/>
            <pc:sldMk cId="0" sldId="258"/>
            <ac:spMk id="16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4-13T07:12:15.612" v="5" actId="1076"/>
        <pc:sldMkLst>
          <pc:docMk/>
          <pc:sldMk cId="0" sldId="259"/>
        </pc:sldMkLst>
        <pc:spChg chg="mod">
          <ac:chgData name="Benjamin-Elias Probst" userId="ed3c63fefcac5ed3" providerId="LiveId" clId="{4D0D08F5-47D1-4615-B1A3-9EACB94514F4}" dt="2026-04-13T07:12:15.612" v="5" actId="1076"/>
          <ac:spMkLst>
            <pc:docMk/>
            <pc:sldMk cId="0" sldId="259"/>
            <ac:spMk id="11" creationId="{00000000-0000-0000-0000-000000000000}"/>
          </ac:spMkLst>
        </pc:spChg>
      </pc:sldChg>
      <pc:sldChg chg="modSp mod">
        <pc:chgData name="Benjamin-Elias Probst" userId="ed3c63fefcac5ed3" providerId="LiveId" clId="{4D0D08F5-47D1-4615-B1A3-9EACB94514F4}" dt="2026-04-13T07:17:25.089" v="12" actId="20577"/>
        <pc:sldMkLst>
          <pc:docMk/>
          <pc:sldMk cId="0" sldId="261"/>
        </pc:sldMkLst>
        <pc:spChg chg="mod">
          <ac:chgData name="Benjamin-Elias Probst" userId="ed3c63fefcac5ed3" providerId="LiveId" clId="{4D0D08F5-47D1-4615-B1A3-9EACB94514F4}" dt="2026-04-13T07:17:25.089" v="12" actId="20577"/>
          <ac:spMkLst>
            <pc:docMk/>
            <pc:sldMk cId="0" sldId="261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715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CSS-tree / VLDB 1999: https://www.vldb.org/conf/1999/P7.pdf
- ART: https://portal.fis.tum.de/en/publications/the-adaptive-radix-tree-artful-indexing-for-main-memory-databases
- START: https://portal.fis.tum.de/en/publications/start-self-tuning-adaptive-radix-tree/
- HOT: https://cris.fau.de/publications/255105165/
- Masstree: https://dash.harvard.edu/entities/publication/73120378-af8b-6bd4-e053-0100007fdf3b
- B²-tree: https://open.fau.de/handle/openfau/33203
- CoCo-trie: https://www.sciencedirect.com/science/article/pii/S0306437923001527
- Fetch Me If You Can: https://www.bifold.berlin/impact-transfer/publications/view/publication-detail/fetch-me-if-you-can-evaluating-cpu-cache-prefetching-and-its-reliability-on-high-latency-memory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CSS-tree: https://www.vldb.org/conf/1999/P7.pdf
- CSB+-tree: https://cir.nii.ac.jp/crid/1363951793924061824
- Node size: https://citeseerx.ist.psu.edu/document?doi=05e9f12a9d3231ef611194540fcba3917baa0220&amp;repid=rep1&amp;type=pdf
- Graefe/Larson: https://sigmod.org/publications/discs/2002/out/p_btreeindexesandgope.htm
- Cache-oblivious B-trees: https://nyuscholars.nyu.edu/en/publications/cache-oblivious-b-trees
- ART / START / HOT / Masstree / B²-tree / CoCo-trie: URLs wie in Termin-5-Dokument
- Dynamic adaptation: https://academic.oup.com/comjnl/article/54/5/815/543793
- Fetch Me If You Can: https://www.bifold.berlin/impact-transfer/publications/view/publication-detail/fetch-me-if-you-can-evaluating-cpu-cache-prefetching-and-its-reliability-on-high-latency-memory
- VAMPIR / To stride: TUD FIS URLs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CSB+-processor conscious: https://researchprofiles.ku.dk/da/publications/making-csb-trees-processor-conscious/
- START: https://portal.fis.tum.de/en/publications/start-self-tuning-adaptive-radix-tree/
- HOT: https://cris.fau.de/publications/255105165/
- B²-tree: https://open.fau.de/handle/openfau/33203
- Node size: https://citeseerx.ist.psu.edu/document?doi=05e9f12a9d3231ef611194540fcba3917baa0220&amp;repid=rep1&amp;type=pdf
- Dynamic adaptation: https://academic.oup.com/comjnl/article/54/5/815/543793
- Fetch Me If You Can: https://www.bifold.berlin/impact-transfer/publications/view/publication-detail/fetch-me-if-you-can-evaluating-cpu-cache-prefetching-and-its-reliability-on-high-latency-memory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ART / START / HOT / Masstree / B²-tree / CoCo-trie: URLs wie in Dokument
- Fractal Prefetching: https://sigmod.org/publications/discs/2003/out/p_fractalprefetchshpht.htm
- CSB+-processor conscious: https://researchprofiles.ku.dk/da/publications/making-csb-trees-processor-conscious/
- Cache-oblivious B-trees: https://nyuscholars.nyu.edu/en/publications/cache-oblivious-b-trees
- TUD context: https://fis.tu-dresden.de/portal/en/publications/overview-on-hardware-optimizations-for-database-engines%289be9c82c-5be7-4174-a5a2-4cc3d577fe75%29.html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Processor-conscious CSB+: https://researchprofiles.ku.dk/da/publications/making-csb-trees-processor-conscious/
- START: https://portal.fis.tum.de/en/publications/start-self-tuning-adaptive-radix-tree/
- Fetch Me If You Can: https://www.bifold.berlin/impact-transfer/publications/view/publication-detail/fetch-me-if-you-can-evaluating-cpu-cache-prefetching-and-its-reliability-on-high-latency-memory
- HOT / Masstree / CoCo-trie / B²-tree / Fractal Prefetching: URLs wie in Dokument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Synthese aus den auf den vorherigen Slides genannten Arbeiten.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PRT-ART Termin 5: Forschungslandkarte der Cache-Engine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Professionelle Einordnung ähnlicher Arbeiten und Ableitung der eigentlichen Forschungslücke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1097280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3152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Kernaussage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36192"/>
            <a:ext cx="1069848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Literatur deckt viele Bausteine bereits ab – passive cache-aware Layouts, adaptive Trie-Knoten, Prefetching und plattformbewusste Tuningstrategien. Die Forschungslücke von PRT-ART liegt in einer aktiven, messgetriebenen Cache-Orchestrierung über der Suchlogik statt in einem weiteren Trie als Selbstzweck.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2057400" cy="804672"/>
          </a:xfrm>
          <a:prstGeom prst="roundRect">
            <a:avLst>
              <a:gd name="adj" fmla="val 5682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850392" y="2898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Cache-Awareness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90088" y="2743200"/>
            <a:ext cx="2057400" cy="804672"/>
          </a:xfrm>
          <a:prstGeom prst="roundRect">
            <a:avLst>
              <a:gd name="adj" fmla="val 5682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063240" y="2898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Trie-Strukturen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02936" y="2743200"/>
            <a:ext cx="2057400" cy="804672"/>
          </a:xfrm>
          <a:prstGeom prst="roundRect">
            <a:avLst>
              <a:gd name="adj" fmla="val 5682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5276088" y="2898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Prefetching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Runtime-Adaptation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15784" y="2743200"/>
            <a:ext cx="2057400" cy="804672"/>
          </a:xfrm>
          <a:prstGeom prst="roundRect">
            <a:avLst>
              <a:gd name="adj" fmla="val 5682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488936" y="2898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Cache-Oblivious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Kontrast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28632" y="2743200"/>
            <a:ext cx="2057400" cy="804672"/>
          </a:xfrm>
          <a:prstGeom prst="roundRect">
            <a:avLst>
              <a:gd name="adj" fmla="val 5682"/>
            </a:avLst>
          </a:prstGeom>
          <a:solidFill>
            <a:srgbClr val="FDEEEE"/>
          </a:solidFill>
          <a:ln w="12700">
            <a:solidFill>
              <a:srgbClr val="FDEEE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701784" y="28986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Dresden-/Habich-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8A1C1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Kontext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977640"/>
            <a:ext cx="5212080" cy="1645920"/>
          </a:xfrm>
          <a:prstGeom prst="roundRect">
            <a:avLst>
              <a:gd name="adj" fmla="val 3333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50976" y="4069080"/>
            <a:ext cx="4956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Termin 5 liefert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50976" y="4306824"/>
            <a:ext cx="4956048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Literaturcluster statt loser Paperliste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Abgrenzung: was existiert schon, was fehlt noch?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Klare Rolle der Cache-Engine als Control Plane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Designregeln für PRT-ART statt weiterer Architekturexplosion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55080" y="3977640"/>
            <a:ext cx="4983480" cy="1645920"/>
          </a:xfrm>
          <a:prstGeom prst="roundRect">
            <a:avLst>
              <a:gd name="adj" fmla="val 3333"/>
            </a:avLst>
          </a:prstGeom>
          <a:solidFill>
            <a:srgbClr val="F5F9FD"/>
          </a:solidFill>
          <a:ln w="12700">
            <a:solidFill>
              <a:srgbClr val="F5F9F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483096" y="4069080"/>
            <a:ext cx="4727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Wichtigste Korrektur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83096" y="4306824"/>
            <a:ext cx="4727448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Nicht „Cache direkt verwalten“ behaupten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Sondern: Layout, Seitentyp, Prefetching, Handles und Zugriffsmuster aktiv beeinflussen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Instruction-/Programm-Cache nur sekundär und vorsichtig begründen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5 • Forschungslandkarte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Forschungslandkarte als 2×2-Matrix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X-Achse: statisch/passiv → aktiv/adaptiv • Y-Achse: lokale Node-/Page-Frage → hierarchie- und kontrollpfadbezogen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1097280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10149840" cy="448056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7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5989320" y="1325880"/>
            <a:ext cx="0" cy="4480560"/>
          </a:xfrm>
          <a:prstGeom prst="line">
            <a:avLst/>
          </a:prstGeom>
          <a:noFill/>
          <a:ln w="12700">
            <a:solidFill>
              <a:srgbClr val="C9D7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914400" y="3566160"/>
            <a:ext cx="10149840" cy="0"/>
          </a:xfrm>
          <a:prstGeom prst="line">
            <a:avLst/>
          </a:prstGeom>
          <a:noFill/>
          <a:ln w="12700">
            <a:solidFill>
              <a:srgbClr val="C9D7E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069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lokale Node-/Page-Optimierung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0" y="10698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hierarchie-/kontrollpfadbezogen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58521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passiv / statisch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052560" y="58521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A5A"/>
                </a:solidFill>
              </a:rPr>
              <a:t>aktiv / adaptiv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88720" y="1828800"/>
            <a:ext cx="1874520" cy="1005840"/>
          </a:xfrm>
          <a:prstGeom prst="roundRect">
            <a:avLst>
              <a:gd name="adj" fmla="val 3636"/>
            </a:avLst>
          </a:prstGeom>
          <a:solidFill>
            <a:srgbClr val="D9EAF7"/>
          </a:solidFill>
          <a:ln w="12700">
            <a:solidFill>
              <a:srgbClr val="D9EAF7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261872" y="1901952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CSS-tree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CSB+-tree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size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783080"/>
            <a:ext cx="1874520" cy="1005840"/>
          </a:xfrm>
          <a:prstGeom prst="roundRect">
            <a:avLst>
              <a:gd name="adj" fmla="val 3636"/>
            </a:avLst>
          </a:prstGeom>
          <a:solidFill>
            <a:srgbClr val="E9F3FF"/>
          </a:solidFill>
          <a:ln w="12700">
            <a:solidFill>
              <a:srgbClr val="E9F3FF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3456432" y="1856232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B²-tree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CoCo-trie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43000" y="3794760"/>
            <a:ext cx="1874520" cy="1005840"/>
          </a:xfrm>
          <a:prstGeom prst="roundRect">
            <a:avLst>
              <a:gd name="adj" fmla="val 3636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216152" y="3867912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Graefe/Larson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Cache-oblivious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TUD overview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3657600"/>
            <a:ext cx="1874520" cy="1005840"/>
          </a:xfrm>
          <a:prstGeom prst="roundRect">
            <a:avLst>
              <a:gd name="adj" fmla="val 3636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  <a:effectLst>
            <a:outerShdw blurRad="12700" dist="381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885432" y="3730752"/>
            <a:ext cx="172821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Fractal Prefetching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Adaptation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Me If You Can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VAMPIR / To stride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32520" y="2103120"/>
            <a:ext cx="1874520" cy="1371600"/>
          </a:xfrm>
          <a:prstGeom prst="roundRect">
            <a:avLst>
              <a:gd name="adj" fmla="val 3333"/>
            </a:avLst>
          </a:prstGeom>
          <a:solidFill>
            <a:srgbClr val="DDEFE7"/>
          </a:solidFill>
          <a:ln w="19050">
            <a:solidFill>
              <a:srgbClr val="1F7A5A"/>
            </a:solidFill>
            <a:prstDash val="solid"/>
          </a:ln>
          <a:effectLst>
            <a:outerShdw blurRad="15240" dist="5715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823960" y="23317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PRT-ART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7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Cache-Engine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7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Zielraum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6080760"/>
            <a:ext cx="10378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1F1F"/>
                </a:solidFill>
              </a:rPr>
              <a:t>Interpretation: Die Literatur ist stark bei lokalen Layouts und zunehmend stark bei adaptiven Seiten und Prefetching. Was fehlt, ist eine getrennte, plattformkalibrierte Cache-Kontrollschicht über trie-basierter Suche.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5 • Forschungslücke visualisiert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Was die Literatur bereits belastbar zeigt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Vier robuste Erkenntnislinien für die Gestaltung von PRT-ART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1097280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2697480" cy="1965960"/>
          </a:xfrm>
          <a:prstGeom prst="roundRect">
            <a:avLst>
              <a:gd name="adj" fmla="val 2791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13816" y="1371600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Layout zählt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3816" y="1609344"/>
            <a:ext cx="2441448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Cache-Line-Größe allein reicht nicht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Kindanordnung, Pointerzahl und Node-Größe bestimmen Suchkosten mit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TLB und Instruktionskosten beeinflussen das Optimum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11880" y="1280160"/>
            <a:ext cx="2697480" cy="1965960"/>
          </a:xfrm>
          <a:prstGeom prst="roundRect">
            <a:avLst>
              <a:gd name="adj" fmla="val 2791"/>
            </a:avLst>
          </a:prstGeom>
          <a:solidFill>
            <a:srgbClr val="E9F3FF"/>
          </a:solidFill>
          <a:ln w="12700">
            <a:solidFill>
              <a:srgbClr val="E9F3FF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3739896" y="1371600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Adaptive Seitentypen helfen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39896" y="1609344"/>
            <a:ext cx="2441448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ART, START, HOT und B²-tree zeigen starke Gewinne durch datenabhängige lokale Repräsentation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Mehrbyteige Knoten und diskriminierende Bits sind zentrale Hebel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537960" y="1280160"/>
            <a:ext cx="2697480" cy="1965960"/>
          </a:xfrm>
          <a:prstGeom prst="roundRect">
            <a:avLst>
              <a:gd name="adj" fmla="val 2791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665976" y="1371600"/>
            <a:ext cx="2441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Prefetching ist heikel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65976" y="1609344"/>
            <a:ext cx="2441448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Kann deutlich helfen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Kann aber auch schaden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Plattform, Fill Buffers und Workload entscheiden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464040" y="1280160"/>
            <a:ext cx="2057400" cy="1965960"/>
          </a:xfrm>
          <a:prstGeom prst="roundRect">
            <a:avLst>
              <a:gd name="adj" fmla="val 2791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9592056" y="1371600"/>
            <a:ext cx="1929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</a:t>
            </a:r>
            <a:r>
              <a:rPr lang="en-US" sz="1150" b="1" dirty="0" err="1">
                <a:solidFill>
                  <a:srgbClr val="A8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Plattformbewusstsein</a:t>
            </a:r>
            <a:r>
              <a:rPr lang="en-US" sz="1150" b="1" dirty="0">
                <a:solidFill>
                  <a:srgbClr val="A8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ist real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592056" y="1664208"/>
            <a:ext cx="1801368" cy="1490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Processor-conscious CSB+ und START kalibrieren oder optimieren explizit für Hardware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3657600"/>
            <a:ext cx="5303520" cy="1828800"/>
          </a:xfrm>
          <a:prstGeom prst="roundRect">
            <a:avLst>
              <a:gd name="adj" fmla="val 3000"/>
            </a:avLst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50976" y="3749040"/>
            <a:ext cx="50474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Direkt übertragbar auf PRT-ART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50976" y="3986784"/>
            <a:ext cx="5047488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Dense-/Sparse-/Redirect-Seiten nicht dogmatisch, sondern als Familie denken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Seitentypen und Inline-/Handle-Policy an Plattform und Workload koppeln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Prefetch nur über gemessene Regeln aktivieren, nicht pauschal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3657600"/>
            <a:ext cx="4983480" cy="1828800"/>
          </a:xfrm>
          <a:prstGeom prst="roundRect">
            <a:avLst>
              <a:gd name="adj" fmla="val 3000"/>
            </a:avLst>
          </a:prstGeom>
          <a:solidFill>
            <a:srgbClr val="F8FBFE"/>
          </a:solidFill>
          <a:ln w="12700">
            <a:solidFill>
              <a:srgbClr val="F8FBFE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528816" y="3749040"/>
            <a:ext cx="4727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Wichtige methodische Konsequenz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28816" y="3986784"/>
            <a:ext cx="4727448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PRT-ART braucht eine Kalibrierungsphase vor dem produktiven Lauf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Die Cache-Engine darf heuristisch und kostenmodellbasiert sein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Aber sie muss ihre Regeln an realen Mikrobenchmarks erden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5 • Übertragbare Bausteine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 die eigentliche Forschungslücke beginnt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noch ein Trie, sondern eine aktive Cache-Orchestrierungsschicht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1097280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4709160" cy="4297680"/>
          </a:xfrm>
          <a:prstGeom prst="roundRect">
            <a:avLst>
              <a:gd name="adj" fmla="val 1277"/>
            </a:avLst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59536" y="1417320"/>
            <a:ext cx="4453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Bereits stark abgedeckt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59536" y="1655064"/>
            <a:ext cx="4453128" cy="3877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Lokales Node-/Page-Layout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Adaptive Suchseiten innerhalb einer Struktur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Präfixkollabierung und Redirect-Ideen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Statisches oder halb-statisches Hardwaretuning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Punktuelle Prefetch-Strategien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46520" y="1325880"/>
            <a:ext cx="4754880" cy="4297680"/>
          </a:xfrm>
          <a:prstGeom prst="roundRect">
            <a:avLst>
              <a:gd name="adj" fmla="val 1277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574536" y="1417320"/>
            <a:ext cx="4498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PRT-ART noch offen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574536" y="1655064"/>
            <a:ext cx="4498848" cy="3877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Getrennte Cache-Control-Plane über der Suchlogik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Gemeinsame Entscheidung über Seitentyp, Layout, Prefetching und Value-Ablage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Messgetriebene, plattformkalibrierte Regeln für mehrere CPU-Typen und ISA-Pfade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Mehrzieloptimierung: Latenz, CLU, Footprint, Cache-Lines, Handles vs. Inline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Saubere Trennung: Suchsemantik bleibt beim Algorithmus, Cache-Sicht bei der Engine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92140" y="2788920"/>
            <a:ext cx="502920" cy="594360"/>
          </a:xfrm>
          <a:prstGeom prst="chevron">
            <a:avLst/>
          </a:prstGeom>
          <a:solidFill>
            <a:srgbClr val="1F7A5A"/>
          </a:solidFill>
          <a:ln w="12700">
            <a:solidFill>
              <a:srgbClr val="1F7A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315968" y="58704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7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PRT-ART Beitrag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6144768"/>
            <a:ext cx="6126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F1F1F"/>
                </a:solidFill>
              </a:rPr>
              <a:t>Aktive, empirisch kalibrierte Cache-Engine für trie-basierte Suche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5 • Gap-Statement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Designregeln für die weitere Spezifikation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wir aus der Literatur direkt in die PRT-ART Cache-Engine übernehmen sollten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1097280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1325880"/>
            <a:ext cx="640080" cy="585216"/>
          </a:xfrm>
          <a:prstGeom prst="roundRect">
            <a:avLst>
              <a:gd name="adj" fmla="val 7813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77240" y="14721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</a:rPr>
              <a:t>R1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3716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Control Plane statt „Hardware-Kernel“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00200" y="1563624"/>
            <a:ext cx="9555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1F1F"/>
                </a:solidFill>
              </a:rPr>
              <a:t>Professionell formulieren: Die Engine beeinflusst Caches über Layout, Access Patterns, Prefetching und Allokation – sie ersetzt keine Hardware-Cachelogik.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777240" y="2121408"/>
            <a:ext cx="640080" cy="585216"/>
          </a:xfrm>
          <a:prstGeom prst="roundRect">
            <a:avLst>
              <a:gd name="adj" fmla="val 7813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777240" y="226771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</a:rPr>
              <a:t>R2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00200" y="216712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Plattformkalibrierung ist Pflicht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2359152"/>
            <a:ext cx="9555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1F1F"/>
                </a:solidFill>
              </a:rPr>
              <a:t>Processor-conscious CSB+, START und Prefetch-Reliability stützen eine Initialisierung über Mikrobenchmarks.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777240" y="2916936"/>
            <a:ext cx="640080" cy="585216"/>
          </a:xfrm>
          <a:prstGeom prst="roundRect">
            <a:avLst>
              <a:gd name="adj" fmla="val 7813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77240" y="306324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</a:rPr>
              <a:t>R3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00200" y="296265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Dense / Sparse / Redirect als Familie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00200" y="3154680"/>
            <a:ext cx="9555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1F1F"/>
                </a:solidFill>
              </a:rPr>
              <a:t>Seitentypen sollen messgetrieben gewählt werden, nicht ideologisch.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777240" y="3712464"/>
            <a:ext cx="640080" cy="585216"/>
          </a:xfrm>
          <a:prstGeom prst="roundRect">
            <a:avLst>
              <a:gd name="adj" fmla="val 7813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77240" y="38587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</a:rPr>
              <a:t>R4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375818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Inline vs. Handle ist Kernbeitrag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600200" y="3950208"/>
            <a:ext cx="9555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1F1F"/>
                </a:solidFill>
              </a:rPr>
              <a:t>Value-Ablage beeinflusst Cache-Line-Nutzung direkt und darf nicht nachträglich behandelt werden.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777240" y="4507992"/>
            <a:ext cx="640080" cy="585216"/>
          </a:xfrm>
          <a:prstGeom prst="roundRect">
            <a:avLst>
              <a:gd name="adj" fmla="val 7813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777240" y="465429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</a:rPr>
              <a:t>R5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00200" y="455371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Prefetching nur evidenzbasiert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4745736"/>
            <a:ext cx="9555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1F1F"/>
                </a:solidFill>
              </a:rPr>
              <a:t>Aktivieren, drosseln oder abschalten – je nach Plattform, Zielcache und Workload.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777240" y="5303520"/>
            <a:ext cx="640080" cy="585216"/>
          </a:xfrm>
          <a:prstGeom prst="roundRect">
            <a:avLst>
              <a:gd name="adj" fmla="val 7813"/>
            </a:avLst>
          </a:prstGeom>
          <a:solidFill>
            <a:srgbClr val="DCEAF7"/>
          </a:solidFill>
          <a:ln w="12700">
            <a:solidFill>
              <a:srgbClr val="DC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77240" y="544982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</a:rPr>
              <a:t>R6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0200" y="53492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Code-/Instruction-Cache nur sekundär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00200" y="5541264"/>
            <a:ext cx="9555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F1F1F"/>
                </a:solidFill>
              </a:rPr>
              <a:t>Interessant, aber deutlich schwächer belegt als Datenpfad- und Page-Layout-Optimierung.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640080" y="647395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5 • Abgeleitete Designregeln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56032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Nächster Schritt nach Termin 5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21792" y="658368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Von der Forschungslandkarte zur implementierbaren Cache-Engine-Spezifikation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10972800" cy="0"/>
          </a:xfrm>
          <a:prstGeom prst="line">
            <a:avLst/>
          </a:prstGeom>
          <a:noFill/>
          <a:ln w="15240">
            <a:solidFill>
              <a:srgbClr val="D9EAF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777240" y="13716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8FC"/>
          </a:solidFill>
          <a:ln w="12700">
            <a:solidFill>
              <a:srgbClr val="F4F8FC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05256" y="1463040"/>
            <a:ext cx="3264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36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Sofort festziehen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05256" y="1700784"/>
            <a:ext cx="3264408" cy="1865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Beitragssatz der Arbeit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Minimaler Regelkern der Cache-Engine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Kalibrierungsphase und Messantworten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Was PRT-ART aktiv steuert – und was nicht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26280" y="13716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654296" y="1463040"/>
            <a:ext cx="32644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A85C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Bewusst sekundär halten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54296" y="1700784"/>
            <a:ext cx="3264408" cy="1865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Instruction-/Programm-Cache-Optimierung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Aggressive Online-Umlagerung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Volles Multiwriter-Schreiben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Value-Referenzketten als Spezialpfad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75320" y="1371600"/>
            <a:ext cx="2926080" cy="2286000"/>
          </a:xfrm>
          <a:prstGeom prst="roundRect">
            <a:avLst>
              <a:gd name="adj" fmla="val 2400"/>
            </a:avLst>
          </a:prstGeom>
          <a:solidFill>
            <a:srgbClr val="EAF7EE"/>
          </a:solidFill>
          <a:ln w="12700">
            <a:solidFill>
              <a:srgbClr val="EAF7EE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403336" y="1463040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7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die Implementierung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03336" y="1700784"/>
            <a:ext cx="2670048" cy="1865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Kalibrierungs-Mikrobenchmarks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Dense/Sparse/Redirect-Seiten prototypisch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Inline-/Handle-Sweep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1F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Prefetch-Regeln an perf/Advisor koppeln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4160520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65D"/>
                </a:solidFill>
              </a:rPr>
              <a:t>Präsentationsbotschaft an Prof. Habich: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462272"/>
            <a:ext cx="1037844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F1F"/>
                </a:solidFill>
              </a:rPr>
              <a:t>Ich </a:t>
            </a:r>
            <a:r>
              <a:rPr lang="en-US" sz="1400" dirty="0" err="1">
                <a:solidFill>
                  <a:srgbClr val="1F1F1F"/>
                </a:solidFill>
              </a:rPr>
              <a:t>habe</a:t>
            </a:r>
            <a:r>
              <a:rPr lang="en-US" sz="1400" dirty="0">
                <a:solidFill>
                  <a:srgbClr val="1F1F1F"/>
                </a:solidFill>
              </a:rPr>
              <a:t> die Literatur so weit verdichtet, dass der eigentliche wissenschaftliche Beitrag jetzt sauber benannt werden kann: PRT-ART untersucht nicht bloß eine weitere Suchstruktur, sondern eine aktive, plattformkalibrierte Cache-Engine über trie-basierter Suche.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5806440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7A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Ergebnis für die Arbeit: Trie = Mittel zum Zweck • Cache-Engine = Kernbeitrag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 5 • Brücke zur finalen Umsetzung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1520</Words>
  <Application>Microsoft Office PowerPoint</Application>
  <PresentationFormat>Breitbild</PresentationFormat>
  <Paragraphs>145</Paragraphs>
  <Slides>6</Slides>
  <Notes>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PRT-ART Termin 5 – Forschungslandkarte Cache-Engine</dc:title>
  <dc:subject>PRT-ART Termin 5</dc:subject>
  <dc:creator>OpenAI</dc:creator>
  <cp:lastModifiedBy>Benjamin-Elias Probst</cp:lastModifiedBy>
  <cp:revision>1</cp:revision>
  <dcterms:created xsi:type="dcterms:W3CDTF">2026-04-12T20:58:14Z</dcterms:created>
  <dcterms:modified xsi:type="dcterms:W3CDTF">2026-04-13T07:17:36Z</dcterms:modified>
</cp:coreProperties>
</file>