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231"/>
                </a:solidFill>
              </a:defRPr>
            </a:pPr>
            <a:r>
              <a:t>Termin 10: Implementierungsreview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Drei Repositories, Messsystem, PRT-ART-Pruefling und naechster vertikaler Schnitt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1097280"/>
          </a:xfrm>
          <a:prstGeom prst="roundRect">
            <a:avLst/>
          </a:prstGeom>
          <a:solidFill>
            <a:srgbClr val="DBEB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800" b="1">
                <a:solidFill>
                  <a:srgbClr val="122231"/>
                </a:solidFill>
              </a:defRPr>
            </a:pPr>
            <a:r>
              <a:t>Diplomarbeit</a:t>
            </a:r>
            <a:br/>
            <a:r>
              <a:t>WAS + Auswertung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54480"/>
            <a:ext cx="3291840" cy="1097280"/>
          </a:xfrm>
          <a:prstGeom prst="roundRect">
            <a:avLst/>
          </a:prstGeom>
          <a:solidFill>
            <a:srgbClr val="E0F2E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800" b="1">
                <a:solidFill>
                  <a:srgbClr val="122231"/>
                </a:solidFill>
              </a:defRPr>
            </a:pPr>
            <a:r>
              <a:t>Cache Engine</a:t>
            </a:r>
            <a:br/>
            <a:r>
              <a:t>WIE + Messwerkzeuge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3291840" cy="1097280"/>
          </a:xfrm>
          <a:prstGeom prst="roundRect">
            <a:avLst/>
          </a:prstGeom>
          <a:solidFill>
            <a:srgbClr val="FFEDD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800" b="1">
                <a:solidFill>
                  <a:srgbClr val="122231"/>
                </a:solidFill>
              </a:defRPr>
            </a:pPr>
            <a:r>
              <a:t>PRT-ART</a:t>
            </a:r>
            <a:br/>
            <a:r>
              <a:t>Pruefling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69080" y="2103120"/>
            <a:ext cx="365760" cy="0"/>
          </a:xfrm>
          <a:prstGeom prst="line">
            <a:avLst/>
          </a:prstGeom>
          <a:ln w="25400">
            <a:solidFill>
              <a:srgbClr val="296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26679" y="2103120"/>
            <a:ext cx="411481" cy="0"/>
          </a:xfrm>
          <a:prstGeom prst="line">
            <a:avLst/>
          </a:prstGeom>
          <a:ln w="25400">
            <a:solidFill>
              <a:srgbClr val="296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3200400"/>
            <a:ext cx="105156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22231"/>
                </a:solidFill>
              </a:defRPr>
            </a:pPr>
            <a:r>
              <a:t>Ziel: Prof. Habich soll den aktuellen Code- und Messstand verstehen.</a:t>
            </a:r>
          </a:p>
          <a:p>
            <a:pPr>
              <a:spcAft>
                <a:spcPts val="600"/>
              </a:spcAft>
              <a:defRPr sz="1700">
                <a:solidFill>
                  <a:srgbClr val="122231"/>
                </a:solidFill>
              </a:defRPr>
            </a:pPr>
            <a:r>
              <a:t>Fokus: Architektur, echte Messkette, Audit-Befund, Teilfix, naechster Meilenstein.</a:t>
            </a:r>
          </a:p>
          <a:p>
            <a:pPr>
              <a:spcAft>
                <a:spcPts val="600"/>
              </a:spcAft>
              <a:defRPr sz="1700">
                <a:solidFill>
                  <a:srgbClr val="122231"/>
                </a:solidFill>
              </a:defRPr>
            </a:pPr>
            <a:r>
              <a:t>Keine Ueberbehauptung: finaler PRT-ART-Suchpfad ist noch nicht vollstaendig geschlossen.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Termin 10 | PRT-ART / Cache Engine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231"/>
                </a:solidFill>
              </a:defRPr>
            </a:pPr>
            <a:r>
              <a:t>1. Drei-Repo-Modell: klare Rollen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200400" cy="1051560"/>
          </a:xfrm>
          <a:prstGeom prst="roundRect">
            <a:avLst/>
          </a:prstGeom>
          <a:solidFill>
            <a:srgbClr val="DBEB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122231"/>
                </a:solidFill>
              </a:defRPr>
            </a:pPr>
            <a:r>
              <a:t>probst-Diplomarbeit</a:t>
            </a:r>
            <a:br/>
            <a:r>
              <a:t>Config, Driver, Auswertung, PDF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097280"/>
            <a:ext cx="3200400" cy="1051560"/>
          </a:xfrm>
          <a:prstGeom prst="roundRect">
            <a:avLst/>
          </a:prstGeom>
          <a:solidFill>
            <a:srgbClr val="E0F2E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122231"/>
                </a:solidFill>
              </a:defRPr>
            </a:pPr>
            <a:r>
              <a:t>comdare-cache-engine</a:t>
            </a:r>
            <a:br/>
            <a:r>
              <a:t>Builder, Codegen, Loader, Messung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097280"/>
            <a:ext cx="3200400" cy="1051560"/>
          </a:xfrm>
          <a:prstGeom prst="roundRect">
            <a:avLst/>
          </a:prstGeom>
          <a:solidFill>
            <a:srgbClr val="FFEDD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122231"/>
                </a:solidFill>
              </a:defRPr>
            </a:pPr>
            <a:r>
              <a:t>comdare-prt-art</a:t>
            </a:r>
            <a:br/>
            <a:r>
              <a:t>Algorithmus-Pruefling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31920" y="1627632"/>
            <a:ext cx="548640" cy="0"/>
          </a:xfrm>
          <a:prstGeom prst="line">
            <a:avLst/>
          </a:prstGeom>
          <a:ln w="25400">
            <a:solidFill>
              <a:srgbClr val="296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680960" y="1627632"/>
            <a:ext cx="548640" cy="0"/>
          </a:xfrm>
          <a:prstGeom prst="line">
            <a:avLst/>
          </a:prstGeom>
          <a:ln w="25400">
            <a:solidFill>
              <a:srgbClr val="296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743200"/>
            <a:ext cx="10515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22231"/>
                </a:solidFill>
              </a:defRPr>
            </a:pPr>
            <a:r>
              <a:t>Diplomarbeit bestimmt, welche Messreihen gefahren und wie Ergebnisse dargestellt werden.</a:t>
            </a:r>
          </a:p>
          <a:p>
            <a:pPr>
              <a:spcAft>
                <a:spcPts val="600"/>
              </a:spcAft>
              <a:defRPr sz="1700">
                <a:solidFill>
                  <a:srgbClr val="122231"/>
                </a:solidFill>
              </a:defRPr>
            </a:pPr>
            <a:r>
              <a:t>Cache Engine stellt die generische Mess- und Permutationsmechanik bereit.</a:t>
            </a:r>
          </a:p>
          <a:p>
            <a:pPr>
              <a:spcAft>
                <a:spcPts val="600"/>
              </a:spcAft>
              <a:defRPr sz="1700">
                <a:solidFill>
                  <a:srgbClr val="122231"/>
                </a:solidFill>
              </a:defRPr>
            </a:pPr>
            <a:r>
              <a:t>PRT-ART ist nicht das Messsystem, sondern ein pruefbarer Algorithmus innerhalb des Messsystems.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Termin 10 | PRT-ART / Cache Engine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231"/>
                </a:solidFill>
              </a:defRPr>
            </a:pPr>
            <a:r>
              <a:t>2. Diplomarbeits-Pipeline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1600200" cy="640080"/>
          </a:xfrm>
          <a:prstGeom prst="roundRect">
            <a:avLst/>
          </a:prstGeom>
          <a:solidFill>
            <a:srgbClr val="F2F4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122231"/>
                </a:solidFill>
              </a:defRPr>
            </a:pPr>
            <a:r>
              <a:t>experiment_config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03120" y="1645920"/>
            <a:ext cx="320040" cy="0"/>
          </a:xfrm>
          <a:prstGeom prst="line">
            <a:avLst/>
          </a:prstGeom>
          <a:ln w="25400">
            <a:solidFill>
              <a:srgbClr val="296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423160" y="1325880"/>
            <a:ext cx="1600200" cy="640080"/>
          </a:xfrm>
          <a:prstGeom prst="roundRect">
            <a:avLst/>
          </a:prstGeom>
          <a:solidFill>
            <a:srgbClr val="F2F4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122231"/>
                </a:solidFill>
              </a:defRPr>
            </a:pPr>
            <a:r>
              <a:t>messung_driver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23360" y="1645920"/>
            <a:ext cx="320040" cy="0"/>
          </a:xfrm>
          <a:prstGeom prst="line">
            <a:avLst/>
          </a:prstGeom>
          <a:ln w="25400">
            <a:solidFill>
              <a:srgbClr val="296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43400" y="1325880"/>
            <a:ext cx="1600200" cy="640080"/>
          </a:xfrm>
          <a:prstGeom prst="roundRect">
            <a:avLst/>
          </a:prstGeom>
          <a:solidFill>
            <a:srgbClr val="F2F4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122231"/>
                </a:solidFill>
              </a:defRPr>
            </a:pPr>
            <a:r>
              <a:t>binary_to_csv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0" y="1645920"/>
            <a:ext cx="320040" cy="0"/>
          </a:xfrm>
          <a:prstGeom prst="line">
            <a:avLst/>
          </a:prstGeom>
          <a:ln w="25400">
            <a:solidFill>
              <a:srgbClr val="296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63640" y="1325880"/>
            <a:ext cx="1600200" cy="640080"/>
          </a:xfrm>
          <a:prstGeom prst="roundRect">
            <a:avLst/>
          </a:prstGeom>
          <a:solidFill>
            <a:srgbClr val="F2F4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122231"/>
                </a:solidFill>
              </a:defRPr>
            </a:pPr>
            <a:r>
              <a:t>csv_to_latex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1645920"/>
            <a:ext cx="320040" cy="0"/>
          </a:xfrm>
          <a:prstGeom prst="line">
            <a:avLst/>
          </a:prstGeom>
          <a:ln w="25400">
            <a:solidFill>
              <a:srgbClr val="296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3880" y="1325880"/>
            <a:ext cx="1600200" cy="640080"/>
          </a:xfrm>
          <a:prstGeom prst="roundRect">
            <a:avLst/>
          </a:prstGeom>
          <a:solidFill>
            <a:srgbClr val="F2F4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122231"/>
                </a:solidFill>
              </a:defRPr>
            </a:pPr>
            <a:r>
              <a:t>diagram_generator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84080" y="1645920"/>
            <a:ext cx="320040" cy="0"/>
          </a:xfrm>
          <a:prstGeom prst="line">
            <a:avLst/>
          </a:prstGeom>
          <a:ln w="25400">
            <a:solidFill>
              <a:srgbClr val="296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104120" y="1325880"/>
            <a:ext cx="1600200" cy="640080"/>
          </a:xfrm>
          <a:prstGeom prst="roundRect">
            <a:avLst/>
          </a:prstGeom>
          <a:solidFill>
            <a:srgbClr val="F2F4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122231"/>
                </a:solidFill>
              </a:defRPr>
            </a:pPr>
            <a:r>
              <a:t>latex_to_pdf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43200"/>
            <a:ext cx="109728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Messreihen: A_defined, A_full, B_CacheEngine_Perms, C_Merge_Alt_Neu.</a:t>
            </a:r>
          </a:p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A_defined: PRT-ART gegen 8 Tier-1-SOTA-Profile.</a:t>
            </a:r>
          </a:p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A_full: PRT-ART gegen alle 30 SOTA-Profile.</a:t>
            </a:r>
          </a:p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Output-Ziel: measurements.csv/json + LaTeX/TikZ/PDF-Anhang.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Termin 10 | PRT-ART / Cache Engine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231"/>
                </a:solidFill>
              </a:defRPr>
            </a:pPr>
            <a:r>
              <a:t>3. Cache Engine: Mess- und Builder-Schicht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4389120"/>
          </a:xfrm>
          <a:prstGeom prst="roundRect">
            <a:avLst/>
          </a:prstGeom>
          <a:solidFill>
            <a:srgbClr val="DBEB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400800" y="1097280"/>
            <a:ext cx="5029200" cy="4389120"/>
          </a:xfrm>
          <a:prstGeom prst="roundRect">
            <a:avLst/>
          </a:prstGeom>
          <a:solidFill>
            <a:srgbClr val="E0F2E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1325880"/>
            <a:ext cx="457200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22231"/>
                </a:solidFill>
              </a:defRPr>
            </a:pPr>
            <a:r>
              <a:t>ExperimentDriver Phase 1-7</a:t>
            </a:r>
          </a:p>
          <a:p>
            <a:pPr>
              <a:spcAft>
                <a:spcPts val="600"/>
              </a:spcAft>
              <a:defRPr sz="1500">
                <a:solidFill>
                  <a:srgbClr val="122231"/>
                </a:solidFill>
              </a:defRPr>
            </a:pPr>
            <a:r>
              <a:t>XML Config Parser</a:t>
            </a:r>
          </a:p>
          <a:p>
            <a:pPr>
              <a:spcAft>
                <a:spcPts val="600"/>
              </a:spcAft>
              <a:defRPr sz="1500">
                <a:solidFill>
                  <a:srgbClr val="122231"/>
                </a:solidFill>
              </a:defRPr>
            </a:pPr>
            <a:r>
              <a:t>Permutation Loop</a:t>
            </a:r>
          </a:p>
          <a:p>
            <a:pPr>
              <a:spcAft>
                <a:spcPts val="600"/>
              </a:spcAft>
              <a:defRPr sz="1500">
                <a:solidFill>
                  <a:srgbClr val="122231"/>
                </a:solidFill>
              </a:defRPr>
            </a:pPr>
            <a:r>
              <a:t>Codegen</a:t>
            </a:r>
          </a:p>
          <a:p>
            <a:pPr>
              <a:spcAft>
                <a:spcPts val="600"/>
              </a:spcAft>
              <a:defRPr sz="1500">
                <a:solidFill>
                  <a:srgbClr val="122231"/>
                </a:solidFill>
              </a:defRPr>
            </a:pPr>
            <a:r>
              <a:t>ModuleLoader</a:t>
            </a:r>
          </a:p>
          <a:p>
            <a:pPr>
              <a:spcAft>
                <a:spcPts val="600"/>
              </a:spcAft>
              <a:defRPr sz="1500">
                <a:solidFill>
                  <a:srgbClr val="122231"/>
                </a:solidFill>
              </a:defRPr>
            </a:pPr>
            <a:r>
              <a:t>Experiment Runner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325880"/>
            <a:ext cx="457200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22231"/>
                </a:solidFill>
              </a:defRPr>
            </a:pPr>
            <a:r>
              <a:t>Workload Generator</a:t>
            </a:r>
          </a:p>
          <a:p>
            <a:pPr>
              <a:spcAft>
                <a:spcPts val="600"/>
              </a:spcAft>
              <a:defRPr sz="1500">
                <a:solidFill>
                  <a:srgbClr val="122231"/>
                </a:solidFill>
              </a:defRPr>
            </a:pPr>
            <a:r>
              <a:t>ResultAggregator</a:t>
            </a:r>
          </a:p>
          <a:p>
            <a:pPr>
              <a:spcAft>
                <a:spcPts val="600"/>
              </a:spcAft>
              <a:defRPr sz="1500">
                <a:solidFill>
                  <a:srgbClr val="122231"/>
                </a:solidFill>
              </a:defRPr>
            </a:pPr>
            <a:r>
              <a:t>MeasurementBuffer</a:t>
            </a:r>
          </a:p>
          <a:p>
            <a:pPr>
              <a:spcAft>
                <a:spcPts val="600"/>
              </a:spcAft>
              <a:defRPr sz="1500">
                <a:solidFill>
                  <a:srgbClr val="122231"/>
                </a:solidFill>
              </a:defRPr>
            </a:pPr>
            <a:r>
              <a:t>Allocator/Page/ISA-Bausteine</a:t>
            </a:r>
          </a:p>
          <a:p>
            <a:pPr>
              <a:spcAft>
                <a:spcPts val="600"/>
              </a:spcAft>
              <a:defRPr sz="1500">
                <a:solidFill>
                  <a:srgbClr val="122231"/>
                </a:solidFill>
              </a:defRPr>
            </a:pPr>
            <a:r>
              <a:t>SOTA-Profile</a:t>
            </a:r>
          </a:p>
          <a:p>
            <a:pPr>
              <a:spcAft>
                <a:spcPts val="600"/>
              </a:spcAft>
              <a:defRPr sz="1500">
                <a:solidFill>
                  <a:srgbClr val="122231"/>
                </a:solidFill>
              </a:defRPr>
            </a:pPr>
            <a:r>
              <a:t>Tools: YCSB, LaTeX, 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Termin 10 | PRT-ART / Cache Engine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231"/>
                </a:solidFill>
              </a:defRPr>
            </a:pPr>
            <a:r>
              <a:t>4. Reale lokale Messkette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103120" cy="731520"/>
          </a:xfrm>
          <a:prstGeom prst="roundRect">
            <a:avLst/>
          </a:prstGeom>
          <a:solidFill>
            <a:srgbClr val="F2F4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22231"/>
                </a:solidFill>
              </a:defRPr>
            </a:pPr>
            <a:r>
              <a:t>thesis_*.cpp</a:t>
            </a:r>
            <a:br/>
            <a:r>
              <a:t>Anatomie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188720"/>
            <a:ext cx="2103120" cy="731520"/>
          </a:xfrm>
          <a:prstGeom prst="roundRect">
            <a:avLst/>
          </a:prstGeom>
          <a:solidFill>
            <a:srgbClr val="F2F4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22231"/>
                </a:solidFill>
              </a:defRPr>
            </a:pPr>
            <a:r>
              <a:t>DLL-Tier</a:t>
            </a:r>
            <a:br/>
            <a:r>
              <a:t>IObservableTier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2103120" cy="731520"/>
          </a:xfrm>
          <a:prstGeom prst="roundRect">
            <a:avLst/>
          </a:prstGeom>
          <a:solidFill>
            <a:srgbClr val="F2F4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22231"/>
                </a:solidFill>
              </a:defRPr>
            </a:pPr>
            <a:r>
              <a:t>perm_runner</a:t>
            </a:r>
            <a:br/>
            <a:r>
              <a:t>Insert+Lookup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188720"/>
            <a:ext cx="2103120" cy="731520"/>
          </a:xfrm>
          <a:prstGeom prst="roundRect">
            <a:avLst/>
          </a:prstGeom>
          <a:solidFill>
            <a:srgbClr val="F2F4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22231"/>
                </a:solidFill>
              </a:defRPr>
            </a:pPr>
            <a:r>
              <a:t>result_ingest</a:t>
            </a:r>
            <a:br/>
            <a:r>
              <a:t>CSV-Zeile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40" y="1554480"/>
            <a:ext cx="548640" cy="0"/>
          </a:xfrm>
          <a:prstGeom prst="line">
            <a:avLst/>
          </a:prstGeom>
          <a:ln w="25400">
            <a:solidFill>
              <a:srgbClr val="296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0" y="1554480"/>
            <a:ext cx="548640" cy="0"/>
          </a:xfrm>
          <a:prstGeom prst="line">
            <a:avLst/>
          </a:prstGeom>
          <a:ln w="25400">
            <a:solidFill>
              <a:srgbClr val="296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138160" y="1554480"/>
            <a:ext cx="548640" cy="0"/>
          </a:xfrm>
          <a:prstGeom prst="line">
            <a:avLst/>
          </a:prstGeom>
          <a:ln w="25400">
            <a:solidFill>
              <a:srgbClr val="296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2743200"/>
            <a:ext cx="10515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8 SearchAlgorithm-DLL-Tiere wurden lokal gebaut und gemessen.</a:t>
            </a:r>
          </a:p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24 result_ingest-Zeilen fuer n_ops = 1000, 2000, 4000.</a:t>
            </a:r>
          </a:p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Messfelder sind aktuell Strukturzaehler; Wall-Clock/PMC wird separat im Cluster-/perf-Pfad aufgebaut.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Termin 10 | PRT-ART / Cache Engine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231"/>
                </a:solidFill>
              </a:defRPr>
            </a:pPr>
            <a:r>
              <a:t>5. Audit-Befund: methodisch wichtig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972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22231"/>
                </a:solidFill>
              </a:defRPr>
            </a:pPr>
            <a:r>
              <a:t>Problem: Die axis_03a-Suchorgane waren im aktiven Messpfad Monolithen mit Eigenspeicher.</a:t>
            </a:r>
          </a:p>
          <a:p>
            <a:pPr>
              <a:spcAft>
                <a:spcPts val="600"/>
              </a:spcAft>
              <a:defRPr sz="1700">
                <a:solidFill>
                  <a:srgbClr val="122231"/>
                </a:solidFill>
              </a:defRPr>
            </a:pPr>
            <a:r>
              <a:t>Folge: node_type, memory_layout und allocator wurden nicht operativ durchlaufen.</a:t>
            </a:r>
          </a:p>
          <a:p>
            <a:pPr>
              <a:spcAft>
                <a:spcPts val="600"/>
              </a:spcAft>
              <a:defRPr sz="1700">
                <a:solidFill>
                  <a:srgbClr val="122231"/>
                </a:solidFill>
              </a:defRPr>
            </a:pPr>
            <a:r>
              <a:t>Damit war die Variation von Node/Layout/Allocator nicht als Achsenwirkung interpretierbar.</a:t>
            </a:r>
          </a:p>
          <a:p>
            <a:pPr>
              <a:spcAft>
                <a:spcPts val="600"/>
              </a:spcAft>
              <a:defRPr sz="1700">
                <a:solidFill>
                  <a:srgbClr val="122231"/>
                </a:solidFill>
              </a:defRPr>
            </a:pPr>
            <a:r>
              <a:t>Das ist kein Nebendetail, sondern ein echter Architektur-Verstoss gegen das Organ-/Achsenmodell.</a:t>
            </a:r>
          </a:p>
          <a:p>
            <a:pPr>
              <a:spcAft>
                <a:spcPts val="600"/>
              </a:spcAft>
              <a:defRPr sz="1700">
                <a:solidFill>
                  <a:srgbClr val="122231"/>
                </a:solidFill>
              </a:defRPr>
            </a:pPr>
            <a:r>
              <a:t>Wertvoller Fortschritt: Der Fehler wurde erkannt, dokumentiert und teilweise repariert.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Termin 10 | PRT-ART / Cache Engine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231"/>
                </a:solidFill>
              </a:defRPr>
            </a:pPr>
            <a:r>
              <a:t>6. Teilfix: NodeChunkedStore macht node_type sichtbar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2286000" cy="914400"/>
          </a:xfrm>
          <a:prstGeom prst="roundRect">
            <a:avLst/>
          </a:prstGeom>
          <a:solidFill>
            <a:srgbClr val="FEE2E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122231"/>
                </a:solidFill>
              </a:defRPr>
            </a:pPr>
            <a:r>
              <a:t>Node4</a:t>
            </a:r>
            <a:br/>
            <a:r>
              <a:t>hoher alloc_cnt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188720"/>
            <a:ext cx="2286000" cy="914400"/>
          </a:xfrm>
          <a:prstGeom prst="roundRect">
            <a:avLst/>
          </a:prstGeom>
          <a:solidFill>
            <a:srgbClr val="FFEDD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122231"/>
                </a:solidFill>
              </a:defRPr>
            </a:pPr>
            <a:r>
              <a:t>Node16</a:t>
            </a:r>
            <a:br/>
            <a:r>
              <a:t>mittlerer alloc_cnt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2286000" cy="914400"/>
          </a:xfrm>
          <a:prstGeom prst="roundRect">
            <a:avLst/>
          </a:prstGeom>
          <a:solidFill>
            <a:srgbClr val="DBEB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122231"/>
                </a:solidFill>
              </a:defRPr>
            </a:pPr>
            <a:r>
              <a:t>Node48</a:t>
            </a:r>
            <a:br/>
            <a:r>
              <a:t>niedriger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188720"/>
            <a:ext cx="2286000" cy="914400"/>
          </a:xfrm>
          <a:prstGeom prst="roundRect">
            <a:avLst/>
          </a:prstGeom>
          <a:solidFill>
            <a:srgbClr val="E0F2E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500" b="1">
                <a:solidFill>
                  <a:srgbClr val="122231"/>
                </a:solidFill>
              </a:defRPr>
            </a:pPr>
            <a:r>
              <a:t>Node256</a:t>
            </a:r>
            <a:br/>
            <a:r>
              <a:t>sehr niedrig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6070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NodeChunkedStore speichert in node-grossen Chunks.</a:t>
            </a:r>
          </a:p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allocation_count wird proportional zu ceil(n / node_capacity).</a:t>
            </a:r>
          </a:p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Damit ist node_type im Speicherpfad nicht mehr nur Typdekoration, sondern messbar wirksam.</a:t>
            </a:r>
          </a:p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Offen: Suchmetriken muessen ebenfalls aus demselben delegierenden Store kommen.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Termin 10 | PRT-ART / Cache Engine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231"/>
                </a:solidFill>
              </a:defRPr>
            </a:pPr>
            <a:r>
              <a:t>7. PRT-ART: was ist real vorhanden?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474720" cy="777240"/>
          </a:xfrm>
          <a:prstGeom prst="roundRect">
            <a:avLst/>
          </a:prstGeom>
          <a:solidFill>
            <a:srgbClr val="DBEB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22231"/>
                </a:solidFill>
              </a:defRPr>
            </a:pPr>
            <a:r>
              <a:t>PrtArtComponents</a:t>
            </a:r>
            <a:br/>
            <a:r>
              <a:t>Pools, OLC, Layout, Prefetch,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097280"/>
            <a:ext cx="3474720" cy="777240"/>
          </a:xfrm>
          <a:prstGeom prst="roundRect">
            <a:avLst/>
          </a:prstGeom>
          <a:solidFill>
            <a:srgbClr val="E0F2E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22231"/>
                </a:solidFill>
              </a:defRPr>
            </a:pPr>
            <a:r>
              <a:t>Hybrid API</a:t>
            </a:r>
            <a:br/>
            <a:r>
              <a:t>Vector / Map / Tuple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097280"/>
            <a:ext cx="3474720" cy="777240"/>
          </a:xfrm>
          <a:prstGeom prst="roundRect">
            <a:avLst/>
          </a:prstGeom>
          <a:solidFill>
            <a:srgbClr val="FFEDD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22231"/>
                </a:solidFill>
              </a:defRPr>
            </a:pPr>
            <a:r>
              <a:t>ABI Adapter</a:t>
            </a:r>
            <a:br/>
            <a:r>
              <a:t>Map / Vector / Tuple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7899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PRT-ART besitzt ein Profil mit DenseByte, Redirect, HotPath, ChainRef, OLC Reserved, 4+2 Pool, Redirect Prefetch, MultiLevel Layout.</a:t>
            </a:r>
          </a:p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Heuristik-Hooks fuer Density, Hot Path und Workload Change sind angebunden.</a:t>
            </a:r>
          </a:p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Die API ist integrationsfaehig und std::map-/std::vector-nahe verwendbar.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Termin 10 | PRT-ART / Cache Engine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231"/>
                </a:solidFill>
              </a:defRPr>
            </a:pPr>
            <a:r>
              <a:t>8. Ehrlicher offener 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972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22231"/>
                </a:solidFill>
              </a:defRPr>
            </a:pPr>
            <a:r>
              <a:t>Der Map-Pfad von PrtArtSearchEngine nutzt aktuell noch std::map&lt;binary_key, storage_value&gt;.</a:t>
            </a:r>
          </a:p>
          <a:p>
            <a:pPr>
              <a:spcAft>
                <a:spcPts val="600"/>
              </a:spcAft>
              <a:defRPr sz="1800">
                <a:solidFill>
                  <a:srgbClr val="122231"/>
                </a:solidFill>
              </a:defRPr>
            </a:pPr>
            <a:r>
              <a:t>Das PRT-ART-Codegen-Template ist noch ein Prueflings-Stub mit simulierten Zaehlern.</a:t>
            </a:r>
          </a:p>
          <a:p>
            <a:pPr>
              <a:spcAft>
                <a:spcPts val="600"/>
              </a:spcAft>
              <a:defRPr sz="1800">
                <a:solidFill>
                  <a:srgbClr val="122231"/>
                </a:solidFill>
              </a:defRPr>
            </a:pPr>
            <a:r>
              <a:t>Damit ist die Integrations-API real, aber der finale Redirect/Page/ValueHandle-Suchpfad noch nicht geschlossen.</a:t>
            </a:r>
          </a:p>
          <a:p>
            <a:pPr>
              <a:spcAft>
                <a:spcPts val="600"/>
              </a:spcAft>
              <a:defRPr sz="1800">
                <a:solidFill>
                  <a:srgbClr val="122231"/>
                </a:solidFill>
              </a:defRPr>
            </a:pPr>
            <a:r>
              <a:t>Diese Aussage sollte im Termin offen formuliert werden: kein Scheinerfolg, sondern klarer naechster Meilenstein.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Termin 10 | PRT-ART / Cache Engine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231"/>
                </a:solidFill>
              </a:defRPr>
            </a:pPr>
            <a:r>
              <a:t>9. Naechster harter Meilenstein: vertikaler Schnitt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828800" cy="731520"/>
          </a:xfrm>
          <a:prstGeom prst="roundRect">
            <a:avLst/>
          </a:prstGeom>
          <a:solidFill>
            <a:srgbClr val="F2F4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22231"/>
                </a:solidFill>
              </a:defRPr>
            </a:pPr>
            <a:r>
              <a:t>Workload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468880" y="1783080"/>
            <a:ext cx="411480" cy="0"/>
          </a:xfrm>
          <a:prstGeom prst="line">
            <a:avLst/>
          </a:prstGeom>
          <a:ln w="25400">
            <a:solidFill>
              <a:srgbClr val="296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880360" y="1417320"/>
            <a:ext cx="1828800" cy="731520"/>
          </a:xfrm>
          <a:prstGeom prst="roundRect">
            <a:avLst/>
          </a:prstGeom>
          <a:solidFill>
            <a:srgbClr val="F2F4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22231"/>
                </a:solidFill>
              </a:defRPr>
            </a:pPr>
            <a:r>
              <a:t>generiertes Modul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09160" y="1783080"/>
            <a:ext cx="411480" cy="0"/>
          </a:xfrm>
          <a:prstGeom prst="line">
            <a:avLst/>
          </a:prstGeom>
          <a:ln w="25400">
            <a:solidFill>
              <a:srgbClr val="296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20640" y="1417320"/>
            <a:ext cx="1828800" cy="731520"/>
          </a:xfrm>
          <a:prstGeom prst="roundRect">
            <a:avLst/>
          </a:prstGeom>
          <a:solidFill>
            <a:srgbClr val="F2F4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22231"/>
                </a:solidFill>
              </a:defRPr>
            </a:pPr>
            <a:r>
              <a:t>echter PRT-ART-Pfad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49440" y="1783080"/>
            <a:ext cx="411480" cy="0"/>
          </a:xfrm>
          <a:prstGeom prst="line">
            <a:avLst/>
          </a:prstGeom>
          <a:ln w="25400">
            <a:solidFill>
              <a:srgbClr val="296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60920" y="1417320"/>
            <a:ext cx="1828800" cy="731520"/>
          </a:xfrm>
          <a:prstGeom prst="roundRect">
            <a:avLst/>
          </a:prstGeom>
          <a:solidFill>
            <a:srgbClr val="F2F4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22231"/>
                </a:solidFill>
              </a:defRPr>
            </a:pPr>
            <a:r>
              <a:t>V2 Mess-POD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89720" y="1783080"/>
            <a:ext cx="411480" cy="0"/>
          </a:xfrm>
          <a:prstGeom prst="line">
            <a:avLst/>
          </a:prstGeom>
          <a:ln w="25400">
            <a:solidFill>
              <a:srgbClr val="296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0" y="1417320"/>
            <a:ext cx="1828800" cy="731520"/>
          </a:xfrm>
          <a:prstGeom prst="roundRect">
            <a:avLst/>
          </a:prstGeom>
          <a:solidFill>
            <a:srgbClr val="F2F4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122231"/>
                </a:solidFill>
              </a:defRPr>
            </a:pPr>
            <a:r>
              <a:t>CSV/LaTeX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107899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22231"/>
                </a:solidFill>
              </a:defRPr>
            </a:pPr>
            <a:r>
              <a:t>Nicht mehr neue Achsenbreite priorisieren.</a:t>
            </a:r>
          </a:p>
          <a:p>
            <a:pPr>
              <a:spcAft>
                <a:spcPts val="600"/>
              </a:spcAft>
              <a:defRPr sz="1700">
                <a:solidFill>
                  <a:srgbClr val="122231"/>
                </a:solidFill>
              </a:defRPr>
            </a:pPr>
            <a:r>
              <a:t>Ziel: ein minimales echtes PRT-ART-Tier durch alle relevanten Schichten.</a:t>
            </a:r>
          </a:p>
          <a:p>
            <a:pPr>
              <a:spcAft>
                <a:spcPts val="600"/>
              </a:spcAft>
              <a:defRPr sz="1700">
                <a:solidFill>
                  <a:srgbClr val="122231"/>
                </a:solidFill>
              </a:defRPr>
            </a:pPr>
            <a:r>
              <a:t>Danach erst Breite: mehr SOTA-Profile, mehr Plattformen, mehr Cluster-Messungen.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Termin 10 | PRT-ART / Cache Engine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231"/>
                </a:solidFill>
              </a:defRPr>
            </a:pPr>
            <a:r>
              <a:t>10. Vorschlag fuer die naechsten zwei Wochen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1. prtart_body.hpp.template: Stub -&gt; echte PrtArtSearchEngine-Instanz.</a:t>
            </a:r>
          </a:p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2. Map-Pfad: std::map schrittweise durch Redirect/BPlusNode/InternalSearch/ValueHandle ersetzen.</a:t>
            </a:r>
          </a:p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3. SearchAlgorithmAbiAdapter: Such- und Speicherwerte aus demselben Store.</a:t>
            </a:r>
          </a:p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4. V2-POD: node/layout/allocator-Felder ausgeben.</a:t>
            </a:r>
          </a:p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5. Eine result_ingest-Zeile erzeugen, die wirklich den PRT-ART-Pfad misst.</a:t>
            </a:r>
          </a:p>
          <a:p>
            <a:pPr>
              <a:spcAft>
                <a:spcPts val="600"/>
              </a:spcAft>
              <a:defRPr sz="1600">
                <a:solidFill>
                  <a:srgbClr val="122231"/>
                </a:solidFill>
              </a:defRPr>
            </a:pPr>
            <a:r>
              <a:t>6. Danach PMC/perf/PAPI und Cluster-Skalierung.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3796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Termin 10 | PRT-ART / Cache Engine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231"/>
                </a:solidFill>
              </a:defRPr>
            </a:pPr>
            <a:r>
              <a:t>11. Frage an Prof. Habich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10332720" cy="1280160"/>
          </a:xfrm>
          <a:prstGeom prst="roundRect">
            <a:avLst/>
          </a:prstGeom>
          <a:solidFill>
            <a:srgbClr val="FFF7ED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2000" b="1">
                <a:solidFill>
                  <a:srgbClr val="122231"/>
                </a:solidFill>
              </a:defRPr>
            </a:pPr>
            <a:r>
              <a:t>Ist die Priorisierung auf den vertikalen PRT-ART-End-to-End-Pfad fuer die naechste Phase korrekt?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22231"/>
                </a:solidFill>
              </a:defRPr>
            </a:pPr>
            <a:r>
              <a:t>Wenn ja: Achsenbreite, weitere SOTA-Adapter und Cluster-Automatisierung kurz zurueckstellen.</a:t>
            </a:r>
          </a:p>
          <a:p>
            <a:pPr>
              <a:spcAft>
                <a:spcPts val="600"/>
              </a:spcAft>
              <a:defRPr sz="1700">
                <a:solidFill>
                  <a:srgbClr val="122231"/>
                </a:solidFill>
              </a:defRPr>
            </a:pPr>
            <a:r>
              <a:t>Wenn nein: alternative Prioritaet festlegen, bevor weitere Implementierung passiert.</a:t>
            </a:r>
          </a:p>
          <a:p>
            <a:pPr>
              <a:spcAft>
                <a:spcPts val="600"/>
              </a:spcAft>
              <a:defRPr sz="1700">
                <a:solidFill>
                  <a:srgbClr val="122231"/>
                </a:solidFill>
              </a:defRPr>
            </a:pPr>
            <a:r>
              <a:t>Vorschlag: Fokus auf methodische Guete statt auf beeindruckende Permutationszahl.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3796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Termin 10 | PRT-ART / Cache Engine |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