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handoutMasters/handoutMaster1.xml" ContentType="application/vnd.openxmlformats-officedocument.presentationml.handoutMaster+xml"/>
  <Override PartName="/ppt/media/image1.svg" ContentType="image/svg+xml"/>
  <Override PartName="/ppt/media/image10.svg" ContentType="image/svg+xml"/>
  <Override PartName="/ppt/media/image11.svg" ContentType="image/svg+xml"/>
  <Override PartName="/ppt/media/image2.svg" ContentType="image/svg+xml"/>
  <Override PartName="/ppt/media/image3.svg" ContentType="image/svg+xml"/>
  <Override PartName="/ppt/media/image4.svg" ContentType="image/svg+xml"/>
  <Override PartName="/ppt/media/image5.svg" ContentType="image/svg+xml"/>
  <Override PartName="/ppt/media/image6.svg" ContentType="image/svg+xml"/>
  <Override PartName="/ppt/media/image7.svg" ContentType="image/svg+xml"/>
  <Override PartName="/ppt/media/image8.svg" ContentType="image/svg+xml"/>
  <Override PartName="/ppt/media/image9.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3" r:id="rId1"/>
  </p:sldMasterIdLst>
  <p:notesMasterIdLst>
    <p:notesMasterId r:id="rId25"/>
  </p:notesMasterIdLst>
  <p:handoutMasterIdLst>
    <p:handoutMasterId r:id="rId26"/>
  </p:handoutMasterIdLst>
  <p:sldIdLst>
    <p:sldId id="256" r:id="rId2"/>
    <p:sldId id="257" r:id="rId3"/>
    <p:sldId id="259" r:id="rId5"/>
    <p:sldId id="258" r:id="rId4"/>
    <p:sldId id="279" r:id="rId31"/>
    <p:sldId id="260" r:id="rId6"/>
    <p:sldId id="261" r:id="rId7"/>
    <p:sldId id="262" r:id="rId8"/>
    <p:sldId id="280" r:id="rId32"/>
    <p:sldId id="281" r:id="rId33"/>
    <p:sldId id="263" r:id="rId9"/>
    <p:sldId id="264" r:id="rId10"/>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65" r:id="rId11"/>
  </p:sldIdLst>
  <p:sldSz cx="9144000" cy="5143500" type="screen16x9"/>
  <p:notesSz cx="6797675" cy="9874250"/>
  <p:defaultTextStyle>
    <a:defPPr>
      <a:defRPr lang="de-DE"/>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1E8197"/>
    <a:srgbClr val="4677A0"/>
    <a:srgbClr val="B1D284"/>
    <a:srgbClr val="29BC9F"/>
    <a:srgbClr val="40B498"/>
    <a:srgbClr val="E7F4EE"/>
    <a:srgbClr val="E7F4E4"/>
    <a:srgbClr val="87D4AF"/>
    <a:srgbClr val="5087B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9979" autoAdjust="0"/>
    <p:restoredTop sz="75217" autoAdjust="0"/>
  </p:normalViewPr>
  <p:slideViewPr>
    <p:cSldViewPr snapToGrid="0">
      <p:cViewPr varScale="1">
        <p:scale>
          <a:sx n="250" d="100"/>
          <a:sy n="250" d="100"/>
        </p:scale>
        <p:origin x="605" y="149"/>
      </p:cViewPr>
      <p:guideLst/>
    </p:cSldViewPr>
  </p:slideViewPr>
  <p:outlineViewPr>
    <p:cViewPr>
      <p:scale>
        <a:sx n="33" d="100"/>
        <a:sy n="33" d="100"/>
      </p:scale>
      <p:origin x="0" y="0"/>
    </p:cViewPr>
  </p:outlineViewPr>
  <p:notesTextViewPr>
    <p:cViewPr>
      <p:scale>
        <a:sx n="3" d="2"/>
        <a:sy n="3" d="2"/>
      </p:scale>
      <p:origin x="0" y="0"/>
    </p:cViewPr>
  </p:notesTextViewPr>
  <p:notesViewPr>
    <p:cSldViewPr snapToGrid="0">
      <p:cViewPr varScale="1">
        <p:scale>
          <a:sx n="73" d="100"/>
          <a:sy n="73" d="100"/>
        </p:scale>
        <p:origin x="3449" y="58"/>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4.xml"/><Relationship Id="rId5" Type="http://schemas.openxmlformats.org/officeDocument/2006/relationships/slide" Target="slides/slide3.xml"/><Relationship Id="rId6" Type="http://schemas.openxmlformats.org/officeDocument/2006/relationships/slide" Target="slides/slide6.xml"/><Relationship Id="rId7" Type="http://schemas.openxmlformats.org/officeDocument/2006/relationships/slide" Target="slides/slide7.xml"/><Relationship Id="rId8" Type="http://schemas.openxmlformats.org/officeDocument/2006/relationships/slide" Target="slides/slide8.xml"/><Relationship Id="rId9" Type="http://schemas.openxmlformats.org/officeDocument/2006/relationships/slide" Target="slides/slide11.xml"/><Relationship Id="rId10" Type="http://schemas.openxmlformats.org/officeDocument/2006/relationships/slide" Target="slides/slide12.xml"/><Relationship Id="rId11" Type="http://schemas.openxmlformats.org/officeDocument/2006/relationships/slide" Target="slides/slide13.xml"/><Relationship Id="rId12" Type="http://schemas.openxmlformats.org/officeDocument/2006/relationships/slide" Target="slides/slide14.xml"/><Relationship Id="rId13" Type="http://schemas.openxmlformats.org/officeDocument/2006/relationships/slide" Target="slides/slide15.xml"/><Relationship Id="rId14" Type="http://schemas.openxmlformats.org/officeDocument/2006/relationships/slide" Target="slides/slide16.xml"/><Relationship Id="rId15" Type="http://schemas.openxmlformats.org/officeDocument/2006/relationships/slide" Target="slides/slide17.xml"/><Relationship Id="rId16" Type="http://schemas.openxmlformats.org/officeDocument/2006/relationships/slide" Target="slides/slide18.xml"/><Relationship Id="rId17" Type="http://schemas.openxmlformats.org/officeDocument/2006/relationships/slide" Target="slides/slide19.xml"/><Relationship Id="rId18" Type="http://schemas.openxmlformats.org/officeDocument/2006/relationships/slide" Target="slides/slide20.xml"/><Relationship Id="rId19" Type="http://schemas.openxmlformats.org/officeDocument/2006/relationships/slide" Target="slides/slide21.xml"/><Relationship Id="rId20" Type="http://schemas.openxmlformats.org/officeDocument/2006/relationships/slide" Target="slides/slide22.xml"/><Relationship Id="rId21" Type="http://schemas.openxmlformats.org/officeDocument/2006/relationships/slide" Target="slides/slide23.xml"/><Relationship Id="rId22" Type="http://schemas.openxmlformats.org/officeDocument/2006/relationships/slide" Target="slides/slide24.xml"/><Relationship Id="rId23" Type="http://schemas.openxmlformats.org/officeDocument/2006/relationships/slide" Target="slides/slide25.xml"/><Relationship Id="rId24" Type="http://schemas.openxmlformats.org/officeDocument/2006/relationships/slide" Target="slides/slide26.xml"/><Relationship Id="rId25" Type="http://schemas.openxmlformats.org/officeDocument/2006/relationships/notesMaster" Target="notesMasters/notesMaster1.xml"/><Relationship Id="rId26" Type="http://schemas.openxmlformats.org/officeDocument/2006/relationships/handoutMaster" Target="handoutMasters/handout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 Id="rId31" Type="http://schemas.openxmlformats.org/officeDocument/2006/relationships/slide" Target="slides/slide5.xml"/><Relationship Id="rId32" Type="http://schemas.openxmlformats.org/officeDocument/2006/relationships/slide" Target="slides/slide9.xml"/><Relationship Id="rId33" Type="http://schemas.openxmlformats.org/officeDocument/2006/relationships/slide" Target="slides/slide10.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45659" cy="495427"/>
          </a:xfrm>
          <a:prstGeom prst="rect">
            <a:avLst/>
          </a:prstGeom>
        </p:spPr>
        <p:txBody>
          <a:bodyPr vert="horz" lIns="91440" tIns="45720" rIns="91440" bIns="45720" rtlCol="0"/>
          <a:lstStyle>
            <a:lvl1pPr algn="l">
              <a:defRPr sz="1200"/>
            </a:lvl1pPr>
          </a:lstStyle>
          <a:p>
            <a:endParaRPr lang="de-DE" dirty="0"/>
          </a:p>
        </p:txBody>
      </p:sp>
      <p:sp>
        <p:nvSpPr>
          <p:cNvPr id="3" name="Datumsplatzhalter 2"/>
          <p:cNvSpPr>
            <a:spLocks noGrp="1"/>
          </p:cNvSpPr>
          <p:nvPr>
            <p:ph type="dt" sz="quarter" idx="1"/>
          </p:nvPr>
        </p:nvSpPr>
        <p:spPr>
          <a:xfrm>
            <a:off x="3850443" y="0"/>
            <a:ext cx="2945659" cy="495427"/>
          </a:xfrm>
          <a:prstGeom prst="rect">
            <a:avLst/>
          </a:prstGeom>
        </p:spPr>
        <p:txBody>
          <a:bodyPr vert="horz" lIns="91440" tIns="45720" rIns="91440" bIns="45720" rtlCol="0"/>
          <a:lstStyle>
            <a:lvl1pPr algn="r">
              <a:defRPr sz="1200"/>
            </a:lvl1pPr>
          </a:lstStyle>
          <a:p>
            <a:fld id="{F4DF2165-45DD-4E6A-8D88-991CFCF20576}" type="datetimeFigureOut">
              <a:rPr lang="de-DE" smtClean="0"/>
              <a:t>18.09.2026</a:t>
            </a:fld>
            <a:endParaRPr lang="de-DE" dirty="0"/>
          </a:p>
        </p:txBody>
      </p:sp>
      <p:sp>
        <p:nvSpPr>
          <p:cNvPr id="4" name="Fußzeilenplatzhalter 3"/>
          <p:cNvSpPr>
            <a:spLocks noGrp="1"/>
          </p:cNvSpPr>
          <p:nvPr>
            <p:ph type="ftr" sz="quarter" idx="2"/>
          </p:nvPr>
        </p:nvSpPr>
        <p:spPr>
          <a:xfrm>
            <a:off x="0" y="9378824"/>
            <a:ext cx="2945659" cy="495426"/>
          </a:xfrm>
          <a:prstGeom prst="rect">
            <a:avLst/>
          </a:prstGeom>
        </p:spPr>
        <p:txBody>
          <a:bodyPr vert="horz" lIns="91440" tIns="45720" rIns="91440" bIns="45720" rtlCol="0" anchor="b"/>
          <a:lstStyle>
            <a:lvl1pPr algn="l">
              <a:defRPr sz="1200"/>
            </a:lvl1pPr>
          </a:lstStyle>
          <a:p>
            <a:endParaRPr lang="de-DE" dirty="0"/>
          </a:p>
        </p:txBody>
      </p:sp>
      <p:sp>
        <p:nvSpPr>
          <p:cNvPr id="5" name="Foliennummernplatzhalter 4"/>
          <p:cNvSpPr>
            <a:spLocks noGrp="1"/>
          </p:cNvSpPr>
          <p:nvPr>
            <p:ph type="sldNum" sz="quarter" idx="3"/>
          </p:nvPr>
        </p:nvSpPr>
        <p:spPr>
          <a:xfrm>
            <a:off x="3850443" y="9378824"/>
            <a:ext cx="2945659" cy="495426"/>
          </a:xfrm>
          <a:prstGeom prst="rect">
            <a:avLst/>
          </a:prstGeom>
        </p:spPr>
        <p:txBody>
          <a:bodyPr vert="horz" lIns="91440" tIns="45720" rIns="91440" bIns="45720" rtlCol="0" anchor="b"/>
          <a:lstStyle>
            <a:lvl1pPr algn="r">
              <a:defRPr sz="1200"/>
            </a:lvl1pPr>
          </a:lstStyle>
          <a:p>
            <a:fld id="{4F392895-00AB-4E56-A4C3-B2032C42F3A0}" type="slidenum">
              <a:rPr lang="de-DE" smtClean="0"/>
              <a:t>‹Nr.›</a:t>
            </a:fld>
            <a:endParaRPr lang="de-DE" dirty="0"/>
          </a:p>
        </p:txBody>
      </p:sp>
    </p:spTree>
    <p:extLst>
      <p:ext uri="{BB962C8B-B14F-4D97-AF65-F5344CB8AC3E}">
        <p14:creationId xmlns:p14="http://schemas.microsoft.com/office/powerpoint/2010/main" val="38161506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45659" cy="495427"/>
          </a:xfrm>
          <a:prstGeom prst="rect">
            <a:avLst/>
          </a:prstGeom>
        </p:spPr>
        <p:txBody>
          <a:bodyPr vert="horz" lIns="91440" tIns="45720" rIns="91440" bIns="45720" rtlCol="0"/>
          <a:lstStyle>
            <a:lvl1pPr algn="l">
              <a:defRPr sz="1200"/>
            </a:lvl1pPr>
          </a:lstStyle>
          <a:p>
            <a:endParaRPr lang="de-DE" dirty="0"/>
          </a:p>
        </p:txBody>
      </p:sp>
      <p:sp>
        <p:nvSpPr>
          <p:cNvPr id="3" name="Datumsplatzhalter 2"/>
          <p:cNvSpPr>
            <a:spLocks noGrp="1"/>
          </p:cNvSpPr>
          <p:nvPr>
            <p:ph type="dt" idx="1"/>
          </p:nvPr>
        </p:nvSpPr>
        <p:spPr>
          <a:xfrm>
            <a:off x="3850443" y="0"/>
            <a:ext cx="2945659" cy="495427"/>
          </a:xfrm>
          <a:prstGeom prst="rect">
            <a:avLst/>
          </a:prstGeom>
        </p:spPr>
        <p:txBody>
          <a:bodyPr vert="horz" lIns="91440" tIns="45720" rIns="91440" bIns="45720" rtlCol="0"/>
          <a:lstStyle>
            <a:lvl1pPr algn="r">
              <a:defRPr sz="1200"/>
            </a:lvl1pPr>
          </a:lstStyle>
          <a:p>
            <a:fld id="{DBB2A775-C49D-45BA-A919-7D687A0440E7}" type="datetimeFigureOut">
              <a:rPr lang="de-DE" smtClean="0"/>
              <a:t>18.09.2026</a:t>
            </a:fld>
            <a:endParaRPr lang="de-DE"/>
          </a:p>
        </p:txBody>
      </p:sp>
      <p:sp>
        <p:nvSpPr>
          <p:cNvPr id="4" name="Folienbildplatzhalter 3"/>
          <p:cNvSpPr>
            <a:spLocks noGrp="1" noRot="1" noChangeAspect="1"/>
          </p:cNvSpPr>
          <p:nvPr>
            <p:ph type="sldImg" idx="2"/>
          </p:nvPr>
        </p:nvSpPr>
        <p:spPr>
          <a:xfrm>
            <a:off x="511513" y="1048806"/>
            <a:ext cx="5924550" cy="3333750"/>
          </a:xfrm>
          <a:prstGeom prst="rect">
            <a:avLst/>
          </a:prstGeom>
          <a:noFill/>
          <a:ln w="12700">
            <a:solidFill>
              <a:prstClr val="black"/>
            </a:solidFill>
          </a:ln>
        </p:spPr>
        <p:txBody>
          <a:bodyPr vert="horz" lIns="91440" tIns="45720" rIns="91440" bIns="45720" rtlCol="0" anchor="ctr"/>
          <a:lstStyle/>
          <a:p>
            <a:endParaRPr lang="de-DE"/>
          </a:p>
        </p:txBody>
      </p:sp>
      <p:sp>
        <p:nvSpPr>
          <p:cNvPr id="5" name="Notizenplatzhalter 4"/>
          <p:cNvSpPr>
            <a:spLocks noGrp="1"/>
          </p:cNvSpPr>
          <p:nvPr>
            <p:ph type="body" sz="quarter" idx="3"/>
          </p:nvPr>
        </p:nvSpPr>
        <p:spPr>
          <a:xfrm>
            <a:off x="679768" y="4751983"/>
            <a:ext cx="5438140" cy="3887986"/>
          </a:xfrm>
          <a:prstGeom prst="rect">
            <a:avLst/>
          </a:prstGeom>
        </p:spPr>
        <p:txBody>
          <a:bodyPr vert="horz" lIns="91440" tIns="45720" rIns="91440" bIns="45720" rtlCol="0"/>
          <a:lstStyle/>
          <a:p>
            <a:pPr lvl="0"/>
            <a:r>
              <a:rPr lang="de-DE" dirty="0"/>
              <a:t>Textmasterformat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6" name="Fußzeilenplatzhalter 5"/>
          <p:cNvSpPr>
            <a:spLocks noGrp="1"/>
          </p:cNvSpPr>
          <p:nvPr>
            <p:ph type="ftr" sz="quarter" idx="4"/>
          </p:nvPr>
        </p:nvSpPr>
        <p:spPr>
          <a:xfrm>
            <a:off x="0" y="9378824"/>
            <a:ext cx="2945659" cy="495426"/>
          </a:xfrm>
          <a:prstGeom prst="rect">
            <a:avLst/>
          </a:prstGeom>
        </p:spPr>
        <p:txBody>
          <a:bodyPr vert="horz" lIns="91440" tIns="45720" rIns="91440" bIns="45720" rtlCol="0" anchor="b"/>
          <a:lstStyle>
            <a:lvl1pPr algn="l">
              <a:defRPr sz="1200"/>
            </a:lvl1pPr>
          </a:lstStyle>
          <a:p>
            <a:endParaRPr lang="de-DE"/>
          </a:p>
        </p:txBody>
      </p:sp>
      <p:sp>
        <p:nvSpPr>
          <p:cNvPr id="7" name="Foliennummernplatzhalter 6"/>
          <p:cNvSpPr>
            <a:spLocks noGrp="1"/>
          </p:cNvSpPr>
          <p:nvPr>
            <p:ph type="sldNum" sz="quarter" idx="5"/>
          </p:nvPr>
        </p:nvSpPr>
        <p:spPr>
          <a:xfrm>
            <a:off x="3850443" y="9378824"/>
            <a:ext cx="2945659" cy="495426"/>
          </a:xfrm>
          <a:prstGeom prst="rect">
            <a:avLst/>
          </a:prstGeom>
        </p:spPr>
        <p:txBody>
          <a:bodyPr vert="horz" lIns="91440" tIns="45720" rIns="91440" bIns="45720" rtlCol="0" anchor="b"/>
          <a:lstStyle>
            <a:lvl1pPr algn="r">
              <a:defRPr sz="1200"/>
            </a:lvl1pPr>
          </a:lstStyle>
          <a:p>
            <a:fld id="{2D6A0D67-EDAE-48EC-829F-B147F9799060}" type="slidenum">
              <a:rPr lang="de-DE" smtClean="0"/>
              <a:t>‹Nr.›</a:t>
            </a:fld>
            <a:endParaRPr lang="de-DE"/>
          </a:p>
        </p:txBody>
      </p:sp>
    </p:spTree>
    <p:extLst>
      <p:ext uri="{BB962C8B-B14F-4D97-AF65-F5344CB8AC3E}">
        <p14:creationId xmlns:p14="http://schemas.microsoft.com/office/powerpoint/2010/main" val="166453848"/>
      </p:ext>
    </p:extLst>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1 | 00:00–00:21 | 21 seconds</a:t>
            </a:r>
          </a:p>
          <a:p>
            <a:r>
              <a:t>THESIS: Title page</a:t>
            </a:r>
          </a:p>
          <a:p>
            <a:endParaRPr/>
          </a:p>
          <a:p>
            <a:r>
              <a:t>This thesis studies main-memory index structures from the perspective of cache-line awareness. I will start with the task that an index solves, explain the design problem, and then show the concept, its implementation, and three representative measured comparisons. The central question is which design decisions help under which conditions.</a:t>
            </a:r>
          </a:p>
          <a:p>
            <a:r>
              <a:t/>
            </a:r>
            <a:endParaRPr/>
          </a:p>
          <a:p>
            <a:r>
              <a:t>THESIS CHECK (stand 53d8c072)</a:t>
            </a:r>
          </a:p>
          <a:p>
            <a:r>
              <a:t>FF0 (thesis Sec. 1.3, main question): how much do active, measurement-driven cache-aware decisions — page type, memory layout, value handling and prefetching — improve trie-based search structures against passive, statically laid-out variants; the thesis marks FF0 and FF3 as open until measurement series A has run (Sec. 6.1).</a:t>
            </a:r>
          </a:p>
          <a:p>
            <a:endParaRPr/>
          </a:p>
          <a:p>
            <a:r>
              <a:t>VISUAL / CLICK CUES</a:t>
            </a:r>
          </a:p>
          <a:p>
            <a:r>
              <a:t>No timed animation. Explain the figure before advancing.</a:t>
            </a:r>
          </a:p>
          <a:p>
            <a:endParaRPr/>
          </a:p>
          <a:p>
            <a:r>
              <a:t>SOURCE BASIS</a:t>
            </a:r>
          </a:p>
          <a:p>
            <a:r>
              <a:t>https://github.com/BenniProbst/20260931-Overleaf-Diplomarbeit/blob/53d8c0729439df464fe49db6676d696e9d2a750e/diplomarbeit.tex</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2 | 00:21–01:38 | 77 seconds</a:t>
            </a:r>
          </a:p>
          <a:p>
            <a:r>
              <a:t>THESIS: Thesis §§1.1–1.2; §2.1</a:t>
            </a:r>
          </a:p>
          <a:p>
            <a:endParaRPr/>
          </a:p>
          <a:p>
            <a:r>
              <a:t>Suppose a database contains records identified by keys. A query asks for the record associated with the key cat. Without an index, one possible approach is to inspect records until the key is found. An index provides a navigation structure from the key to the requested record. The same structure may also support insertion, deletion and ordered navigation.</a:t>
            </a:r>
          </a:p>
          <a:p>
            <a:endParaRPr/>
          </a:p>
          <a:p>
            <a:r>
              <a:t>The important distinction in this drawing is between the index and the data. The index supplies a path; a leaf or terminal entry supplies a reference to the record. Different index structures can implement the same externally visible operation while following very different paths through memory.</a:t>
            </a:r>
          </a:p>
          <a:p>
            <a:endParaRPr/>
          </a:p>
          <a:p>
            <a:r>
              <a:t>My scope is principally CPU-based, main-memory search. The question is not simply which data structure has a familiar name or the best asymptotic bound. It is how the physical implementation of this navigation affects performance under an explicitly defined workload. The goal of this thesis is a system that makes such design decisions comparable one at a time. We first need to understand the existing design choices before discussing the apparatus that compares them.</a:t>
            </a:r>
          </a:p>
          <a:p>
            <a:r>
              <a:t/>
            </a:r>
            <a:endParaRPr/>
          </a:p>
          <a:p>
            <a:r>
              <a:t>THESIS CHECK (stand 53d8c072)</a:t>
            </a:r>
          </a:p>
          <a:p>
            <a:r>
              <a:t>Scope in the thesis' words: measured on a common CPU-only measurement basis (Sec. 1.4).</a:t>
            </a:r>
          </a:p>
          <a:p>
            <a:r>
              <a:t>Goal sentence added (V1): 'comparable one at a time' = the MATCH / VARY / REPORT rule of the evaluation (Sec. 5.2.5; Appendix A, axis exchangeability; fairness rules Sec. 5.1.7) and the one-axis variation rule of Sec. 3.1 (03:79) and Sec. 3.3.1 (03:684–685) (stand 783f8973).</a:t>
            </a:r>
          </a:p>
          <a:p>
            <a:endParaRPr/>
          </a:p>
          <a:p>
            <a:r>
              <a:t>VISUAL / CLICK CUES</a:t>
            </a:r>
          </a:p>
          <a:p>
            <a:r>
              <a:t>No timed animation. Explain the figure before advancing.</a:t>
            </a:r>
          </a:p>
          <a:p>
            <a:endParaRPr/>
          </a:p>
          <a:p>
            <a:r>
              <a:t>SOURCE BASIS</a:t>
            </a:r>
          </a:p>
          <a:p>
            <a:r>
              <a:t>https://github.com/BenniProbst/20260931-Overleaf-Diplomarbeit/blob/53d8c0729439df464fe49db6676d696e9d2a750e/kapitel/de/01_einleitung.tex</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4 | 02:56–03:29 | 33 seconds</a:t>
            </a:r>
          </a:p>
          <a:p>
            <a:r>
              <a:t>THESIS: Thesis: six included chapters</a:t>
            </a:r>
          </a:p>
          <a:p>
            <a:endParaRPr/>
          </a:p>
          <a:p>
            <a:r>
              <a:t>The presentation follows the thesis. Introduction and related work are done: [OPTIONAL-19 — 19-minute route] what an index is for and how today's indexes differ. The concept comes next, in four steps — the puzzle system, the parts of a search algorithm and their categories, one real tree taken apart, and its XML profile. Implementation — in the thesis, “Implementation and concrete algorithm components” — turns such a profile into measurable candidates. Evaluation then examines three concrete comparisons. I close with what the evidence supports and what still needs final validation.</a:t>
            </a:r>
          </a:p>
          <a:p>
            <a:endParaRPr/>
          </a:p>
          <a:p>
            <a:r>
              <a:t>THESIS CHECK (stand 783f8973)</a:t>
            </a:r>
          </a:p>
          <a:p>
            <a:r>
              <a:t>Roadmap moved behind the related-work slide (V2): it is the outline slide that opens the concept part; chapter names unchanged (diplomarbeit.tex six included chapters) (stand 783f8973).</a:t>
            </a:r>
          </a:p>
          <a:p>
            <a:r>
              <a:t>Chapter bar of this slide set to '2 Background' (Fix 405-r1, V2): the progress bar now runs 1 -&gt; 2 -&gt; 3 without a step back; backup B7 counts the roadmap under chapter 2 (crosswalk 1–2 / 3–4).</a:t>
            </a:r>
          </a:p>
          <a:p>
            <a:r>
              <a:t/>
            </a:r>
          </a:p>
          <a:p>
            <a:r>
              <a:t>VISUAL / CLICK CUES</a:t>
            </a:r>
          </a:p>
          <a:p>
            <a:r>
              <a:t>No timed animation. Explain the figure before advancing.</a:t>
            </a:r>
          </a:p>
          <a:p>
            <a:endParaRPr/>
          </a:p>
          <a:p>
            <a:r>
              <a:t>SOURCE BASIS</a:t>
            </a:r>
          </a:p>
          <a:p>
            <a:r>
              <a:t>https://github.com/BenniProbst/20260931-Overleaf-Diplomarbeit/blob/53d8c0729439df464fe49db6676d696e9d2a750e/kapitel/de/01_einleitung.tex</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3 | 01:38–02:56 | 78 seconds</a:t>
            </a:r>
          </a:p>
          <a:p>
            <a:r>
              <a:t>THESIS: Thesis §§2.1–2.2; Table 2.1; HOT and Masstree §3.2 (stand 53d8c072)</a:t>
            </a:r>
          </a:p>
          <a:p>
            <a:endParaRPr/>
          </a:p>
          <a:p>
            <a:r>
              <a:t>Main-memory index research contains several approaches to reducing navigation and memory costs. CSS and CSB-plus trees emphasize the organization of directories and child groups. ART adapts node representations to the number of children. HOT uses discriminating bits to reduce navigation height. Masstree combines key slices with layered tree structures.</a:t>
            </a:r>
          </a:p>
          <a:p>
            <a:endParaRPr/>
          </a:p>
          <a:p>
            <a:r>
              <a:t>These are established techniques, not contributions of this thesis. They show why comparing index names alone is not enough: a published implementation is a bundle of decisions.</a:t>
            </a:r>
          </a:p>
          <a:p>
            <a:endParaRPr/>
          </a:p>
          <a:p>
            <a:r>
              <a:t>The cache-line drawing makes one physical consequence visible. A transfer brings a line of bytes into the cache, but a lookup may use only part of it. Grouping relevant fields can improve cache-line utilization, the CLU of the thesis. Conversely, a larger representation can reduce some search work while increasing the amount of memory involved. The illustrated line is 64 bytes; that is an example, not a universal hardware assumption.</a:t>
            </a:r>
          </a:p>
          <a:p>
            <a:endParaRPr/>
          </a:p>
          <a:p>
            <a:r>
              <a:t>This leads to the thesis problem: when two complete implementations perform differently, which part of the bundle caused the difference? We need to make the candidate decisions explicit while preserving the operation being compared.</a:t>
            </a:r>
          </a:p>
          <a:p>
            <a:r>
              <a:t/>
            </a:r>
            <a:endParaRPr/>
          </a:p>
          <a:p>
            <a:r>
              <a:t>THESIS CHECK (stand 53d8c072)</a:t>
            </a:r>
          </a:p>
          <a:p>
            <a:r>
              <a:t>HOT and Masstree are treated in the thesis as axis instances in the measurement-system chapter (Sec. 3.2), not in the foundations chapter; Table 2.1 lists CSS, CSB+ and ART.</a:t>
            </a:r>
          </a:p>
          <a:p>
            <a:r>
              <a:t>The slide label 'Useful bytes' is the talk's label for cache-line utilization (CLU, thesis Appendix C).</a:t>
            </a:r>
          </a:p>
          <a:p>
            <a:r>
              <a:t>Goal line added to the bottom bar (V1, Fix 405-r1): 'Goal: compare such decisions one at a time' condenses the spoken goal sentence of slide 2 ('... makes such design decisions comparable one at a time') — the MATCH / VARY / REPORT rule of the evaluation (Sec. 5.2.5; Appendix A, axis exchangeability; fairness rules Sec. 5.1.7) and the one-axis variation rule of Sec. 3.1 (03:79) and Sec. 3.3.1 (03:684–685) (stand 783f8973).</a:t>
            </a:r>
          </a:p>
          <a:p>
            <a:r>
              <a:t>Table 2.1 (footer and THESIS line above) exists in the long version only (development 783f8973); the submitted short version (bau/kurzfassung-346 a0b9e2c1) has no chapter-2 table; section numbering is identical in both (Fix 405-r2).</a:t>
            </a:r>
          </a:p>
          <a:p>
            <a:endParaRPr/>
          </a:p>
          <a:p>
            <a:r>
              <a:t>VISUAL / CLICK CUES</a:t>
            </a:r>
          </a:p>
          <a:p>
            <a:r>
              <a:t>No timed animation. Explain the figure before advancing.</a:t>
            </a:r>
          </a:p>
          <a:p>
            <a:endParaRPr/>
          </a:p>
          <a:p>
            <a:r>
              <a:t>SOURCE BASIS</a:t>
            </a:r>
          </a:p>
          <a:p>
            <a:r>
              <a:t>https://github.com/BenniProbst/20260931-Overleaf-Diplomarbeit/blob/53d8c0729439df464fe49db6676d696e9d2a750e/kapitel/de/02_suchbaeume_grundlagen.tex</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6 | 04:34–06:07 | 93 seconds</a:t>
            </a:r>
          </a:p>
          <a:p>
            <a:r>
              <a:t>THESIS: Active German sources, development @53d8c0729439df464fe49db6676d696e9d2a750e (stand 53d8c072)</a:t>
            </a:r>
          </a:p>
          <a:p>
            <a:endParaRPr/>
          </a:p>
          <a:p>
            <a:r>
              <a:t>The puzzle's eighteen organ axes fall into five categories. Read path: how a lookup walks the tree. Layout: how a node is shaped in memory. Placement: where nodes and values live and who allocates them. Execution: concurrency and prefetch. Write and I/O: updates and persistence. These categories organise the design space; they are not five executable modules, and they are a source grouping, not a thesis term. Let us zoom into a concrete part of an ART-derived framework configuration: storage. We need a node representation, a physical layout and an allocation strategy.</a:t>
            </a:r>
          </a:p>
          <a:p>
            <a:endParaRPr/>
          </a:p>
          <a:p>
            <a:r>
              <a:t>On each axis we choose a concrete design constituent. In this illustration the choices are Node4, cache-line-aligned layout and mimalloc. The alternatives remain visible on the left. These names also occur in the persisted ART profile that I will show shortly; this is a reconstructed framework example, not a claim of original-ART fidelity.</a:t>
            </a:r>
          </a:p>
          <a:p>
            <a:endParaRPr/>
          </a:p>
          <a:p>
            <a:r>
              <a:t>The selected pieces now come together. Node type contributes capacity, layout contributes the byte arrangement, and the allocator supplies memory. Together they form a functional storage organ. The composed organ exposes the StorageOrgan interface.</a:t>
            </a:r>
          </a:p>
          <a:p>
            <a:endParaRPr/>
          </a:p>
          <a:p>
            <a:r>
              <a:t>This is the missing construction step: the framework does not merely label an existing index. It composes a working part from selected implementations. Next, we connect that part to the rest of the algorithm.</a:t>
            </a:r>
          </a:p>
          <a:p>
            <a:r>
              <a:t/>
            </a:r>
            <a:endParaRPr/>
          </a:p>
          <a:p>
            <a:r>
              <a:t>THESIS CHECK (stand 53d8c072)</a:t>
            </a:r>
          </a:p>
          <a:p>
            <a:r>
              <a:t>The five categories (read path, layout, placement, execution, write/I/O) are a source grouping from lager_baum_writer.hpp; the thesis orders its axes in three realms (organ, system, measurement); the eighteen slots T00–T17 are the organ realm's main axes and it names no five groups.</a:t>
            </a:r>
          </a:p>
          <a:p>
            <a:r>
              <a:t>'StorageOrgan interface' is a concept name in the thesis, not a code type; the code type is LayoutAwareChunkedStore (Sec. 3.3.1).</a:t>
            </a:r>
          </a:p>
          <a:p>
            <a:r>
              <a:t>The alternatives shown per axis are a subset; the full catalogue is Appendix D.</a:t>
            </a:r>
          </a:p>
          <a:p>
            <a:r>
              <a:t>The footer's figure labels axis-organ and usage are figures 3.5 and 3.6 of the long version only (development 783f8973); not in the submitted short version (bau/kurzfassung-346 a0b9e2c1: chapter-3 figures 3.1–3.9); Sec. 3.3.1 and Appendix D exist in both (Fix 405-r2).</a:t>
            </a:r>
          </a:p>
          <a:p>
            <a:endParaRPr/>
          </a:p>
          <a:p>
            <a:r>
              <a:t>VISUAL / CLICK CUES</a:t>
            </a:r>
          </a:p>
          <a:p>
            <a:r>
              <a:t>Before click 1: point at the five chips at the top while naming the categories (Fix 405-r1, V3).</a:t>
            </a:r>
          </a:p>
          <a:p>
            <a:r>
              <a:t>Click 1: selected implementations form the storage organ.</a:t>
            </a:r>
          </a:p>
          <a:p>
            <a:r>
              <a:t>Click 2: the shared StorageOrgan interface appears.</a:t>
            </a:r>
          </a:p>
          <a:p>
            <a:endParaRPr/>
          </a:p>
          <a:p>
            <a:r>
              <a:t>SOURCE BASIS</a:t>
            </a:r>
          </a:p>
          <a:p>
            <a:r>
              <a:t>https://github.com/BenniProbst/20260931-Overleaf-Diplomarbeit/blob/53d8c0729439df464fe49db6676d696e9d2a750e/kapitel/de/03_messsystem_prtart.tex</a:t>
            </a:r>
          </a:p>
          <a:p>
            <a:r>
              <a:t>https://github.com/BenniProbst/20260931-Overleaf-Diplomarbeit/blob/53d8c0729439df464fe49db6676d696e9d2a750e/kapitel/de/04_implementierung.tex</a:t>
            </a:r>
          </a:p>
          <a:p>
            <a:r>
              <a:t>https://github.com/BenniProbst/20260931-Overleaf-Diplomarbeit/blob/53d8c0729439df464fe49db6676d696e9d2a750e/anhang/de/D_building_block_matrix.tex</a:t>
            </a:r>
          </a:p>
          <a:p>
            <a:r>
              <a:t>https://github.com/BenniProbst/comdare-cache-engine/blob/57757fe367219c9cf9ddd7546a5c5b55dc68239d/libs/cache_engine/algorithm_profiles/sota/art.profile.xml</a:t>
            </a:r>
          </a:p>
          <a:p>
            <a:r>
              <a:t>Selected fields only. This is not a verified original-ART benchmark.</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7 | 06:07–07:23 | 76 seconds</a:t>
            </a:r>
          </a:p>
          <a:p>
            <a:r>
              <a:t>THESIS: Active German sources, development @53d8c0729439df464fe49db6676d696e9d2a750e (stand 53d8c072)</a:t>
            </a:r>
          </a:p>
          <a:p>
            <a:endParaRPr/>
          </a:p>
          <a:p>
            <a:r>
              <a:t>Here is the same storage organ inside a complete SearchAlgorithm anatomy. We keep the request find cat and the expected value forty-two from the introductory example.</a:t>
            </a:r>
          </a:p>
          <a:p>
            <a:endParaRPr/>
          </a:p>
          <a:p>
            <a:r>
              <a:t>Let us expand the body. The search organ performs the search logic. The storage organ contains the selected node, layout and allocator implementations. The value-handle policy describes access to the payload. The remaining organ slots are still bound; the slide simply does not expand every one.</a:t>
            </a:r>
          </a:p>
          <a:p>
            <a:endParaRPr/>
          </a:p>
          <a:p>
            <a:r>
              <a:t>Now follow the operative connections. Search must use the StorageOrgan interface. Otherwise, replacing the selected layout or allocator would change a label but not the real search path. In the thesis, anatomy means this composition and this wiring together.</a:t>
            </a:r>
          </a:p>
          <a:p>
            <a:endParaRPr/>
          </a:p>
          <a:p>
            <a:r>
              <a:t>Changing one compatible design constituent therefore changes a part of the body. We recompose and compile a new candidate, then compare the complete algorithms under the same external contract. We do not compare an isolated collection of unrelated microbenchmarks.</a:t>
            </a:r>
          </a:p>
          <a:p>
            <a:endParaRPr/>
          </a:p>
          <a:p>
            <a:r>
              <a:t>The important boundary is that a framework composition is not automatically a faithful reconstruction of the original paper. That requires separate provenance and conformance evidence.</a:t>
            </a:r>
          </a:p>
          <a:p>
            <a:r>
              <a:t/>
            </a:r>
            <a:endParaRPr/>
          </a:p>
          <a:p>
            <a:r>
              <a:t>THESIS CHECK (stand 53d8c072)</a:t>
            </a:r>
          </a:p>
          <a:p>
            <a:r>
              <a:t>Map is a family (thesis: Gattung) whose contract is fixed externally; SearchAlgorithm is its genus (tier subclass).</a:t>
            </a:r>
          </a:p>
          <a:p>
            <a:r>
              <a:t>Figure usage at development 53d8c072 still marks concurrency-to-store as not connected (dotted); the status in SOURCE PRECISION holds.</a:t>
            </a:r>
          </a:p>
          <a:p>
            <a:r>
              <a:t>The usage graph (fig:usage, figure 3.6 of the long version, development 783f8973) is not in the submitted short version (bau/kurzfassung-346 a0b9e2c1: chapter-3 figures 3.1–3.9); the sections cited exist in both (Fix 405-r2).</a:t>
            </a:r>
          </a:p>
          <a:p>
            <a:endParaRPr/>
          </a:p>
          <a:p>
            <a:r>
              <a:t>VISUAL / CLICK CUES</a:t>
            </a:r>
          </a:p>
          <a:p>
            <a:r>
              <a:t>Click 1: the organs form the body.</a:t>
            </a:r>
          </a:p>
          <a:p>
            <a:r>
              <a:t>Click 2: show the mandatory service connections and complete lookup.</a:t>
            </a:r>
          </a:p>
          <a:p>
            <a:endParaRPr/>
          </a:p>
          <a:p>
            <a:r>
              <a:t>SOURCE BASIS</a:t>
            </a:r>
          </a:p>
          <a:p>
            <a:r>
              <a:t>https://github.com/BenniProbst/20260931-Overleaf-Diplomarbeit/blob/53d8c0729439df464fe49db6676d696e9d2a750e/kapitel/de/03_messsystem_prtart.tex</a:t>
            </a:r>
          </a:p>
          <a:p>
            <a:r>
              <a:t>https://github.com/BenniProbst/20260931-Overleaf-Diplomarbeit/blob/53d8c0729439df464fe49db6676d696e9d2a750e/kapitel/de/04_implementierung.tex</a:t>
            </a:r>
          </a:p>
          <a:p>
            <a:r>
              <a:t>https://github.com/BenniProbst/20260931-Overleaf-Diplomarbeit/blob/53d8c0729439df464fe49db6676d696e9d2a750e/anhang/de/D_building_block_matrix.tex</a:t>
            </a:r>
          </a:p>
          <a:p>
            <a:endParaRPr/>
          </a:p>
          <a:p>
            <a:r>
              <a:t>SOURCE PRECISION</a:t>
            </a:r>
          </a:p>
          <a:p>
            <a:r>
              <a:t>The thesis uses organ both for an individual axis slot and for the composite storage organ. Here the concrete composition T4/T5/T6 is expanded, not declared as an extra slot. Figure usage marks store→search as mandatory; prefetch and telemetry hooks as optional; concurrency-to-store as not yet wired. This source-based concept diagram does not upgrade those statuses.</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8 | 07:23–08:36 | 73 seconds</a:t>
            </a:r>
          </a:p>
          <a:p>
            <a:r>
              <a:t>THESIS: Active German sources, development @53d8c0729439df464fe49db6676d696e9d2a750e (stand 53d8c072)</a:t>
            </a:r>
          </a:p>
          <a:p>
            <a:endParaRPr/>
          </a:p>
          <a:p>
            <a:r>
              <a:t>We have now assembled one algorithmic body. That body is only one part of an experiment. The thesis separates organ decisions, system decisions and measurement decisions.</a:t>
            </a:r>
          </a:p>
          <a:p>
            <a:endParaRPr/>
          </a:p>
          <a:p>
            <a:r>
              <a:t>The organ space supplies the strategies we have just composed. System choices supply the execution environment — target ISA, operating system and extension hardware — and permitted hardware-specific facilities. Measurement choices determine how observations are obtained and which workloads and datasets are used. System and measurement are not additional pieces of the storage organ.</a:t>
            </a:r>
          </a:p>
          <a:p>
            <a:endParaRPr/>
          </a:p>
          <a:p>
            <a:r>
              <a:t>These decisions also have binding times. A main strategy is fixed in the compiled candidate. An allowed sub-axis value can be supplied later, for example a prefetch distance or resource budget. The same principle is applied across the staged framework.</a:t>
            </a:r>
          </a:p>
          <a:p>
            <a:endParaRPr/>
          </a:p>
          <a:p>
            <a:r>
              <a:t>For a controlled comparison we keep the relevant system, workload and measurement conditions fixed while changing the intended component. The talk's shorthand for the thesis' main-axis and sub-axis distinction is compile-time composition, runtime parameterization, and measurement-driven binary selection. Let us now make this concrete with one real tree.</a:t>
            </a:r>
          </a:p>
          <a:p>
            <a:r>
              <a:t/>
            </a:r>
            <a:endParaRPr/>
          </a:p>
          <a:p>
            <a:r>
              <a:t>THESIS CHECK (stand 53d8c072)</a:t>
            </a:r>
          </a:p>
          <a:p>
            <a:r>
              <a:t>Slide text corrected: the third system main axis is the extension hardware (SIMD, GPU, FPGA, NPU), not the toolchain; the toolchain enters the compile-time identity (fingerprint), not the axis set (Sec. 3.4.1).</a:t>
            </a:r>
          </a:p>
          <a:p>
            <a:r>
              <a:t>Thesis terms: main axis (fixed at compile time), sub-axis (variable at runtime), measurement-driven (messgetrieben) selection; the compile/runtime triad on the slide is the talk's shorthand.</a:t>
            </a:r>
          </a:p>
          <a:p>
            <a:endParaRPr/>
          </a:p>
          <a:p>
            <a:r>
              <a:t>VISUAL / CLICK CUES</a:t>
            </a:r>
          </a:p>
          <a:p>
            <a:r>
              <a:t>No build. Refer back to the already assembled body, then distinguish the two other realms.</a:t>
            </a:r>
          </a:p>
          <a:p>
            <a:endParaRPr/>
          </a:p>
          <a:p>
            <a:r>
              <a:t>SOURCE BASIS</a:t>
            </a:r>
          </a:p>
          <a:p>
            <a:r>
              <a:t>https://github.com/BenniProbst/20260931-Overleaf-Diplomarbeit/blob/53d8c0729439df464fe49db6676d696e9d2a750e/kapitel/de/03_messsystem_prtart.tex</a:t>
            </a:r>
          </a:p>
          <a:p>
            <a:r>
              <a:t>https://github.com/BenniProbst/20260931-Overleaf-Diplomarbeit/blob/53d8c0729439df464fe49db6676d696e9d2a750e/kapitel/de/04_implementierung.tex</a:t>
            </a:r>
          </a:p>
          <a:p>
            <a:r>
              <a:t>https://github.com/BenniProbst/20260931-Overleaf-Diplomarbeit/blob/53d8c0729439df464fe49db6676d696e9d2a750e/anhang/de/D_building_block_matrix.tex</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11 | 10:30–11:40 | 70 seconds</a:t>
            </a:r>
          </a:p>
          <a:p>
            <a:r>
              <a:t>THESIS: Active German sources, development @53d8c0729439df464fe49db6676d696e9d2a750e (stand 53d8c072)</a:t>
            </a:r>
          </a:p>
          <a:p>
            <a:endParaRPr/>
          </a:p>
          <a:p>
            <a:r>
              <a:t>We now move from the concept to implementation. This is the same profile you have just seen, cut down to three entries: node, layout and allocator bind the three coloured pieces that formed our storage organ. The other entries stay as they were on the previous slide.</a:t>
            </a:r>
          </a:p>
          <a:p>
            <a:endParaRPr/>
          </a:p>
          <a:p>
            <a:r>
              <a:t>These selected implementations become the composed storage organ. That organ is then wired with search and the remaining components, and the complete anatomy is compiled into a candidate binary. The picture on the right is a conceptual translation of the profile, not additional XML syntax.</a:t>
            </a:r>
          </a:p>
          <a:p>
            <a:endParaRPr/>
          </a:p>
          <a:p>
            <a:r>
              <a:t>This is not an interpreter selecting an entire index by name for every lookup. The profile's id and paper_ref are the wired identity; the axes block shown documents the composition in the historical eleven-axis form. Permitted runtime parameters are supplied afterwards through the declared interfaces.</a:t>
            </a:r>
          </a:p>
          <a:p>
            <a:endParaRPr/>
          </a:p>
          <a:p>
            <a:r>
              <a:t>[OPTIONAL-19 — 19-minute route] A larger experiment can request alternative compatible choices.</a:t>
            </a:r>
          </a:p>
          <a:p>
            <a:r>
              <a:t>Each resulting configuration needs a complete composition and an identity. The next slide follows one such assembled candidate through planning, construction and measurement. [OPTIONAL-19 — 19-minute route] The profile label by itself does not establish a completed original-paper benchmark.</a:t>
            </a:r>
          </a:p>
          <a:p>
            <a:r>
              <a:t/>
            </a:r>
            <a:endParaRPr/>
          </a:p>
          <a:p>
            <a:r>
              <a:t>THESIS CHECK (stand 53d8c072)</a:t>
            </a:r>
          </a:p>
          <a:p>
            <a:r>
              <a:t>Legacy note: the axes block of art.profile.xml serialises the historical eleven-axis catalogue, marked LEGACY and read-only in the repository (algorithm_profiles/README.md); the parser stores it as a free map, the code generator emits it as a comment, only the traversal entry is read; id and paper_ref are the wired fields. Canonical today: eighteen composition axes (kCompositionAxisNames).</a:t>
            </a:r>
          </a:p>
          <a:p>
            <a:endParaRPr/>
          </a:p>
          <a:p>
            <a:r>
              <a:t>VISUAL / CLICK CUES</a:t>
            </a:r>
          </a:p>
          <a:p>
            <a:r>
              <a:t>Click 1: bind XML choices to the storage organ.</a:t>
            </a:r>
          </a:p>
          <a:p>
            <a:r>
              <a:t>Click 2: wire and compile the complete candidate.</a:t>
            </a:r>
          </a:p>
          <a:p>
            <a:endParaRPr/>
          </a:p>
          <a:p>
            <a:r>
              <a:t>SOURCE BASIS</a:t>
            </a:r>
          </a:p>
          <a:p>
            <a:r>
              <a:t>https://github.com/BenniProbst/20260931-Overleaf-Diplomarbeit/blob/53d8c0729439df464fe49db6676d696e9d2a750e/kapitel/de/03_messsystem_prtart.tex</a:t>
            </a:r>
          </a:p>
          <a:p>
            <a:r>
              <a:t>https://github.com/BenniProbst/20260931-Overleaf-Diplomarbeit/blob/53d8c0729439df464fe49db6676d696e9d2a750e/kapitel/de/04_implementierung.tex</a:t>
            </a:r>
          </a:p>
          <a:p>
            <a:r>
              <a:t>https://github.com/BenniProbst/20260931-Overleaf-Diplomarbeit/blob/53d8c0729439df464fe49db6676d696e9d2a750e/anhang/de/D_building_block_matrix.tex</a:t>
            </a:r>
          </a:p>
          <a:p>
            <a:r>
              <a:t>https://github.com/BenniProbst/comdare-cache-engine/blob/57757fe367219c9cf9ddd7546a5c5b55dc68239d/libs/cache_engine/algorithm_profiles/sota/art.profile.xml</a:t>
            </a:r>
          </a:p>
          <a:p>
            <a:r>
              <a:t>Selected fields only. This is not a verified original-ART benchmark.</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12 | 11:40–12:56 | 76 seconds</a:t>
            </a:r>
          </a:p>
          <a:p>
            <a:r>
              <a:t>THESIS: Active German sources, development @53d8c0729439df464fe49db6676d696e9d2a750e (stand 53d8c072)</a:t>
            </a:r>
          </a:p>
          <a:p>
            <a:endParaRPr/>
          </a:p>
          <a:p>
            <a:r>
              <a:t>The experiment XML is validated and planned by the Planner. The CEB stage uses the component library, including declared plugin contributions, to construct the requested candidates. Notice the coloured storage pieces inside the Tier binary: this is exactly the body we assembled on the preceding slides.</a:t>
            </a:r>
          </a:p>
          <a:p>
            <a:endParaRPr/>
          </a:p>
          <a:p>
            <a:r>
              <a:t>Compilation fixes the main composition. Runtime settings are then supplied through the permitted contracts. A Tier binary is one candidate algorithm, not the whole framework and not simply an axis name.</a:t>
            </a:r>
          </a:p>
          <a:p>
            <a:endParaRPr/>
          </a:p>
          <a:p>
            <a:r>
              <a:t>The candidate must pass conformance checks before the workload is driven and observed. The result is attached to the candidate identity and the controlled settings. Build success is not measurement completion.</a:t>
            </a:r>
          </a:p>
          <a:p>
            <a:endParaRPr/>
          </a:p>
          <a:p>
            <a:r>
              <a:t>Valid measurements then enter comparison and selection. The scientific question is which complete composition performs well under a stated workload, and how its component choices contribute to that outcome.</a:t>
            </a:r>
          </a:p>
          <a:p>
            <a:endParaRPr/>
          </a:p>
          <a:p>
            <a:r>
              <a:t>Thus the build apparatus serves the experiment: specification becomes an assembled algorithm, the algorithm becomes a checked observation, and the observation supports a comparison. [OPTIONAL-19 — 19-minute route] Publication automation remains in the backup rather than forming a second story in the main talk. We now turn from building and observing a candidate to three concrete measured comparisons.</a:t>
            </a:r>
          </a:p>
          <a:p>
            <a:r>
              <a:t/>
            </a:r>
            <a:endParaRPr/>
          </a:p>
          <a:p>
            <a:r>
              <a:t>THESIS CHECK (stand 53d8c072)</a:t>
            </a:r>
          </a:p>
          <a:p>
            <a:r>
              <a:t>The thesis names four carrier stages — planner, CEB, tier and hybrid; the hybrid stage is outside this route (Sec. 4.1).</a:t>
            </a:r>
          </a:p>
          <a:p>
            <a:r>
              <a:t>The stage split is a design; the implementation is currently one library (Sec. 4.1).</a:t>
            </a:r>
          </a:p>
          <a:p>
            <a:endParaRPr/>
          </a:p>
          <a:p>
            <a:r>
              <a:t>VISUAL / CLICK CUES</a:t>
            </a:r>
          </a:p>
          <a:p>
            <a:r>
              <a:t>Click 1: conformance, workload drive and valid measurement.</a:t>
            </a:r>
          </a:p>
          <a:p>
            <a:r>
              <a:t>Click 2: compare/select the full composition.</a:t>
            </a:r>
          </a:p>
          <a:p>
            <a:endParaRPr/>
          </a:p>
          <a:p>
            <a:r>
              <a:t>SOURCE BASIS</a:t>
            </a:r>
          </a:p>
          <a:p>
            <a:r>
              <a:t>https://github.com/BenniProbst/20260931-Overleaf-Diplomarbeit/blob/53d8c0729439df464fe49db6676d696e9d2a750e/kapitel/de/03_messsystem_prtart.tex</a:t>
            </a:r>
          </a:p>
          <a:p>
            <a:r>
              <a:t>https://github.com/BenniProbst/20260931-Overleaf-Diplomarbeit/blob/53d8c0729439df464fe49db6676d696e9d2a750e/kapitel/de/04_implementierung.tex</a:t>
            </a:r>
          </a:p>
          <a:p>
            <a:r>
              <a:t>https://github.com/BenniProbst/20260931-Overleaf-Diplomarbeit/blob/53d8c0729439df464fe49db6676d696e9d2a750e/anhang/de/D_building_block_matrix.tex</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EXTRA SLIDE (hidden, after the backup) | not in the Monday route</a:t>
            </a:r>
          </a:p>
          <a:p>
            <a:r>
              <a:t>THESIS: Active German sources, development @53d8c0729439df464fe49db6676d696e9d2a750e (stand 53d8c072)</a:t>
            </a:r>
          </a:p>
          <a:p>
            <a:endParaRPr/>
          </a:p>
          <a:p>
            <a:r>
              <a:t>The same assembled algorithm is observed at three granularities — wallclock, macro and micro in the thesis. The outer frame is the complete request sequence. Inside it is one interface operation, such as find cat. Inside that operation, search uses the composed storage organ, whose node, layout and allocator choices remain visible.</a:t>
            </a:r>
          </a:p>
          <a:p>
            <a:endParaRPr/>
          </a:p>
          <a:p>
            <a:r>
              <a:t>[OPTIONAL-19 — 19-minute route] This nesting is the reason to assemble components before comparing them. A cheap component does not necessarily produce the cheapest whole algorithm: it can change allocation frequency, byte layout, or the work of the search consumer. The interaction is part of the experiment.</a:t>
            </a:r>
          </a:p>
          <a:p>
            <a:endParaRPr/>
          </a:p>
          <a:p>
            <a:r>
              <a:t>[OPTIONAL-19 — 19-minute route] The probe dock — one per genus — drives operations under a common contract and obtains the appropriate observations. Unsupported operations must not become zero-cost successes. Missing counters remain missing. Component measurements also must not be added as if they were non-overlapping workload times unless that relationship has actually been established.</a:t>
            </a:r>
          </a:p>
          <a:p>
            <a:endParaRPr/>
          </a:p>
          <a:p>
            <a:r>
              <a:t>PRT-ART can contribute new compatible pieces to this same construction and measurement path. It does not get a separate favourable benchmark. We can now turn from how a candidate is built and observed to three concrete measured comparisons.</a:t>
            </a:r>
          </a:p>
          <a:p>
            <a:r>
              <a:t/>
            </a:r>
            <a:endParaRPr/>
          </a:p>
          <a:p>
            <a:r>
              <a:t>THESIS CHECK (stand 53d8c072)</a:t>
            </a:r>
          </a:p>
          <a:p>
            <a:r>
              <a:t>The slide label 'genus probe dock' is the thesis term Pruef-Dock (probe dock): exactly one dock per genus (SearchAlgorithm, Set, Sequence, Adapter, View); 'probe' alone denotes the measurement sensor in the thesis glossary.</a:t>
            </a:r>
          </a:p>
          <a:p>
            <a:r>
              <a:t>Moved on 22 Sep 2026 (Orders 418/419, Fix 405-r2): hidden extra slide X1 after backup B8 (show=0), outside the Monday route (19-minute route); the spoken text above is kept as a reserve for questions (184 words, 80 seconds at 2.3 words per second; its [OPTIONAL-19] markers no longer apply). Former main-route position 13; the former slides 14–18 are now 13–17.</a:t>
            </a:r>
          </a:p>
          <a:p>
            <a:endParaRPr/>
          </a:p>
          <a:p>
            <a:r>
              <a:t>VISUAL / CLICK CUES</a:t>
            </a:r>
          </a:p>
          <a:p>
            <a:r>
              <a:t>No build. Follow the nested workload → operation → composed storage view.</a:t>
            </a:r>
          </a:p>
          <a:p>
            <a:endParaRPr/>
          </a:p>
          <a:p>
            <a:r>
              <a:t>SOURCE BASIS</a:t>
            </a:r>
          </a:p>
          <a:p>
            <a:r>
              <a:t>https://github.com/BenniProbst/20260931-Overleaf-Diplomarbeit/blob/53d8c0729439df464fe49db6676d696e9d2a750e/kapitel/de/03_messsystem_prtart.tex</a:t>
            </a:r>
          </a:p>
          <a:p>
            <a:r>
              <a:t>https://github.com/BenniProbst/20260931-Overleaf-Diplomarbeit/blob/53d8c0729439df464fe49db6676d696e9d2a750e/kapitel/de/04_implementierung.tex</a:t>
            </a:r>
          </a:p>
          <a:p>
            <a:r>
              <a:t>https://github.com/BenniProbst/20260931-Overleaf-Diplomarbeit/blob/53d8c0729439df464fe49db6676d696e9d2a750e/anhang/de/D_building_block_matrix.tex</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13 | 12:56–14:03 | 67 seconds</a:t>
            </a:r>
          </a:p>
          <a:p>
            <a:r>
              <a:t>THESIS: four-axis measurement 24 Sep 2026 (job 394381, 320 binaries x 4 workloads x 3 repetitions), rebuilt after submission with the thesis toolchain; not in the submitted text (Sec. 5 / Appendix A report only the smoke series) (stand 53d8c072)</a:t>
            </a:r>
          </a:p>
          <a:p>
            <a:endParaRPr/>
          </a:p>
          <a:p>
            <a:r>
              <a:t>The next three slides use the four-axis measurement rebuilt after submission with the thesis toolchain; it is not in the submitted text, which reports only a smoke series. The source data contain 320 candidate binaries, four workloads and three repetitions. All four measured workloads are included; nothing is excluded.</a:t>
            </a:r>
          </a:p>
          <a:p>
            <a:endParaRPr/>
          </a:p>
          <a:p>
            <a:r>
              <a:t>For each contrast, a candidate is matched to its baseline under identical remaining axis choices, runtime setting, workload and repetition. Each plotted marker is the median of those paired differences within one repetition. The repetitions are shown separately; they are not averaged into one apparent measurement.</a:t>
            </a:r>
          </a:p>
          <a:p>
            <a:endParaRPr/>
          </a:p>
          <a:p>
            <a:r>
              <a:t>The plots report relative changes in time. They do not directly establish a causal change in cache-line utilization. The legacy data path and incomplete hardware-counter evidence remain limitations. These plots come from the four-axis measurement rebuilt with the thesis toolchain; the full campaign follows. With that boundary explicit, the measurement illustrates the questions the apparatus is designed to answer.</a:t>
            </a:r>
          </a:p>
          <a:p>
            <a:r>
              <a:t/>
            </a:r>
            <a:endParaRPr/>
          </a:p>
          <a:p>
            <a:r>
              <a:t>THESIS CHECK (stand 53d8c072)</a:t>
            </a:r>
          </a:p>
          <a:p>
            <a:r>
              <a:t>Thesis rule: the thesis reports only the smoke series of 43 permutations and states that no figure comes from another run (chapter 5, Appendix A); these panels were therefore rebuilt after submission with the thesis toolchain (24 Sep 2026) and are not in the submitted text.</a:t>
            </a:r>
          </a:p>
          <a:p>
            <a:r>
              <a:t>Mandatory measurement series A/B (per build) of the thesis: rebuilt with the thesis toolchain (24 Sep 2026); series C (cross-build regression, old vs. new) remains not collected. The four-axis rebuild of the experiments on slides 14–16 (node type, memory layout, search algorithm, prefetch) completed on 24 Sep 2026; the figures on those slides now show this rebuild (320 binaries x 4 workloads x 3 repetitions).</a:t>
            </a:r>
          </a:p>
          <a:p>
            <a:r>
              <a:t>FF: method for FF2 (measurement methodology) and its sub-question FF2.d (which workloads are state of the art).</a:t>
            </a:r>
          </a:p>
          <a:p>
            <a:r>
              <a:t>Exclusion: the thesis excludes ycsb_e and lp_range_scan at scan diffs (19 valid load profiles; Appendix A limitations table, row 7). Hypothesis H1 of the thesis is tied to YCSB-A versus YCSB-E (Sec. 5.1), so H1 cannot be decided from this pilot.</a:t>
            </a:r>
          </a:p>
          <a:p>
            <a:r>
              <a:t>320 in the thesis is the serialisation catalogue of chapter 4 (4x4x5x4 identities), not a measured corpus; the delivery measurement over the 320 catalogue is listed as open (Sec. 6.1).</a:t>
            </a:r>
          </a:p>
          <a:p>
            <a:endParaRPr/>
          </a:p>
          <a:p>
            <a:r>
              <a:t>VISUAL / CLICK CUES</a:t>
            </a:r>
          </a:p>
          <a:p>
            <a:r>
              <a:t>No timed animation. Explain the figure before advancing.</a:t>
            </a:r>
          </a:p>
          <a:p>
            <a:endParaRPr/>
          </a:p>
          <a:p>
            <a:r>
              <a:t>SOURCE BASIS</a:t>
            </a:r>
          </a:p>
          <a:p>
            <a:r>
              <a:t>https://github.com/BenniProbst/20260931-Overleaf-Diplomarbeit/blob/53d8c0729439df464fe49db6676d696e9d2a750e/kapitel/de/05_evaluation.tex</a:t>
            </a:r>
          </a:p>
          <a:p>
            <a:r>
              <a:t>https://github.com/BenniProbst/20260931-Overleaf-Diplomarbeit/blob/53d8c0729439df464fe49db6676d696e9d2a750e/anhang/de/A_measurements.tex</a:t>
            </a:r>
          </a:p>
          <a:p>
            <a:r>
              <a:t>Measurement source (24 Sep 2026): artefact of measurement job 394381, 320 result.csv files, 3,840 data rows plus header, 189 columns, profile vortrag_pilot_320_4lp, paired medians nearest-rank per repetition. Historical CSV (superseded): tier150_measurements_INDEX320_cowfix-v1_2026-06-18.csv; source: measurement backup NAS (166,987,652 bytes, 120,960 data rows plus header, 154 columns; sha256 c04f622a1221f9c1...). No pilot_audit.json exists; the CSV is the evidence record.</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14 | 14:03–15:26 | 83 seconds</a:t>
            </a:r>
          </a:p>
          <a:p>
            <a:r>
              <a:t>THESIS: node_type, YCSB-C, ns_per_op; 80 pairs/run; rebuilt after submission with the thesis toolchain (24 Sep 2026); not in the submitted text (stand 53d8c072)</a:t>
            </a:r>
          </a:p>
          <a:p>
            <a:endParaRPr/>
          </a:p>
          <a:p>
            <a:r>
              <a:t>The first question is whether increasing node capacity always improves lookup performance. The comparison uses the YCSB-C-labelled workload and total nanoseconds per operation, not the lookup median. Node4 is the reference. All remaining settings are matched between each candidate and the baseline.</a:t>
            </a:r>
          </a:p>
          <a:p>
            <a:endParaRPr/>
          </a:p>
          <a:p>
            <a:r>
              <a:t>Read the horizontal axis first. Zero means the same latency as the baseline. Negative values mean lower latency. Each of the three markers is one repetition's median across 80 matched contexts.</a:t>
            </a:r>
          </a:p>
          <a:p>
            <a:endParaRPr/>
          </a:p>
          <a:p>
            <a:r>
              <a:t>In this measurement, Node16 lies between half a percent and two percent below Node4. Node48 now lies slightly above Node4, by under two percent. Node256 lies about one to two percent below Node4. Therefore, larger capacity is not monotonically better in these data.</a:t>
            </a:r>
          </a:p>
          <a:p>
            <a:endParaRPr/>
          </a:p>
          <a:p>
            <a:r>
              <a:t>The physical motivation is a trade-off: capacity can change the number of nodes or allocations, while a larger representation can change the working set and local search cost. The observed curve motivates investigating that trade-off; it does not isolate its hardware cause.</a:t>
            </a:r>
          </a:p>
          <a:p>
            <a:endParaRPr/>
          </a:p>
          <a:p>
            <a:r>
              <a:t>This is not a benchmark of three complete ART implementations, and the names alone do not guarantee the original ART memory layouts. The final interpretation needs the rebuilt operative path and appropriate cache observations. [OPTIONAL — cut reserve] What the present measurement supplies is a concrete, reproducible comparison question: where is the useful capacity range for this operation and workload?</a:t>
            </a:r>
          </a:p>
          <a:p>
            <a:r>
              <a:t/>
            </a:r>
            <a:endParaRPr/>
          </a:p>
          <a:p>
            <a:r>
              <a:t>THESIS CHECK (stand 53d8c072)</a:t>
            </a:r>
          </a:p>
          <a:p>
            <a:r>
              <a:t>FF: illustrates FF1.b (axis couplings) and FF0 (page/node type as one of the four decisions).</a:t>
            </a:r>
          </a:p>
          <a:p>
            <a:r>
              <a:t>Measurement status: rebuilt after submission with the thesis toolchain (24 Sep 2026); not in the submitted text (see slide 13). The thesis appendix expects 480 sibling pairs per node_type contrast but holds none at this state; its smoke series is one cell (k_ary, ycsb_c, n = 4096, N = 1).</a:t>
            </a:r>
          </a:p>
          <a:p>
            <a:r>
              <a:t>Mandatory measurement series A/B (per build) of the thesis: rebuilt with the thesis toolchain (24 Sep 2026); series C (cross-build regression, old vs. new) remains not collected. The four-axis rebuild of these experiments (node type, memory layout, search algorithm, prefetch) completed on 24 Sep 2026; the figures on slides 14–16 now show this rebuild (320 binaries x 4 workloads x 3 repetitions).</a:t>
            </a:r>
          </a:p>
          <a:p>
            <a:endParaRPr/>
          </a:p>
          <a:p>
            <a:r>
              <a:t>VISUAL / CLICK CUES</a:t>
            </a:r>
          </a:p>
          <a:p>
            <a:r>
              <a:t>No timed animation. Explain the figure before advancing.</a:t>
            </a:r>
          </a:p>
          <a:p>
            <a:endParaRPr/>
          </a:p>
          <a:p>
            <a:r>
              <a:t>SOURCE BASIS</a:t>
            </a:r>
          </a:p>
          <a:p>
            <a:r>
              <a:t>https://github.com/BenniProbst/20260931-Overleaf-Diplomarbeit/blob/53d8c0729439df464fe49db6676d696e9d2a750e/kapitel/de/05_evaluation.tex</a:t>
            </a:r>
          </a:p>
          <a:p>
            <a:r>
              <a:t>https://github.com/BenniProbst/20260931-Overleaf-Diplomarbeit/blob/53d8c0729439df464fe49db6676d696e9d2a750e/anhang/de/A_measurements.tex</a:t>
            </a:r>
          </a:p>
          <a:p>
            <a:r>
              <a:t>Measurement source (24 Sep 2026): artefact of measurement job 394381, 320 result.csv files, 3,840 data rows plus header, 189 columns, profile vortrag_pilot_320_4lp, paired medians nearest-rank per repetition. Historical CSV (superseded): tier150_measurements_INDEX320_cowfix-v1_2026-06-18.csv; source: measurement backup NAS (166,987,652 bytes, 120,960 data rows plus header, 154 columns; sha256 c04f622a1221f9c1...). No pilot_audit.json exists; the CSV is the evidence record.</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15 | 15:26–16:53 | 87 seconds</a:t>
            </a:r>
          </a:p>
          <a:p>
            <a:r>
              <a:t>THESIS: search_algo vs linear_scan, ns_per_op; 80 pairs/run/workload; rebuilt after submission with the thesis toolchain (24 Sep 2026); not in the submitted text (stand 53d8c072)</a:t>
            </a:r>
          </a:p>
          <a:p>
            <a:endParaRPr/>
          </a:p>
          <a:p>
            <a:r>
              <a:t>The second comparison asks whether a search method has the same advantage under different workloads. The reference is linear scan. I show two workload labels from the same measurement: YCSB-C and YCSB-A. The three candidate methods are Eytzinger, interpolation and k-ary search.</a:t>
            </a:r>
          </a:p>
          <a:p>
            <a:endParaRPr/>
          </a:p>
          <a:p>
            <a:r>
              <a:t>Again, the horizontal axis is the percentage change in total nanoseconds per operation. Each point is a separate repetition's matched median. Within each contrast, the remaining settings are held equal.</a:t>
            </a:r>
          </a:p>
          <a:p>
            <a:endParaRPr/>
          </a:p>
          <a:p>
            <a:r>
              <a:t>For the read-oriented YCSB-C label, all three candidates are below the linear-scan baseline. Under the mixed YCSB-A label two of the three reverse and fall behind linear scan, while Eytzinger stays ahead under both labels. The important result is the reversal for interpolation and k-ary: their sign against the baseline flips, and the ranking changes with the workload.</a:t>
            </a:r>
          </a:p>
          <a:p>
            <a:endParaRPr/>
          </a:p>
          <a:p>
            <a:r>
              <a:t>This is why the workload must be part of the experimental specification. A method that improves lookup can have additional representation or maintenance costs under updates. A single overall algorithm ranking would hide that interaction.</a:t>
            </a:r>
          </a:p>
          <a:p>
            <a:endParaRPr/>
          </a:p>
          <a:p>
            <a:r>
              <a:t>These timings include more than cache behaviour. Search work, branching, updates and instrumentation can contribute. Therefore the plot supports workload-specific comparison and selection, not a claim that one method universally has better cache utilization. [OPTIONAL — cut reserve] The final campaign should retain the same comparison structure while validating the rebuilt implementations and the exact request sequence.</a:t>
            </a:r>
          </a:p>
          <a:p>
            <a:r>
              <a:t/>
            </a:r>
            <a:endParaRPr/>
          </a:p>
          <a:p>
            <a:r>
              <a:t>THESIS CHECK (stand 53d8c072)</a:t>
            </a:r>
          </a:p>
          <a:p>
            <a:r>
              <a:t>FF: illustrates FF2.d; in the thesis the workload-dependent ranking is hypothesis H1, not a finding.</a:t>
            </a:r>
          </a:p>
          <a:p>
            <a:r>
              <a:t>Not shown: the measurement also contains search_algo slices for ycsb_f and coco_p04_neg100 (12 rows each), both pointing the same way as YCSB-C (all three methods 63 to 68 percent below linear scan); slides 14–16 show 39 of the 252 result rows (run A 204, run B 48).</a:t>
            </a:r>
          </a:p>
          <a:p>
            <a:r>
              <a:t>Measurement status: rebuilt after submission with the thesis toolchain (24 Sep 2026); not in the submitted text.</a:t>
            </a:r>
          </a:p>
          <a:p>
            <a:r>
              <a:t>Mandatory measurement series A/B (per build) of the thesis: rebuilt with the thesis toolchain (24 Sep 2026); series C (cross-build regression, old vs. new) remains not collected. The four-axis rebuild of these experiments (node type, memory layout, search algorithm, prefetch) completed on 24 Sep 2026; the figures on slides 14–16 now show this rebuild (320 binaries x 4 workloads x 3 repetitions).</a:t>
            </a:r>
          </a:p>
          <a:p>
            <a:endParaRPr/>
          </a:p>
          <a:p>
            <a:r>
              <a:t>VISUAL / CLICK CUES</a:t>
            </a:r>
          </a:p>
          <a:p>
            <a:r>
              <a:t>No timed animation. Explain the figure before advancing.</a:t>
            </a:r>
          </a:p>
          <a:p>
            <a:endParaRPr/>
          </a:p>
          <a:p>
            <a:r>
              <a:t>SOURCE BASIS</a:t>
            </a:r>
          </a:p>
          <a:p>
            <a:r>
              <a:t>https://github.com/BenniProbst/20260931-Overleaf-Diplomarbeit/blob/53d8c0729439df464fe49db6676d696e9d2a750e/kapitel/de/05_evaluation.tex</a:t>
            </a:r>
          </a:p>
          <a:p>
            <a:r>
              <a:t>https://github.com/BenniProbst/20260931-Overleaf-Diplomarbeit/blob/53d8c0729439df464fe49db6676d696e9d2a750e/anhang/de/A_measurements.tex</a:t>
            </a:r>
          </a:p>
          <a:p>
            <a:r>
              <a:t>Measurement source (24 Sep 2026): artefact of measurement job 394381, 320 result.csv files, 3,840 data rows plus header, 189 columns, profile vortrag_pilot_320_4lp, paired medians nearest-rank per repetition. Historical CSV (superseded): tier150_measurements_INDEX320_cowfix-v1_2026-06-18.csv; source: measurement backup NAS (166,987,652 bytes, 120,960 data rows plus header, 154 columns; sha256 c04f622a1221f9c1...). No pilot_audit.json exists; the CSV is the evidence record.</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16 | 16:53–18:32 | 99 seconds</a:t>
            </a:r>
          </a:p>
          <a:p>
            <a:r>
              <a:t>THESIS: memory_layout vs AoSStrict, ns_per_op; 64 pairs/run/workload; rebuilt after submission with the thesis toolchain (24 Sep 2026); not in the submitted text (stand 53d8c072)</a:t>
            </a:r>
          </a:p>
          <a:p>
            <a:endParaRPr/>
          </a:p>
          <a:p>
            <a:r>
              <a:t>The third question returns directly to the cache-line motivation. Is an explicitly cache-line-aligned layout automatically the better choice? The reference is the compact AoSStrict layout. I show the aligned layout and PackedBitmap under the two workload labels.</a:t>
            </a:r>
          </a:p>
          <a:p>
            <a:endParaRPr/>
          </a:p>
          <a:p>
            <a:r>
              <a:t>For the YCSB-C label, the aligned layout is close to the reference. For YCSB-A, its paired time is about eight to nine percent higher. PackedBitmap now lies clearly above the baseline: about ten percent under the read label and close to seventy percent under the mixed label.</a:t>
            </a:r>
          </a:p>
          <a:p>
            <a:endParaRPr/>
          </a:p>
          <a:p>
            <a:r>
              <a:t>The result is not that alignment is generally harmful; in this measurement the aligned layout carries a cost under the mixed workload. Alignment, field placement and padding are different mechanisms. A representation can align entries while increasing their footprint or the amount of work needed during updates. Conversely, a compact representation can reduce memory traffic without guaranteeing the fastest local computation.</a:t>
            </a:r>
          </a:p>
          <a:p>
            <a:endParaRPr/>
          </a:p>
          <a:p>
            <a:r>
              <a:t>A larger live footprint for the widened layouts was quoted with the pilot but is not backed by a supplied source, and its cache-line-count field is not suitable for deriving utilization across layouts. I therefore do not display a cache-line-utilization percentage or claim that the timing difference was caused by a measured cache miss reduction.</a:t>
            </a:r>
          </a:p>
          <a:p>
            <a:endParaRPr/>
          </a:p>
          <a:p>
            <a:r>
              <a:t>The scientific conclusion is narrower and more useful: representation choices have to be evaluated together with their workload and storage costs. The apparatus makes that question explicit. [OPTIONAL — cut reserve] Final counter-backed measurements are the remaining step from a timing observation to a stronger cache-specific explanation.</a:t>
            </a:r>
          </a:p>
          <a:p>
            <a:r>
              <a:t/>
            </a:r>
            <a:endParaRPr/>
          </a:p>
          <a:p>
            <a:r>
              <a:t>THESIS CHECK (stand 53d8c072)</a:t>
            </a:r>
          </a:p>
          <a:p>
            <a:r>
              <a:t>FF: illustrates FF0 (memory layout as one of the four decisions) with the cache-line motivation.</a:t>
            </a:r>
          </a:p>
          <a:p>
            <a:r>
              <a:t>The slide title is the talk's short form; the thesis carries no finding 'alignment has a cost', and its limitations table (row 12) notes that part of the memory_layout effect lies below the measurement noise.</a:t>
            </a:r>
          </a:p>
          <a:p>
            <a:r>
              <a:t>Not shown: AoSoA lies about one to four and a half percent above the reference under both labels; SoA lies about half a percent to three and a half percent below it (largest -3.23 percent under YCSB-A).</a:t>
            </a:r>
          </a:p>
          <a:p>
            <a:r>
              <a:t>Measurement status: rebuilt after submission with the thesis toolchain (24 Sep 2026); not in the submitted text.</a:t>
            </a:r>
          </a:p>
          <a:p>
            <a:r>
              <a:t>Mandatory measurement series A/B (per build) of the thesis: rebuilt with the thesis toolchain (24 Sep 2026); series C (cross-build regression, old vs. new) remains not collected. The four-axis rebuild of these experiments (node type, memory layout, search algorithm, prefetch) completed on 24 Sep 2026; the figures on slides 14–16 now show this rebuild (320 binaries x 4 workloads x 3 repetitions).</a:t>
            </a:r>
          </a:p>
          <a:p>
            <a:endParaRPr/>
          </a:p>
          <a:p>
            <a:r>
              <a:t>VISUAL / CLICK CUES</a:t>
            </a:r>
          </a:p>
          <a:p>
            <a:r>
              <a:t>No timed animation. Explain the figure before advancing.</a:t>
            </a:r>
          </a:p>
          <a:p>
            <a:endParaRPr/>
          </a:p>
          <a:p>
            <a:r>
              <a:t>SOURCE BASIS</a:t>
            </a:r>
          </a:p>
          <a:p>
            <a:r>
              <a:t>https://github.com/BenniProbst/20260931-Overleaf-Diplomarbeit/blob/53d8c0729439df464fe49db6676d696e9d2a750e/kapitel/de/05_evaluation.tex</a:t>
            </a:r>
          </a:p>
          <a:p>
            <a:r>
              <a:t>https://github.com/BenniProbst/20260931-Overleaf-Diplomarbeit/blob/53d8c0729439df464fe49db6676d696e9d2a750e/anhang/de/A_measurements.tex</a:t>
            </a:r>
          </a:p>
          <a:p>
            <a:r>
              <a:t>Measurement source (24 Sep 2026): artefact of measurement job 394381, 320 result.csv files, 3,840 data rows plus header, 189 columns, profile vortrag_pilot_320_4lp, paired medians nearest-rank per repetition. Historical CSV (superseded): tier150_measurements_INDEX320_cowfix-v1_2026-06-18.csv; source: measurement backup NAS (166,987,652 bytes, 120,960 data rows plus header, 154 columns; sha256 c04f622a1221f9c1...). No pilot_audit.json exists; the CSV is the evidence record.</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17 | 18:32–19:37 | 65 seconds</a:t>
            </a:r>
          </a:p>
          <a:p>
            <a:r>
              <a:t>THESIS: Active German sources, development @53d8c0729439df464fe49db6676d696e9d2a750e (stand 53d8c072)</a:t>
            </a:r>
          </a:p>
          <a:p>
            <a:endParaRPr/>
          </a:p>
          <a:p>
            <a:r>
              <a:t>The thesis turns a practical question about index performance into a structured experiment. Its concept is constructive: choose implementations along design axes, compose working organs, and wire those organs into a complete algorithm. The apparatus then compiles and compares those candidates under common contracts.</a:t>
            </a:r>
          </a:p>
          <a:p>
            <a:endParaRPr/>
          </a:p>
          <a:p>
            <a:r>
              <a:t>The three measured comparisons illustrate why the result must stay attached to its context: node capacity is not monotonically beneficial, search-method effects change with the workload, and alignment is not a substitute for measuring representation cost.</a:t>
            </a:r>
          </a:p>
          <a:p>
            <a:endParaRPr/>
          </a:p>
          <a:p>
            <a:r>
              <a:t>The evidence boundary remains explicit. These are rebuilt four-axis measurement results, not yet the full campaign. Implementing the apparatus and demonstrating a performance advantage are separate obligations.</a:t>
            </a:r>
          </a:p>
          <a:p>
            <a:endParaRPr/>
          </a:p>
          <a:p>
            <a:r>
              <a:t>At its core the system is a white-box auto-tuner: it makes the pieces visible, assembles them into real algorithms, compiles every composition into its own binary, compares them under controlled conditions and selects what the measurements support. Thank you. I welcome your questions.</a:t>
            </a:r>
          </a:p>
          <a:p>
            <a:r>
              <a:t/>
            </a:r>
            <a:endParaRPr/>
          </a:p>
          <a:p>
            <a:r>
              <a:t>THESIS CHECK (stand 53d8c072)</a:t>
            </a:r>
          </a:p>
          <a:p>
            <a:r>
              <a:t>FF: FF0 and FF3 remain open until series A has run (thesis Sec. 6.1); what is demonstrated is the apparatus of FF1, FF2 and FF4.</a:t>
            </a:r>
          </a:p>
          <a:p>
            <a:r>
              <a:t>White-box auto-tuner (V5): the thesis places the apparatus in the line of empirical autotuning systems (ATLAS, FFTW, OpenTuner) and states the difference — not the parameters of one fixed implementation are permuted but the organ assignment of a living being, each permutation compiled into its own binary (kapitel/de/04_implementierung.tex:10–16; Sec. 3.6.1 'measure-in-the-loop autotuners', 03:1954–1956) (stand 783f8973).</a:t>
            </a:r>
          </a:p>
          <a:p>
            <a:endParaRPr/>
          </a:p>
          <a:p>
            <a:r>
              <a:t>VISUAL / CLICK CUES</a:t>
            </a:r>
          </a:p>
          <a:p>
            <a:r>
              <a:t>No build. Monday route = the 19-minute route (the time lines of these notes; [OPTIONAL-19] and [OPTIONAL — cut reserve] cuts applied): ends 19:37 at 2.3 words per second (hard window 19:00–20:00, corridor 19:20–19:40); the full script of the 25-minute frame (table in the guide appendix) ends 20:41; if running late, use the emergency ladder E1–E5 of the guide; leave five minutes for questions.</a:t>
            </a:r>
          </a:p>
          <a:p>
            <a:endParaRPr/>
          </a:p>
          <a:p>
            <a:r>
              <a:t>SOURCE BASIS</a:t>
            </a:r>
          </a:p>
          <a:p>
            <a:r>
              <a:t>https://github.com/BenniProbst/20260931-Overleaf-Diplomarbeit/blob/53d8c0729439df464fe49db6676d696e9d2a750e/kapitel/de/03_messsystem_prtart.tex</a:t>
            </a:r>
          </a:p>
          <a:p>
            <a:r>
              <a:t>https://github.com/BenniProbst/20260931-Overleaf-Diplomarbeit/blob/53d8c0729439df464fe49db6676d696e9d2a750e/kapitel/de/04_implementierung.tex</a:t>
            </a:r>
          </a:p>
          <a:p>
            <a:r>
              <a:t>https://github.com/BenniProbst/20260931-Overleaf-Diplomarbeit/blob/53d8c0729439df464fe49db6676d696e9d2a750e/anhang/de/D_building_block_matrix.tex</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BACKUP. Use only if asked about fidelity to the papers. The repository ART profile is a declared reconstruction. Never equate the profile count of 33 (30 full profiles and 3 abstract profiles, P01–P33, thesis Sec. 3.2) with 33 completed original-code measurements. The three kinds shown are the talk's grouping; the thesis works with the three mandatory measurement series A, B and C (Sec. 3.4) and a three-stage check, which do not map one-to-one onto this triad. Source: thesis §§3.2 and 5.1; art.profile.xml.</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BACKUP. PRT-ART is the experimental plugin, not the historical starting story. These four requested features are retained, but do not replace the evaluation. Source: thesis §§3.5 and 4.2. Current plugin contract: comdare_pruefling.cmake. In the thesis PRT-ART is the Pruefling — the candidate under test; 'probe' in the thesis glossary denotes the measurement sensor and 'probe dock' the Pruef-Dock, so the two words are kept apart. The thesis lists the Pruefling slots as page type (build axis), prefetch, value handle (ChainRef) and telemetry (Sec. 3.5); its reference composition differs from ART in exactly one axis, the path compression as redirect organ. Of the four tiles here, redirects correspond to that redirect organ and bundle prefetch to the prefetch slot; allocation (4+1+2 pool) and multi-level layout are the plugin's own constituents that run via the cache-engine default (attachment not implemented); value handle and telemetry are not shown.</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BACKUP. Full slots retained outside the main route. The chapter-level categories were introduced before their alternatives. Sources: thesis Appendix D; lager_baum_writer.hpp. These 18 current slots must not be equated with the old June CSV schema. The five groups are a source grouping (lager_baum_writer.hpp), not a thesis term; the thesis orders its axes in three realms (organ, system, measurement); the eighteen slots T00–T17 are the organ realm's main axes and it names no five groups. 'Interface family' on this and the next slide is the talk's form of the thesis term family (Gattung). Two different nineteens exist in the material: the nineteen serialised choices of the June CSV schema, and the optional nineteenth organ meta-meta axis of the current thesis. Neither is a nineteenth composition slot.</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BACKUP. The interface family — thesis term: family (Gattung) — defines the externally promised problem class; the thesis names four families: Map, Container, Graph and HeuristikAdapter. The genus (thesis: Genus, alias tier subclass) has its own composition; the thesis names six genera — SearchAlgorithm, Set, Sequence, Adapter, View and FunctionInterfaceReroute. The slide shows a subset. The concept is separate from the E-layer and generation-stage views. Source: thesis §3.3.2, Appendix F.</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BACKUP ONLY. The supervisor explicitly deprioritized Overleaf/PDF automation relative to scientific results. Four repository identities are retained: super application, framework, plugin and manuscript. Output automation is an engineering capability, not self-proof of the research hypothesis.</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BACKUP. The historical data cannot settle all cache hypotheses. In particular, do not interpret trigger counts as useful prefetches or inconsistent cache-line counters as CLU. The final campaign needs verified operational paths, platform identity and measured comparisons.</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BACKUP. The six-chapter order is taken from diplomarbeit.tex at 53d8c0729439df464fe49db6676d696e9d2a750e (stand 53d8c072). Chapter 4 is titled “Implementation and concrete algorithm components” in full; the tile shows the short form. This is a selective spoken rendering of the thesis, not an attempt to show every subsection. Rehearsal instruction: idea before detail; one consistent line; representative evaluation. Renumbered on 22 Sep 2026 (Order 405): three text-only slides added (5 puzzle system, 9 ART taken apart, 10 art.profile.xml); related work (3) now precedes the roadmap (4). The roadmap slide is counted under chapter 2 in this crosswalk (Fix 405-r1). Fix 405-r2 (Orders 418/419): slide 13 'Measure the algorithm and its organs' is now the hidden extra slide X1 after B8; the former slides 14–18 are 13–17; the 19-minute route is the Monday route; click steps added to slides 5, 9 and 10.</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BACKUP — TERMINOLOGY AT TWO ABSTRACTION LEVELS. Not part of the 19-minute main route.</a:t>
            </a:r>
          </a:p>
          <a:p>
            <a:endParaRPr/>
          </a:p>
          <a:p>
            <a:r>
              <a:t>The active thesis uses Organ = Achse in the catalogue and glossary. In chapter 3, figures axis-organ and usage, it also calls the composition of node type T4, layout T5 and allocator T6 a Speicher-Organ, implemented as LayoutAwareChunkedStore. This is not a universal extra hierarchy layer and not an additional nineteenth composition slot; it is a concrete functional composition of existing choices, exposed through StorageOrgan. The thesis does carry a nineteenth organ axis, but of a different kind: an optional organ meta-meta axis for disk I/O. Meta-meta means it does not describe an assignment but describes how other axes are described. It becomes effective only when disk write-back enters the design, it stamps in the bracket appendix of the organ line, and it stays outside the permutation identity — which is why the binary identity keeps exactly eighteen segments. Anatomy denotes the required wiring among concrete components.</a:t>
            </a:r>
          </a:p>
          <a:p>
            <a:r>
              <a:t>Note the two senses: a composed organ (T4 + T5 + T6 → StorageOrgan) is a composition at the same level; the meta-meta axis is an indirection of description, one level above. They are not the same thing.</a:t>
            </a:r>
          </a:p>
          <a:p>
            <a:r>
              <a:t>The five groups named on the left of the slide are a source grouping (lager_baum_writer.hpp), not a thesis term; the thesis orders its axes in three realms (organ, system, measurement); the eighteen slots T00–T17 are the organ realm's main axes and it names no five groups.</a:t>
            </a:r>
          </a:p>
          <a:p>
            <a:endParaRPr/>
          </a:p>
          <a:p>
            <a:r>
              <a:t>The optional prefetch and measurement hooks must not be drawn as unconditional dependencies. The concurrency-to-store edge is dotted and explicitly not yet wired in the cited source. Re-checked at development 53d8c072: still not connected (dotted), so the status holds. Unrendered author comments ask for wider recursive axis/interface explanations; they are editorial requests, not proof that all such paths are complete.</a:t>
            </a:r>
          </a:p>
          <a:p>
            <a:endParaRPr/>
          </a:p>
          <a:p>
            <a:r>
              <a:t>SOURCE BASIS</a:t>
            </a:r>
          </a:p>
          <a:p>
            <a:r>
              <a:t>https://github.com/BenniProbst/20260931-Overleaf-Diplomarbeit/blob/53d8c0729439df464fe49db6676d696e9d2a750e/kapitel/de/03_messsystem_prtart.tex#L777-L848</a:t>
            </a:r>
          </a:p>
          <a:p>
            <a:r>
              <a:t>Line range re-pinned to development 53d8c072: the Speicher-Organ passage (hub sentence, fig:axis-organ, fig:usage) now lies at lines 777–848 (stand 53d8c072).</a:t>
            </a:r>
          </a:p>
          <a:p>
            <a:r>
              <a:t>Figures axis-organ and usage (footer and notes above) are figures 3.5 and 3.6 of the long version only (development 783f8973); not in the submitted short version (bau/kurzfassung-346 a0b9e2c1: chapter-3 figures 3.1–3.9); Appendix C, Appendix D and Sec. 3.3.1 exist in both (Fix 405-r2).</a:t>
            </a:r>
          </a:p>
          <a:p>
            <a:r>
              <a:t>https://github.com/BenniProbst/20260931-Overleaf-Diplomarbeit/blob/53d8c0729439df464fe49db6676d696e9d2a750e/anhang/de/D_building_block_matrix.tex</a:t>
            </a:r>
          </a:p>
          <a:p>
            <a:r>
              <a:t>https://github.com/BenniProbst/20260931-Overleaf-Diplomarbeit/blob/53d8c0729439df464fe49db6676d696e9d2a750e/anhang/de/C_glossary.tex</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5 | 03:29–04:34 | 65 seconds</a:t>
            </a:r>
          </a:p>
          <a:p>
            <a:r>
              <a:t>THESIS: Active German sources, development @53d8c0729439df464fe49db6676d696e9d2a750e (stand 53d8c072); slide added 22 Sep 2026 (Order 405, checked at 783f8973)</a:t>
            </a:r>
          </a:p>
          <a:p/>
          <a:p>
            <a:r>
              <a:t>Before any detail, here is the idea of the whole system as a puzzle. I read thirty-three published designs and took each one apart into its design decisions. Decisions that recur across papers — how a node is laid out, how memory is allocated, how a lookup walks the tree — became the axes of one construction profile.</a:t>
            </a:r>
          </a:p>
          <a:p/>
          <a:p>
            <a:r>
              <a:t>The pieces on each axis are the organs of a search algorithm: eighteen organ axes in the thesis' catalogue. Two further kinds of axes are not organs: system axes describe the build and the target platform, measurement axes describe how we observe. Both are held fixed whenever organs are compared.</a:t>
            </a:r>
          </a:p>
          <a:p/>
          <a:p>
            <a:r>
              <a:t>Playing the puzzle means choosing exactly one piece per axis. That choice is a construction profile, and every profile is compiled into its own binary and measured. Swapping one organ while everything else stays is what I call an organ experiment; [OPTIONAL-19 — 19-minute route] the whole rest of this talk is about doing this for real.</a:t>
            </a:r>
          </a:p>
          <a:p/>
          <a:p>
            <a:r>
              <a:t>THESIS CHECK (stand 783f8973)</a:t>
            </a:r>
          </a:p>
          <a:p>
            <a:r>
              <a:t>'Puzzle', 'construction profile' and 'organ experiment' are the talk's images; thesis terms: axis permutation matrix (Sec. 1.4), algorithm profile (comdare_algorithm_profile), axis-instance dissection of the state of the art (Sec. 3.2) and the axis triad organ / system / measurement (Sec. 3.4.1).</a:t>
            </a:r>
          </a:p>
          <a:p>
            <a:r>
              <a:t>33 profiles = 30 full and 3 abstract (Sec. 3.2, tab:sota-profiles (long version; not in the submitted short version)); eighteen organ main axes T00–T17 plus three system main axes (Sec. 1.4); the five groups on the next slide are a source grouping, not a thesis term.</a:t>
            </a:r>
          </a:p>
          <a:p>
            <a:r>
              <a:t>Organ experiment = varying one organ axis with all other axes, settings, workload and repetition matched — the MATCH / VARY / REPORT rule of slide 13 (Sec. 5.2.5; Appendix A, axis exchangeability; fairness rules Sec. 5.1.7); coupling caveat node type x path compression (Sec. 6.1).</a:t>
            </a:r>
          </a:p>
          <a:p/>
          <a:p>
            <a:r>
              <a:t>VISUAL / CLICK CUES</a:t>
            </a:r>
          </a:p>
          <a:p>
            <a:r>
              <a:t>Click 1: the organ-axes row appears (label, the 18-organs box and the construction-profile box).</a:t>
            </a:r>
          </a:p>
          <a:p>
            <a:r>
              <a:t>Click 2: the system-axes and measurement-axes rows appear (both held fixed); then point at the right-hand column.</a:t>
            </a:r>
          </a:p>
          <a:p/>
          <a:p>
            <a:r>
              <a:t>SOURCE BASIS</a:t>
            </a:r>
          </a:p>
          <a:p>
            <a:r>
              <a:t>https://github.com/BenniProbst/20260931-Overleaf-Diplomarbeit/blob/53d8c0729439df464fe49db6676d696e9d2a750e/kapitel/de/03_messsystem_prtart.tex</a:t>
            </a:r>
          </a:p>
          <a:p>
            <a:r>
              <a:t>https://github.com/BenniProbst/20260931-Overleaf-Diplomarbeit/blob/53d8c0729439df464fe49db6676d696e9d2a750e/kapitel/de/01_einleitung.tex</a:t>
            </a:r>
          </a:p>
          <a:p>
            <a:r>
              <a:t>https://github.com/BenniProbst/20260931-Overleaf-Diplomarbeit/blob/53d8c0729439df464fe49db6676d696e9d2a750e/anhang/de/C_glossary.tex</a:t>
            </a:r>
          </a:p>
          <a:p>
            <a:r>
              <a:t>Selected fields only; the talk's images are marked as such. Sections: Sec. 3.2 (03:93–112), 33 profiles (03:555–563), Sec. 3.4.1 (03:1306), 01:290–295, glossary Achse/Organ (C:22–29) (stand 783f8973).</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9 | 08:36–09:40 | 64 seconds</a:t>
            </a:r>
          </a:p>
          <a:p>
            <a:r>
              <a:t>THESIS: Active German sources, development @53d8c0729439df464fe49db6676d696e9d2a750e (stand 53d8c072); slide added 22 Sep 2026 (Order 405, checked at 783f8973)</a:t>
            </a:r>
          </a:p>
          <a:p/>
          <a:p>
            <a:r>
              <a:t>Here is that tree: the Adaptive Radix Tree, ART. I take it because it is the reference design of the thesis [OPTIONAL-19 — 19-minute route] — because you have already seen its pieces on the last slides — and because my candidate under test, PRT-ART, is derived from it.</a:t>
            </a:r>
          </a:p>
          <a:p/>
          <a:p>
            <a:r>
              <a:t>Taken apart, ART is a set of organs: its node type is the adaptive node classes Node4, 16, 48 and 256; its memory layout is cache-line aligned; its allocator is mimalloc; it uses no prefetch; its concurrency is optimistic lock coupling; and its values live outside the nodes.</a:t>
            </a:r>
          </a:p>
          <a:p/>
          <a:p>
            <a:r>
              <a:t>Now the puzzle move: swap one organ and you get a different tree. Put HOT's bit-based node, its path traversal, its allocator and its adaptive prefetch in place of ART's — traversal is not on this slide — and the profile of HOT appears; keep everything else and swap only the value handle for PRT-ART's chain reference, and you have an organ experiment on my own candidate.</a:t>
            </a:r>
          </a:p>
          <a:p/>
          <a:p>
            <a:r>
              <a:t>THESIS CHECK (stand 783f8973)</a:t>
            </a:r>
          </a:p>
          <a:p>
            <a:r>
              <a:t>ART is the reference design of the thesis (Sec. 2.1, kapitel/de/02:62–65): node classes Node4/16/48/256 and linear search within small nodes return in chapter 3 as separately measurable decisions; the whole ART tree appears as a candidate under test, not as a continuously co-measured structure.</a:t>
            </a:r>
          </a:p>
          <a:p>
            <a:r>
              <a:t>Values verbatim from ce sota/art.profile.xml lines 11–21 and sota/hot.profile.xml lines 11–21 (ce 57757fe3); the axes block is the historical eleven-axis form, LEGACY and read-only (algorithm_profiles/README.md); canonical today: eighteen composition axes T00–T17 of cache_engine_axis_registry.xml — node_type T04, memory_layout T05, allocator T06, prefetch T07, concurrency T08, value_handle T10 as labelled; 'page' (DENSEBYTE_ART256 / HOT_MULTIBYTE) is the candidate-under-test build axis page type (Sec. 3.2), not shown.</a:t>
            </a:r>
          </a:p>
          <a:p>
            <a:r>
              <a:t>HOT and ART share OPTIMISTIC_LOCK_COUPLING and EXTERNAL in the persisted profiles; HOT's differing pieces are HOT_BIT_NODE, HOT_PATH (traversal, not shown), JEMALLOC, ADAPTIVE_DISTANCE; the value-handle swap names the candidate under test's ChainRef slot (Sec. 3.5).</a:t>
            </a:r>
          </a:p>
          <a:p>
            <a:r>
              <a:t>Framework composition, not a claim of original-ART or original-HOT fidelity (Sec. 3.2: 33 profiles = 30 full + 3 abstract; backup B1).</a:t>
            </a:r>
          </a:p>
          <a:p/>
          <a:p>
            <a:r>
              <a:t>VISUAL / CLICK CUES</a:t>
            </a:r>
          </a:p>
          <a:p>
            <a:r>
              <a:t>Click 1: the six ART rows appear (T4, T5, T6, T7, T8, T10 with their values); read them top-down.</a:t>
            </a:r>
          </a:p>
          <a:p>
            <a:r>
              <a:t>Click 2: the swap column appears (HOT's pieces and PRT-ART's slot).</a:t>
            </a:r>
          </a:p>
          <a:p/>
          <a:p>
            <a:r>
              <a:t>SOURCE BASIS</a:t>
            </a:r>
          </a:p>
          <a:p>
            <a:r>
              <a:t>https://github.com/BenniProbst/20260931-Overleaf-Diplomarbeit/blob/53d8c0729439df464fe49db6676d696e9d2a750e/kapitel/de/02_suchbaeume_grundlagen.tex</a:t>
            </a:r>
          </a:p>
          <a:p>
            <a:r>
              <a:t>https://github.com/BenniProbst/20260931-Overleaf-Diplomarbeit/blob/53d8c0729439df464fe49db6676d696e9d2a750e/kapitel/de/03_messsystem_prtart.tex</a:t>
            </a:r>
          </a:p>
          <a:p>
            <a:r>
              <a:t>https://github.com/BenniProbst/comdare-cache-engine/blob/57757fe367219c9cf9ddd7546a5c5b55dc68239d/libs/cache_engine/algorithm_profiles/sota/art.profile.xml</a:t>
            </a:r>
          </a:p>
          <a:p>
            <a:r>
              <a:t>https://github.com/BenniProbst/comdare-cache-engine/blob/57757fe367219c9cf9ddd7546a5c5b55dc68239d/libs/cache_engine/algorithm_profiles/sota/hot.profile.xml</a:t>
            </a:r>
          </a:p>
          <a:p>
            <a:r>
              <a:t>https://github.com/BenniProbst/comdare-cache-engine/blob/57757fe367219c9cf9ddd7546a5c5b55dc68239d/libs/cache_engine/algorithm_profiles/cache_engine_axis_registry.xml</a:t>
            </a:r>
          </a:p>
          <a:p>
            <a:r>
              <a:t>Sections: Sec. 2.1 (02:62–65), Sec. 3.2 (03:236–244), Sec. 3.5 (03:1839) (stand 783f8973); ce @57757fe3.</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10 | 09:40–10:30 | 50 seconds</a:t>
            </a:r>
          </a:p>
          <a:p>
            <a:r>
              <a:t>THESIS: Active German sources, development @53d8c0729439df464fe49db6676d696e9d2a750e (stand 53d8c072); slide added 22 Sep 2026 (Order 405, checked at 783f8973)</a:t>
            </a:r>
          </a:p>
          <a:p/>
          <a:p>
            <a:r>
              <a:t>This is the profile itself, exactly as it is stored in the repository [OPTIONAL-19 — 19-minute route] — twenty-eight lines, nothing hidden. The opening tag gives the identity: the id 'art' and the paper reference P01. The metadata block names the paper, the authors and the year.</a:t>
            </a:r>
          </a:p>
          <a:p/>
          <a:p>
            <a:r>
              <a:t>The axes block is the dissection from the previous slide, written down: one value per axis. [OPTIONAL-19 — 19-minute route] Node, layout, allocator, prefetch, concurrency — these are the organs we just discussed. The value handle is where PRT-ART would plug in its own piece.</a:t>
            </a:r>
          </a:p>
          <a:p/>
          <a:p>
            <a:r>
              <a:t>Below that, the key-value signature is the contract the candidate must serve, and the expected workload says what the design was made for. One such file is one candidate. An experiment file lists which axes to permute; the planner does the rest — and that is where we go next.</a:t>
            </a:r>
          </a:p>
          <a:p/>
          <a:p>
            <a:r>
              <a:t>THESIS CHECK (stand 783f8973)</a:t>
            </a:r>
          </a:p>
          <a:p>
            <a:r>
              <a:t>Quoted verbatim: ce sota/art.profile.xml, 28 lines (ce 57757fe3). Its axes block serialises the historical eleven-axis catalogue, marked LEGACY and read-only (algorithm_profiles/README.md); the parser stores it as a free map, the code generator emits it as a comment, only the traversal entry is read; id and paper_ref are the wired fields; canonical today: eighteen composition axes (kCompositionAxisNames). The slide shows how a profile expresses a composition, not a live build input for every field (Q&amp;A: 'Does the XML shown really drive the build?').</a:t>
            </a:r>
          </a:p>
          <a:p>
            <a:r>
              <a:t>Experiment file: paper_experiments/art.experiment.xml (35 lines) references the profile via &lt;template ref="P01" mode="full"/&gt;, names the tier 'art', the workloads ycsb_a..ycsb_f and the op types OP-1..OP-6; the thesis designs a per-axis permutation over profile ranges, the persisted profiles carry one value per axis and the range permutation is not implemented (Sec. 3.2, kapitel/de/03:566–568).</a:t>
            </a:r>
          </a:p>
          <a:p>
            <a:r>
              <a:t>'telemetry' belongs to the measurement realm and 'isa' to the system realm in the thesis' triad (Sec. 3.4.1); they are legacy entries of this file, not organs.</a:t>
            </a:r>
          </a:p>
          <a:p/>
          <a:p>
            <a:r>
              <a:t>VISUAL / CLICK CUES</a:t>
            </a:r>
          </a:p>
          <a:p>
            <a:r>
              <a:t>Click 1: lines 1–14 of art.profile.xml and the reading-key strip appear.</a:t>
            </a:r>
          </a:p>
          <a:p>
            <a:r>
              <a:t>Click 2: lines 15–28 appear; then point line by line: identity, metadata, axes, signature, workload.</a:t>
            </a:r>
          </a:p>
          <a:p>
            <a:r>
              <a:t>Reading key strip above the two panels (was the right-hand 'How to read it' panel until Fix 405-r1); XML panels span the full width at 10 pt Consolas; every text on this slide is at least 10 pt except the deck footers.</a:t>
            </a:r>
          </a:p>
          <a:p/>
          <a:p>
            <a:r>
              <a:t>SOURCE BASIS</a:t>
            </a:r>
          </a:p>
          <a:p>
            <a:r>
              <a:t>https://github.com/BenniProbst/20260931-Overleaf-Diplomarbeit/blob/53d8c0729439df464fe49db6676d696e9d2a750e/kapitel/de/03_messsystem_prtart.tex</a:t>
            </a:r>
          </a:p>
          <a:p>
            <a:r>
              <a:t>https://github.com/BenniProbst/comdare-cache-engine/blob/57757fe367219c9cf9ddd7546a5c5b55dc68239d/libs/cache_engine/algorithm_profiles/sota/art.profile.xml</a:t>
            </a:r>
          </a:p>
          <a:p>
            <a:r>
              <a:t>https://github.com/BenniProbst/comdare-cache-engine/blob/57757fe367219c9cf9ddd7546a5c5b55dc68239d/libs/cache_engine/algorithm_profiles/paper_experiments/art.experiment.xml</a:t>
            </a:r>
          </a:p>
          <a:p>
            <a:r>
              <a:t>https://github.com/BenniProbst/comdare-cache-engine/blob/57757fe367219c9cf9ddd7546a5c5b55dc68239d/libs/cache_engine/algorithm_profiles/README.md</a:t>
            </a:r>
          </a:p>
          <a:p>
            <a:r>
              <a:t>Sections: Sec. 3.2 (03:555–568) (stand 783f8973); ce @57757fe3 (28 lines verbatim).</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svg"/><Relationship Id="rId3" Type="http://schemas.openxmlformats.org/officeDocument/2006/relationships/image" Target="../media/image3.svg"/><Relationship Id="rId4" Type="http://schemas.openxmlformats.org/officeDocument/2006/relationships/image" Target="../media/image4.svg"/><Relationship Id="rId5" Type="http://schemas.openxmlformats.org/officeDocument/2006/relationships/image" Target="../media/image5.svg"/><Relationship Id="rId6" Type="http://schemas.openxmlformats.org/officeDocument/2006/relationships/image" Target="../media/image6.svg"/><Relationship Id="rId7" Type="http://schemas.openxmlformats.org/officeDocument/2006/relationships/image" Target="../media/image7.sv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svg"/><Relationship Id="rId3" Type="http://schemas.openxmlformats.org/officeDocument/2006/relationships/image" Target="../media/image3.sv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svg"/><Relationship Id="rId3" Type="http://schemas.openxmlformats.org/officeDocument/2006/relationships/image" Target="../media/image9.svg"/><Relationship Id="rId4" Type="http://schemas.openxmlformats.org/officeDocument/2006/relationships/image" Target="../media/image10.svg"/><Relationship Id="rId5" Type="http://schemas.openxmlformats.org/officeDocument/2006/relationships/image" Target="../media/image11.sv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sv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sv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sv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sv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elfolie">
    <p:spTree>
      <p:nvGrpSpPr>
        <p:cNvPr id="1" name=""/>
        <p:cNvGrpSpPr/>
        <p:nvPr/>
      </p:nvGrpSpPr>
      <p:grpSpPr>
        <a:xfrm>
          <a:off x="0" y="0"/>
          <a:ext cx="0" cy="0"/>
          <a:chOff x="0" y="0"/>
          <a:chExt cx="0" cy="0"/>
        </a:xfrm>
      </p:grpSpPr>
      <p:sp>
        <p:nvSpPr>
          <p:cNvPr id="3" name="Rechteck 12">
            <a:extLst>
              <a:ext uri="{FF2B5EF4-FFF2-40B4-BE49-F238E27FC236}">
                <a16:creationId xmlns:a16="http://schemas.microsoft.com/office/drawing/2014/main" id="{78EB5448-CB43-4AB5-9896-966A304F24F6}"/>
              </a:ext>
            </a:extLst>
          </p:cNvPr>
          <p:cNvSpPr/>
          <p:nvPr userDrawn="1"/>
        </p:nvSpPr>
        <p:spPr>
          <a:xfrm>
            <a:off x="0" y="0"/>
            <a:ext cx="9144000" cy="3281516"/>
          </a:xfrm>
          <a:prstGeom prst="rect">
            <a:avLst/>
          </a:prstGeom>
          <a:solidFill>
            <a:srgbClr val="0014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solidFill>
                <a:srgbClr val="D0E3F3"/>
              </a:solidFill>
            </a:endParaRPr>
          </a:p>
        </p:txBody>
      </p:sp>
      <p:sp>
        <p:nvSpPr>
          <p:cNvPr id="4" name="Title 1">
            <a:extLst>
              <a:ext uri="{FF2B5EF4-FFF2-40B4-BE49-F238E27FC236}">
                <a16:creationId xmlns:a16="http://schemas.microsoft.com/office/drawing/2014/main" id="{0A5810B3-36E7-45C1-B2D9-2390CFF36B4C}"/>
              </a:ext>
            </a:extLst>
          </p:cNvPr>
          <p:cNvSpPr>
            <a:spLocks noGrp="1"/>
          </p:cNvSpPr>
          <p:nvPr>
            <p:ph type="ctrTitle"/>
          </p:nvPr>
        </p:nvSpPr>
        <p:spPr>
          <a:xfrm>
            <a:off x="180000" y="3489836"/>
            <a:ext cx="7617519" cy="832726"/>
          </a:xfrm>
          <a:prstGeom prst="rect">
            <a:avLst/>
          </a:prstGeom>
          <a:ln>
            <a:noFill/>
          </a:ln>
        </p:spPr>
        <p:txBody>
          <a:bodyPr anchor="t"/>
          <a:lstStyle>
            <a:lvl1pPr algn="l">
              <a:defRPr sz="2800" b="1" cap="none" baseline="0">
                <a:solidFill>
                  <a:srgbClr val="001450"/>
                </a:solidFill>
                <a:latin typeface="Noto Sans" panose="020B0502040504020204" pitchFamily="34" charset="0"/>
                <a:ea typeface="Noto Sans" panose="020B0502040504020204" pitchFamily="34" charset="0"/>
                <a:cs typeface="Noto Sans" panose="020B0502040504020204" pitchFamily="34" charset="0"/>
              </a:defRPr>
            </a:lvl1pPr>
          </a:lstStyle>
          <a:p>
            <a:r>
              <a:rPr lang="de-DE" dirty="0"/>
              <a:t>Mastertitelformat bearbeiten</a:t>
            </a:r>
            <a:endParaRPr lang="en-US" dirty="0"/>
          </a:p>
        </p:txBody>
      </p:sp>
      <p:sp>
        <p:nvSpPr>
          <p:cNvPr id="5" name="Subtitle 2">
            <a:extLst>
              <a:ext uri="{FF2B5EF4-FFF2-40B4-BE49-F238E27FC236}">
                <a16:creationId xmlns:a16="http://schemas.microsoft.com/office/drawing/2014/main" id="{D7367903-E3EB-477B-A699-F45F3DE48D78}"/>
              </a:ext>
            </a:extLst>
          </p:cNvPr>
          <p:cNvSpPr>
            <a:spLocks noGrp="1"/>
          </p:cNvSpPr>
          <p:nvPr>
            <p:ph type="subTitle" idx="1"/>
          </p:nvPr>
        </p:nvSpPr>
        <p:spPr>
          <a:xfrm>
            <a:off x="180000" y="4403725"/>
            <a:ext cx="6840000" cy="324000"/>
          </a:xfrm>
          <a:prstGeom prst="rect">
            <a:avLst/>
          </a:prstGeom>
        </p:spPr>
        <p:txBody>
          <a:bodyPr/>
          <a:lstStyle>
            <a:lvl1pPr marL="0" indent="0" algn="l">
              <a:buNone/>
              <a:defRPr sz="1400">
                <a:solidFill>
                  <a:srgbClr val="000000"/>
                </a:solidFill>
                <a:latin typeface="Noto Sans" panose="020B0502040504020204" pitchFamily="34" charset="0"/>
                <a:ea typeface="Noto Sans" panose="020B0502040504020204" pitchFamily="34" charset="0"/>
                <a:cs typeface="Noto Sans" panose="020B0502040504020204" pitchFamily="34" charset="0"/>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de-DE"/>
              <a:t>Master-Untertitelformat bearbeiten</a:t>
            </a:r>
            <a:endParaRPr lang="en-US" dirty="0"/>
          </a:p>
        </p:txBody>
      </p:sp>
      <p:pic>
        <p:nvPicPr>
          <p:cNvPr id="7" name="Grafik 6">
            <a:extLst>
              <a:ext uri="{FF2B5EF4-FFF2-40B4-BE49-F238E27FC236}">
                <a16:creationId xmlns:a16="http://schemas.microsoft.com/office/drawing/2014/main" id="{E8C41BBC-6449-4D54-AAE1-BA9DD757499F}"/>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5903336" y="151471"/>
            <a:ext cx="1392871" cy="579966"/>
          </a:xfrm>
          <a:prstGeom prst="rect">
            <a:avLst/>
          </a:prstGeom>
        </p:spPr>
      </p:pic>
      <p:pic>
        <p:nvPicPr>
          <p:cNvPr id="8" name="Grafik 7">
            <a:extLst>
              <a:ext uri="{FF2B5EF4-FFF2-40B4-BE49-F238E27FC236}">
                <a16:creationId xmlns:a16="http://schemas.microsoft.com/office/drawing/2014/main" id="{D0F23A0E-B856-46A2-AD26-40FDD3F8ACA2}"/>
              </a:ext>
            </a:extLst>
          </p:cNvPr>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601236" y="235721"/>
            <a:ext cx="1183989" cy="411468"/>
          </a:xfrm>
          <a:prstGeom prst="rect">
            <a:avLst/>
          </a:prstGeom>
        </p:spPr>
      </p:pic>
      <p:grpSp>
        <p:nvGrpSpPr>
          <p:cNvPr id="12" name="Gruppieren 11">
            <a:extLst>
              <a:ext uri="{FF2B5EF4-FFF2-40B4-BE49-F238E27FC236}">
                <a16:creationId xmlns:a16="http://schemas.microsoft.com/office/drawing/2014/main" id="{A9DF8DB4-0052-40D0-95EE-CE0CE38DE526}"/>
              </a:ext>
            </a:extLst>
          </p:cNvPr>
          <p:cNvGrpSpPr/>
          <p:nvPr userDrawn="1"/>
        </p:nvGrpSpPr>
        <p:grpSpPr>
          <a:xfrm>
            <a:off x="0" y="-1"/>
            <a:ext cx="5969752" cy="3281517"/>
            <a:chOff x="23346" y="19454"/>
            <a:chExt cx="5969752" cy="3281517"/>
          </a:xfrm>
        </p:grpSpPr>
        <p:pic>
          <p:nvPicPr>
            <p:cNvPr id="14" name="Grafik 13">
              <a:extLst>
                <a:ext uri="{FF2B5EF4-FFF2-40B4-BE49-F238E27FC236}">
                  <a16:creationId xmlns:a16="http://schemas.microsoft.com/office/drawing/2014/main" id="{317DBEEB-21E6-4BCE-8C61-17F1336BB2CF}"/>
                </a:ext>
              </a:extLst>
            </p:cNvPr>
            <p:cNvPicPr>
              <a:picLocks noChangeAspect="1"/>
            </p:cNvPicPr>
            <p:nvPr userDrawn="1"/>
          </p:nvPicPr>
          <p:blipFill rotWithShape="1">
            <a:blip>
              <a:extLst>
                <a:ext uri="{96DAC541-7B7A-43D3-8B79-37D633B846F1}">
                  <asvg:svgBlip xmlns:asvg="http://schemas.microsoft.com/office/drawing/2016/SVG/main" r:embed="rId4"/>
                </a:ext>
              </a:extLst>
            </a:blip>
            <a:srcRect l="50609" t="49971" r="-1" b="332"/>
            <a:stretch/>
          </p:blipFill>
          <p:spPr>
            <a:xfrm>
              <a:off x="23346" y="19454"/>
              <a:ext cx="1894048" cy="1905749"/>
            </a:xfrm>
            <a:custGeom>
              <a:avLst/>
              <a:gdLst>
                <a:gd name="connsiteX0" fmla="*/ 0 w 7543178"/>
                <a:gd name="connsiteY0" fmla="*/ 0 h 5143500"/>
                <a:gd name="connsiteX1" fmla="*/ 7543178 w 7543178"/>
                <a:gd name="connsiteY1" fmla="*/ 0 h 5143500"/>
                <a:gd name="connsiteX2" fmla="*/ 7543178 w 7543178"/>
                <a:gd name="connsiteY2" fmla="*/ 5143500 h 5143500"/>
                <a:gd name="connsiteX3" fmla="*/ 0 w 7543178"/>
                <a:gd name="connsiteY3" fmla="*/ 5143500 h 5143500"/>
              </a:gdLst>
              <a:ahLst/>
              <a:cxnLst>
                <a:cxn ang="0">
                  <a:pos x="connsiteX0" y="connsiteY0"/>
                </a:cxn>
                <a:cxn ang="0">
                  <a:pos x="connsiteX1" y="connsiteY1"/>
                </a:cxn>
                <a:cxn ang="0">
                  <a:pos x="connsiteX2" y="connsiteY2"/>
                </a:cxn>
                <a:cxn ang="0">
                  <a:pos x="connsiteX3" y="connsiteY3"/>
                </a:cxn>
              </a:cxnLst>
              <a:rect l="l" t="t" r="r" b="b"/>
              <a:pathLst>
                <a:path w="7543178" h="5143500">
                  <a:moveTo>
                    <a:pt x="0" y="0"/>
                  </a:moveTo>
                  <a:lnTo>
                    <a:pt x="7543178" y="0"/>
                  </a:lnTo>
                  <a:lnTo>
                    <a:pt x="7543178" y="5143500"/>
                  </a:lnTo>
                  <a:lnTo>
                    <a:pt x="0" y="5143500"/>
                  </a:lnTo>
                  <a:close/>
                </a:path>
              </a:pathLst>
            </a:custGeom>
          </p:spPr>
        </p:pic>
        <p:pic>
          <p:nvPicPr>
            <p:cNvPr id="15" name="Grafik 14">
              <a:extLst>
                <a:ext uri="{FF2B5EF4-FFF2-40B4-BE49-F238E27FC236}">
                  <a16:creationId xmlns:a16="http://schemas.microsoft.com/office/drawing/2014/main" id="{4AC1ED8C-70C9-43AA-A480-E9C857A0C275}"/>
                </a:ext>
              </a:extLst>
            </p:cNvPr>
            <p:cNvPicPr>
              <a:picLocks noChangeAspect="1"/>
            </p:cNvPicPr>
            <p:nvPr userDrawn="1"/>
          </p:nvPicPr>
          <p:blipFill rotWithShape="1">
            <a:blip>
              <a:extLst>
                <a:ext uri="{96DAC541-7B7A-43D3-8B79-37D633B846F1}">
                  <asvg:svgBlip xmlns:asvg="http://schemas.microsoft.com/office/drawing/2016/SVG/main" r:embed="rId5"/>
                </a:ext>
              </a:extLst>
            </a:blip>
            <a:srcRect t="-334" b="17173"/>
            <a:stretch/>
          </p:blipFill>
          <p:spPr>
            <a:xfrm>
              <a:off x="120458" y="111949"/>
              <a:ext cx="3834788" cy="3189022"/>
            </a:xfrm>
            <a:custGeom>
              <a:avLst/>
              <a:gdLst>
                <a:gd name="connsiteX0" fmla="*/ 0 w 7543178"/>
                <a:gd name="connsiteY0" fmla="*/ 0 h 5143500"/>
                <a:gd name="connsiteX1" fmla="*/ 7543178 w 7543178"/>
                <a:gd name="connsiteY1" fmla="*/ 0 h 5143500"/>
                <a:gd name="connsiteX2" fmla="*/ 7543178 w 7543178"/>
                <a:gd name="connsiteY2" fmla="*/ 5143500 h 5143500"/>
                <a:gd name="connsiteX3" fmla="*/ 0 w 7543178"/>
                <a:gd name="connsiteY3" fmla="*/ 5143500 h 5143500"/>
              </a:gdLst>
              <a:ahLst/>
              <a:cxnLst>
                <a:cxn ang="0">
                  <a:pos x="connsiteX0" y="connsiteY0"/>
                </a:cxn>
                <a:cxn ang="0">
                  <a:pos x="connsiteX1" y="connsiteY1"/>
                </a:cxn>
                <a:cxn ang="0">
                  <a:pos x="connsiteX2" y="connsiteY2"/>
                </a:cxn>
                <a:cxn ang="0">
                  <a:pos x="connsiteX3" y="connsiteY3"/>
                </a:cxn>
              </a:cxnLst>
              <a:rect l="l" t="t" r="r" b="b"/>
              <a:pathLst>
                <a:path w="7543178" h="5143500">
                  <a:moveTo>
                    <a:pt x="0" y="0"/>
                  </a:moveTo>
                  <a:lnTo>
                    <a:pt x="7543178" y="0"/>
                  </a:lnTo>
                  <a:lnTo>
                    <a:pt x="7543178" y="5143500"/>
                  </a:lnTo>
                  <a:lnTo>
                    <a:pt x="0" y="5143500"/>
                  </a:lnTo>
                  <a:close/>
                </a:path>
              </a:pathLst>
            </a:custGeom>
          </p:spPr>
        </p:pic>
        <p:pic>
          <p:nvPicPr>
            <p:cNvPr id="16" name="Grafik 15">
              <a:extLst>
                <a:ext uri="{FF2B5EF4-FFF2-40B4-BE49-F238E27FC236}">
                  <a16:creationId xmlns:a16="http://schemas.microsoft.com/office/drawing/2014/main" id="{FD9330AF-ACCE-4A8A-B17D-205B2DC7C233}"/>
                </a:ext>
              </a:extLst>
            </p:cNvPr>
            <p:cNvPicPr>
              <a:picLocks noChangeAspect="1"/>
            </p:cNvPicPr>
            <p:nvPr userDrawn="1"/>
          </p:nvPicPr>
          <p:blipFill rotWithShape="1">
            <a:blip>
              <a:extLst>
                <a:ext uri="{96DAC541-7B7A-43D3-8B79-37D633B846F1}">
                  <asvg:svgBlip xmlns:asvg="http://schemas.microsoft.com/office/drawing/2016/SVG/main" r:embed="rId6"/>
                </a:ext>
              </a:extLst>
            </a:blip>
            <a:srcRect l="49915" t="-334" b="70094"/>
            <a:stretch/>
          </p:blipFill>
          <p:spPr>
            <a:xfrm>
              <a:off x="23346" y="2141313"/>
              <a:ext cx="1920654" cy="1159658"/>
            </a:xfrm>
            <a:custGeom>
              <a:avLst/>
              <a:gdLst>
                <a:gd name="connsiteX0" fmla="*/ 0 w 7543178"/>
                <a:gd name="connsiteY0" fmla="*/ 0 h 5143500"/>
                <a:gd name="connsiteX1" fmla="*/ 7543178 w 7543178"/>
                <a:gd name="connsiteY1" fmla="*/ 0 h 5143500"/>
                <a:gd name="connsiteX2" fmla="*/ 7543178 w 7543178"/>
                <a:gd name="connsiteY2" fmla="*/ 5143500 h 5143500"/>
                <a:gd name="connsiteX3" fmla="*/ 0 w 7543178"/>
                <a:gd name="connsiteY3" fmla="*/ 5143500 h 5143500"/>
              </a:gdLst>
              <a:ahLst/>
              <a:cxnLst>
                <a:cxn ang="0">
                  <a:pos x="connsiteX0" y="connsiteY0"/>
                </a:cxn>
                <a:cxn ang="0">
                  <a:pos x="connsiteX1" y="connsiteY1"/>
                </a:cxn>
                <a:cxn ang="0">
                  <a:pos x="connsiteX2" y="connsiteY2"/>
                </a:cxn>
                <a:cxn ang="0">
                  <a:pos x="connsiteX3" y="connsiteY3"/>
                </a:cxn>
              </a:cxnLst>
              <a:rect l="l" t="t" r="r" b="b"/>
              <a:pathLst>
                <a:path w="7543178" h="5143500">
                  <a:moveTo>
                    <a:pt x="0" y="0"/>
                  </a:moveTo>
                  <a:lnTo>
                    <a:pt x="7543178" y="0"/>
                  </a:lnTo>
                  <a:lnTo>
                    <a:pt x="7543178" y="5143500"/>
                  </a:lnTo>
                  <a:lnTo>
                    <a:pt x="0" y="5143500"/>
                  </a:lnTo>
                  <a:close/>
                </a:path>
              </a:pathLst>
            </a:custGeom>
          </p:spPr>
        </p:pic>
        <p:pic>
          <p:nvPicPr>
            <p:cNvPr id="17" name="Grafik 16">
              <a:extLst>
                <a:ext uri="{FF2B5EF4-FFF2-40B4-BE49-F238E27FC236}">
                  <a16:creationId xmlns:a16="http://schemas.microsoft.com/office/drawing/2014/main" id="{BE78F5D6-9F34-4E07-9585-F1D8509E1021}"/>
                </a:ext>
              </a:extLst>
            </p:cNvPr>
            <p:cNvPicPr>
              <a:picLocks noChangeAspect="1"/>
            </p:cNvPicPr>
            <p:nvPr userDrawn="1"/>
          </p:nvPicPr>
          <p:blipFill rotWithShape="1">
            <a:blip>
              <a:extLst>
                <a:ext uri="{96DAC541-7B7A-43D3-8B79-37D633B846F1}">
                  <asvg:svgBlip xmlns:asvg="http://schemas.microsoft.com/office/drawing/2016/SVG/main" r:embed="rId7"/>
                </a:ext>
              </a:extLst>
            </a:blip>
            <a:srcRect t="-335" b="69891"/>
            <a:stretch/>
          </p:blipFill>
          <p:spPr>
            <a:xfrm>
              <a:off x="2158310" y="2133525"/>
              <a:ext cx="3834788" cy="1167446"/>
            </a:xfrm>
            <a:custGeom>
              <a:avLst/>
              <a:gdLst>
                <a:gd name="connsiteX0" fmla="*/ 0 w 7543178"/>
                <a:gd name="connsiteY0" fmla="*/ 0 h 5143500"/>
                <a:gd name="connsiteX1" fmla="*/ 7543178 w 7543178"/>
                <a:gd name="connsiteY1" fmla="*/ 0 h 5143500"/>
                <a:gd name="connsiteX2" fmla="*/ 7543178 w 7543178"/>
                <a:gd name="connsiteY2" fmla="*/ 5143500 h 5143500"/>
                <a:gd name="connsiteX3" fmla="*/ 0 w 7543178"/>
                <a:gd name="connsiteY3" fmla="*/ 5143500 h 5143500"/>
              </a:gdLst>
              <a:ahLst/>
              <a:cxnLst>
                <a:cxn ang="0">
                  <a:pos x="connsiteX0" y="connsiteY0"/>
                </a:cxn>
                <a:cxn ang="0">
                  <a:pos x="connsiteX1" y="connsiteY1"/>
                </a:cxn>
                <a:cxn ang="0">
                  <a:pos x="connsiteX2" y="connsiteY2"/>
                </a:cxn>
                <a:cxn ang="0">
                  <a:pos x="connsiteX3" y="connsiteY3"/>
                </a:cxn>
              </a:cxnLst>
              <a:rect l="l" t="t" r="r" b="b"/>
              <a:pathLst>
                <a:path w="7543178" h="5143500">
                  <a:moveTo>
                    <a:pt x="0" y="0"/>
                  </a:moveTo>
                  <a:lnTo>
                    <a:pt x="7543178" y="0"/>
                  </a:lnTo>
                  <a:lnTo>
                    <a:pt x="7543178" y="5143500"/>
                  </a:lnTo>
                  <a:lnTo>
                    <a:pt x="0" y="5143500"/>
                  </a:lnTo>
                  <a:close/>
                </a:path>
              </a:pathLst>
            </a:custGeom>
          </p:spPr>
        </p:pic>
      </p:grpSp>
    </p:spTree>
    <p:extLst>
      <p:ext uri="{BB962C8B-B14F-4D97-AF65-F5344CB8AC3E}">
        <p14:creationId xmlns:p14="http://schemas.microsoft.com/office/powerpoint/2010/main" val="27317187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Titelfolie">
    <p:spTree>
      <p:nvGrpSpPr>
        <p:cNvPr id="1" name=""/>
        <p:cNvGrpSpPr/>
        <p:nvPr/>
      </p:nvGrpSpPr>
      <p:grpSpPr>
        <a:xfrm>
          <a:off x="0" y="0"/>
          <a:ext cx="0" cy="0"/>
          <a:chOff x="0" y="0"/>
          <a:chExt cx="0" cy="0"/>
        </a:xfrm>
      </p:grpSpPr>
      <p:sp>
        <p:nvSpPr>
          <p:cNvPr id="3" name="Rechteck 12">
            <a:extLst>
              <a:ext uri="{FF2B5EF4-FFF2-40B4-BE49-F238E27FC236}">
                <a16:creationId xmlns:a16="http://schemas.microsoft.com/office/drawing/2014/main" id="{78EB5448-CB43-4AB5-9896-966A304F24F6}"/>
              </a:ext>
            </a:extLst>
          </p:cNvPr>
          <p:cNvSpPr/>
          <p:nvPr userDrawn="1"/>
        </p:nvSpPr>
        <p:spPr>
          <a:xfrm>
            <a:off x="0" y="0"/>
            <a:ext cx="9144000" cy="3281516"/>
          </a:xfrm>
          <a:prstGeom prst="rect">
            <a:avLst/>
          </a:prstGeom>
          <a:solidFill>
            <a:srgbClr val="2F57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solidFill>
                <a:srgbClr val="D0E3F3"/>
              </a:solidFill>
            </a:endParaRPr>
          </a:p>
        </p:txBody>
      </p:sp>
      <p:sp>
        <p:nvSpPr>
          <p:cNvPr id="5" name="Subtitle 2">
            <a:extLst>
              <a:ext uri="{FF2B5EF4-FFF2-40B4-BE49-F238E27FC236}">
                <a16:creationId xmlns:a16="http://schemas.microsoft.com/office/drawing/2014/main" id="{D7367903-E3EB-477B-A699-F45F3DE48D78}"/>
              </a:ext>
            </a:extLst>
          </p:cNvPr>
          <p:cNvSpPr>
            <a:spLocks noGrp="1"/>
          </p:cNvSpPr>
          <p:nvPr>
            <p:ph type="subTitle" idx="1"/>
          </p:nvPr>
        </p:nvSpPr>
        <p:spPr>
          <a:xfrm>
            <a:off x="180000" y="4403725"/>
            <a:ext cx="6840000" cy="324000"/>
          </a:xfrm>
          <a:prstGeom prst="rect">
            <a:avLst/>
          </a:prstGeom>
        </p:spPr>
        <p:txBody>
          <a:bodyPr/>
          <a:lstStyle>
            <a:lvl1pPr marL="0" indent="0" algn="l">
              <a:buNone/>
              <a:defRPr sz="1400">
                <a:solidFill>
                  <a:srgbClr val="000000"/>
                </a:solidFill>
                <a:latin typeface="Noto Sans" panose="020B0502040504020204" pitchFamily="34" charset="0"/>
                <a:ea typeface="Noto Sans" panose="020B0502040504020204" pitchFamily="34" charset="0"/>
                <a:cs typeface="Noto Sans" panose="020B0502040504020204" pitchFamily="34" charset="0"/>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endParaRPr lang="en-US" dirty="0"/>
          </a:p>
        </p:txBody>
      </p:sp>
      <p:pic>
        <p:nvPicPr>
          <p:cNvPr id="7" name="Grafik 6">
            <a:extLst>
              <a:ext uri="{FF2B5EF4-FFF2-40B4-BE49-F238E27FC236}">
                <a16:creationId xmlns:a16="http://schemas.microsoft.com/office/drawing/2014/main" id="{E8C41BBC-6449-4D54-AAE1-BA9DD757499F}"/>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5903336" y="151471"/>
            <a:ext cx="1392871" cy="579966"/>
          </a:xfrm>
          <a:prstGeom prst="rect">
            <a:avLst/>
          </a:prstGeom>
        </p:spPr>
      </p:pic>
      <p:pic>
        <p:nvPicPr>
          <p:cNvPr id="8" name="Grafik 7">
            <a:extLst>
              <a:ext uri="{FF2B5EF4-FFF2-40B4-BE49-F238E27FC236}">
                <a16:creationId xmlns:a16="http://schemas.microsoft.com/office/drawing/2014/main" id="{D0F23A0E-B856-46A2-AD26-40FDD3F8ACA2}"/>
              </a:ext>
            </a:extLst>
          </p:cNvPr>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601236" y="235721"/>
            <a:ext cx="1183989" cy="411468"/>
          </a:xfrm>
          <a:prstGeom prst="rect">
            <a:avLst/>
          </a:prstGeom>
        </p:spPr>
      </p:pic>
      <p:sp>
        <p:nvSpPr>
          <p:cNvPr id="4" name="Title 1">
            <a:extLst>
              <a:ext uri="{FF2B5EF4-FFF2-40B4-BE49-F238E27FC236}">
                <a16:creationId xmlns:a16="http://schemas.microsoft.com/office/drawing/2014/main" id="{0A5810B3-36E7-45C1-B2D9-2390CFF36B4C}"/>
              </a:ext>
            </a:extLst>
          </p:cNvPr>
          <p:cNvSpPr>
            <a:spLocks noGrp="1"/>
          </p:cNvSpPr>
          <p:nvPr>
            <p:ph type="ctrTitle"/>
          </p:nvPr>
        </p:nvSpPr>
        <p:spPr>
          <a:xfrm>
            <a:off x="180000" y="3489836"/>
            <a:ext cx="7617519" cy="832726"/>
          </a:xfrm>
          <a:prstGeom prst="rect">
            <a:avLst/>
          </a:prstGeom>
          <a:ln>
            <a:noFill/>
          </a:ln>
        </p:spPr>
        <p:txBody>
          <a:bodyPr anchor="t"/>
          <a:lstStyle>
            <a:lvl1pPr algn="l">
              <a:defRPr sz="2800" b="1" cap="none" baseline="0">
                <a:solidFill>
                  <a:srgbClr val="2F57B2"/>
                </a:solidFill>
                <a:latin typeface="Noto Sans" panose="020B0502040504020204" pitchFamily="34" charset="0"/>
                <a:ea typeface="Noto Sans" panose="020B0502040504020204" pitchFamily="34" charset="0"/>
                <a:cs typeface="Noto Sans" panose="020B0502040504020204" pitchFamily="34" charset="0"/>
              </a:defRPr>
            </a:lvl1pPr>
          </a:lstStyle>
          <a:p>
            <a:endParaRPr lang="en-US" dirty="0"/>
          </a:p>
        </p:txBody>
      </p:sp>
      <p:sp>
        <p:nvSpPr>
          <p:cNvPr id="31" name="Textfeld 5">
            <a:extLst>
              <a:ext uri="{FF2B5EF4-FFF2-40B4-BE49-F238E27FC236}">
                <a16:creationId xmlns:a16="http://schemas.microsoft.com/office/drawing/2014/main" id="{415E0A4B-2D60-4A02-BB55-0ABCFB2E0462}"/>
              </a:ext>
            </a:extLst>
          </p:cNvPr>
          <p:cNvSpPr txBox="1"/>
          <p:nvPr userDrawn="1"/>
        </p:nvSpPr>
        <p:spPr>
          <a:xfrm>
            <a:off x="133308" y="0"/>
            <a:ext cx="5139084" cy="4616648"/>
          </a:xfrm>
          <a:prstGeom prst="rect">
            <a:avLst/>
          </a:prstGeom>
          <a:noFill/>
        </p:spPr>
        <p:txBody>
          <a:bodyPr wrap="square" lIns="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30000" b="1" dirty="0">
                <a:ln w="63500">
                  <a:noFill/>
                </a:ln>
                <a:solidFill>
                  <a:schemeClr val="bg1"/>
                </a:solidFill>
                <a:latin typeface="Noto Sans" panose="020B0502040504020204" pitchFamily="34" charset="0"/>
                <a:ea typeface="Noto Sans" panose="020B0502040504020204" pitchFamily="34" charset="0"/>
                <a:cs typeface="Noto Sans" panose="020B0502040504020204" pitchFamily="34" charset="0"/>
              </a:rPr>
              <a:t>3</a:t>
            </a:r>
            <a:endParaRPr lang="de-DE" sz="30000" b="1" dirty="0">
              <a:ln w="63500">
                <a:noFill/>
              </a:ln>
              <a:solidFill>
                <a:schemeClr val="bg1"/>
              </a:solidFill>
              <a:latin typeface="Noto Sans" panose="020B0502040504020204" pitchFamily="34" charset="0"/>
              <a:ea typeface="Noto Sans" panose="020B0502040504020204" pitchFamily="34" charset="0"/>
              <a:cs typeface="Noto Sans" panose="020B0502040504020204" pitchFamily="34" charset="0"/>
            </a:endParaRPr>
          </a:p>
        </p:txBody>
      </p:sp>
    </p:spTree>
    <p:extLst>
      <p:ext uri="{BB962C8B-B14F-4D97-AF65-F5344CB8AC3E}">
        <p14:creationId xmlns:p14="http://schemas.microsoft.com/office/powerpoint/2010/main" val="19179838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Abschnittsüberschrift">
    <p:spTree>
      <p:nvGrpSpPr>
        <p:cNvPr id="1" name=""/>
        <p:cNvGrpSpPr/>
        <p:nvPr/>
      </p:nvGrpSpPr>
      <p:grpSpPr>
        <a:xfrm>
          <a:off x="0" y="0"/>
          <a:ext cx="0" cy="0"/>
          <a:chOff x="0" y="0"/>
          <a:chExt cx="0" cy="0"/>
        </a:xfrm>
      </p:grpSpPr>
      <p:sp>
        <p:nvSpPr>
          <p:cNvPr id="5" name="Rechteck 9">
            <a:extLst>
              <a:ext uri="{FF2B5EF4-FFF2-40B4-BE49-F238E27FC236}">
                <a16:creationId xmlns:a16="http://schemas.microsoft.com/office/drawing/2014/main" id="{156B425A-DC3F-4CA5-9A32-FC1A4F41BC32}"/>
              </a:ext>
            </a:extLst>
          </p:cNvPr>
          <p:cNvSpPr/>
          <p:nvPr userDrawn="1"/>
        </p:nvSpPr>
        <p:spPr>
          <a:xfrm>
            <a:off x="0" y="4783500"/>
            <a:ext cx="9144000" cy="360000"/>
          </a:xfrm>
          <a:prstGeom prst="rect">
            <a:avLst/>
          </a:prstGeom>
          <a:solidFill>
            <a:srgbClr val="E7E9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6" name="Textfeld 3">
            <a:extLst>
              <a:ext uri="{FF2B5EF4-FFF2-40B4-BE49-F238E27FC236}">
                <a16:creationId xmlns:a16="http://schemas.microsoft.com/office/drawing/2014/main" id="{7F731D6F-1D08-497C-9B88-A950D5A1974B}"/>
              </a:ext>
            </a:extLst>
          </p:cNvPr>
          <p:cNvSpPr txBox="1"/>
          <p:nvPr userDrawn="1"/>
        </p:nvSpPr>
        <p:spPr>
          <a:xfrm>
            <a:off x="8553600" y="4824000"/>
            <a:ext cx="540000" cy="276999"/>
          </a:xfrm>
          <a:prstGeom prst="rect">
            <a:avLst/>
          </a:prstGeom>
          <a:noFill/>
        </p:spPr>
        <p:txBody>
          <a:bodyPr wrap="square" rtlCol="0">
            <a:spAutoFit/>
          </a:bodyPr>
          <a:lstStyle/>
          <a:p>
            <a:endParaRPr/>
          </a:p>
        </p:txBody>
      </p:sp>
      <p:pic>
        <p:nvPicPr>
          <p:cNvPr id="7" name="Grafik 6">
            <a:extLst>
              <a:ext uri="{FF2B5EF4-FFF2-40B4-BE49-F238E27FC236}">
                <a16:creationId xmlns:a16="http://schemas.microsoft.com/office/drawing/2014/main" id="{AAB3FB9C-DEB1-4BC4-BDFC-2123B63146B6}"/>
              </a:ext>
            </a:extLst>
          </p:cNvPr>
          <p:cNvPicPr>
            <a:picLocks noChangeAspect="1"/>
          </p:cNvPicPr>
          <p:nvPr userDrawn="1"/>
        </p:nvPicPr>
        <p:blipFill rotWithShape="1">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rcRect l="7622" t="17710" r="7197" b="12296"/>
          <a:stretch/>
        </p:blipFill>
        <p:spPr>
          <a:xfrm>
            <a:off x="360000" y="4848263"/>
            <a:ext cx="699657" cy="239381"/>
          </a:xfrm>
          <a:prstGeom prst="rect">
            <a:avLst/>
          </a:prstGeom>
        </p:spPr>
      </p:pic>
      <p:sp>
        <p:nvSpPr>
          <p:cNvPr id="8" name="Title 1">
            <a:extLst>
              <a:ext uri="{FF2B5EF4-FFF2-40B4-BE49-F238E27FC236}">
                <a16:creationId xmlns:a16="http://schemas.microsoft.com/office/drawing/2014/main" id="{637932E3-D133-477E-809F-5012C6A60D34}"/>
              </a:ext>
            </a:extLst>
          </p:cNvPr>
          <p:cNvSpPr>
            <a:spLocks noGrp="1"/>
          </p:cNvSpPr>
          <p:nvPr>
            <p:ph type="ctrTitle"/>
          </p:nvPr>
        </p:nvSpPr>
        <p:spPr>
          <a:xfrm>
            <a:off x="180000" y="3489836"/>
            <a:ext cx="7617519" cy="832726"/>
          </a:xfrm>
          <a:prstGeom prst="rect">
            <a:avLst/>
          </a:prstGeom>
          <a:ln>
            <a:noFill/>
          </a:ln>
        </p:spPr>
        <p:txBody>
          <a:bodyPr anchor="t"/>
          <a:lstStyle>
            <a:lvl1pPr algn="l">
              <a:defRPr sz="2400" b="1" cap="none" baseline="0">
                <a:solidFill>
                  <a:srgbClr val="2F57B2"/>
                </a:solidFill>
                <a:latin typeface="Noto Sans" panose="020B0502040504020204" pitchFamily="34" charset="0"/>
                <a:ea typeface="Noto Sans" panose="020B0502040504020204" pitchFamily="34" charset="0"/>
                <a:cs typeface="Noto Sans" panose="020B0502040504020204" pitchFamily="34" charset="0"/>
              </a:defRPr>
            </a:lvl1pPr>
          </a:lstStyle>
          <a:p>
            <a:endParaRPr lang="en-US" dirty="0"/>
          </a:p>
        </p:txBody>
      </p:sp>
      <p:sp>
        <p:nvSpPr>
          <p:cNvPr id="22" name="Rechteck 2">
            <a:extLst>
              <a:ext uri="{FF2B5EF4-FFF2-40B4-BE49-F238E27FC236}">
                <a16:creationId xmlns:a16="http://schemas.microsoft.com/office/drawing/2014/main" id="{FA0F772F-55F9-4F52-A39C-091B2FABCD1E}"/>
              </a:ext>
            </a:extLst>
          </p:cNvPr>
          <p:cNvSpPr/>
          <p:nvPr userDrawn="1"/>
        </p:nvSpPr>
        <p:spPr>
          <a:xfrm>
            <a:off x="0" y="820938"/>
            <a:ext cx="9144000" cy="2491571"/>
          </a:xfrm>
          <a:prstGeom prst="rect">
            <a:avLst/>
          </a:prstGeom>
          <a:solidFill>
            <a:srgbClr val="97C6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grpSp>
        <p:nvGrpSpPr>
          <p:cNvPr id="44" name="Gruppieren 43">
            <a:extLst>
              <a:ext uri="{FF2B5EF4-FFF2-40B4-BE49-F238E27FC236}">
                <a16:creationId xmlns:a16="http://schemas.microsoft.com/office/drawing/2014/main" id="{6252AC84-014D-4AFD-9C9D-FFDAC39E1330}"/>
              </a:ext>
            </a:extLst>
          </p:cNvPr>
          <p:cNvGrpSpPr/>
          <p:nvPr userDrawn="1"/>
        </p:nvGrpSpPr>
        <p:grpSpPr>
          <a:xfrm>
            <a:off x="0" y="0"/>
            <a:ext cx="6031824" cy="3315637"/>
            <a:chOff x="23346" y="19454"/>
            <a:chExt cx="5969752" cy="3281517"/>
          </a:xfrm>
          <a:solidFill>
            <a:schemeClr val="bg1"/>
          </a:solidFill>
        </p:grpSpPr>
        <p:pic>
          <p:nvPicPr>
            <p:cNvPr id="45" name="Grafik 44">
              <a:extLst>
                <a:ext uri="{FF2B5EF4-FFF2-40B4-BE49-F238E27FC236}">
                  <a16:creationId xmlns:a16="http://schemas.microsoft.com/office/drawing/2014/main" id="{325737AF-D09D-4E17-B8F7-95C08F6E58B6}"/>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l="50609" t="49971" r="-1" b="332"/>
            <a:stretch/>
          </p:blipFill>
          <p:spPr>
            <a:xfrm>
              <a:off x="23346" y="19454"/>
              <a:ext cx="1894048" cy="1905749"/>
            </a:xfrm>
            <a:custGeom>
              <a:avLst/>
              <a:gdLst>
                <a:gd name="connsiteX0" fmla="*/ 0 w 7543178"/>
                <a:gd name="connsiteY0" fmla="*/ 0 h 5143500"/>
                <a:gd name="connsiteX1" fmla="*/ 7543178 w 7543178"/>
                <a:gd name="connsiteY1" fmla="*/ 0 h 5143500"/>
                <a:gd name="connsiteX2" fmla="*/ 7543178 w 7543178"/>
                <a:gd name="connsiteY2" fmla="*/ 5143500 h 5143500"/>
                <a:gd name="connsiteX3" fmla="*/ 0 w 7543178"/>
                <a:gd name="connsiteY3" fmla="*/ 5143500 h 5143500"/>
              </a:gdLst>
              <a:ahLst/>
              <a:cxnLst>
                <a:cxn ang="0">
                  <a:pos x="connsiteX0" y="connsiteY0"/>
                </a:cxn>
                <a:cxn ang="0">
                  <a:pos x="connsiteX1" y="connsiteY1"/>
                </a:cxn>
                <a:cxn ang="0">
                  <a:pos x="connsiteX2" y="connsiteY2"/>
                </a:cxn>
                <a:cxn ang="0">
                  <a:pos x="connsiteX3" y="connsiteY3"/>
                </a:cxn>
              </a:cxnLst>
              <a:rect l="l" t="t" r="r" b="b"/>
              <a:pathLst>
                <a:path w="7543178" h="5143500">
                  <a:moveTo>
                    <a:pt x="0" y="0"/>
                  </a:moveTo>
                  <a:lnTo>
                    <a:pt x="7543178" y="0"/>
                  </a:lnTo>
                  <a:lnTo>
                    <a:pt x="7543178" y="5143500"/>
                  </a:lnTo>
                  <a:lnTo>
                    <a:pt x="0" y="5143500"/>
                  </a:lnTo>
                  <a:close/>
                </a:path>
              </a:pathLst>
            </a:custGeom>
          </p:spPr>
        </p:pic>
        <p:pic>
          <p:nvPicPr>
            <p:cNvPr id="46" name="Grafik 45">
              <a:extLst>
                <a:ext uri="{FF2B5EF4-FFF2-40B4-BE49-F238E27FC236}">
                  <a16:creationId xmlns:a16="http://schemas.microsoft.com/office/drawing/2014/main" id="{98E0A8F9-D015-4DEA-8888-2CFCC4809468}"/>
                </a:ext>
              </a:extLst>
            </p:cNvPr>
            <p:cNvPicPr>
              <a:picLocks noChangeAspect="1"/>
            </p:cNvPicPr>
            <p:nvPr userDrawn="1"/>
          </p:nvPicPr>
          <p:blipFill rotWithShape="1">
            <a:blip>
              <a:extLst>
                <a:ext uri="{96DAC541-7B7A-43D3-8B79-37D633B846F1}">
                  <asvg:svgBlip xmlns:asvg="http://schemas.microsoft.com/office/drawing/2016/SVG/main" r:embed="rId4"/>
                </a:ext>
              </a:extLst>
            </a:blip>
            <a:srcRect l="-2533" t="-334" r="-1375" b="17173"/>
            <a:stretch/>
          </p:blipFill>
          <p:spPr>
            <a:xfrm>
              <a:off x="23346" y="111949"/>
              <a:ext cx="3984659" cy="3189022"/>
            </a:xfrm>
            <a:custGeom>
              <a:avLst/>
              <a:gdLst>
                <a:gd name="connsiteX0" fmla="*/ 0 w 7543178"/>
                <a:gd name="connsiteY0" fmla="*/ 0 h 5143500"/>
                <a:gd name="connsiteX1" fmla="*/ 7543178 w 7543178"/>
                <a:gd name="connsiteY1" fmla="*/ 0 h 5143500"/>
                <a:gd name="connsiteX2" fmla="*/ 7543178 w 7543178"/>
                <a:gd name="connsiteY2" fmla="*/ 5143500 h 5143500"/>
                <a:gd name="connsiteX3" fmla="*/ 0 w 7543178"/>
                <a:gd name="connsiteY3" fmla="*/ 5143500 h 5143500"/>
              </a:gdLst>
              <a:ahLst/>
              <a:cxnLst>
                <a:cxn ang="0">
                  <a:pos x="connsiteX0" y="connsiteY0"/>
                </a:cxn>
                <a:cxn ang="0">
                  <a:pos x="connsiteX1" y="connsiteY1"/>
                </a:cxn>
                <a:cxn ang="0">
                  <a:pos x="connsiteX2" y="connsiteY2"/>
                </a:cxn>
                <a:cxn ang="0">
                  <a:pos x="connsiteX3" y="connsiteY3"/>
                </a:cxn>
              </a:cxnLst>
              <a:rect l="l" t="t" r="r" b="b"/>
              <a:pathLst>
                <a:path w="7543178" h="5143500">
                  <a:moveTo>
                    <a:pt x="0" y="0"/>
                  </a:moveTo>
                  <a:lnTo>
                    <a:pt x="7543178" y="0"/>
                  </a:lnTo>
                  <a:lnTo>
                    <a:pt x="7543178" y="5143500"/>
                  </a:lnTo>
                  <a:lnTo>
                    <a:pt x="0" y="5143500"/>
                  </a:lnTo>
                  <a:close/>
                </a:path>
              </a:pathLst>
            </a:custGeom>
          </p:spPr>
        </p:pic>
        <p:pic>
          <p:nvPicPr>
            <p:cNvPr id="47" name="Grafik 46">
              <a:extLst>
                <a:ext uri="{FF2B5EF4-FFF2-40B4-BE49-F238E27FC236}">
                  <a16:creationId xmlns:a16="http://schemas.microsoft.com/office/drawing/2014/main" id="{2481B8EC-B85F-4461-AC06-5810AF63E0F3}"/>
                </a:ext>
              </a:extLst>
            </p:cNvPr>
            <p:cNvPicPr>
              <a:picLocks noChangeAspect="1"/>
            </p:cNvPicPr>
            <p:nvPr userDrawn="1"/>
          </p:nvPicPr>
          <p:blipFill rotWithShape="1">
            <a:blip>
              <a:extLst>
                <a:ext uri="{96DAC541-7B7A-43D3-8B79-37D633B846F1}">
                  <asvg:svgBlip xmlns:asvg="http://schemas.microsoft.com/office/drawing/2016/SVG/main" r:embed="rId5"/>
                </a:ext>
              </a:extLst>
            </a:blip>
            <a:srcRect l="49915" t="-1473" b="70094"/>
            <a:stretch/>
          </p:blipFill>
          <p:spPr>
            <a:xfrm>
              <a:off x="23346" y="2097609"/>
              <a:ext cx="1920654" cy="1203362"/>
            </a:xfrm>
            <a:custGeom>
              <a:avLst/>
              <a:gdLst>
                <a:gd name="connsiteX0" fmla="*/ 0 w 7543178"/>
                <a:gd name="connsiteY0" fmla="*/ 0 h 5143500"/>
                <a:gd name="connsiteX1" fmla="*/ 7543178 w 7543178"/>
                <a:gd name="connsiteY1" fmla="*/ 0 h 5143500"/>
                <a:gd name="connsiteX2" fmla="*/ 7543178 w 7543178"/>
                <a:gd name="connsiteY2" fmla="*/ 5143500 h 5143500"/>
                <a:gd name="connsiteX3" fmla="*/ 0 w 7543178"/>
                <a:gd name="connsiteY3" fmla="*/ 5143500 h 5143500"/>
              </a:gdLst>
              <a:ahLst/>
              <a:cxnLst>
                <a:cxn ang="0">
                  <a:pos x="connsiteX0" y="connsiteY0"/>
                </a:cxn>
                <a:cxn ang="0">
                  <a:pos x="connsiteX1" y="connsiteY1"/>
                </a:cxn>
                <a:cxn ang="0">
                  <a:pos x="connsiteX2" y="connsiteY2"/>
                </a:cxn>
                <a:cxn ang="0">
                  <a:pos x="connsiteX3" y="connsiteY3"/>
                </a:cxn>
              </a:cxnLst>
              <a:rect l="l" t="t" r="r" b="b"/>
              <a:pathLst>
                <a:path w="7543178" h="5143500">
                  <a:moveTo>
                    <a:pt x="0" y="0"/>
                  </a:moveTo>
                  <a:lnTo>
                    <a:pt x="7543178" y="0"/>
                  </a:lnTo>
                  <a:lnTo>
                    <a:pt x="7543178" y="5143500"/>
                  </a:lnTo>
                  <a:lnTo>
                    <a:pt x="0" y="5143500"/>
                  </a:lnTo>
                  <a:close/>
                </a:path>
              </a:pathLst>
            </a:custGeom>
          </p:spPr>
        </p:pic>
        <p:pic>
          <p:nvPicPr>
            <p:cNvPr id="48" name="Grafik 47">
              <a:extLst>
                <a:ext uri="{FF2B5EF4-FFF2-40B4-BE49-F238E27FC236}">
                  <a16:creationId xmlns:a16="http://schemas.microsoft.com/office/drawing/2014/main" id="{4F4B5570-069A-44ED-9D17-93BEED091ECC}"/>
                </a:ext>
              </a:extLst>
            </p:cNvPr>
            <p:cNvPicPr>
              <a:picLocks noChangeAspect="1"/>
            </p:cNvPicPr>
            <p:nvPr userDrawn="1"/>
          </p:nvPicPr>
          <p:blipFill rotWithShape="1">
            <a:blip>
              <a:extLst>
                <a:ext uri="{96DAC541-7B7A-43D3-8B79-37D633B846F1}">
                  <asvg:svgBlip xmlns:asvg="http://schemas.microsoft.com/office/drawing/2016/SVG/main" r:embed="rId4"/>
                </a:ext>
              </a:extLst>
            </a:blip>
            <a:srcRect t="-335" b="69891"/>
            <a:stretch/>
          </p:blipFill>
          <p:spPr>
            <a:xfrm>
              <a:off x="2158310" y="2133525"/>
              <a:ext cx="3834788" cy="1167446"/>
            </a:xfrm>
            <a:custGeom>
              <a:avLst/>
              <a:gdLst>
                <a:gd name="connsiteX0" fmla="*/ 0 w 7543178"/>
                <a:gd name="connsiteY0" fmla="*/ 0 h 5143500"/>
                <a:gd name="connsiteX1" fmla="*/ 7543178 w 7543178"/>
                <a:gd name="connsiteY1" fmla="*/ 0 h 5143500"/>
                <a:gd name="connsiteX2" fmla="*/ 7543178 w 7543178"/>
                <a:gd name="connsiteY2" fmla="*/ 5143500 h 5143500"/>
                <a:gd name="connsiteX3" fmla="*/ 0 w 7543178"/>
                <a:gd name="connsiteY3" fmla="*/ 5143500 h 5143500"/>
              </a:gdLst>
              <a:ahLst/>
              <a:cxnLst>
                <a:cxn ang="0">
                  <a:pos x="connsiteX0" y="connsiteY0"/>
                </a:cxn>
                <a:cxn ang="0">
                  <a:pos x="connsiteX1" y="connsiteY1"/>
                </a:cxn>
                <a:cxn ang="0">
                  <a:pos x="connsiteX2" y="connsiteY2"/>
                </a:cxn>
                <a:cxn ang="0">
                  <a:pos x="connsiteX3" y="connsiteY3"/>
                </a:cxn>
              </a:cxnLst>
              <a:rect l="l" t="t" r="r" b="b"/>
              <a:pathLst>
                <a:path w="7543178" h="5143500">
                  <a:moveTo>
                    <a:pt x="0" y="0"/>
                  </a:moveTo>
                  <a:lnTo>
                    <a:pt x="7543178" y="0"/>
                  </a:lnTo>
                  <a:lnTo>
                    <a:pt x="7543178" y="5143500"/>
                  </a:lnTo>
                  <a:lnTo>
                    <a:pt x="0" y="5143500"/>
                  </a:lnTo>
                  <a:close/>
                </a:path>
              </a:pathLst>
            </a:custGeom>
          </p:spPr>
        </p:pic>
      </p:grpSp>
    </p:spTree>
    <p:extLst>
      <p:ext uri="{BB962C8B-B14F-4D97-AF65-F5344CB8AC3E}">
        <p14:creationId xmlns:p14="http://schemas.microsoft.com/office/powerpoint/2010/main" val="15860651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el und Inhalt">
    <p:spTree>
      <p:nvGrpSpPr>
        <p:cNvPr id="1" name=""/>
        <p:cNvGrpSpPr/>
        <p:nvPr/>
      </p:nvGrpSpPr>
      <p:grpSpPr>
        <a:xfrm>
          <a:off x="0" y="0"/>
          <a:ext cx="0" cy="0"/>
          <a:chOff x="0" y="0"/>
          <a:chExt cx="0" cy="0"/>
        </a:xfrm>
      </p:grpSpPr>
      <p:sp>
        <p:nvSpPr>
          <p:cNvPr id="4" name="Content Placeholder 2">
            <a:extLst>
              <a:ext uri="{FF2B5EF4-FFF2-40B4-BE49-F238E27FC236}">
                <a16:creationId xmlns:a16="http://schemas.microsoft.com/office/drawing/2014/main" id="{61C76BFC-A0B5-41C2-9F46-18F42AD0D9FC}"/>
              </a:ext>
            </a:extLst>
          </p:cNvPr>
          <p:cNvSpPr>
            <a:spLocks noGrp="1"/>
          </p:cNvSpPr>
          <p:nvPr>
            <p:ph idx="1"/>
          </p:nvPr>
        </p:nvSpPr>
        <p:spPr>
          <a:xfrm>
            <a:off x="180000" y="918992"/>
            <a:ext cx="8784000" cy="3780000"/>
          </a:xfrm>
          <a:prstGeom prst="rect">
            <a:avLst/>
          </a:prstGeom>
          <a:ln>
            <a:noFill/>
          </a:ln>
        </p:spPr>
        <p:txBody>
          <a:bodyPr lIns="0"/>
          <a:lstStyle>
            <a:lvl1pPr marL="90488" indent="-90488">
              <a:lnSpc>
                <a:spcPts val="2200"/>
              </a:lnSpc>
              <a:buFont typeface="Muli" panose="00000500000000000000" pitchFamily="2" charset="0"/>
              <a:buChar char=" "/>
              <a:defRPr sz="1500" b="1" i="0" cap="none" baseline="0">
                <a:solidFill>
                  <a:srgbClr val="2F57B2"/>
                </a:solidFill>
                <a:latin typeface="Noto Sans" panose="020B0502040504020204" pitchFamily="34" charset="0"/>
                <a:ea typeface="Noto Sans" panose="020B0502040504020204" pitchFamily="34" charset="0"/>
                <a:cs typeface="Noto Sans" panose="020B0502040504020204" pitchFamily="34" charset="0"/>
              </a:defRPr>
            </a:lvl1pPr>
            <a:lvl2pPr marL="447675" indent="-179388">
              <a:buFont typeface="Arial" panose="020B0604020202020204" pitchFamily="34" charset="0"/>
              <a:buChar char="▪"/>
              <a:defRPr sz="1300" b="0">
                <a:solidFill>
                  <a:srgbClr val="000000"/>
                </a:solidFill>
                <a:latin typeface="Noto Sans" panose="020B0502040504020204" pitchFamily="34" charset="0"/>
                <a:ea typeface="Noto Sans" panose="020B0502040504020204" pitchFamily="34" charset="0"/>
                <a:cs typeface="Noto Sans" panose="020B0502040504020204" pitchFamily="34" charset="0"/>
              </a:defRPr>
            </a:lvl2pPr>
            <a:lvl3pPr marL="627063" indent="-179388">
              <a:buFont typeface="Muli" panose="00000500000000000000" pitchFamily="2" charset="0"/>
              <a:buChar char="-"/>
              <a:defRPr sz="1200" b="0">
                <a:solidFill>
                  <a:srgbClr val="000000"/>
                </a:solidFill>
                <a:latin typeface="Noto Sans" panose="020B0502040504020204" pitchFamily="34" charset="0"/>
                <a:ea typeface="Noto Sans" panose="020B0502040504020204" pitchFamily="34" charset="0"/>
                <a:cs typeface="Noto Sans" panose="020B0502040504020204" pitchFamily="34" charset="0"/>
              </a:defRPr>
            </a:lvl3pPr>
            <a:lvl4pPr marL="1200150" indent="-171450">
              <a:buFont typeface="Arial" panose="020B0604020202020204" pitchFamily="34" charset="0"/>
              <a:buChar char="•"/>
              <a:defRPr sz="1200">
                <a:latin typeface="+mj-lt"/>
              </a:defRPr>
            </a:lvl4pPr>
            <a:lvl5pPr>
              <a:defRPr sz="1200">
                <a:latin typeface="+mj-lt"/>
              </a:defRPr>
            </a:lvl5pPr>
            <a:lvl6pPr>
              <a:defRPr sz="1200"/>
            </a:lvl6pPr>
            <a:lvl7pPr>
              <a:defRPr sz="1200"/>
            </a:lvl7pPr>
            <a:lvl8pPr>
              <a:defRPr sz="1200"/>
            </a:lvl8pPr>
            <a:lvl9pPr>
              <a:defRPr sz="1200"/>
            </a:lvl9pPr>
          </a:lstStyle>
          <a:p>
            <a:pPr lvl="0"/>
            <a:r>
              <a:rPr lang="de-DE" dirty="0"/>
              <a:t>Mastertextformat bearbeiten</a:t>
            </a:r>
          </a:p>
          <a:p>
            <a:pPr lvl="1"/>
            <a:r>
              <a:rPr lang="de-DE" dirty="0"/>
              <a:t>Zweite Ebene</a:t>
            </a:r>
          </a:p>
          <a:p>
            <a:pPr lvl="2"/>
            <a:r>
              <a:rPr lang="de-DE" dirty="0"/>
              <a:t>Dritte Ebene</a:t>
            </a:r>
          </a:p>
        </p:txBody>
      </p:sp>
      <p:sp>
        <p:nvSpPr>
          <p:cNvPr id="10" name="Titel 9">
            <a:extLst>
              <a:ext uri="{FF2B5EF4-FFF2-40B4-BE49-F238E27FC236}">
                <a16:creationId xmlns:a16="http://schemas.microsoft.com/office/drawing/2014/main" id="{338D5B92-0678-4014-8144-A83886AB4271}"/>
              </a:ext>
            </a:extLst>
          </p:cNvPr>
          <p:cNvSpPr>
            <a:spLocks noGrp="1"/>
          </p:cNvSpPr>
          <p:nvPr>
            <p:ph type="title"/>
          </p:nvPr>
        </p:nvSpPr>
        <p:spPr>
          <a:xfrm>
            <a:off x="180000" y="255600"/>
            <a:ext cx="6480000" cy="432000"/>
          </a:xfrm>
          <a:prstGeom prst="rect">
            <a:avLst/>
          </a:prstGeom>
        </p:spPr>
        <p:txBody>
          <a:bodyPr anchor="t"/>
          <a:lstStyle>
            <a:lvl1pPr>
              <a:defRPr sz="2200" b="1">
                <a:solidFill>
                  <a:srgbClr val="000000"/>
                </a:solidFill>
              </a:defRPr>
            </a:lvl1pPr>
          </a:lstStyle>
          <a:p>
            <a:r>
              <a:rPr lang="de-DE"/>
              <a:t>Mastertitelformat bearbeiten</a:t>
            </a:r>
            <a:endParaRPr lang="de-DE" dirty="0"/>
          </a:p>
        </p:txBody>
      </p:sp>
      <p:sp>
        <p:nvSpPr>
          <p:cNvPr id="5" name="Rechteck 9">
            <a:extLst>
              <a:ext uri="{FF2B5EF4-FFF2-40B4-BE49-F238E27FC236}">
                <a16:creationId xmlns:a16="http://schemas.microsoft.com/office/drawing/2014/main" id="{8667E8E4-144C-4439-ACFF-8EAE1A912139}"/>
              </a:ext>
            </a:extLst>
          </p:cNvPr>
          <p:cNvSpPr/>
          <p:nvPr userDrawn="1"/>
        </p:nvSpPr>
        <p:spPr>
          <a:xfrm>
            <a:off x="0" y="4781690"/>
            <a:ext cx="9144000" cy="360000"/>
          </a:xfrm>
          <a:prstGeom prst="rect">
            <a:avLst/>
          </a:prstGeom>
          <a:solidFill>
            <a:srgbClr val="E7E9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6" name="Textfeld 3">
            <a:extLst>
              <a:ext uri="{FF2B5EF4-FFF2-40B4-BE49-F238E27FC236}">
                <a16:creationId xmlns:a16="http://schemas.microsoft.com/office/drawing/2014/main" id="{58BC81EA-751F-4B73-877A-BA1B3F80CC16}"/>
              </a:ext>
            </a:extLst>
          </p:cNvPr>
          <p:cNvSpPr txBox="1"/>
          <p:nvPr userDrawn="1"/>
        </p:nvSpPr>
        <p:spPr>
          <a:xfrm>
            <a:off x="8553600" y="4824000"/>
            <a:ext cx="540000" cy="276999"/>
          </a:xfrm>
          <a:prstGeom prst="rect">
            <a:avLst/>
          </a:prstGeom>
          <a:noFill/>
        </p:spPr>
        <p:txBody>
          <a:bodyPr wrap="square" rtlCol="0">
            <a:spAutoFit/>
          </a:bodyPr>
          <a:lstStyle/>
          <a:p>
            <a:endParaRPr/>
          </a:p>
        </p:txBody>
      </p:sp>
      <p:pic>
        <p:nvPicPr>
          <p:cNvPr id="7" name="Grafik 6">
            <a:extLst>
              <a:ext uri="{FF2B5EF4-FFF2-40B4-BE49-F238E27FC236}">
                <a16:creationId xmlns:a16="http://schemas.microsoft.com/office/drawing/2014/main" id="{E8FFADE0-5169-429A-80D3-48D8CFAB8214}"/>
              </a:ext>
            </a:extLst>
          </p:cNvPr>
          <p:cNvPicPr>
            <a:picLocks noChangeAspect="1"/>
          </p:cNvPicPr>
          <p:nvPr userDrawn="1"/>
        </p:nvPicPr>
        <p:blipFill rotWithShape="1">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rcRect l="7622" t="17710" r="7197" b="12296"/>
          <a:stretch/>
        </p:blipFill>
        <p:spPr>
          <a:xfrm>
            <a:off x="360000" y="4848263"/>
            <a:ext cx="699657" cy="239381"/>
          </a:xfrm>
          <a:prstGeom prst="rect">
            <a:avLst/>
          </a:prstGeom>
        </p:spPr>
      </p:pic>
    </p:spTree>
    <p:extLst>
      <p:ext uri="{BB962C8B-B14F-4D97-AF65-F5344CB8AC3E}">
        <p14:creationId xmlns:p14="http://schemas.microsoft.com/office/powerpoint/2010/main" val="84873602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Zwei Inhalte">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8324046-3C76-4DC2-BA67-A69839A06CE9}"/>
              </a:ext>
            </a:extLst>
          </p:cNvPr>
          <p:cNvSpPr>
            <a:spLocks noGrp="1"/>
          </p:cNvSpPr>
          <p:nvPr>
            <p:ph idx="1"/>
          </p:nvPr>
        </p:nvSpPr>
        <p:spPr>
          <a:xfrm>
            <a:off x="180000" y="918992"/>
            <a:ext cx="4248000" cy="3780000"/>
          </a:xfrm>
          <a:prstGeom prst="rect">
            <a:avLst/>
          </a:prstGeom>
          <a:ln>
            <a:noFill/>
          </a:ln>
        </p:spPr>
        <p:txBody>
          <a:bodyPr lIns="0"/>
          <a:lstStyle>
            <a:lvl1pPr marL="88900" indent="-88900">
              <a:lnSpc>
                <a:spcPts val="2200"/>
              </a:lnSpc>
              <a:buFont typeface="Muli" panose="00000500000000000000" pitchFamily="2" charset="0"/>
              <a:buChar char=" "/>
              <a:defRPr sz="1500" b="1" i="0" cap="none" baseline="0">
                <a:solidFill>
                  <a:srgbClr val="2F57B2"/>
                </a:solidFill>
                <a:latin typeface="Noto Sans" panose="020B0502040504020204" pitchFamily="34" charset="0"/>
                <a:ea typeface="Noto Sans" panose="020B0502040504020204" pitchFamily="34" charset="0"/>
                <a:cs typeface="Noto Sans" panose="020B0502040504020204" pitchFamily="34" charset="0"/>
              </a:defRPr>
            </a:lvl1pPr>
            <a:lvl2pPr marL="447675" indent="-179388">
              <a:buFont typeface="Arial" panose="020B0604020202020204" pitchFamily="34" charset="0"/>
              <a:buChar char="▪"/>
              <a:defRPr sz="1300">
                <a:solidFill>
                  <a:srgbClr val="000000"/>
                </a:solidFill>
                <a:latin typeface="Noto Sans" panose="020B0502040504020204" pitchFamily="34" charset="0"/>
                <a:ea typeface="Noto Sans" panose="020B0502040504020204" pitchFamily="34" charset="0"/>
                <a:cs typeface="Noto Sans" panose="020B0502040504020204" pitchFamily="34" charset="0"/>
              </a:defRPr>
            </a:lvl2pPr>
            <a:lvl3pPr marL="627063" indent="-179388">
              <a:buFont typeface="Muli" panose="00000500000000000000" pitchFamily="2" charset="0"/>
              <a:buChar char="-"/>
              <a:tabLst>
                <a:tab pos="4124325" algn="l"/>
              </a:tabLst>
              <a:defRPr sz="1200">
                <a:solidFill>
                  <a:srgbClr val="000000"/>
                </a:solidFill>
                <a:latin typeface="Noto Sans" panose="020B0502040504020204" pitchFamily="34" charset="0"/>
                <a:ea typeface="Noto Sans" panose="020B0502040504020204" pitchFamily="34" charset="0"/>
                <a:cs typeface="Noto Sans" panose="020B0502040504020204" pitchFamily="34" charset="0"/>
              </a:defRPr>
            </a:lvl3pPr>
            <a:lvl4pPr>
              <a:defRPr sz="1200">
                <a:latin typeface="+mj-lt"/>
              </a:defRPr>
            </a:lvl4pPr>
            <a:lvl5pPr>
              <a:defRPr sz="1200">
                <a:latin typeface="+mj-lt"/>
              </a:defRPr>
            </a:lvl5pPr>
            <a:lvl6pPr>
              <a:defRPr sz="1200"/>
            </a:lvl6pPr>
            <a:lvl7pPr>
              <a:defRPr sz="1200"/>
            </a:lvl7pPr>
            <a:lvl8pPr>
              <a:defRPr sz="1200"/>
            </a:lvl8pPr>
            <a:lvl9pPr>
              <a:defRPr sz="1200"/>
            </a:lvl9pPr>
          </a:lstStyle>
          <a:p>
            <a:pPr lvl="0"/>
            <a:r>
              <a:rPr lang="de-DE" dirty="0"/>
              <a:t>Mastertextformat bearbeiten</a:t>
            </a:r>
          </a:p>
          <a:p>
            <a:pPr lvl="1"/>
            <a:r>
              <a:rPr lang="de-DE" dirty="0"/>
              <a:t>Zweite Ebene</a:t>
            </a:r>
          </a:p>
          <a:p>
            <a:pPr lvl="2"/>
            <a:r>
              <a:rPr lang="de-DE" dirty="0"/>
              <a:t>Dritte Ebene</a:t>
            </a:r>
          </a:p>
        </p:txBody>
      </p:sp>
      <p:sp>
        <p:nvSpPr>
          <p:cNvPr id="4" name="Content Placeholder 2">
            <a:extLst>
              <a:ext uri="{FF2B5EF4-FFF2-40B4-BE49-F238E27FC236}">
                <a16:creationId xmlns:a16="http://schemas.microsoft.com/office/drawing/2014/main" id="{00507A55-4D50-4BD2-A803-00062D16A6DD}"/>
              </a:ext>
            </a:extLst>
          </p:cNvPr>
          <p:cNvSpPr>
            <a:spLocks noGrp="1"/>
          </p:cNvSpPr>
          <p:nvPr>
            <p:ph idx="10"/>
          </p:nvPr>
        </p:nvSpPr>
        <p:spPr>
          <a:xfrm>
            <a:off x="4716000" y="918992"/>
            <a:ext cx="4248000" cy="3780000"/>
          </a:xfrm>
          <a:prstGeom prst="rect">
            <a:avLst/>
          </a:prstGeom>
          <a:ln>
            <a:noFill/>
          </a:ln>
        </p:spPr>
        <p:txBody>
          <a:bodyPr lIns="0"/>
          <a:lstStyle>
            <a:lvl1pPr marL="88900" indent="-88900">
              <a:lnSpc>
                <a:spcPts val="2200"/>
              </a:lnSpc>
              <a:buFont typeface="Muli" panose="00000500000000000000" pitchFamily="2" charset="0"/>
              <a:buChar char=" "/>
              <a:defRPr sz="1500" b="1" i="0" cap="none" normalizeH="0" baseline="0">
                <a:solidFill>
                  <a:srgbClr val="2F57B2"/>
                </a:solidFill>
                <a:latin typeface="Noto Sans" panose="020B0502040504020204" pitchFamily="34" charset="0"/>
                <a:ea typeface="Noto Sans" panose="020B0502040504020204" pitchFamily="34" charset="0"/>
                <a:cs typeface="Noto Sans" panose="020B0502040504020204" pitchFamily="34" charset="0"/>
              </a:defRPr>
            </a:lvl1pPr>
            <a:lvl2pPr marL="447675" indent="-179388">
              <a:buFont typeface="Arial" panose="020B0604020202020204" pitchFamily="34" charset="0"/>
              <a:buChar char="▪"/>
              <a:defRPr sz="1300">
                <a:solidFill>
                  <a:srgbClr val="000000"/>
                </a:solidFill>
                <a:latin typeface="Noto Sans" panose="020B0502040504020204" pitchFamily="34" charset="0"/>
                <a:ea typeface="Noto Sans" panose="020B0502040504020204" pitchFamily="34" charset="0"/>
                <a:cs typeface="Noto Sans" panose="020B0502040504020204" pitchFamily="34" charset="0"/>
              </a:defRPr>
            </a:lvl2pPr>
            <a:lvl3pPr marL="627063" indent="-179388">
              <a:buFont typeface="Muli" panose="00000500000000000000" pitchFamily="2" charset="0"/>
              <a:buChar char="-"/>
              <a:defRPr sz="1200">
                <a:solidFill>
                  <a:srgbClr val="000000"/>
                </a:solidFill>
                <a:latin typeface="Noto Sans" panose="020B0502040504020204" pitchFamily="34" charset="0"/>
                <a:ea typeface="Noto Sans" panose="020B0502040504020204" pitchFamily="34" charset="0"/>
                <a:cs typeface="Noto Sans" panose="020B0502040504020204" pitchFamily="34" charset="0"/>
              </a:defRPr>
            </a:lvl3pPr>
            <a:lvl4pPr marL="1200150" indent="-171450">
              <a:buFont typeface="Muli" panose="00000500000000000000" pitchFamily="2" charset="0"/>
              <a:buChar char="•"/>
              <a:defRPr sz="1200">
                <a:latin typeface="+mj-lt"/>
              </a:defRPr>
            </a:lvl4pPr>
            <a:lvl5pPr>
              <a:defRPr sz="1200">
                <a:latin typeface="+mj-lt"/>
              </a:defRPr>
            </a:lvl5pPr>
            <a:lvl6pPr>
              <a:defRPr sz="1200"/>
            </a:lvl6pPr>
            <a:lvl7pPr>
              <a:defRPr sz="1200"/>
            </a:lvl7pPr>
            <a:lvl8pPr>
              <a:defRPr sz="1200"/>
            </a:lvl8pPr>
            <a:lvl9pPr marL="2743200" indent="0">
              <a:buNone/>
              <a:defRPr sz="1200"/>
            </a:lvl9pPr>
          </a:lstStyle>
          <a:p>
            <a:pPr lvl="0"/>
            <a:r>
              <a:rPr lang="de-DE" dirty="0"/>
              <a:t>Mastertextformat bearbeiten</a:t>
            </a:r>
          </a:p>
          <a:p>
            <a:pPr lvl="1"/>
            <a:r>
              <a:rPr lang="de-DE" dirty="0"/>
              <a:t>Zweite Ebene</a:t>
            </a:r>
          </a:p>
          <a:p>
            <a:pPr lvl="2"/>
            <a:r>
              <a:rPr lang="de-DE" dirty="0"/>
              <a:t>Dritte Ebene</a:t>
            </a:r>
          </a:p>
        </p:txBody>
      </p:sp>
      <p:sp>
        <p:nvSpPr>
          <p:cNvPr id="8" name="Titel 7">
            <a:extLst>
              <a:ext uri="{FF2B5EF4-FFF2-40B4-BE49-F238E27FC236}">
                <a16:creationId xmlns:a16="http://schemas.microsoft.com/office/drawing/2014/main" id="{7776CB73-0C61-4C90-B5F8-7055FBF3E9E2}"/>
              </a:ext>
            </a:extLst>
          </p:cNvPr>
          <p:cNvSpPr>
            <a:spLocks noGrp="1"/>
          </p:cNvSpPr>
          <p:nvPr>
            <p:ph type="title"/>
          </p:nvPr>
        </p:nvSpPr>
        <p:spPr>
          <a:xfrm>
            <a:off x="180000" y="255600"/>
            <a:ext cx="6480000" cy="432000"/>
          </a:xfrm>
          <a:prstGeom prst="rect">
            <a:avLst/>
          </a:prstGeom>
        </p:spPr>
        <p:txBody>
          <a:bodyPr/>
          <a:lstStyle>
            <a:lvl1pPr>
              <a:defRPr sz="2200" b="1">
                <a:solidFill>
                  <a:srgbClr val="000000"/>
                </a:solidFill>
              </a:defRPr>
            </a:lvl1pPr>
          </a:lstStyle>
          <a:p>
            <a:r>
              <a:rPr lang="de-DE"/>
              <a:t>Mastertitelformat bearbeiten</a:t>
            </a:r>
          </a:p>
        </p:txBody>
      </p:sp>
      <p:sp>
        <p:nvSpPr>
          <p:cNvPr id="5" name="Rechteck 9">
            <a:extLst>
              <a:ext uri="{FF2B5EF4-FFF2-40B4-BE49-F238E27FC236}">
                <a16:creationId xmlns:a16="http://schemas.microsoft.com/office/drawing/2014/main" id="{411A694B-DC94-41DA-879E-BCF3F7CA8245}"/>
              </a:ext>
            </a:extLst>
          </p:cNvPr>
          <p:cNvSpPr/>
          <p:nvPr userDrawn="1"/>
        </p:nvSpPr>
        <p:spPr>
          <a:xfrm>
            <a:off x="0" y="4783500"/>
            <a:ext cx="9144000" cy="360000"/>
          </a:xfrm>
          <a:prstGeom prst="rect">
            <a:avLst/>
          </a:prstGeom>
          <a:solidFill>
            <a:srgbClr val="E7E9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6" name="Textfeld 3">
            <a:extLst>
              <a:ext uri="{FF2B5EF4-FFF2-40B4-BE49-F238E27FC236}">
                <a16:creationId xmlns:a16="http://schemas.microsoft.com/office/drawing/2014/main" id="{2DEFAFCD-E91B-4F39-BD91-89E4E44EA446}"/>
              </a:ext>
            </a:extLst>
          </p:cNvPr>
          <p:cNvSpPr txBox="1"/>
          <p:nvPr userDrawn="1"/>
        </p:nvSpPr>
        <p:spPr>
          <a:xfrm>
            <a:off x="8553600" y="4824000"/>
            <a:ext cx="540000" cy="276999"/>
          </a:xfrm>
          <a:prstGeom prst="rect">
            <a:avLst/>
          </a:prstGeom>
          <a:noFill/>
        </p:spPr>
        <p:txBody>
          <a:bodyPr wrap="square" rtlCol="0">
            <a:spAutoFit/>
          </a:bodyPr>
          <a:lstStyle/>
          <a:p>
            <a:endParaRPr/>
          </a:p>
        </p:txBody>
      </p:sp>
      <p:pic>
        <p:nvPicPr>
          <p:cNvPr id="7" name="Grafik 6">
            <a:extLst>
              <a:ext uri="{FF2B5EF4-FFF2-40B4-BE49-F238E27FC236}">
                <a16:creationId xmlns:a16="http://schemas.microsoft.com/office/drawing/2014/main" id="{FCEDD851-9A95-47FF-8CA0-17B9D2B3A6B8}"/>
              </a:ext>
            </a:extLst>
          </p:cNvPr>
          <p:cNvPicPr>
            <a:picLocks noChangeAspect="1"/>
          </p:cNvPicPr>
          <p:nvPr userDrawn="1"/>
        </p:nvPicPr>
        <p:blipFill rotWithShape="1">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rcRect l="7622" t="17710" r="7197" b="12296"/>
          <a:stretch/>
        </p:blipFill>
        <p:spPr>
          <a:xfrm>
            <a:off x="360000" y="4848263"/>
            <a:ext cx="699657" cy="239381"/>
          </a:xfrm>
          <a:prstGeom prst="rect">
            <a:avLst/>
          </a:prstGeom>
        </p:spPr>
      </p:pic>
    </p:spTree>
    <p:extLst>
      <p:ext uri="{BB962C8B-B14F-4D97-AF65-F5344CB8AC3E}">
        <p14:creationId xmlns:p14="http://schemas.microsoft.com/office/powerpoint/2010/main" val="23246793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Drei Inhalte">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7F3B5BE-8D86-40AF-80CB-484B2DB69930}"/>
              </a:ext>
            </a:extLst>
          </p:cNvPr>
          <p:cNvSpPr>
            <a:spLocks noGrp="1"/>
          </p:cNvSpPr>
          <p:nvPr>
            <p:ph idx="1"/>
          </p:nvPr>
        </p:nvSpPr>
        <p:spPr>
          <a:xfrm>
            <a:off x="180000" y="918992"/>
            <a:ext cx="2772000" cy="3780000"/>
          </a:xfrm>
          <a:prstGeom prst="rect">
            <a:avLst/>
          </a:prstGeom>
          <a:ln>
            <a:noFill/>
          </a:ln>
        </p:spPr>
        <p:txBody>
          <a:bodyPr lIns="0"/>
          <a:lstStyle>
            <a:lvl1pPr marL="88900" indent="-88900">
              <a:lnSpc>
                <a:spcPts val="2200"/>
              </a:lnSpc>
              <a:buFont typeface="Muli" panose="00000500000000000000" pitchFamily="2" charset="0"/>
              <a:buChar char=" "/>
              <a:defRPr sz="1500" b="1" i="0" cap="none" baseline="0">
                <a:solidFill>
                  <a:srgbClr val="2F57B2"/>
                </a:solidFill>
                <a:latin typeface="Noto Sans" panose="020B0502040504020204" pitchFamily="34" charset="0"/>
                <a:ea typeface="Noto Sans" panose="020B0502040504020204" pitchFamily="34" charset="0"/>
                <a:cs typeface="Noto Sans" panose="020B0502040504020204" pitchFamily="34" charset="0"/>
              </a:defRPr>
            </a:lvl1pPr>
            <a:lvl2pPr marL="447675" indent="-179388">
              <a:buFont typeface="Arial" panose="020B0604020202020204" pitchFamily="34" charset="0"/>
              <a:buChar char="▪"/>
              <a:defRPr sz="1300">
                <a:solidFill>
                  <a:srgbClr val="000000"/>
                </a:solidFill>
                <a:latin typeface="Noto Sans" panose="020B0502040504020204" pitchFamily="34" charset="0"/>
                <a:ea typeface="Noto Sans" panose="020B0502040504020204" pitchFamily="34" charset="0"/>
                <a:cs typeface="Noto Sans" panose="020B0502040504020204" pitchFamily="34" charset="0"/>
              </a:defRPr>
            </a:lvl2pPr>
            <a:lvl3pPr marL="627063" indent="-179388">
              <a:buFont typeface="Muli" panose="00000500000000000000" pitchFamily="2" charset="0"/>
              <a:buChar char="-"/>
              <a:defRPr sz="1200">
                <a:solidFill>
                  <a:srgbClr val="000000"/>
                </a:solidFill>
                <a:latin typeface="Noto Sans" panose="020B0502040504020204" pitchFamily="34" charset="0"/>
                <a:ea typeface="Noto Sans" panose="020B0502040504020204" pitchFamily="34" charset="0"/>
                <a:cs typeface="Noto Sans" panose="020B0502040504020204" pitchFamily="34" charset="0"/>
              </a:defRPr>
            </a:lvl3pPr>
            <a:lvl4pPr>
              <a:defRPr sz="1200">
                <a:latin typeface="+mj-lt"/>
              </a:defRPr>
            </a:lvl4pPr>
            <a:lvl5pPr>
              <a:defRPr sz="1200">
                <a:latin typeface="+mj-lt"/>
              </a:defRPr>
            </a:lvl5pPr>
            <a:lvl6pPr>
              <a:defRPr sz="1200"/>
            </a:lvl6pPr>
            <a:lvl7pPr>
              <a:defRPr sz="1200"/>
            </a:lvl7pPr>
            <a:lvl8pPr>
              <a:defRPr sz="1200"/>
            </a:lvl8pPr>
            <a:lvl9pPr>
              <a:defRPr sz="1200"/>
            </a:lvl9pPr>
          </a:lstStyle>
          <a:p>
            <a:pPr lvl="0"/>
            <a:r>
              <a:rPr lang="de-DE" dirty="0"/>
              <a:t>Mastertextformat bearbeiten</a:t>
            </a:r>
          </a:p>
          <a:p>
            <a:pPr lvl="1"/>
            <a:r>
              <a:rPr lang="de-DE" dirty="0"/>
              <a:t>Zweite Ebene</a:t>
            </a:r>
          </a:p>
          <a:p>
            <a:pPr lvl="2"/>
            <a:r>
              <a:rPr lang="de-DE" dirty="0"/>
              <a:t>Dritte Ebene</a:t>
            </a:r>
          </a:p>
        </p:txBody>
      </p:sp>
      <p:sp>
        <p:nvSpPr>
          <p:cNvPr id="4" name="Content Placeholder 2">
            <a:extLst>
              <a:ext uri="{FF2B5EF4-FFF2-40B4-BE49-F238E27FC236}">
                <a16:creationId xmlns:a16="http://schemas.microsoft.com/office/drawing/2014/main" id="{90013DE7-AF95-4097-9F10-23E9F5684809}"/>
              </a:ext>
            </a:extLst>
          </p:cNvPr>
          <p:cNvSpPr>
            <a:spLocks noGrp="1"/>
          </p:cNvSpPr>
          <p:nvPr>
            <p:ph idx="13"/>
          </p:nvPr>
        </p:nvSpPr>
        <p:spPr>
          <a:xfrm>
            <a:off x="6192000" y="918992"/>
            <a:ext cx="2772000" cy="3780000"/>
          </a:xfrm>
          <a:prstGeom prst="rect">
            <a:avLst/>
          </a:prstGeom>
          <a:ln>
            <a:noFill/>
          </a:ln>
        </p:spPr>
        <p:txBody>
          <a:bodyPr lIns="0"/>
          <a:lstStyle>
            <a:lvl1pPr marL="88900" indent="-88900">
              <a:lnSpc>
                <a:spcPts val="2200"/>
              </a:lnSpc>
              <a:buFont typeface="Muli" panose="00000500000000000000" pitchFamily="2" charset="0"/>
              <a:buChar char=" "/>
              <a:defRPr sz="1500" b="1" i="0" cap="none" baseline="0">
                <a:solidFill>
                  <a:srgbClr val="2F57B2"/>
                </a:solidFill>
                <a:latin typeface="Noto Sans" panose="020B0502040504020204" pitchFamily="34" charset="0"/>
                <a:ea typeface="Noto Sans" panose="020B0502040504020204" pitchFamily="34" charset="0"/>
                <a:cs typeface="Noto Sans" panose="020B0502040504020204" pitchFamily="34" charset="0"/>
              </a:defRPr>
            </a:lvl1pPr>
            <a:lvl2pPr marL="447675" indent="-179388">
              <a:buFont typeface="Arial" panose="020B0604020202020204" pitchFamily="34" charset="0"/>
              <a:buChar char="▪"/>
              <a:defRPr sz="1300">
                <a:solidFill>
                  <a:srgbClr val="000000"/>
                </a:solidFill>
                <a:latin typeface="Noto Sans" panose="020B0502040504020204" pitchFamily="34" charset="0"/>
                <a:ea typeface="Noto Sans" panose="020B0502040504020204" pitchFamily="34" charset="0"/>
                <a:cs typeface="Noto Sans" panose="020B0502040504020204" pitchFamily="34" charset="0"/>
              </a:defRPr>
            </a:lvl2pPr>
            <a:lvl3pPr marL="627063" indent="-179388">
              <a:buFont typeface="Muli" panose="00000500000000000000" pitchFamily="2" charset="0"/>
              <a:buChar char="-"/>
              <a:tabLst>
                <a:tab pos="627063" algn="l"/>
              </a:tabLst>
              <a:defRPr sz="1200">
                <a:solidFill>
                  <a:srgbClr val="000000"/>
                </a:solidFill>
                <a:latin typeface="Noto Sans" panose="020B0502040504020204" pitchFamily="34" charset="0"/>
                <a:ea typeface="Noto Sans" panose="020B0502040504020204" pitchFamily="34" charset="0"/>
                <a:cs typeface="Noto Sans" panose="020B0502040504020204" pitchFamily="34" charset="0"/>
              </a:defRPr>
            </a:lvl3pPr>
            <a:lvl4pPr>
              <a:defRPr sz="1200">
                <a:latin typeface="+mj-lt"/>
              </a:defRPr>
            </a:lvl4pPr>
            <a:lvl5pPr>
              <a:defRPr sz="1200">
                <a:latin typeface="+mj-lt"/>
              </a:defRPr>
            </a:lvl5pPr>
            <a:lvl6pPr>
              <a:defRPr sz="1200"/>
            </a:lvl6pPr>
            <a:lvl7pPr>
              <a:defRPr sz="1200"/>
            </a:lvl7pPr>
            <a:lvl8pPr>
              <a:defRPr sz="1200"/>
            </a:lvl8pPr>
            <a:lvl9pPr>
              <a:defRPr sz="1200"/>
            </a:lvl9pPr>
          </a:lstStyle>
          <a:p>
            <a:pPr lvl="0"/>
            <a:r>
              <a:rPr lang="de-DE" dirty="0"/>
              <a:t>Mastertextformat bearbeiten</a:t>
            </a:r>
          </a:p>
          <a:p>
            <a:pPr lvl="1"/>
            <a:r>
              <a:rPr lang="de-DE" dirty="0"/>
              <a:t>Zweite Ebene</a:t>
            </a:r>
          </a:p>
          <a:p>
            <a:pPr lvl="2"/>
            <a:r>
              <a:rPr lang="de-DE" dirty="0"/>
              <a:t>Dritte Ebene</a:t>
            </a:r>
          </a:p>
        </p:txBody>
      </p:sp>
      <p:sp>
        <p:nvSpPr>
          <p:cNvPr id="5" name="Content Placeholder 2">
            <a:extLst>
              <a:ext uri="{FF2B5EF4-FFF2-40B4-BE49-F238E27FC236}">
                <a16:creationId xmlns:a16="http://schemas.microsoft.com/office/drawing/2014/main" id="{B4C04079-1F7D-474D-8317-327DB5F81513}"/>
              </a:ext>
            </a:extLst>
          </p:cNvPr>
          <p:cNvSpPr>
            <a:spLocks noGrp="1"/>
          </p:cNvSpPr>
          <p:nvPr>
            <p:ph idx="14"/>
          </p:nvPr>
        </p:nvSpPr>
        <p:spPr>
          <a:xfrm>
            <a:off x="3186000" y="918992"/>
            <a:ext cx="2772000" cy="3780000"/>
          </a:xfrm>
          <a:prstGeom prst="rect">
            <a:avLst/>
          </a:prstGeom>
          <a:ln>
            <a:noFill/>
          </a:ln>
        </p:spPr>
        <p:txBody>
          <a:bodyPr lIns="0"/>
          <a:lstStyle>
            <a:lvl1pPr marL="88900" indent="-88900">
              <a:lnSpc>
                <a:spcPts val="2200"/>
              </a:lnSpc>
              <a:buFont typeface="Muli" panose="00000500000000000000" pitchFamily="2" charset="0"/>
              <a:buChar char=" "/>
              <a:defRPr sz="1500" b="1" i="0" cap="none" baseline="0">
                <a:solidFill>
                  <a:srgbClr val="2F57B2"/>
                </a:solidFill>
                <a:latin typeface="Noto Sans" panose="020B0502040504020204" pitchFamily="34" charset="0"/>
                <a:ea typeface="Noto Sans" panose="020B0502040504020204" pitchFamily="34" charset="0"/>
                <a:cs typeface="Noto Sans" panose="020B0502040504020204" pitchFamily="34" charset="0"/>
              </a:defRPr>
            </a:lvl1pPr>
            <a:lvl2pPr marL="447675" indent="-179388">
              <a:buFont typeface="Arial" panose="020B0604020202020204" pitchFamily="34" charset="0"/>
              <a:buChar char="▪"/>
              <a:defRPr sz="1300">
                <a:solidFill>
                  <a:srgbClr val="000000"/>
                </a:solidFill>
                <a:latin typeface="Noto Sans" panose="020B0502040504020204" pitchFamily="34" charset="0"/>
                <a:ea typeface="Noto Sans" panose="020B0502040504020204" pitchFamily="34" charset="0"/>
                <a:cs typeface="Noto Sans" panose="020B0502040504020204" pitchFamily="34" charset="0"/>
              </a:defRPr>
            </a:lvl2pPr>
            <a:lvl3pPr marL="627063" indent="-179388">
              <a:buFont typeface="Muli" panose="00000500000000000000" pitchFamily="2" charset="0"/>
              <a:buChar char="-"/>
              <a:defRPr sz="1200">
                <a:solidFill>
                  <a:srgbClr val="000000"/>
                </a:solidFill>
                <a:latin typeface="Noto Sans" panose="020B0502040504020204" pitchFamily="34" charset="0"/>
                <a:ea typeface="Noto Sans" panose="020B0502040504020204" pitchFamily="34" charset="0"/>
                <a:cs typeface="Noto Sans" panose="020B0502040504020204" pitchFamily="34" charset="0"/>
              </a:defRPr>
            </a:lvl3pPr>
            <a:lvl4pPr>
              <a:defRPr sz="1200">
                <a:latin typeface="+mj-lt"/>
              </a:defRPr>
            </a:lvl4pPr>
            <a:lvl5pPr>
              <a:defRPr sz="1200">
                <a:latin typeface="+mj-lt"/>
              </a:defRPr>
            </a:lvl5pPr>
            <a:lvl6pPr>
              <a:defRPr sz="1200"/>
            </a:lvl6pPr>
            <a:lvl7pPr>
              <a:defRPr sz="1200"/>
            </a:lvl7pPr>
            <a:lvl8pPr>
              <a:defRPr sz="1200"/>
            </a:lvl8pPr>
            <a:lvl9pPr>
              <a:defRPr sz="1200"/>
            </a:lvl9pPr>
          </a:lstStyle>
          <a:p>
            <a:pPr lvl="0"/>
            <a:r>
              <a:rPr lang="de-DE" dirty="0"/>
              <a:t>Mastertextformat bearbeiten</a:t>
            </a:r>
          </a:p>
          <a:p>
            <a:pPr lvl="1"/>
            <a:r>
              <a:rPr lang="de-DE" dirty="0"/>
              <a:t>Zweite Ebene</a:t>
            </a:r>
          </a:p>
          <a:p>
            <a:pPr lvl="2"/>
            <a:r>
              <a:rPr lang="de-DE" dirty="0"/>
              <a:t>Dritte Ebene</a:t>
            </a:r>
          </a:p>
        </p:txBody>
      </p:sp>
      <p:sp>
        <p:nvSpPr>
          <p:cNvPr id="9" name="Titel 8">
            <a:extLst>
              <a:ext uri="{FF2B5EF4-FFF2-40B4-BE49-F238E27FC236}">
                <a16:creationId xmlns:a16="http://schemas.microsoft.com/office/drawing/2014/main" id="{D40147BA-88B8-4FBA-A040-597C535DCC21}"/>
              </a:ext>
            </a:extLst>
          </p:cNvPr>
          <p:cNvSpPr>
            <a:spLocks noGrp="1"/>
          </p:cNvSpPr>
          <p:nvPr>
            <p:ph type="title"/>
          </p:nvPr>
        </p:nvSpPr>
        <p:spPr>
          <a:xfrm>
            <a:off x="180000" y="255600"/>
            <a:ext cx="6480000" cy="432000"/>
          </a:xfrm>
          <a:prstGeom prst="rect">
            <a:avLst/>
          </a:prstGeom>
        </p:spPr>
        <p:txBody>
          <a:bodyPr/>
          <a:lstStyle>
            <a:lvl1pPr>
              <a:defRPr sz="2200" b="1">
                <a:solidFill>
                  <a:srgbClr val="000000"/>
                </a:solidFill>
              </a:defRPr>
            </a:lvl1pPr>
          </a:lstStyle>
          <a:p>
            <a:r>
              <a:rPr lang="de-DE"/>
              <a:t>Mastertitelformat bearbeiten</a:t>
            </a:r>
          </a:p>
        </p:txBody>
      </p:sp>
      <p:sp>
        <p:nvSpPr>
          <p:cNvPr id="6" name="Rechteck 9">
            <a:extLst>
              <a:ext uri="{FF2B5EF4-FFF2-40B4-BE49-F238E27FC236}">
                <a16:creationId xmlns:a16="http://schemas.microsoft.com/office/drawing/2014/main" id="{BC64F559-082D-4C32-A896-BCEE81F8E129}"/>
              </a:ext>
            </a:extLst>
          </p:cNvPr>
          <p:cNvSpPr/>
          <p:nvPr userDrawn="1"/>
        </p:nvSpPr>
        <p:spPr>
          <a:xfrm>
            <a:off x="0" y="4781690"/>
            <a:ext cx="9144000" cy="360000"/>
          </a:xfrm>
          <a:prstGeom prst="rect">
            <a:avLst/>
          </a:prstGeom>
          <a:solidFill>
            <a:srgbClr val="E7E9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7" name="Textfeld 3">
            <a:extLst>
              <a:ext uri="{FF2B5EF4-FFF2-40B4-BE49-F238E27FC236}">
                <a16:creationId xmlns:a16="http://schemas.microsoft.com/office/drawing/2014/main" id="{F8D25D59-BC91-4FAF-90C0-C1DEC867E6AE}"/>
              </a:ext>
            </a:extLst>
          </p:cNvPr>
          <p:cNvSpPr txBox="1"/>
          <p:nvPr userDrawn="1"/>
        </p:nvSpPr>
        <p:spPr>
          <a:xfrm>
            <a:off x="8553600" y="4824000"/>
            <a:ext cx="540000" cy="276999"/>
          </a:xfrm>
          <a:prstGeom prst="rect">
            <a:avLst/>
          </a:prstGeom>
          <a:noFill/>
        </p:spPr>
        <p:txBody>
          <a:bodyPr wrap="square" rtlCol="0">
            <a:spAutoFit/>
          </a:bodyPr>
          <a:lstStyle/>
          <a:p>
            <a:endParaRPr/>
          </a:p>
        </p:txBody>
      </p:sp>
      <p:pic>
        <p:nvPicPr>
          <p:cNvPr id="8" name="Grafik 7">
            <a:extLst>
              <a:ext uri="{FF2B5EF4-FFF2-40B4-BE49-F238E27FC236}">
                <a16:creationId xmlns:a16="http://schemas.microsoft.com/office/drawing/2014/main" id="{1DA4E479-51B3-4D80-A442-6CDFAC05D868}"/>
              </a:ext>
            </a:extLst>
          </p:cNvPr>
          <p:cNvPicPr>
            <a:picLocks noChangeAspect="1"/>
          </p:cNvPicPr>
          <p:nvPr userDrawn="1"/>
        </p:nvPicPr>
        <p:blipFill rotWithShape="1">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rcRect l="7622" t="17710" r="7197" b="12296"/>
          <a:stretch/>
        </p:blipFill>
        <p:spPr>
          <a:xfrm>
            <a:off x="360000" y="4848263"/>
            <a:ext cx="699657" cy="239381"/>
          </a:xfrm>
          <a:prstGeom prst="rect">
            <a:avLst/>
          </a:prstGeom>
        </p:spPr>
      </p:pic>
    </p:spTree>
    <p:extLst>
      <p:ext uri="{BB962C8B-B14F-4D97-AF65-F5344CB8AC3E}">
        <p14:creationId xmlns:p14="http://schemas.microsoft.com/office/powerpoint/2010/main" val="19336954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el ohne Inhalt">
    <p:spTree>
      <p:nvGrpSpPr>
        <p:cNvPr id="1" name=""/>
        <p:cNvGrpSpPr/>
        <p:nvPr/>
      </p:nvGrpSpPr>
      <p:grpSpPr>
        <a:xfrm>
          <a:off x="0" y="0"/>
          <a:ext cx="0" cy="0"/>
          <a:chOff x="0" y="0"/>
          <a:chExt cx="0" cy="0"/>
        </a:xfrm>
      </p:grpSpPr>
      <p:sp>
        <p:nvSpPr>
          <p:cNvPr id="6" name="Titel 5">
            <a:extLst>
              <a:ext uri="{FF2B5EF4-FFF2-40B4-BE49-F238E27FC236}">
                <a16:creationId xmlns:a16="http://schemas.microsoft.com/office/drawing/2014/main" id="{BB9658CE-CA94-4DB0-B430-740791A3F6A2}"/>
              </a:ext>
            </a:extLst>
          </p:cNvPr>
          <p:cNvSpPr>
            <a:spLocks noGrp="1"/>
          </p:cNvSpPr>
          <p:nvPr>
            <p:ph type="title"/>
          </p:nvPr>
        </p:nvSpPr>
        <p:spPr>
          <a:xfrm>
            <a:off x="180000" y="255600"/>
            <a:ext cx="6480000" cy="432000"/>
          </a:xfrm>
          <a:prstGeom prst="rect">
            <a:avLst/>
          </a:prstGeom>
        </p:spPr>
        <p:txBody>
          <a:bodyPr/>
          <a:lstStyle>
            <a:lvl1pPr>
              <a:defRPr sz="2200" b="1">
                <a:solidFill>
                  <a:srgbClr val="000000"/>
                </a:solidFill>
              </a:defRPr>
            </a:lvl1pPr>
          </a:lstStyle>
          <a:p>
            <a:r>
              <a:rPr lang="de-DE"/>
              <a:t>Mastertitelformat bearbeiten</a:t>
            </a:r>
          </a:p>
        </p:txBody>
      </p:sp>
      <p:sp>
        <p:nvSpPr>
          <p:cNvPr id="3" name="Rechteck 9">
            <a:extLst>
              <a:ext uri="{FF2B5EF4-FFF2-40B4-BE49-F238E27FC236}">
                <a16:creationId xmlns:a16="http://schemas.microsoft.com/office/drawing/2014/main" id="{BEDCFD5B-7EBB-4CD6-ADC5-AEB13E60D3C9}"/>
              </a:ext>
            </a:extLst>
          </p:cNvPr>
          <p:cNvSpPr/>
          <p:nvPr userDrawn="1"/>
        </p:nvSpPr>
        <p:spPr>
          <a:xfrm>
            <a:off x="0" y="4781690"/>
            <a:ext cx="9144000" cy="360000"/>
          </a:xfrm>
          <a:prstGeom prst="rect">
            <a:avLst/>
          </a:prstGeom>
          <a:solidFill>
            <a:srgbClr val="E7E9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 name="Textfeld 3">
            <a:extLst>
              <a:ext uri="{FF2B5EF4-FFF2-40B4-BE49-F238E27FC236}">
                <a16:creationId xmlns:a16="http://schemas.microsoft.com/office/drawing/2014/main" id="{7E1492E8-9584-48FE-8EC6-C4B33BF75D4E}"/>
              </a:ext>
            </a:extLst>
          </p:cNvPr>
          <p:cNvSpPr txBox="1"/>
          <p:nvPr userDrawn="1"/>
        </p:nvSpPr>
        <p:spPr>
          <a:xfrm>
            <a:off x="8553600" y="4824000"/>
            <a:ext cx="540000" cy="276999"/>
          </a:xfrm>
          <a:prstGeom prst="rect">
            <a:avLst/>
          </a:prstGeom>
          <a:noFill/>
        </p:spPr>
        <p:txBody>
          <a:bodyPr wrap="square" rtlCol="0">
            <a:spAutoFit/>
          </a:bodyPr>
          <a:lstStyle/>
          <a:p>
            <a:endParaRPr/>
          </a:p>
        </p:txBody>
      </p:sp>
      <p:pic>
        <p:nvPicPr>
          <p:cNvPr id="5" name="Grafik 4">
            <a:extLst>
              <a:ext uri="{FF2B5EF4-FFF2-40B4-BE49-F238E27FC236}">
                <a16:creationId xmlns:a16="http://schemas.microsoft.com/office/drawing/2014/main" id="{4B5BAC9D-5689-45A3-A121-FDD89E8E6B61}"/>
              </a:ext>
            </a:extLst>
          </p:cNvPr>
          <p:cNvPicPr>
            <a:picLocks noChangeAspect="1"/>
          </p:cNvPicPr>
          <p:nvPr userDrawn="1"/>
        </p:nvPicPr>
        <p:blipFill rotWithShape="1">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rcRect l="7622" t="17710" r="7197" b="12296"/>
          <a:stretch/>
        </p:blipFill>
        <p:spPr>
          <a:xfrm>
            <a:off x="360000" y="4848263"/>
            <a:ext cx="699657" cy="239381"/>
          </a:xfrm>
          <a:prstGeom prst="rect">
            <a:avLst/>
          </a:prstGeom>
        </p:spPr>
      </p:pic>
    </p:spTree>
    <p:extLst>
      <p:ext uri="{BB962C8B-B14F-4D97-AF65-F5344CB8AC3E}">
        <p14:creationId xmlns:p14="http://schemas.microsoft.com/office/powerpoint/2010/main" val="714148947"/>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theme" Target="../theme/theme1.xml"/><Relationship Id="rId9" Type="http://schemas.openxmlformats.org/officeDocument/2006/relationships/image" Target="../media/image1.sv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3" name="Grafik 2">
            <a:extLst>
              <a:ext uri="{FF2B5EF4-FFF2-40B4-BE49-F238E27FC236}">
                <a16:creationId xmlns:a16="http://schemas.microsoft.com/office/drawing/2014/main" id="{4891427B-DBAA-4EA4-9BD8-6A896CC8A209}"/>
              </a:ext>
            </a:extLst>
          </p:cNvPr>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7601236" y="235721"/>
            <a:ext cx="1183989" cy="411469"/>
          </a:xfrm>
          <a:prstGeom prst="rect">
            <a:avLst/>
          </a:prstGeom>
        </p:spPr>
      </p:pic>
    </p:spTree>
    <p:extLst>
      <p:ext uri="{BB962C8B-B14F-4D97-AF65-F5344CB8AC3E}">
        <p14:creationId xmlns:p14="http://schemas.microsoft.com/office/powerpoint/2010/main" val="182470469"/>
      </p:ext>
    </p:extLst>
  </p:cSld>
  <p:clrMap bg1="lt1" tx1="dk1" bg2="lt2" tx2="dk2" accent1="accent1" accent2="accent2" accent3="accent3" accent4="accent4" accent5="accent5" accent6="accent6" hlink="hlink" folHlink="folHlink"/>
  <p:sldLayoutIdLst>
    <p:sldLayoutId id="2147483679" r:id="rId1"/>
    <p:sldLayoutId id="2147483680" r:id="rId2"/>
    <p:sldLayoutId id="2147483686" r:id="rId3"/>
    <p:sldLayoutId id="2147483673" r:id="rId4"/>
    <p:sldLayoutId id="2147483674" r:id="rId5"/>
    <p:sldLayoutId id="2147483675" r:id="rId6"/>
    <p:sldLayoutId id="2147483676" r:id="rId7"/>
  </p:sldLayoutIdLst>
  <p:hf sldNum="0" hdr="0" ft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92608" y="3410712"/>
            <a:ext cx="8412480" cy="932688"/>
          </a:xfrm>
          <a:prstGeom prst="rect">
            <a:avLst/>
          </a:prstGeom>
          <a:noFill/>
        </p:spPr>
        <p:txBody>
          <a:bodyPr wrap="square" lIns="9144" tIns="0" rIns="9144" bIns="0" anchor="ctr">
            <a:spAutoFit/>
          </a:bodyPr>
          <a:lstStyle/>
          <a:p>
            <a:pPr algn="l">
              <a:spcBef>
                <a:spcPts val="0"/>
              </a:spcBef>
              <a:spcAft>
                <a:spcPts val="0"/>
              </a:spcAft>
              <a:defRPr sz="2300" b="1">
                <a:solidFill>
                  <a:srgbClr val="041447"/>
                </a:solidFill>
                <a:latin typeface="Noto Sans"/>
              </a:defRPr>
            </a:pPr>
            <a:r>
              <a:t>Active Cache-Aware Hardware Adaptation:</a:t>
            </a:r>
          </a:p>
          <a:p>
            <a:pPr algn="l">
              <a:spcBef>
                <a:spcPts val="0"/>
              </a:spcBef>
              <a:spcAft>
                <a:spcPts val="0"/>
              </a:spcAft>
              <a:defRPr sz="2300" b="1">
                <a:solidFill>
                  <a:srgbClr val="041447"/>
                </a:solidFill>
                <a:latin typeface="Noto Sans"/>
              </a:defRPr>
            </a:pPr>
            <a:r>
              <a:t>Cache Engine for Trie-Based Index Structures</a:t>
            </a:r>
          </a:p>
        </p:txBody>
      </p:sp>
      <p:sp>
        <p:nvSpPr>
          <p:cNvPr id="3" name="TextBox 2"/>
          <p:cNvSpPr txBox="1"/>
          <p:nvPr/>
        </p:nvSpPr>
        <p:spPr>
          <a:xfrm>
            <a:off x="310896" y="4462272"/>
            <a:ext cx="8321040" cy="265176"/>
          </a:xfrm>
          <a:prstGeom prst="rect">
            <a:avLst/>
          </a:prstGeom>
          <a:noFill/>
        </p:spPr>
        <p:txBody>
          <a:bodyPr wrap="square" lIns="9144" tIns="0" rIns="9144" bIns="0" anchor="ctr">
            <a:spAutoFit/>
          </a:bodyPr>
          <a:lstStyle/>
          <a:p>
            <a:pPr algn="l">
              <a:spcBef>
                <a:spcPts val="0"/>
              </a:spcBef>
              <a:spcAft>
                <a:spcPts val="0"/>
              </a:spcAft>
              <a:defRPr sz="1100" b="0">
                <a:solidFill>
                  <a:srgbClr val="192B43"/>
                </a:solidFill>
                <a:latin typeface="Noto Sans"/>
              </a:defRPr>
            </a:pPr>
            <a:r>
              <a:t>Benjamin-Elias Probst  |  Prof. Dirk Habich · Dr. Alexander Krause</a:t>
            </a:r>
          </a:p>
        </p:txBody>
      </p:sp>
      <p:sp>
        <p:nvSpPr>
          <p:cNvPr id="4" name="TextBox 3"/>
          <p:cNvSpPr txBox="1"/>
          <p:nvPr/>
        </p:nvSpPr>
        <p:spPr>
          <a:xfrm>
            <a:off x="5577840" y="1490472"/>
            <a:ext cx="3108960" cy="932688"/>
          </a:xfrm>
          <a:prstGeom prst="rect">
            <a:avLst/>
          </a:prstGeom>
          <a:noFill/>
        </p:spPr>
        <p:txBody>
          <a:bodyPr wrap="square" lIns="9144" tIns="0" rIns="9144" bIns="0" anchor="ctr">
            <a:spAutoFit/>
          </a:bodyPr>
          <a:lstStyle/>
          <a:p>
            <a:pPr algn="l">
              <a:spcBef>
                <a:spcPts val="0"/>
              </a:spcBef>
              <a:spcAft>
                <a:spcPts val="0"/>
              </a:spcAft>
              <a:defRPr sz="2300" b="1">
                <a:solidFill>
                  <a:srgbClr val="FFFFFF"/>
                </a:solidFill>
                <a:latin typeface="Noto Sans"/>
              </a:defRPr>
            </a:pPr>
            <a:r>
              <a:t>Index designs.</a:t>
            </a:r>
          </a:p>
          <a:p>
            <a:pPr algn="l">
              <a:spcBef>
                <a:spcPts val="0"/>
              </a:spcBef>
              <a:spcAft>
                <a:spcPts val="0"/>
              </a:spcAft>
              <a:defRPr sz="2300" b="1">
                <a:solidFill>
                  <a:srgbClr val="FFFFFF"/>
                </a:solidFill>
                <a:latin typeface="Noto Sans"/>
              </a:defRPr>
            </a:pPr>
            <a:r>
              <a:t>Controlled comparisons.</a:t>
            </a:r>
          </a:p>
        </p:txBody>
      </p:sp>
      <p:sp>
        <p:nvSpPr>
          <p:cNvPr id="5" name="TextBox 4"/>
          <p:cNvSpPr txBox="1"/>
          <p:nvPr/>
        </p:nvSpPr>
        <p:spPr>
          <a:xfrm>
            <a:off x="5577840" y="2587752"/>
            <a:ext cx="3017520" cy="365760"/>
          </a:xfrm>
          <a:prstGeom prst="rect">
            <a:avLst/>
          </a:prstGeom>
          <a:noFill/>
        </p:spPr>
        <p:txBody>
          <a:bodyPr wrap="square" lIns="9144" tIns="0" rIns="9144" bIns="0" anchor="ctr">
            <a:spAutoFit/>
          </a:bodyPr>
          <a:lstStyle/>
          <a:p>
            <a:pPr algn="l">
              <a:spcBef>
                <a:spcPts val="0"/>
              </a:spcBef>
              <a:spcAft>
                <a:spcPts val="0"/>
              </a:spcAft>
              <a:defRPr sz="1100" b="0">
                <a:solidFill>
                  <a:srgbClr val="A8C9E9"/>
                </a:solidFill>
                <a:latin typeface="Noto Sans"/>
              </a:defRPr>
            </a:pPr>
            <a:r>
              <a:t>Diploma thesis defense</a:t>
            </a:r>
          </a:p>
          <a:p>
            <a:pPr algn="l">
              <a:spcBef>
                <a:spcPts val="0"/>
              </a:spcBef>
              <a:spcAft>
                <a:spcPts val="0"/>
              </a:spcAft>
              <a:defRPr sz="1100" b="0">
                <a:solidFill>
                  <a:srgbClr val="A8C9E9"/>
                </a:solidFill>
                <a:latin typeface="Noto Sans"/>
              </a:defRPr>
            </a:pPr>
            <a:r>
              <a:t>28 September 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83464" y="182880"/>
            <a:ext cx="7360920" cy="438912"/>
          </a:xfrm>
          <a:prstGeom prst="rect">
            <a:avLst/>
          </a:prstGeom>
          <a:noFill/>
        </p:spPr>
        <p:txBody>
          <a:bodyPr wrap="square" lIns="9144" tIns="0" rIns="9144" bIns="0" anchor="ctr">
            <a:spAutoFit/>
          </a:bodyPr>
          <a:lstStyle/>
          <a:p>
            <a:pPr algn="l">
              <a:spcBef>
                <a:spcPts val="0"/>
              </a:spcBef>
              <a:spcAft>
                <a:spcPts val="0"/>
              </a:spcAft>
              <a:defRPr sz="2400" b="1">
                <a:solidFill>
                  <a:srgbClr val="041447"/>
                </a:solidFill>
                <a:latin typeface="Noto Sans"/>
              </a:defRPr>
            </a:pPr>
            <a:r>
              <a:t>What is an index for?</a:t>
            </a:r>
          </a:p>
        </p:txBody>
      </p:sp>
      <p:sp>
        <p:nvSpPr>
          <p:cNvPr id="3" name="Rectangle 2"/>
          <p:cNvSpPr/>
          <p:nvPr/>
        </p:nvSpPr>
        <p:spPr>
          <a:xfrm>
            <a:off x="310896" y="786384"/>
            <a:ext cx="1197864" cy="45720"/>
          </a:xfrm>
          <a:prstGeom prst="rect">
            <a:avLst/>
          </a:prstGeom>
          <a:solidFill>
            <a:srgbClr val="008A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10896" y="621792"/>
            <a:ext cx="1197864" cy="164592"/>
          </a:xfrm>
          <a:prstGeom prst="rect">
            <a:avLst/>
          </a:prstGeom>
          <a:noFill/>
        </p:spPr>
        <p:txBody>
          <a:bodyPr wrap="square" lIns="9144" tIns="0" rIns="9144" bIns="0" anchor="ctr">
            <a:spAutoFit/>
          </a:bodyPr>
          <a:lstStyle/>
          <a:p>
            <a:pPr algn="l">
              <a:spcBef>
                <a:spcPts val="0"/>
              </a:spcBef>
              <a:spcAft>
                <a:spcPts val="0"/>
              </a:spcAft>
              <a:defRPr sz="850" b="1">
                <a:solidFill>
                  <a:srgbClr val="008A96"/>
                </a:solidFill>
                <a:latin typeface="Noto Sans"/>
              </a:defRPr>
            </a:pPr>
            <a:r>
              <a:t>1 Introduction</a:t>
            </a:r>
          </a:p>
        </p:txBody>
      </p:sp>
      <p:sp>
        <p:nvSpPr>
          <p:cNvPr id="5" name="Rectangle 4"/>
          <p:cNvSpPr/>
          <p:nvPr/>
        </p:nvSpPr>
        <p:spPr>
          <a:xfrm>
            <a:off x="1545336" y="786384"/>
            <a:ext cx="1243584" cy="45720"/>
          </a:xfrm>
          <a:prstGeom prst="rect">
            <a:avLst/>
          </a:prstGeom>
          <a:solidFill>
            <a:srgbClr val="D2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545336" y="621792"/>
            <a:ext cx="1243584" cy="164592"/>
          </a:xfrm>
          <a:prstGeom prst="rect">
            <a:avLst/>
          </a:prstGeom>
          <a:noFill/>
        </p:spPr>
        <p:txBody>
          <a:bodyPr wrap="square" lIns="9144" tIns="0" rIns="9144" bIns="0" anchor="ctr">
            <a:spAutoFit/>
          </a:bodyPr>
          <a:lstStyle/>
          <a:p>
            <a:pPr algn="l">
              <a:spcBef>
                <a:spcPts val="0"/>
              </a:spcBef>
              <a:spcAft>
                <a:spcPts val="0"/>
              </a:spcAft>
              <a:defRPr sz="850" b="0">
                <a:solidFill>
                  <a:srgbClr val="607080"/>
                </a:solidFill>
                <a:latin typeface="Noto Sans"/>
              </a:defRPr>
            </a:pPr>
            <a:r>
              <a:t>2 Background</a:t>
            </a:r>
          </a:p>
        </p:txBody>
      </p:sp>
      <p:sp>
        <p:nvSpPr>
          <p:cNvPr id="7" name="Rectangle 6"/>
          <p:cNvSpPr/>
          <p:nvPr/>
        </p:nvSpPr>
        <p:spPr>
          <a:xfrm>
            <a:off x="2825496" y="786384"/>
            <a:ext cx="1078992" cy="45720"/>
          </a:xfrm>
          <a:prstGeom prst="rect">
            <a:avLst/>
          </a:prstGeom>
          <a:solidFill>
            <a:srgbClr val="D2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2825496" y="621792"/>
            <a:ext cx="1078992" cy="164592"/>
          </a:xfrm>
          <a:prstGeom prst="rect">
            <a:avLst/>
          </a:prstGeom>
          <a:noFill/>
        </p:spPr>
        <p:txBody>
          <a:bodyPr wrap="square" lIns="9144" tIns="0" rIns="9144" bIns="0" anchor="ctr">
            <a:spAutoFit/>
          </a:bodyPr>
          <a:lstStyle/>
          <a:p>
            <a:pPr algn="l">
              <a:spcBef>
                <a:spcPts val="0"/>
              </a:spcBef>
              <a:spcAft>
                <a:spcPts val="0"/>
              </a:spcAft>
              <a:defRPr sz="850" b="0">
                <a:solidFill>
                  <a:srgbClr val="607080"/>
                </a:solidFill>
                <a:latin typeface="Noto Sans"/>
              </a:defRPr>
            </a:pPr>
            <a:r>
              <a:t>3 Concept</a:t>
            </a:r>
          </a:p>
        </p:txBody>
      </p:sp>
      <p:sp>
        <p:nvSpPr>
          <p:cNvPr id="9" name="Rectangle 8"/>
          <p:cNvSpPr/>
          <p:nvPr/>
        </p:nvSpPr>
        <p:spPr>
          <a:xfrm>
            <a:off x="3941063" y="786384"/>
            <a:ext cx="1645920" cy="45720"/>
          </a:xfrm>
          <a:prstGeom prst="rect">
            <a:avLst/>
          </a:prstGeom>
          <a:solidFill>
            <a:srgbClr val="D2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941063" y="621792"/>
            <a:ext cx="1645920" cy="164592"/>
          </a:xfrm>
          <a:prstGeom prst="rect">
            <a:avLst/>
          </a:prstGeom>
          <a:noFill/>
        </p:spPr>
        <p:txBody>
          <a:bodyPr wrap="square" lIns="9144" tIns="0" rIns="9144" bIns="0" anchor="ctr">
            <a:spAutoFit/>
          </a:bodyPr>
          <a:lstStyle/>
          <a:p>
            <a:pPr algn="l">
              <a:spcBef>
                <a:spcPts val="0"/>
              </a:spcBef>
              <a:spcAft>
                <a:spcPts val="0"/>
              </a:spcAft>
              <a:defRPr sz="850" b="0">
                <a:solidFill>
                  <a:srgbClr val="607080"/>
                </a:solidFill>
                <a:latin typeface="Noto Sans"/>
              </a:defRPr>
            </a:pPr>
            <a:r>
              <a:t>4 Implementation</a:t>
            </a:r>
          </a:p>
        </p:txBody>
      </p:sp>
      <p:sp>
        <p:nvSpPr>
          <p:cNvPr id="11" name="Rectangle 10"/>
          <p:cNvSpPr/>
          <p:nvPr/>
        </p:nvSpPr>
        <p:spPr>
          <a:xfrm>
            <a:off x="5623559" y="786384"/>
            <a:ext cx="1252728" cy="45720"/>
          </a:xfrm>
          <a:prstGeom prst="rect">
            <a:avLst/>
          </a:prstGeom>
          <a:solidFill>
            <a:srgbClr val="D2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623559" y="621792"/>
            <a:ext cx="1252728" cy="164592"/>
          </a:xfrm>
          <a:prstGeom prst="rect">
            <a:avLst/>
          </a:prstGeom>
          <a:noFill/>
        </p:spPr>
        <p:txBody>
          <a:bodyPr wrap="square" lIns="9144" tIns="0" rIns="9144" bIns="0" anchor="ctr">
            <a:spAutoFit/>
          </a:bodyPr>
          <a:lstStyle/>
          <a:p>
            <a:pPr algn="l">
              <a:spcBef>
                <a:spcPts val="0"/>
              </a:spcBef>
              <a:spcAft>
                <a:spcPts val="0"/>
              </a:spcAft>
              <a:defRPr sz="850" b="0">
                <a:solidFill>
                  <a:srgbClr val="607080"/>
                </a:solidFill>
                <a:latin typeface="Noto Sans"/>
              </a:defRPr>
            </a:pPr>
            <a:r>
              <a:t>5 Evaluation</a:t>
            </a:r>
          </a:p>
        </p:txBody>
      </p:sp>
      <p:sp>
        <p:nvSpPr>
          <p:cNvPr id="13" name="Rectangle 12"/>
          <p:cNvSpPr/>
          <p:nvPr/>
        </p:nvSpPr>
        <p:spPr>
          <a:xfrm>
            <a:off x="6912864" y="786384"/>
            <a:ext cx="1216152" cy="45720"/>
          </a:xfrm>
          <a:prstGeom prst="rect">
            <a:avLst/>
          </a:prstGeom>
          <a:solidFill>
            <a:srgbClr val="D2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912864" y="621792"/>
            <a:ext cx="1216152" cy="164592"/>
          </a:xfrm>
          <a:prstGeom prst="rect">
            <a:avLst/>
          </a:prstGeom>
          <a:noFill/>
        </p:spPr>
        <p:txBody>
          <a:bodyPr wrap="square" lIns="9144" tIns="0" rIns="9144" bIns="0" anchor="ctr">
            <a:spAutoFit/>
          </a:bodyPr>
          <a:lstStyle/>
          <a:p>
            <a:pPr algn="l">
              <a:spcBef>
                <a:spcPts val="0"/>
              </a:spcBef>
              <a:spcAft>
                <a:spcPts val="0"/>
              </a:spcAft>
              <a:defRPr sz="850" b="0">
                <a:solidFill>
                  <a:srgbClr val="607080"/>
                </a:solidFill>
                <a:latin typeface="Noto Sans"/>
              </a:defRPr>
            </a:pPr>
            <a:r>
              <a:t>6 Conclusion</a:t>
            </a:r>
          </a:p>
        </p:txBody>
      </p:sp>
      <p:sp>
        <p:nvSpPr>
          <p:cNvPr id="15" name="TextBox 14"/>
          <p:cNvSpPr txBox="1"/>
          <p:nvPr/>
        </p:nvSpPr>
        <p:spPr>
          <a:xfrm>
            <a:off x="320040" y="4572000"/>
            <a:ext cx="8321040" cy="182880"/>
          </a:xfrm>
          <a:prstGeom prst="rect">
            <a:avLst/>
          </a:prstGeom>
          <a:noFill/>
        </p:spPr>
        <p:txBody>
          <a:bodyPr wrap="square" lIns="9144" tIns="0" rIns="9144" bIns="0" anchor="ctr">
            <a:spAutoFit/>
          </a:bodyPr>
          <a:lstStyle/>
          <a:p>
            <a:pPr algn="l">
              <a:spcBef>
                <a:spcPts val="0"/>
              </a:spcBef>
              <a:spcAft>
                <a:spcPts val="0"/>
              </a:spcAft>
              <a:defRPr sz="810" b="0">
                <a:solidFill>
                  <a:srgbClr val="607080"/>
                </a:solidFill>
                <a:latin typeface="Noto Sans"/>
              </a:defRPr>
            </a:pPr>
            <a:r>
              <a:t>Thesis §§1.1–1.2, 2.1  |  Illustrative keys and records</a:t>
            </a:r>
          </a:p>
        </p:txBody>
      </p:sp>
      <p:sp>
        <p:nvSpPr>
          <p:cNvPr id="16" name="TextBox 15"/>
          <p:cNvSpPr txBox="1"/>
          <p:nvPr/>
        </p:nvSpPr>
        <p:spPr>
          <a:xfrm>
            <a:off x="1234440" y="4873752"/>
            <a:ext cx="6766560" cy="164592"/>
          </a:xfrm>
          <a:prstGeom prst="rect">
            <a:avLst/>
          </a:prstGeom>
          <a:noFill/>
        </p:spPr>
        <p:txBody>
          <a:bodyPr wrap="square" lIns="9144" tIns="0" rIns="9144" bIns="0" anchor="ctr">
            <a:spAutoFit/>
          </a:bodyPr>
          <a:lstStyle/>
          <a:p>
            <a:pPr algn="l">
              <a:spcBef>
                <a:spcPts val="0"/>
              </a:spcBef>
              <a:spcAft>
                <a:spcPts val="0"/>
              </a:spcAft>
              <a:defRPr sz="830" b="0">
                <a:solidFill>
                  <a:srgbClr val="041447"/>
                </a:solidFill>
                <a:latin typeface="Noto Sans"/>
              </a:defRPr>
            </a:pPr>
            <a:r>
              <a:t>Benjamin-Elias Probst  |  Diploma thesis defense  |  28 September 2026</a:t>
            </a:r>
          </a:p>
        </p:txBody>
      </p:sp>
      <p:sp>
        <p:nvSpPr>
          <p:cNvPr id="17" name="TextBox 16"/>
          <p:cNvSpPr txBox="1"/>
          <p:nvPr/>
        </p:nvSpPr>
        <p:spPr>
          <a:xfrm>
            <a:off x="8412480" y="4864608"/>
            <a:ext cx="393192" cy="192024"/>
          </a:xfrm>
          <a:prstGeom prst="rect">
            <a:avLst/>
          </a:prstGeom>
          <a:noFill/>
        </p:spPr>
        <p:txBody>
          <a:bodyPr wrap="square" lIns="9144" tIns="0" rIns="9144" bIns="0" anchor="ctr">
            <a:spAutoFit/>
          </a:bodyPr>
          <a:lstStyle/>
          <a:p>
            <a:pPr algn="r">
              <a:spcBef>
                <a:spcPts val="0"/>
              </a:spcBef>
              <a:spcAft>
                <a:spcPts val="0"/>
              </a:spcAft>
              <a:defRPr sz="900" b="1">
                <a:solidFill>
                  <a:srgbClr val="041447"/>
                </a:solidFill>
                <a:latin typeface="Noto Sans"/>
              </a:defRPr>
            </a:pPr>
            <a:r>
              <a:t>2</a:t>
            </a:r>
          </a:p>
        </p:txBody>
      </p:sp>
      <p:sp>
        <p:nvSpPr>
          <p:cNvPr id="18" name="Rectangle 17"/>
          <p:cNvSpPr/>
          <p:nvPr/>
        </p:nvSpPr>
        <p:spPr>
          <a:xfrm>
            <a:off x="347472" y="1051560"/>
            <a:ext cx="1508760" cy="265176"/>
          </a:xfrm>
          <a:prstGeom prst="rect">
            <a:avLst/>
          </a:prstGeom>
          <a:solidFill>
            <a:srgbClr val="3178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384048" y="1065275"/>
            <a:ext cx="1435607" cy="228600"/>
          </a:xfrm>
          <a:prstGeom prst="rect">
            <a:avLst/>
          </a:prstGeom>
          <a:noFill/>
        </p:spPr>
        <p:txBody>
          <a:bodyPr wrap="square" lIns="9144" tIns="0" rIns="9144" bIns="0" anchor="ctr">
            <a:spAutoFit/>
          </a:bodyPr>
          <a:lstStyle/>
          <a:p>
            <a:pPr algn="l">
              <a:spcBef>
                <a:spcPts val="0"/>
              </a:spcBef>
              <a:spcAft>
                <a:spcPts val="0"/>
              </a:spcAft>
              <a:defRPr sz="1100" b="1">
                <a:solidFill>
                  <a:srgbClr val="FFFFFF"/>
                </a:solidFill>
                <a:latin typeface="Noto Sans"/>
              </a:defRPr>
            </a:pPr>
            <a:r>
              <a:t>REQUEST</a:t>
            </a:r>
          </a:p>
        </p:txBody>
      </p:sp>
      <p:sp>
        <p:nvSpPr>
          <p:cNvPr id="20" name="Rounded Rectangle 19"/>
          <p:cNvSpPr/>
          <p:nvPr/>
        </p:nvSpPr>
        <p:spPr>
          <a:xfrm>
            <a:off x="347472" y="1426464"/>
            <a:ext cx="1920240" cy="758952"/>
          </a:xfrm>
          <a:prstGeom prst="roundRect">
            <a:avLst>
              <a:gd name="adj" fmla="val 8000"/>
            </a:avLst>
          </a:prstGeom>
          <a:solidFill>
            <a:srgbClr val="EFF3F7"/>
          </a:solidFill>
          <a:ln w="10160">
            <a:solidFill>
              <a:srgbClr val="D2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347472" y="1426464"/>
            <a:ext cx="32004" cy="758952"/>
          </a:xfrm>
          <a:prstGeom prst="rect">
            <a:avLst/>
          </a:prstGeom>
          <a:solidFill>
            <a:srgbClr val="3178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448056" y="1499616"/>
            <a:ext cx="1737360" cy="612647"/>
          </a:xfrm>
          <a:prstGeom prst="rect">
            <a:avLst/>
          </a:prstGeom>
          <a:noFill/>
        </p:spPr>
        <p:txBody>
          <a:bodyPr wrap="square" lIns="9144" tIns="0" rIns="9144" bIns="0" anchor="ctr">
            <a:spAutoFit/>
          </a:bodyPr>
          <a:lstStyle/>
          <a:p>
            <a:pPr algn="l">
              <a:spcBef>
                <a:spcPts val="0"/>
              </a:spcBef>
              <a:spcAft>
                <a:spcPts val="0"/>
              </a:spcAft>
              <a:defRPr sz="1900" b="1">
                <a:solidFill>
                  <a:srgbClr val="3178B9"/>
                </a:solidFill>
                <a:latin typeface="Noto Sans"/>
              </a:defRPr>
            </a:pPr>
            <a:r>
              <a:t>find("cat")</a:t>
            </a:r>
          </a:p>
        </p:txBody>
      </p:sp>
      <p:cxnSp>
        <p:nvCxnSpPr>
          <p:cNvPr id="23" name="Connector 22"/>
          <p:cNvCxnSpPr/>
          <p:nvPr/>
        </p:nvCxnSpPr>
        <p:spPr>
          <a:xfrm>
            <a:off x="2276856" y="1810512"/>
            <a:ext cx="512064" cy="0"/>
          </a:xfrm>
          <a:prstGeom prst="line">
            <a:avLst/>
          </a:prstGeom>
          <a:ln w="25400">
            <a:solidFill>
              <a:srgbClr val="3178B9"/>
            </a:solidFill>
            <a:tailEnd type="triangle" w="sm" len="sm"/>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2788920" y="1307592"/>
            <a:ext cx="2834640" cy="2057400"/>
          </a:xfrm>
          <a:prstGeom prst="roundRect">
            <a:avLst>
              <a:gd name="adj" fmla="val 8000"/>
            </a:avLst>
          </a:prstGeom>
          <a:solidFill>
            <a:srgbClr val="EFF3F7"/>
          </a:solidFill>
          <a:ln w="10160">
            <a:solidFill>
              <a:srgbClr val="D2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2926080" y="1362456"/>
            <a:ext cx="2560320" cy="274320"/>
          </a:xfrm>
          <a:prstGeom prst="rect">
            <a:avLst/>
          </a:prstGeom>
          <a:noFill/>
        </p:spPr>
        <p:txBody>
          <a:bodyPr wrap="square" lIns="9144" tIns="0" rIns="9144" bIns="0" anchor="ctr">
            <a:spAutoFit/>
          </a:bodyPr>
          <a:lstStyle/>
          <a:p>
            <a:pPr algn="l">
              <a:spcBef>
                <a:spcPts val="0"/>
              </a:spcBef>
              <a:spcAft>
                <a:spcPts val="0"/>
              </a:spcAft>
              <a:defRPr sz="1300" b="1">
                <a:solidFill>
                  <a:srgbClr val="008A96"/>
                </a:solidFill>
                <a:latin typeface="Noto Sans"/>
              </a:defRPr>
            </a:pPr>
            <a:r>
              <a:t>INDEX</a:t>
            </a:r>
          </a:p>
        </p:txBody>
      </p:sp>
      <p:sp>
        <p:nvSpPr>
          <p:cNvPr id="26" name="Rounded Rectangle 25"/>
          <p:cNvSpPr/>
          <p:nvPr/>
        </p:nvSpPr>
        <p:spPr>
          <a:xfrm>
            <a:off x="3767328" y="1755648"/>
            <a:ext cx="932688" cy="411480"/>
          </a:xfrm>
          <a:prstGeom prst="roundRect">
            <a:avLst>
              <a:gd name="adj" fmla="val 8000"/>
            </a:avLst>
          </a:prstGeom>
          <a:solidFill>
            <a:srgbClr val="EFF3F7"/>
          </a:solidFill>
          <a:ln w="10160">
            <a:solidFill>
              <a:srgbClr val="D2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3767328" y="1755648"/>
            <a:ext cx="32004" cy="411480"/>
          </a:xfrm>
          <a:prstGeom prst="rect">
            <a:avLst/>
          </a:prstGeom>
          <a:solidFill>
            <a:srgbClr val="008A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3867912" y="1828800"/>
            <a:ext cx="749808" cy="265176"/>
          </a:xfrm>
          <a:prstGeom prst="rect">
            <a:avLst/>
          </a:prstGeom>
          <a:noFill/>
        </p:spPr>
        <p:txBody>
          <a:bodyPr wrap="square" lIns="9144" tIns="0" rIns="9144" bIns="0" anchor="ctr">
            <a:spAutoFit/>
          </a:bodyPr>
          <a:lstStyle/>
          <a:p>
            <a:pPr algn="l">
              <a:spcBef>
                <a:spcPts val="0"/>
              </a:spcBef>
              <a:spcAft>
                <a:spcPts val="0"/>
              </a:spcAft>
              <a:defRPr sz="1700" b="1">
                <a:solidFill>
                  <a:srgbClr val="008A96"/>
                </a:solidFill>
                <a:latin typeface="Noto Sans"/>
              </a:defRPr>
            </a:pPr>
            <a:r>
              <a:t>ca</a:t>
            </a:r>
          </a:p>
        </p:txBody>
      </p:sp>
      <p:cxnSp>
        <p:nvCxnSpPr>
          <p:cNvPr id="29" name="Connector 28"/>
          <p:cNvCxnSpPr/>
          <p:nvPr/>
        </p:nvCxnSpPr>
        <p:spPr>
          <a:xfrm flipH="1">
            <a:off x="3538728" y="2185416"/>
            <a:ext cx="393192" cy="411480"/>
          </a:xfrm>
          <a:prstGeom prst="line">
            <a:avLst/>
          </a:prstGeom>
          <a:ln w="15240">
            <a:solidFill>
              <a:srgbClr val="607080"/>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4507992" y="2185416"/>
            <a:ext cx="338328" cy="411480"/>
          </a:xfrm>
          <a:prstGeom prst="line">
            <a:avLst/>
          </a:prstGeom>
          <a:ln w="25400">
            <a:solidFill>
              <a:srgbClr val="008A96"/>
            </a:solidFill>
            <a:tailEnd type="triangle" w="sm" len="sm"/>
          </a:ln>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3118104" y="2651760"/>
            <a:ext cx="822960" cy="393192"/>
          </a:xfrm>
          <a:prstGeom prst="roundRect">
            <a:avLst>
              <a:gd name="adj" fmla="val 8000"/>
            </a:avLst>
          </a:prstGeom>
          <a:solidFill>
            <a:srgbClr val="EFF3F7"/>
          </a:solidFill>
          <a:ln w="10160">
            <a:solidFill>
              <a:srgbClr val="D2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3118104" y="2651760"/>
            <a:ext cx="32004" cy="393192"/>
          </a:xfrm>
          <a:prstGeom prst="rect">
            <a:avLst/>
          </a:prstGeom>
          <a:solidFill>
            <a:srgbClr val="6070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3218688" y="2724912"/>
            <a:ext cx="640080" cy="246888"/>
          </a:xfrm>
          <a:prstGeom prst="rect">
            <a:avLst/>
          </a:prstGeom>
          <a:noFill/>
        </p:spPr>
        <p:txBody>
          <a:bodyPr wrap="square" lIns="9144" tIns="0" rIns="9144" bIns="0" anchor="ctr">
            <a:spAutoFit/>
          </a:bodyPr>
          <a:lstStyle/>
          <a:p>
            <a:pPr algn="l">
              <a:spcBef>
                <a:spcPts val="0"/>
              </a:spcBef>
              <a:spcAft>
                <a:spcPts val="0"/>
              </a:spcAft>
              <a:defRPr sz="1600" b="1">
                <a:solidFill>
                  <a:srgbClr val="607080"/>
                </a:solidFill>
                <a:latin typeface="Noto Sans"/>
              </a:defRPr>
            </a:pPr>
            <a:r>
              <a:t>r</a:t>
            </a:r>
          </a:p>
        </p:txBody>
      </p:sp>
      <p:sp>
        <p:nvSpPr>
          <p:cNvPr id="34" name="Rounded Rectangle 33"/>
          <p:cNvSpPr/>
          <p:nvPr/>
        </p:nvSpPr>
        <p:spPr>
          <a:xfrm>
            <a:off x="4489704" y="2651760"/>
            <a:ext cx="822960" cy="393192"/>
          </a:xfrm>
          <a:prstGeom prst="roundRect">
            <a:avLst>
              <a:gd name="adj" fmla="val 8000"/>
            </a:avLst>
          </a:prstGeom>
          <a:solidFill>
            <a:srgbClr val="EFF3F7"/>
          </a:solidFill>
          <a:ln w="10160">
            <a:solidFill>
              <a:srgbClr val="D2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ectangle 34"/>
          <p:cNvSpPr/>
          <p:nvPr/>
        </p:nvSpPr>
        <p:spPr>
          <a:xfrm>
            <a:off x="4489704" y="2651760"/>
            <a:ext cx="32004" cy="393192"/>
          </a:xfrm>
          <a:prstGeom prst="rect">
            <a:avLst/>
          </a:prstGeom>
          <a:solidFill>
            <a:srgbClr val="008A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4590288" y="2724912"/>
            <a:ext cx="640080" cy="246888"/>
          </a:xfrm>
          <a:prstGeom prst="rect">
            <a:avLst/>
          </a:prstGeom>
          <a:noFill/>
        </p:spPr>
        <p:txBody>
          <a:bodyPr wrap="square" lIns="9144" tIns="0" rIns="9144" bIns="0" anchor="ctr">
            <a:spAutoFit/>
          </a:bodyPr>
          <a:lstStyle/>
          <a:p>
            <a:pPr algn="l">
              <a:spcBef>
                <a:spcPts val="0"/>
              </a:spcBef>
              <a:spcAft>
                <a:spcPts val="0"/>
              </a:spcAft>
              <a:defRPr sz="1600" b="1">
                <a:solidFill>
                  <a:srgbClr val="008A96"/>
                </a:solidFill>
                <a:latin typeface="Noto Sans"/>
              </a:defRPr>
            </a:pPr>
            <a:r>
              <a:t>t</a:t>
            </a:r>
          </a:p>
        </p:txBody>
      </p:sp>
      <p:sp>
        <p:nvSpPr>
          <p:cNvPr id="38" name="Rectangle 37"/>
          <p:cNvSpPr/>
          <p:nvPr/>
        </p:nvSpPr>
        <p:spPr>
          <a:xfrm>
            <a:off x="6080760" y="1261872"/>
            <a:ext cx="2697480" cy="2139696"/>
          </a:xfrm>
          <a:prstGeom prst="rect">
            <a:avLst/>
          </a:prstGeom>
          <a:solidFill>
            <a:srgbClr val="FFFFFF"/>
          </a:solidFill>
          <a:ln w="10160">
            <a:solidFill>
              <a:srgbClr val="D2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ectangle 38"/>
          <p:cNvSpPr/>
          <p:nvPr/>
        </p:nvSpPr>
        <p:spPr>
          <a:xfrm>
            <a:off x="6080760" y="1261872"/>
            <a:ext cx="2697480" cy="265176"/>
          </a:xfrm>
          <a:prstGeom prst="rect">
            <a:avLst/>
          </a:prstGeom>
          <a:solidFill>
            <a:srgbClr val="0414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6117336" y="1275587"/>
            <a:ext cx="2624328" cy="228600"/>
          </a:xfrm>
          <a:prstGeom prst="rect">
            <a:avLst/>
          </a:prstGeom>
          <a:noFill/>
        </p:spPr>
        <p:txBody>
          <a:bodyPr wrap="square" lIns="9144" tIns="0" rIns="9144" bIns="0" anchor="ctr">
            <a:spAutoFit/>
          </a:bodyPr>
          <a:lstStyle/>
          <a:p>
            <a:pPr algn="l">
              <a:spcBef>
                <a:spcPts val="0"/>
              </a:spcBef>
              <a:spcAft>
                <a:spcPts val="0"/>
              </a:spcAft>
              <a:defRPr sz="1100" b="1">
                <a:solidFill>
                  <a:srgbClr val="FFFFFF"/>
                </a:solidFill>
                <a:latin typeface="Noto Sans"/>
              </a:defRPr>
            </a:pPr>
            <a:r>
              <a:t>DATA RECORDS</a:t>
            </a:r>
          </a:p>
        </p:txBody>
      </p:sp>
      <p:sp>
        <p:nvSpPr>
          <p:cNvPr id="41" name="Rectangle 40"/>
          <p:cNvSpPr/>
          <p:nvPr/>
        </p:nvSpPr>
        <p:spPr>
          <a:xfrm>
            <a:off x="6126480" y="1609344"/>
            <a:ext cx="2606040" cy="365760"/>
          </a:xfrm>
          <a:prstGeom prst="rect">
            <a:avLst/>
          </a:prstGeom>
          <a:solidFill>
            <a:srgbClr val="EFF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6281928" y="1609344"/>
            <a:ext cx="1261872" cy="356616"/>
          </a:xfrm>
          <a:prstGeom prst="rect">
            <a:avLst/>
          </a:prstGeom>
          <a:noFill/>
        </p:spPr>
        <p:txBody>
          <a:bodyPr wrap="square" lIns="9144" tIns="0" rIns="9144" bIns="0" anchor="ctr">
            <a:spAutoFit/>
          </a:bodyPr>
          <a:lstStyle/>
          <a:p>
            <a:pPr algn="l">
              <a:spcBef>
                <a:spcPts val="0"/>
              </a:spcBef>
              <a:spcAft>
                <a:spcPts val="0"/>
              </a:spcAft>
              <a:defRPr sz="1500" b="0">
                <a:solidFill>
                  <a:srgbClr val="192B43"/>
                </a:solidFill>
                <a:latin typeface="Noto Sans"/>
              </a:defRPr>
            </a:pPr>
            <a:r>
              <a:t>car</a:t>
            </a:r>
          </a:p>
        </p:txBody>
      </p:sp>
      <p:sp>
        <p:nvSpPr>
          <p:cNvPr id="43" name="TextBox 42"/>
          <p:cNvSpPr txBox="1"/>
          <p:nvPr/>
        </p:nvSpPr>
        <p:spPr>
          <a:xfrm>
            <a:off x="7717536" y="1609344"/>
            <a:ext cx="822960" cy="356616"/>
          </a:xfrm>
          <a:prstGeom prst="rect">
            <a:avLst/>
          </a:prstGeom>
          <a:noFill/>
        </p:spPr>
        <p:txBody>
          <a:bodyPr wrap="square" lIns="9144" tIns="0" rIns="9144" bIns="0" anchor="ctr">
            <a:spAutoFit/>
          </a:bodyPr>
          <a:lstStyle/>
          <a:p>
            <a:pPr algn="l">
              <a:spcBef>
                <a:spcPts val="0"/>
              </a:spcBef>
              <a:spcAft>
                <a:spcPts val="0"/>
              </a:spcAft>
              <a:defRPr sz="1500" b="0">
                <a:solidFill>
                  <a:srgbClr val="192B43"/>
                </a:solidFill>
                <a:latin typeface="Noto Sans"/>
              </a:defRPr>
            </a:pPr>
            <a:r>
              <a:t>17</a:t>
            </a:r>
          </a:p>
        </p:txBody>
      </p:sp>
      <p:sp>
        <p:nvSpPr>
          <p:cNvPr id="44" name="Rectangle 43"/>
          <p:cNvSpPr/>
          <p:nvPr/>
        </p:nvSpPr>
        <p:spPr>
          <a:xfrm>
            <a:off x="6126480" y="2020824"/>
            <a:ext cx="2606040" cy="365760"/>
          </a:xfrm>
          <a:prstGeom prst="rect">
            <a:avLst/>
          </a:prstGeom>
          <a:solidFill>
            <a:srgbClr val="D7F0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6281928" y="2020824"/>
            <a:ext cx="1261872" cy="356616"/>
          </a:xfrm>
          <a:prstGeom prst="rect">
            <a:avLst/>
          </a:prstGeom>
          <a:noFill/>
        </p:spPr>
        <p:txBody>
          <a:bodyPr wrap="square" lIns="9144" tIns="0" rIns="9144" bIns="0" anchor="ctr">
            <a:spAutoFit/>
          </a:bodyPr>
          <a:lstStyle/>
          <a:p>
            <a:pPr algn="l">
              <a:spcBef>
                <a:spcPts val="0"/>
              </a:spcBef>
              <a:spcAft>
                <a:spcPts val="0"/>
              </a:spcAft>
              <a:defRPr sz="1500" b="1">
                <a:solidFill>
                  <a:srgbClr val="192B43"/>
                </a:solidFill>
                <a:latin typeface="Noto Sans"/>
              </a:defRPr>
            </a:pPr>
            <a:r>
              <a:t>cat</a:t>
            </a:r>
          </a:p>
        </p:txBody>
      </p:sp>
      <p:sp>
        <p:nvSpPr>
          <p:cNvPr id="46" name="TextBox 45"/>
          <p:cNvSpPr txBox="1"/>
          <p:nvPr/>
        </p:nvSpPr>
        <p:spPr>
          <a:xfrm>
            <a:off x="7717536" y="2020824"/>
            <a:ext cx="822960" cy="356616"/>
          </a:xfrm>
          <a:prstGeom prst="rect">
            <a:avLst/>
          </a:prstGeom>
          <a:noFill/>
        </p:spPr>
        <p:txBody>
          <a:bodyPr wrap="square" lIns="9144" tIns="0" rIns="9144" bIns="0" anchor="ctr">
            <a:spAutoFit/>
          </a:bodyPr>
          <a:lstStyle/>
          <a:p>
            <a:pPr algn="l">
              <a:spcBef>
                <a:spcPts val="0"/>
              </a:spcBef>
              <a:spcAft>
                <a:spcPts val="0"/>
              </a:spcAft>
              <a:defRPr sz="1500" b="1">
                <a:solidFill>
                  <a:srgbClr val="192B43"/>
                </a:solidFill>
                <a:latin typeface="Noto Sans"/>
              </a:defRPr>
            </a:pPr>
            <a:r>
              <a:t>42</a:t>
            </a:r>
          </a:p>
        </p:txBody>
      </p:sp>
      <p:sp>
        <p:nvSpPr>
          <p:cNvPr id="47" name="Rectangle 46"/>
          <p:cNvSpPr/>
          <p:nvPr/>
        </p:nvSpPr>
        <p:spPr>
          <a:xfrm>
            <a:off x="6126480" y="2432304"/>
            <a:ext cx="2606040" cy="365760"/>
          </a:xfrm>
          <a:prstGeom prst="rect">
            <a:avLst/>
          </a:prstGeom>
          <a:solidFill>
            <a:srgbClr val="EFF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6281928" y="2432304"/>
            <a:ext cx="1261872" cy="356616"/>
          </a:xfrm>
          <a:prstGeom prst="rect">
            <a:avLst/>
          </a:prstGeom>
          <a:noFill/>
        </p:spPr>
        <p:txBody>
          <a:bodyPr wrap="square" lIns="9144" tIns="0" rIns="9144" bIns="0" anchor="ctr">
            <a:spAutoFit/>
          </a:bodyPr>
          <a:lstStyle/>
          <a:p>
            <a:pPr algn="l">
              <a:spcBef>
                <a:spcPts val="0"/>
              </a:spcBef>
              <a:spcAft>
                <a:spcPts val="0"/>
              </a:spcAft>
              <a:defRPr sz="1500" b="0">
                <a:solidFill>
                  <a:srgbClr val="192B43"/>
                </a:solidFill>
                <a:latin typeface="Noto Sans"/>
              </a:defRPr>
            </a:pPr>
            <a:r>
              <a:t>dog</a:t>
            </a:r>
          </a:p>
        </p:txBody>
      </p:sp>
      <p:sp>
        <p:nvSpPr>
          <p:cNvPr id="49" name="TextBox 48"/>
          <p:cNvSpPr txBox="1"/>
          <p:nvPr/>
        </p:nvSpPr>
        <p:spPr>
          <a:xfrm>
            <a:off x="7717536" y="2432304"/>
            <a:ext cx="822960" cy="356616"/>
          </a:xfrm>
          <a:prstGeom prst="rect">
            <a:avLst/>
          </a:prstGeom>
          <a:noFill/>
        </p:spPr>
        <p:txBody>
          <a:bodyPr wrap="square" lIns="9144" tIns="0" rIns="9144" bIns="0" anchor="ctr">
            <a:spAutoFit/>
          </a:bodyPr>
          <a:lstStyle/>
          <a:p>
            <a:pPr algn="l">
              <a:spcBef>
                <a:spcPts val="0"/>
              </a:spcBef>
              <a:spcAft>
                <a:spcPts val="0"/>
              </a:spcAft>
              <a:defRPr sz="1500" b="0">
                <a:solidFill>
                  <a:srgbClr val="192B43"/>
                </a:solidFill>
                <a:latin typeface="Noto Sans"/>
              </a:defRPr>
            </a:pPr>
            <a:r>
              <a:t>63</a:t>
            </a:r>
          </a:p>
        </p:txBody>
      </p:sp>
      <p:sp>
        <p:nvSpPr>
          <p:cNvPr id="50" name="Rectangle 49"/>
          <p:cNvSpPr/>
          <p:nvPr/>
        </p:nvSpPr>
        <p:spPr>
          <a:xfrm>
            <a:off x="6126480" y="2843784"/>
            <a:ext cx="2606040" cy="365760"/>
          </a:xfrm>
          <a:prstGeom prst="rect">
            <a:avLst/>
          </a:prstGeom>
          <a:solidFill>
            <a:srgbClr val="EFF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6281928" y="2843784"/>
            <a:ext cx="1261872" cy="356616"/>
          </a:xfrm>
          <a:prstGeom prst="rect">
            <a:avLst/>
          </a:prstGeom>
          <a:noFill/>
        </p:spPr>
        <p:txBody>
          <a:bodyPr wrap="square" lIns="9144" tIns="0" rIns="9144" bIns="0" anchor="ctr">
            <a:spAutoFit/>
          </a:bodyPr>
          <a:lstStyle/>
          <a:p>
            <a:pPr algn="l">
              <a:spcBef>
                <a:spcPts val="0"/>
              </a:spcBef>
              <a:spcAft>
                <a:spcPts val="0"/>
              </a:spcAft>
              <a:defRPr sz="1500" b="0">
                <a:solidFill>
                  <a:srgbClr val="192B43"/>
                </a:solidFill>
                <a:latin typeface="Noto Sans"/>
              </a:defRPr>
            </a:pPr>
            <a:r>
              <a:t>dot</a:t>
            </a:r>
          </a:p>
        </p:txBody>
      </p:sp>
      <p:sp>
        <p:nvSpPr>
          <p:cNvPr id="52" name="TextBox 51"/>
          <p:cNvSpPr txBox="1"/>
          <p:nvPr/>
        </p:nvSpPr>
        <p:spPr>
          <a:xfrm>
            <a:off x="7717536" y="2843784"/>
            <a:ext cx="822960" cy="356616"/>
          </a:xfrm>
          <a:prstGeom prst="rect">
            <a:avLst/>
          </a:prstGeom>
          <a:noFill/>
        </p:spPr>
        <p:txBody>
          <a:bodyPr wrap="square" lIns="9144" tIns="0" rIns="9144" bIns="0" anchor="ctr">
            <a:spAutoFit/>
          </a:bodyPr>
          <a:lstStyle/>
          <a:p>
            <a:pPr algn="l">
              <a:spcBef>
                <a:spcPts val="0"/>
              </a:spcBef>
              <a:spcAft>
                <a:spcPts val="0"/>
              </a:spcAft>
              <a:defRPr sz="1500" b="0">
                <a:solidFill>
                  <a:srgbClr val="192B43"/>
                </a:solidFill>
                <a:latin typeface="Noto Sans"/>
              </a:defRPr>
            </a:pPr>
            <a:r>
              <a:t>91</a:t>
            </a:r>
          </a:p>
        </p:txBody>
      </p:sp>
      <p:sp>
        <p:nvSpPr>
          <p:cNvPr id="53" name="TextBox 52"/>
          <p:cNvSpPr txBox="1"/>
          <p:nvPr/>
        </p:nvSpPr>
        <p:spPr>
          <a:xfrm>
            <a:off x="365760" y="2807208"/>
            <a:ext cx="1920240" cy="493776"/>
          </a:xfrm>
          <a:prstGeom prst="rect">
            <a:avLst/>
          </a:prstGeom>
          <a:noFill/>
        </p:spPr>
        <p:txBody>
          <a:bodyPr wrap="square" lIns="9144" tIns="0" rIns="9144" bIns="0" anchor="ctr">
            <a:spAutoFit/>
          </a:bodyPr>
          <a:lstStyle/>
          <a:p>
            <a:pPr algn="l">
              <a:spcBef>
                <a:spcPts val="0"/>
              </a:spcBef>
              <a:spcAft>
                <a:spcPts val="0"/>
              </a:spcAft>
              <a:defRPr sz="1300" b="0">
                <a:solidFill>
                  <a:srgbClr val="607080"/>
                </a:solidFill>
                <a:latin typeface="Noto Sans"/>
              </a:defRPr>
            </a:pPr>
            <a:r>
              <a:t>Key → navigation</a:t>
            </a:r>
          </a:p>
          <a:p>
            <a:pPr algn="l">
              <a:spcBef>
                <a:spcPts val="0"/>
              </a:spcBef>
              <a:spcAft>
                <a:spcPts val="0"/>
              </a:spcAft>
              <a:defRPr sz="1300" b="0">
                <a:solidFill>
                  <a:srgbClr val="607080"/>
                </a:solidFill>
                <a:latin typeface="Noto Sans"/>
              </a:defRPr>
            </a:pPr>
            <a:r>
              <a:t>→ record reference</a:t>
            </a:r>
          </a:p>
        </p:txBody>
      </p:sp>
      <p:sp>
        <p:nvSpPr>
          <p:cNvPr id="54" name="Rounded Rectangle 53"/>
          <p:cNvSpPr/>
          <p:nvPr/>
        </p:nvSpPr>
        <p:spPr>
          <a:xfrm>
            <a:off x="594360" y="3602736"/>
            <a:ext cx="2103120" cy="347472"/>
          </a:xfrm>
          <a:prstGeom prst="roundRect">
            <a:avLst>
              <a:gd name="adj" fmla="val 8000"/>
            </a:avLst>
          </a:prstGeom>
          <a:solidFill>
            <a:srgbClr val="EFF3F7"/>
          </a:solidFill>
          <a:ln w="10160">
            <a:solidFill>
              <a:srgbClr val="D2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Rectangle 54"/>
          <p:cNvSpPr/>
          <p:nvPr/>
        </p:nvSpPr>
        <p:spPr>
          <a:xfrm>
            <a:off x="594360" y="3602736"/>
            <a:ext cx="32004" cy="347472"/>
          </a:xfrm>
          <a:prstGeom prst="rect">
            <a:avLst/>
          </a:prstGeom>
          <a:solidFill>
            <a:srgbClr val="3178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694944" y="3675887"/>
            <a:ext cx="1920239" cy="201168"/>
          </a:xfrm>
          <a:prstGeom prst="rect">
            <a:avLst/>
          </a:prstGeom>
          <a:noFill/>
        </p:spPr>
        <p:txBody>
          <a:bodyPr wrap="square" lIns="9144" tIns="0" rIns="9144" bIns="0" anchor="ctr">
            <a:spAutoFit/>
          </a:bodyPr>
          <a:lstStyle/>
          <a:p>
            <a:pPr algn="l">
              <a:spcBef>
                <a:spcPts val="0"/>
              </a:spcBef>
              <a:spcAft>
                <a:spcPts val="0"/>
              </a:spcAft>
              <a:defRPr sz="1300" b="1">
                <a:solidFill>
                  <a:srgbClr val="3178B9"/>
                </a:solidFill>
                <a:latin typeface="Noto Sans"/>
              </a:defRPr>
            </a:pPr>
            <a:r>
              <a:t>Lookup</a:t>
            </a:r>
          </a:p>
        </p:txBody>
      </p:sp>
      <p:sp>
        <p:nvSpPr>
          <p:cNvPr id="57" name="Rounded Rectangle 56"/>
          <p:cNvSpPr/>
          <p:nvPr/>
        </p:nvSpPr>
        <p:spPr>
          <a:xfrm>
            <a:off x="3383280" y="3602736"/>
            <a:ext cx="2103120" cy="347472"/>
          </a:xfrm>
          <a:prstGeom prst="roundRect">
            <a:avLst>
              <a:gd name="adj" fmla="val 8000"/>
            </a:avLst>
          </a:prstGeom>
          <a:solidFill>
            <a:srgbClr val="EFF3F7"/>
          </a:solidFill>
          <a:ln w="10160">
            <a:solidFill>
              <a:srgbClr val="D2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Rectangle 57"/>
          <p:cNvSpPr/>
          <p:nvPr/>
        </p:nvSpPr>
        <p:spPr>
          <a:xfrm>
            <a:off x="3383280" y="3602736"/>
            <a:ext cx="32004" cy="347472"/>
          </a:xfrm>
          <a:prstGeom prst="rect">
            <a:avLst/>
          </a:prstGeom>
          <a:solidFill>
            <a:srgbClr val="3178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3483864" y="3675887"/>
            <a:ext cx="1920239" cy="201168"/>
          </a:xfrm>
          <a:prstGeom prst="rect">
            <a:avLst/>
          </a:prstGeom>
          <a:noFill/>
        </p:spPr>
        <p:txBody>
          <a:bodyPr wrap="square" lIns="9144" tIns="0" rIns="9144" bIns="0" anchor="ctr">
            <a:spAutoFit/>
          </a:bodyPr>
          <a:lstStyle/>
          <a:p>
            <a:pPr algn="l">
              <a:spcBef>
                <a:spcPts val="0"/>
              </a:spcBef>
              <a:spcAft>
                <a:spcPts val="0"/>
              </a:spcAft>
              <a:defRPr sz="1300" b="1">
                <a:solidFill>
                  <a:srgbClr val="3178B9"/>
                </a:solidFill>
                <a:latin typeface="Noto Sans"/>
              </a:defRPr>
            </a:pPr>
            <a:r>
              <a:t>Insert / delete</a:t>
            </a:r>
          </a:p>
        </p:txBody>
      </p:sp>
      <p:sp>
        <p:nvSpPr>
          <p:cNvPr id="60" name="Rounded Rectangle 59"/>
          <p:cNvSpPr/>
          <p:nvPr/>
        </p:nvSpPr>
        <p:spPr>
          <a:xfrm>
            <a:off x="6446520" y="3602736"/>
            <a:ext cx="2103120" cy="347472"/>
          </a:xfrm>
          <a:prstGeom prst="roundRect">
            <a:avLst>
              <a:gd name="adj" fmla="val 8000"/>
            </a:avLst>
          </a:prstGeom>
          <a:solidFill>
            <a:srgbClr val="EFF3F7"/>
          </a:solidFill>
          <a:ln w="10160">
            <a:solidFill>
              <a:srgbClr val="D2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Rectangle 60"/>
          <p:cNvSpPr/>
          <p:nvPr/>
        </p:nvSpPr>
        <p:spPr>
          <a:xfrm>
            <a:off x="6446520" y="3602736"/>
            <a:ext cx="32004" cy="347472"/>
          </a:xfrm>
          <a:prstGeom prst="rect">
            <a:avLst/>
          </a:prstGeom>
          <a:solidFill>
            <a:srgbClr val="3178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61"/>
          <p:cNvSpPr txBox="1"/>
          <p:nvPr/>
        </p:nvSpPr>
        <p:spPr>
          <a:xfrm>
            <a:off x="6547104" y="3675887"/>
            <a:ext cx="1920239" cy="201168"/>
          </a:xfrm>
          <a:prstGeom prst="rect">
            <a:avLst/>
          </a:prstGeom>
          <a:noFill/>
        </p:spPr>
        <p:txBody>
          <a:bodyPr wrap="square" lIns="9144" tIns="0" rIns="9144" bIns="0" anchor="ctr">
            <a:spAutoFit/>
          </a:bodyPr>
          <a:lstStyle/>
          <a:p>
            <a:pPr algn="l">
              <a:spcBef>
                <a:spcPts val="0"/>
              </a:spcBef>
              <a:spcAft>
                <a:spcPts val="0"/>
              </a:spcAft>
              <a:defRPr sz="1300" b="1">
                <a:solidFill>
                  <a:srgbClr val="3178B9"/>
                </a:solidFill>
                <a:latin typeface="Noto Sans"/>
              </a:defRPr>
            </a:pPr>
            <a:r>
              <a:t>Ordered scan</a:t>
            </a:r>
          </a:p>
        </p:txBody>
      </p:sp>
      <p:sp>
        <p:nvSpPr>
          <p:cNvPr id="63" name="Rectangle 62"/>
          <p:cNvSpPr/>
          <p:nvPr/>
        </p:nvSpPr>
        <p:spPr>
          <a:xfrm>
            <a:off x="329184" y="4096512"/>
            <a:ext cx="8458200" cy="356616"/>
          </a:xfrm>
          <a:prstGeom prst="rect">
            <a:avLst/>
          </a:prstGeom>
          <a:solidFill>
            <a:srgbClr val="0414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TextBox 63"/>
          <p:cNvSpPr txBox="1"/>
          <p:nvPr/>
        </p:nvSpPr>
        <p:spPr>
          <a:xfrm>
            <a:off x="438912" y="4123944"/>
            <a:ext cx="8211312" cy="292608"/>
          </a:xfrm>
          <a:prstGeom prst="rect">
            <a:avLst/>
          </a:prstGeom>
          <a:noFill/>
        </p:spPr>
        <p:txBody>
          <a:bodyPr wrap="square" lIns="9144" tIns="0" rIns="9144" bIns="0" anchor="ctr">
            <a:spAutoFit/>
          </a:bodyPr>
          <a:lstStyle/>
          <a:p>
            <a:pPr algn="l">
              <a:spcBef>
                <a:spcPts val="0"/>
              </a:spcBef>
              <a:spcAft>
                <a:spcPts val="0"/>
              </a:spcAft>
              <a:defRPr sz="1300" b="1">
                <a:solidFill>
                  <a:srgbClr val="FFFFFF"/>
                </a:solidFill>
                <a:latin typeface="Noto Sans"/>
              </a:defRPr>
            </a:pPr>
            <a:r>
              <a:t>Same external task — different internal paths through memory.</a:t>
            </a:r>
          </a:p>
        </p:txBody>
      </p:sp>
      <p:cxnSp>
        <p:nvCxnSpPr>
          <p:cNvPr id="65" name="Connector 64"/>
          <p:cNvCxnSpPr/>
          <p:nvPr/>
        </p:nvCxnSpPr>
        <p:spPr>
          <a:xfrm>
            <a:off x="5340096" y="2834640"/>
            <a:ext cx="292608" cy="0"/>
          </a:xfrm>
          <a:prstGeom prst="line">
            <a:avLst/>
          </a:prstGeom>
          <a:ln w="20955">
            <a:solidFill>
              <a:srgbClr val="2F7458"/>
            </a:solidFill>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flipV="1">
            <a:off x="5632704" y="2203704"/>
            <a:ext cx="0" cy="630936"/>
          </a:xfrm>
          <a:prstGeom prst="line">
            <a:avLst/>
          </a:prstGeom>
          <a:ln w="20955">
            <a:solidFill>
              <a:srgbClr val="2F7458"/>
            </a:solidFill>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a:off x="5632704" y="2203704"/>
            <a:ext cx="438912" cy="0"/>
          </a:xfrm>
          <a:prstGeom prst="line">
            <a:avLst/>
          </a:prstGeom>
          <a:ln w="20955">
            <a:solidFill>
              <a:srgbClr val="2F7458"/>
            </a:solidFill>
            <a:tailEnd type="triangle" w="sm" len="sm"/>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83464" y="182880"/>
            <a:ext cx="7360920" cy="438912"/>
          </a:xfrm>
          <a:prstGeom prst="rect">
            <a:avLst/>
          </a:prstGeom>
          <a:noFill/>
        </p:spPr>
        <p:txBody>
          <a:bodyPr wrap="square" lIns="9144" tIns="0" rIns="9144" bIns="0" anchor="ctr">
            <a:spAutoFit/>
          </a:bodyPr>
          <a:lstStyle/>
          <a:p>
            <a:pPr algn="l">
              <a:spcBef>
                <a:spcPts val="0"/>
              </a:spcBef>
              <a:spcAft>
                <a:spcPts val="0"/>
              </a:spcAft>
              <a:defRPr sz="2400" b="1">
                <a:solidFill>
                  <a:srgbClr val="041447"/>
                </a:solidFill>
                <a:latin typeface="Noto Sans"/>
              </a:defRPr>
            </a:pPr>
            <a:r>
              <a:t>Existing indexes make different choices</a:t>
            </a:r>
          </a:p>
        </p:txBody>
      </p:sp>
      <p:sp>
        <p:nvSpPr>
          <p:cNvPr id="3" name="Rectangle 2"/>
          <p:cNvSpPr/>
          <p:nvPr/>
        </p:nvSpPr>
        <p:spPr>
          <a:xfrm>
            <a:off x="310896" y="786384"/>
            <a:ext cx="1197864" cy="45720"/>
          </a:xfrm>
          <a:prstGeom prst="rect">
            <a:avLst/>
          </a:prstGeom>
          <a:solidFill>
            <a:srgbClr val="D2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10896" y="621792"/>
            <a:ext cx="1197864" cy="164592"/>
          </a:xfrm>
          <a:prstGeom prst="rect">
            <a:avLst/>
          </a:prstGeom>
          <a:noFill/>
        </p:spPr>
        <p:txBody>
          <a:bodyPr wrap="square" lIns="9144" tIns="0" rIns="9144" bIns="0" anchor="ctr">
            <a:spAutoFit/>
          </a:bodyPr>
          <a:lstStyle/>
          <a:p>
            <a:pPr algn="l">
              <a:spcBef>
                <a:spcPts val="0"/>
              </a:spcBef>
              <a:spcAft>
                <a:spcPts val="0"/>
              </a:spcAft>
              <a:defRPr sz="850" b="0">
                <a:solidFill>
                  <a:srgbClr val="607080"/>
                </a:solidFill>
                <a:latin typeface="Noto Sans"/>
              </a:defRPr>
            </a:pPr>
            <a:r>
              <a:t>1 Introduction</a:t>
            </a:r>
          </a:p>
        </p:txBody>
      </p:sp>
      <p:sp>
        <p:nvSpPr>
          <p:cNvPr id="5" name="Rectangle 4"/>
          <p:cNvSpPr/>
          <p:nvPr/>
        </p:nvSpPr>
        <p:spPr>
          <a:xfrm>
            <a:off x="1545336" y="786384"/>
            <a:ext cx="1243584" cy="45720"/>
          </a:xfrm>
          <a:prstGeom prst="rect">
            <a:avLst/>
          </a:prstGeom>
          <a:solidFill>
            <a:srgbClr val="008A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545336" y="621792"/>
            <a:ext cx="1243584" cy="164592"/>
          </a:xfrm>
          <a:prstGeom prst="rect">
            <a:avLst/>
          </a:prstGeom>
          <a:noFill/>
        </p:spPr>
        <p:txBody>
          <a:bodyPr wrap="square" lIns="9144" tIns="0" rIns="9144" bIns="0" anchor="ctr">
            <a:spAutoFit/>
          </a:bodyPr>
          <a:lstStyle/>
          <a:p>
            <a:pPr algn="l">
              <a:spcBef>
                <a:spcPts val="0"/>
              </a:spcBef>
              <a:spcAft>
                <a:spcPts val="0"/>
              </a:spcAft>
              <a:defRPr sz="850" b="1">
                <a:solidFill>
                  <a:srgbClr val="008A96"/>
                </a:solidFill>
                <a:latin typeface="Noto Sans"/>
              </a:defRPr>
            </a:pPr>
            <a:r>
              <a:t>2 Background</a:t>
            </a:r>
          </a:p>
        </p:txBody>
      </p:sp>
      <p:sp>
        <p:nvSpPr>
          <p:cNvPr id="7" name="Rectangle 6"/>
          <p:cNvSpPr/>
          <p:nvPr/>
        </p:nvSpPr>
        <p:spPr>
          <a:xfrm>
            <a:off x="2825496" y="786384"/>
            <a:ext cx="1078992" cy="45720"/>
          </a:xfrm>
          <a:prstGeom prst="rect">
            <a:avLst/>
          </a:prstGeom>
          <a:solidFill>
            <a:srgbClr val="D2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2825496" y="621792"/>
            <a:ext cx="1078992" cy="164592"/>
          </a:xfrm>
          <a:prstGeom prst="rect">
            <a:avLst/>
          </a:prstGeom>
          <a:noFill/>
        </p:spPr>
        <p:txBody>
          <a:bodyPr wrap="square" lIns="9144" tIns="0" rIns="9144" bIns="0" anchor="ctr">
            <a:spAutoFit/>
          </a:bodyPr>
          <a:lstStyle/>
          <a:p>
            <a:pPr algn="l">
              <a:spcBef>
                <a:spcPts val="0"/>
              </a:spcBef>
              <a:spcAft>
                <a:spcPts val="0"/>
              </a:spcAft>
              <a:defRPr sz="850" b="0">
                <a:solidFill>
                  <a:srgbClr val="607080"/>
                </a:solidFill>
                <a:latin typeface="Noto Sans"/>
              </a:defRPr>
            </a:pPr>
            <a:r>
              <a:t>3 Concept</a:t>
            </a:r>
          </a:p>
        </p:txBody>
      </p:sp>
      <p:sp>
        <p:nvSpPr>
          <p:cNvPr id="9" name="Rectangle 8"/>
          <p:cNvSpPr/>
          <p:nvPr/>
        </p:nvSpPr>
        <p:spPr>
          <a:xfrm>
            <a:off x="3941063" y="786384"/>
            <a:ext cx="1645920" cy="45720"/>
          </a:xfrm>
          <a:prstGeom prst="rect">
            <a:avLst/>
          </a:prstGeom>
          <a:solidFill>
            <a:srgbClr val="D2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941063" y="621792"/>
            <a:ext cx="1645920" cy="164592"/>
          </a:xfrm>
          <a:prstGeom prst="rect">
            <a:avLst/>
          </a:prstGeom>
          <a:noFill/>
        </p:spPr>
        <p:txBody>
          <a:bodyPr wrap="square" lIns="9144" tIns="0" rIns="9144" bIns="0" anchor="ctr">
            <a:spAutoFit/>
          </a:bodyPr>
          <a:lstStyle/>
          <a:p>
            <a:pPr algn="l">
              <a:spcBef>
                <a:spcPts val="0"/>
              </a:spcBef>
              <a:spcAft>
                <a:spcPts val="0"/>
              </a:spcAft>
              <a:defRPr sz="850" b="0">
                <a:solidFill>
                  <a:srgbClr val="607080"/>
                </a:solidFill>
                <a:latin typeface="Noto Sans"/>
              </a:defRPr>
            </a:pPr>
            <a:r>
              <a:t>4 Implementation</a:t>
            </a:r>
          </a:p>
        </p:txBody>
      </p:sp>
      <p:sp>
        <p:nvSpPr>
          <p:cNvPr id="11" name="Rectangle 10"/>
          <p:cNvSpPr/>
          <p:nvPr/>
        </p:nvSpPr>
        <p:spPr>
          <a:xfrm>
            <a:off x="5623559" y="786384"/>
            <a:ext cx="1252728" cy="45720"/>
          </a:xfrm>
          <a:prstGeom prst="rect">
            <a:avLst/>
          </a:prstGeom>
          <a:solidFill>
            <a:srgbClr val="D2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623559" y="621792"/>
            <a:ext cx="1252728" cy="164592"/>
          </a:xfrm>
          <a:prstGeom prst="rect">
            <a:avLst/>
          </a:prstGeom>
          <a:noFill/>
        </p:spPr>
        <p:txBody>
          <a:bodyPr wrap="square" lIns="9144" tIns="0" rIns="9144" bIns="0" anchor="ctr">
            <a:spAutoFit/>
          </a:bodyPr>
          <a:lstStyle/>
          <a:p>
            <a:pPr algn="l">
              <a:spcBef>
                <a:spcPts val="0"/>
              </a:spcBef>
              <a:spcAft>
                <a:spcPts val="0"/>
              </a:spcAft>
              <a:defRPr sz="850" b="0">
                <a:solidFill>
                  <a:srgbClr val="607080"/>
                </a:solidFill>
                <a:latin typeface="Noto Sans"/>
              </a:defRPr>
            </a:pPr>
            <a:r>
              <a:t>5 Evaluation</a:t>
            </a:r>
          </a:p>
        </p:txBody>
      </p:sp>
      <p:sp>
        <p:nvSpPr>
          <p:cNvPr id="13" name="Rectangle 12"/>
          <p:cNvSpPr/>
          <p:nvPr/>
        </p:nvSpPr>
        <p:spPr>
          <a:xfrm>
            <a:off x="6912864" y="786384"/>
            <a:ext cx="1216152" cy="45720"/>
          </a:xfrm>
          <a:prstGeom prst="rect">
            <a:avLst/>
          </a:prstGeom>
          <a:solidFill>
            <a:srgbClr val="D2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912864" y="621792"/>
            <a:ext cx="1216152" cy="164592"/>
          </a:xfrm>
          <a:prstGeom prst="rect">
            <a:avLst/>
          </a:prstGeom>
          <a:noFill/>
        </p:spPr>
        <p:txBody>
          <a:bodyPr wrap="square" lIns="9144" tIns="0" rIns="9144" bIns="0" anchor="ctr">
            <a:spAutoFit/>
          </a:bodyPr>
          <a:lstStyle/>
          <a:p>
            <a:pPr algn="l">
              <a:spcBef>
                <a:spcPts val="0"/>
              </a:spcBef>
              <a:spcAft>
                <a:spcPts val="0"/>
              </a:spcAft>
              <a:defRPr sz="850" b="0">
                <a:solidFill>
                  <a:srgbClr val="607080"/>
                </a:solidFill>
                <a:latin typeface="Noto Sans"/>
              </a:defRPr>
            </a:pPr>
            <a:r>
              <a:t>6 Conclusion</a:t>
            </a:r>
          </a:p>
        </p:txBody>
      </p:sp>
      <p:sp>
        <p:nvSpPr>
          <p:cNvPr id="15" name="TextBox 14"/>
          <p:cNvSpPr txBox="1"/>
          <p:nvPr/>
        </p:nvSpPr>
        <p:spPr>
          <a:xfrm>
            <a:off x="320040" y="4572000"/>
            <a:ext cx="8321040" cy="182880"/>
          </a:xfrm>
          <a:prstGeom prst="rect">
            <a:avLst/>
          </a:prstGeom>
          <a:noFill/>
        </p:spPr>
        <p:txBody>
          <a:bodyPr wrap="square" lIns="9144" tIns="0" rIns="9144" bIns="0" anchor="ctr">
            <a:spAutoFit/>
          </a:bodyPr>
          <a:lstStyle/>
          <a:p>
            <a:pPr algn="l">
              <a:spcBef>
                <a:spcPts val="0"/>
              </a:spcBef>
              <a:spcAft>
                <a:spcPts val="0"/>
              </a:spcAft>
              <a:defRPr sz="810" b="0">
                <a:solidFill>
                  <a:srgbClr val="607080"/>
                </a:solidFill>
                <a:latin typeface="Noto Sans"/>
              </a:defRPr>
            </a:pPr>
            <a:r>
              <a:t>Thesis §§2.1–2.2, Table 2.1 (CSS, CSB+, ART); HOT, Masstree: §3.2  |  Mechanism sketches, not full implementations</a:t>
            </a:r>
          </a:p>
        </p:txBody>
      </p:sp>
      <p:sp>
        <p:nvSpPr>
          <p:cNvPr id="16" name="TextBox 15"/>
          <p:cNvSpPr txBox="1"/>
          <p:nvPr/>
        </p:nvSpPr>
        <p:spPr>
          <a:xfrm>
            <a:off x="1234440" y="4873752"/>
            <a:ext cx="6766560" cy="164592"/>
          </a:xfrm>
          <a:prstGeom prst="rect">
            <a:avLst/>
          </a:prstGeom>
          <a:noFill/>
        </p:spPr>
        <p:txBody>
          <a:bodyPr wrap="square" lIns="9144" tIns="0" rIns="9144" bIns="0" anchor="ctr">
            <a:spAutoFit/>
          </a:bodyPr>
          <a:lstStyle/>
          <a:p>
            <a:pPr algn="l">
              <a:spcBef>
                <a:spcPts val="0"/>
              </a:spcBef>
              <a:spcAft>
                <a:spcPts val="0"/>
              </a:spcAft>
              <a:defRPr sz="830" b="0">
                <a:solidFill>
                  <a:srgbClr val="041447"/>
                </a:solidFill>
                <a:latin typeface="Noto Sans"/>
              </a:defRPr>
            </a:pPr>
            <a:r>
              <a:t>Benjamin-Elias Probst  |  Diploma thesis defense  |  28 September 2026</a:t>
            </a:r>
          </a:p>
        </p:txBody>
      </p:sp>
      <p:sp>
        <p:nvSpPr>
          <p:cNvPr id="17" name="TextBox 16"/>
          <p:cNvSpPr txBox="1"/>
          <p:nvPr/>
        </p:nvSpPr>
        <p:spPr>
          <a:xfrm>
            <a:off x="8412480" y="4864608"/>
            <a:ext cx="393192" cy="192024"/>
          </a:xfrm>
          <a:prstGeom prst="rect">
            <a:avLst/>
          </a:prstGeom>
          <a:noFill/>
        </p:spPr>
        <p:txBody>
          <a:bodyPr wrap="square" lIns="9144" tIns="0" rIns="9144" bIns="0" anchor="ctr">
            <a:spAutoFit/>
          </a:bodyPr>
          <a:lstStyle/>
          <a:p>
            <a:pPr algn="r">
              <a:spcBef>
                <a:spcPts val="0"/>
              </a:spcBef>
              <a:spcAft>
                <a:spcPts val="0"/>
              </a:spcAft>
              <a:defRPr sz="900" b="1">
                <a:solidFill>
                  <a:srgbClr val="041447"/>
                </a:solidFill>
                <a:latin typeface="Noto Sans"/>
              </a:defRPr>
            </a:pPr>
            <a:r>
              <a:t>3</a:t>
            </a:r>
          </a:p>
        </p:txBody>
      </p:sp>
      <p:sp>
        <p:nvSpPr>
          <p:cNvPr id="18" name="Rounded Rectangle 17"/>
          <p:cNvSpPr/>
          <p:nvPr/>
        </p:nvSpPr>
        <p:spPr>
          <a:xfrm>
            <a:off x="365760" y="1078992"/>
            <a:ext cx="1920240" cy="1508760"/>
          </a:xfrm>
          <a:prstGeom prst="roundRect">
            <a:avLst>
              <a:gd name="adj" fmla="val 8000"/>
            </a:avLst>
          </a:prstGeom>
          <a:solidFill>
            <a:srgbClr val="EFF3F7"/>
          </a:solidFill>
          <a:ln w="10160">
            <a:solidFill>
              <a:srgbClr val="D2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365760" y="1078992"/>
            <a:ext cx="32004" cy="1508760"/>
          </a:xfrm>
          <a:prstGeom prst="rect">
            <a:avLst/>
          </a:prstGeom>
          <a:solidFill>
            <a:srgbClr val="7458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475488" y="1188720"/>
            <a:ext cx="1700784" cy="347472"/>
          </a:xfrm>
          <a:prstGeom prst="rect">
            <a:avLst/>
          </a:prstGeom>
          <a:noFill/>
        </p:spPr>
        <p:txBody>
          <a:bodyPr wrap="square" lIns="9144" tIns="0" rIns="9144" bIns="0" anchor="ctr">
            <a:spAutoFit/>
          </a:bodyPr>
          <a:lstStyle/>
          <a:p>
            <a:pPr algn="l">
              <a:spcBef>
                <a:spcPts val="0"/>
              </a:spcBef>
              <a:spcAft>
                <a:spcPts val="0"/>
              </a:spcAft>
              <a:defRPr sz="1800" b="1">
                <a:solidFill>
                  <a:srgbClr val="74589E"/>
                </a:solidFill>
                <a:latin typeface="Noto Sans"/>
              </a:defRPr>
            </a:pPr>
            <a:r>
              <a:t>CSS / CSB+</a:t>
            </a:r>
          </a:p>
        </p:txBody>
      </p:sp>
      <p:sp>
        <p:nvSpPr>
          <p:cNvPr id="21" name="TextBox 20"/>
          <p:cNvSpPr txBox="1"/>
          <p:nvPr/>
        </p:nvSpPr>
        <p:spPr>
          <a:xfrm>
            <a:off x="475488" y="2112264"/>
            <a:ext cx="1700784" cy="365760"/>
          </a:xfrm>
          <a:prstGeom prst="rect">
            <a:avLst/>
          </a:prstGeom>
          <a:noFill/>
        </p:spPr>
        <p:txBody>
          <a:bodyPr wrap="square" lIns="9144" tIns="0" rIns="9144" bIns="0" anchor="ctr">
            <a:spAutoFit/>
          </a:bodyPr>
          <a:lstStyle/>
          <a:p>
            <a:pPr algn="l">
              <a:spcBef>
                <a:spcPts val="0"/>
              </a:spcBef>
              <a:spcAft>
                <a:spcPts val="0"/>
              </a:spcAft>
              <a:defRPr sz="1140" b="0">
                <a:solidFill>
                  <a:srgbClr val="192B43"/>
                </a:solidFill>
                <a:latin typeface="Noto Sans"/>
              </a:defRPr>
            </a:pPr>
            <a:r>
              <a:t>directory / child groups</a:t>
            </a:r>
          </a:p>
        </p:txBody>
      </p:sp>
      <p:sp>
        <p:nvSpPr>
          <p:cNvPr id="22" name="Rounded Rectangle 21"/>
          <p:cNvSpPr/>
          <p:nvPr/>
        </p:nvSpPr>
        <p:spPr>
          <a:xfrm>
            <a:off x="2532888" y="1078992"/>
            <a:ext cx="1920240" cy="1508760"/>
          </a:xfrm>
          <a:prstGeom prst="roundRect">
            <a:avLst>
              <a:gd name="adj" fmla="val 8000"/>
            </a:avLst>
          </a:prstGeom>
          <a:solidFill>
            <a:srgbClr val="EFF3F7"/>
          </a:solidFill>
          <a:ln w="10160">
            <a:solidFill>
              <a:srgbClr val="D2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2532888" y="1078992"/>
            <a:ext cx="32004" cy="1508760"/>
          </a:xfrm>
          <a:prstGeom prst="rect">
            <a:avLst/>
          </a:prstGeom>
          <a:solidFill>
            <a:srgbClr val="008A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2642616" y="1188720"/>
            <a:ext cx="1700784" cy="347472"/>
          </a:xfrm>
          <a:prstGeom prst="rect">
            <a:avLst/>
          </a:prstGeom>
          <a:noFill/>
        </p:spPr>
        <p:txBody>
          <a:bodyPr wrap="square" lIns="9144" tIns="0" rIns="9144" bIns="0" anchor="ctr">
            <a:spAutoFit/>
          </a:bodyPr>
          <a:lstStyle/>
          <a:p>
            <a:pPr algn="l">
              <a:spcBef>
                <a:spcPts val="0"/>
              </a:spcBef>
              <a:spcAft>
                <a:spcPts val="0"/>
              </a:spcAft>
              <a:defRPr sz="1800" b="1">
                <a:solidFill>
                  <a:srgbClr val="008A96"/>
                </a:solidFill>
                <a:latin typeface="Noto Sans"/>
              </a:defRPr>
            </a:pPr>
            <a:r>
              <a:t>ART</a:t>
            </a:r>
          </a:p>
        </p:txBody>
      </p:sp>
      <p:sp>
        <p:nvSpPr>
          <p:cNvPr id="25" name="TextBox 24"/>
          <p:cNvSpPr txBox="1"/>
          <p:nvPr/>
        </p:nvSpPr>
        <p:spPr>
          <a:xfrm>
            <a:off x="2642616" y="2112264"/>
            <a:ext cx="1700784" cy="365760"/>
          </a:xfrm>
          <a:prstGeom prst="rect">
            <a:avLst/>
          </a:prstGeom>
          <a:noFill/>
        </p:spPr>
        <p:txBody>
          <a:bodyPr wrap="square" lIns="9144" tIns="0" rIns="9144" bIns="0" anchor="ctr">
            <a:spAutoFit/>
          </a:bodyPr>
          <a:lstStyle/>
          <a:p>
            <a:pPr algn="l">
              <a:spcBef>
                <a:spcPts val="0"/>
              </a:spcBef>
              <a:spcAft>
                <a:spcPts val="0"/>
              </a:spcAft>
              <a:defRPr sz="1140" b="0">
                <a:solidFill>
                  <a:srgbClr val="192B43"/>
                </a:solidFill>
                <a:latin typeface="Noto Sans"/>
              </a:defRPr>
            </a:pPr>
            <a:r>
              <a:t>adaptive node formats</a:t>
            </a:r>
          </a:p>
        </p:txBody>
      </p:sp>
      <p:sp>
        <p:nvSpPr>
          <p:cNvPr id="26" name="Rounded Rectangle 25"/>
          <p:cNvSpPr/>
          <p:nvPr/>
        </p:nvSpPr>
        <p:spPr>
          <a:xfrm>
            <a:off x="4700016" y="1078992"/>
            <a:ext cx="1920240" cy="1508760"/>
          </a:xfrm>
          <a:prstGeom prst="roundRect">
            <a:avLst>
              <a:gd name="adj" fmla="val 8000"/>
            </a:avLst>
          </a:prstGeom>
          <a:solidFill>
            <a:srgbClr val="EFF3F7"/>
          </a:solidFill>
          <a:ln w="10160">
            <a:solidFill>
              <a:srgbClr val="D2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4700016" y="1078992"/>
            <a:ext cx="32004" cy="1508760"/>
          </a:xfrm>
          <a:prstGeom prst="rect">
            <a:avLst/>
          </a:prstGeom>
          <a:solidFill>
            <a:srgbClr val="3178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4809744" y="1188720"/>
            <a:ext cx="1700784" cy="347472"/>
          </a:xfrm>
          <a:prstGeom prst="rect">
            <a:avLst/>
          </a:prstGeom>
          <a:noFill/>
        </p:spPr>
        <p:txBody>
          <a:bodyPr wrap="square" lIns="9144" tIns="0" rIns="9144" bIns="0" anchor="ctr">
            <a:spAutoFit/>
          </a:bodyPr>
          <a:lstStyle/>
          <a:p>
            <a:pPr algn="l">
              <a:spcBef>
                <a:spcPts val="0"/>
              </a:spcBef>
              <a:spcAft>
                <a:spcPts val="0"/>
              </a:spcAft>
              <a:defRPr sz="1800" b="1">
                <a:solidFill>
                  <a:srgbClr val="3178B9"/>
                </a:solidFill>
                <a:latin typeface="Noto Sans"/>
              </a:defRPr>
            </a:pPr>
            <a:r>
              <a:t>HOT</a:t>
            </a:r>
          </a:p>
        </p:txBody>
      </p:sp>
      <p:sp>
        <p:nvSpPr>
          <p:cNvPr id="29" name="TextBox 28"/>
          <p:cNvSpPr txBox="1"/>
          <p:nvPr/>
        </p:nvSpPr>
        <p:spPr>
          <a:xfrm>
            <a:off x="4809744" y="2112264"/>
            <a:ext cx="1700784" cy="365760"/>
          </a:xfrm>
          <a:prstGeom prst="rect">
            <a:avLst/>
          </a:prstGeom>
          <a:noFill/>
        </p:spPr>
        <p:txBody>
          <a:bodyPr wrap="square" lIns="9144" tIns="0" rIns="9144" bIns="0" anchor="ctr">
            <a:spAutoFit/>
          </a:bodyPr>
          <a:lstStyle/>
          <a:p>
            <a:pPr algn="l">
              <a:spcBef>
                <a:spcPts val="0"/>
              </a:spcBef>
              <a:spcAft>
                <a:spcPts val="0"/>
              </a:spcAft>
              <a:defRPr sz="1140" b="0">
                <a:solidFill>
                  <a:srgbClr val="192B43"/>
                </a:solidFill>
                <a:latin typeface="Noto Sans"/>
              </a:defRPr>
            </a:pPr>
            <a:r>
              <a:t>discriminating bits</a:t>
            </a:r>
          </a:p>
        </p:txBody>
      </p:sp>
      <p:sp>
        <p:nvSpPr>
          <p:cNvPr id="30" name="Rounded Rectangle 29"/>
          <p:cNvSpPr/>
          <p:nvPr/>
        </p:nvSpPr>
        <p:spPr>
          <a:xfrm>
            <a:off x="6867144" y="1078992"/>
            <a:ext cx="1920240" cy="1508760"/>
          </a:xfrm>
          <a:prstGeom prst="roundRect">
            <a:avLst>
              <a:gd name="adj" fmla="val 8000"/>
            </a:avLst>
          </a:prstGeom>
          <a:solidFill>
            <a:srgbClr val="EFF3F7"/>
          </a:solidFill>
          <a:ln w="10160">
            <a:solidFill>
              <a:srgbClr val="D2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6867144" y="1078992"/>
            <a:ext cx="32004" cy="1508760"/>
          </a:xfrm>
          <a:prstGeom prst="rect">
            <a:avLst/>
          </a:prstGeom>
          <a:solidFill>
            <a:srgbClr val="A477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6976872" y="1188720"/>
            <a:ext cx="1700784" cy="347472"/>
          </a:xfrm>
          <a:prstGeom prst="rect">
            <a:avLst/>
          </a:prstGeom>
          <a:noFill/>
        </p:spPr>
        <p:txBody>
          <a:bodyPr wrap="square" lIns="9144" tIns="0" rIns="9144" bIns="0" anchor="ctr">
            <a:spAutoFit/>
          </a:bodyPr>
          <a:lstStyle/>
          <a:p>
            <a:pPr algn="l">
              <a:spcBef>
                <a:spcPts val="0"/>
              </a:spcBef>
              <a:spcAft>
                <a:spcPts val="0"/>
              </a:spcAft>
              <a:defRPr sz="1800" b="1">
                <a:solidFill>
                  <a:srgbClr val="A4770B"/>
                </a:solidFill>
                <a:latin typeface="Noto Sans"/>
              </a:defRPr>
            </a:pPr>
            <a:r>
              <a:t>Masstree</a:t>
            </a:r>
          </a:p>
        </p:txBody>
      </p:sp>
      <p:sp>
        <p:nvSpPr>
          <p:cNvPr id="33" name="TextBox 32"/>
          <p:cNvSpPr txBox="1"/>
          <p:nvPr/>
        </p:nvSpPr>
        <p:spPr>
          <a:xfrm>
            <a:off x="6976872" y="2112264"/>
            <a:ext cx="1700784" cy="365760"/>
          </a:xfrm>
          <a:prstGeom prst="rect">
            <a:avLst/>
          </a:prstGeom>
          <a:noFill/>
        </p:spPr>
        <p:txBody>
          <a:bodyPr wrap="square" lIns="9144" tIns="0" rIns="9144" bIns="0" anchor="ctr">
            <a:spAutoFit/>
          </a:bodyPr>
          <a:lstStyle/>
          <a:p>
            <a:pPr algn="l">
              <a:spcBef>
                <a:spcPts val="0"/>
              </a:spcBef>
              <a:spcAft>
                <a:spcPts val="0"/>
              </a:spcAft>
              <a:defRPr sz="1140" b="0">
                <a:solidFill>
                  <a:srgbClr val="192B43"/>
                </a:solidFill>
                <a:latin typeface="Noto Sans"/>
              </a:defRPr>
            </a:pPr>
            <a:r>
              <a:t>key slices + layers</a:t>
            </a:r>
          </a:p>
        </p:txBody>
      </p:sp>
      <p:cxnSp>
        <p:nvCxnSpPr>
          <p:cNvPr id="34" name="Connector 33"/>
          <p:cNvCxnSpPr/>
          <p:nvPr/>
        </p:nvCxnSpPr>
        <p:spPr>
          <a:xfrm>
            <a:off x="868680" y="1709928"/>
            <a:ext cx="0" cy="173736"/>
          </a:xfrm>
          <a:prstGeom prst="line">
            <a:avLst/>
          </a:prstGeom>
          <a:ln w="15240">
            <a:solidFill>
              <a:srgbClr val="74589E"/>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868680" y="1874519"/>
            <a:ext cx="850392" cy="0"/>
          </a:xfrm>
          <a:prstGeom prst="line">
            <a:avLst/>
          </a:prstGeom>
          <a:ln w="12700">
            <a:solidFill>
              <a:srgbClr val="74589E"/>
            </a:solidFill>
          </a:ln>
        </p:spPr>
        <p:style>
          <a:lnRef idx="2">
            <a:schemeClr val="accent1"/>
          </a:lnRef>
          <a:fillRef idx="0">
            <a:schemeClr val="accent1"/>
          </a:fillRef>
          <a:effectRef idx="1">
            <a:schemeClr val="accent1"/>
          </a:effectRef>
          <a:fontRef idx="minor">
            <a:schemeClr val="tx1"/>
          </a:fontRef>
        </p:style>
      </p:cxnSp>
      <p:sp>
        <p:nvSpPr>
          <p:cNvPr id="36" name="Rectangle 35"/>
          <p:cNvSpPr/>
          <p:nvPr/>
        </p:nvSpPr>
        <p:spPr>
          <a:xfrm>
            <a:off x="548640" y="1865376"/>
            <a:ext cx="274320" cy="146304"/>
          </a:xfrm>
          <a:prstGeom prst="rect">
            <a:avLst/>
          </a:prstGeom>
          <a:solidFill>
            <a:srgbClr val="7458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ectangle 36"/>
          <p:cNvSpPr/>
          <p:nvPr/>
        </p:nvSpPr>
        <p:spPr>
          <a:xfrm>
            <a:off x="905256" y="1865376"/>
            <a:ext cx="274320" cy="146304"/>
          </a:xfrm>
          <a:prstGeom prst="rect">
            <a:avLst/>
          </a:prstGeom>
          <a:solidFill>
            <a:srgbClr val="7458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Rectangle 37"/>
          <p:cNvSpPr/>
          <p:nvPr/>
        </p:nvSpPr>
        <p:spPr>
          <a:xfrm>
            <a:off x="1261872" y="1865376"/>
            <a:ext cx="274320" cy="146304"/>
          </a:xfrm>
          <a:prstGeom prst="rect">
            <a:avLst/>
          </a:prstGeom>
          <a:solidFill>
            <a:srgbClr val="7458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ectangle 38"/>
          <p:cNvSpPr/>
          <p:nvPr/>
        </p:nvSpPr>
        <p:spPr>
          <a:xfrm>
            <a:off x="1618488" y="1865376"/>
            <a:ext cx="274320" cy="146304"/>
          </a:xfrm>
          <a:prstGeom prst="rect">
            <a:avLst/>
          </a:prstGeom>
          <a:solidFill>
            <a:srgbClr val="7458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Rectangle 39"/>
          <p:cNvSpPr/>
          <p:nvPr/>
        </p:nvSpPr>
        <p:spPr>
          <a:xfrm>
            <a:off x="2834640" y="1709928"/>
            <a:ext cx="219456" cy="274320"/>
          </a:xfrm>
          <a:prstGeom prst="rect">
            <a:avLst/>
          </a:prstGeom>
          <a:solidFill>
            <a:srgbClr val="008A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Rectangle 40"/>
          <p:cNvSpPr/>
          <p:nvPr/>
        </p:nvSpPr>
        <p:spPr>
          <a:xfrm>
            <a:off x="3264408" y="1709928"/>
            <a:ext cx="329184" cy="274320"/>
          </a:xfrm>
          <a:prstGeom prst="rect">
            <a:avLst/>
          </a:prstGeom>
          <a:solidFill>
            <a:srgbClr val="008A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Rectangle 41"/>
          <p:cNvSpPr/>
          <p:nvPr/>
        </p:nvSpPr>
        <p:spPr>
          <a:xfrm>
            <a:off x="3694176" y="1709928"/>
            <a:ext cx="457200" cy="274320"/>
          </a:xfrm>
          <a:prstGeom prst="rect">
            <a:avLst/>
          </a:prstGeom>
          <a:solidFill>
            <a:srgbClr val="008A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4937760" y="1682496"/>
            <a:ext cx="1444752" cy="310896"/>
          </a:xfrm>
          <a:prstGeom prst="rect">
            <a:avLst/>
          </a:prstGeom>
          <a:noFill/>
        </p:spPr>
        <p:txBody>
          <a:bodyPr wrap="square" lIns="9144" tIns="0" rIns="9144" bIns="0" anchor="ctr">
            <a:spAutoFit/>
          </a:bodyPr>
          <a:lstStyle/>
          <a:p>
            <a:pPr algn="l">
              <a:spcBef>
                <a:spcPts val="0"/>
              </a:spcBef>
              <a:spcAft>
                <a:spcPts val="0"/>
              </a:spcAft>
              <a:defRPr sz="1900" b="1">
                <a:solidFill>
                  <a:srgbClr val="3178B9"/>
                </a:solidFill>
                <a:latin typeface="DejaVu Sans Mono"/>
              </a:defRPr>
            </a:pPr>
            <a:r>
              <a:t>0 1 0 1</a:t>
            </a:r>
          </a:p>
        </p:txBody>
      </p:sp>
      <p:sp>
        <p:nvSpPr>
          <p:cNvPr id="44" name="Rectangle 43"/>
          <p:cNvSpPr/>
          <p:nvPr/>
        </p:nvSpPr>
        <p:spPr>
          <a:xfrm>
            <a:off x="7123176" y="1645920"/>
            <a:ext cx="594360" cy="146304"/>
          </a:xfrm>
          <a:prstGeom prst="rect">
            <a:avLst/>
          </a:prstGeom>
          <a:solidFill>
            <a:srgbClr val="A477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Rectangle 44"/>
          <p:cNvSpPr/>
          <p:nvPr/>
        </p:nvSpPr>
        <p:spPr>
          <a:xfrm>
            <a:off x="7525512" y="1728216"/>
            <a:ext cx="594360" cy="146304"/>
          </a:xfrm>
          <a:prstGeom prst="rect">
            <a:avLst/>
          </a:prstGeom>
          <a:solidFill>
            <a:srgbClr val="A477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Rectangle 45"/>
          <p:cNvSpPr/>
          <p:nvPr/>
        </p:nvSpPr>
        <p:spPr>
          <a:xfrm>
            <a:off x="7927848" y="1810512"/>
            <a:ext cx="594360" cy="146304"/>
          </a:xfrm>
          <a:prstGeom prst="rect">
            <a:avLst/>
          </a:prstGeom>
          <a:solidFill>
            <a:srgbClr val="A477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429768" y="2834640"/>
            <a:ext cx="2423160" cy="530352"/>
          </a:xfrm>
          <a:prstGeom prst="rect">
            <a:avLst/>
          </a:prstGeom>
          <a:noFill/>
        </p:spPr>
        <p:txBody>
          <a:bodyPr wrap="square" lIns="9144" tIns="0" rIns="9144" bIns="0" anchor="ctr">
            <a:spAutoFit/>
          </a:bodyPr>
          <a:lstStyle/>
          <a:p>
            <a:pPr algn="l">
              <a:spcBef>
                <a:spcPts val="0"/>
              </a:spcBef>
              <a:spcAft>
                <a:spcPts val="0"/>
              </a:spcAft>
              <a:defRPr sz="1500" b="1">
                <a:solidFill>
                  <a:srgbClr val="041447"/>
                </a:solidFill>
                <a:latin typeface="Noto Sans"/>
              </a:defRPr>
            </a:pPr>
            <a:r>
              <a:t>One memory transfer</a:t>
            </a:r>
          </a:p>
          <a:p>
            <a:pPr algn="l">
              <a:spcBef>
                <a:spcPts val="0"/>
              </a:spcBef>
              <a:spcAft>
                <a:spcPts val="0"/>
              </a:spcAft>
              <a:defRPr sz="1500" b="1">
                <a:solidFill>
                  <a:srgbClr val="041447"/>
                </a:solidFill>
                <a:latin typeface="Noto Sans"/>
              </a:defRPr>
            </a:pPr>
            <a:r>
              <a:t>fetches a whole line</a:t>
            </a:r>
          </a:p>
        </p:txBody>
      </p:sp>
      <p:sp>
        <p:nvSpPr>
          <p:cNvPr id="48" name="Rectangle 47"/>
          <p:cNvSpPr/>
          <p:nvPr/>
        </p:nvSpPr>
        <p:spPr>
          <a:xfrm>
            <a:off x="3227832" y="2834640"/>
            <a:ext cx="420624" cy="457200"/>
          </a:xfrm>
          <a:prstGeom prst="rect">
            <a:avLst/>
          </a:prstGeom>
          <a:solidFill>
            <a:srgbClr val="008A96"/>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3236976" y="2889504"/>
            <a:ext cx="393192" cy="338328"/>
          </a:xfrm>
          <a:prstGeom prst="rect">
            <a:avLst/>
          </a:prstGeom>
          <a:noFill/>
        </p:spPr>
        <p:txBody>
          <a:bodyPr wrap="square" lIns="9144" tIns="0" rIns="9144" bIns="0" anchor="ctr">
            <a:spAutoFit/>
          </a:bodyPr>
          <a:lstStyle/>
          <a:p>
            <a:pPr algn="ctr">
              <a:spcBef>
                <a:spcPts val="0"/>
              </a:spcBef>
              <a:spcAft>
                <a:spcPts val="0"/>
              </a:spcAft>
              <a:defRPr sz="1100" b="0">
                <a:solidFill>
                  <a:srgbClr val="FFFFFF"/>
                </a:solidFill>
                <a:latin typeface="Noto Sans"/>
              </a:defRPr>
            </a:pPr>
            <a:r>
              <a:t>0</a:t>
            </a:r>
          </a:p>
        </p:txBody>
      </p:sp>
      <p:sp>
        <p:nvSpPr>
          <p:cNvPr id="50" name="Rectangle 49"/>
          <p:cNvSpPr/>
          <p:nvPr/>
        </p:nvSpPr>
        <p:spPr>
          <a:xfrm>
            <a:off x="3666744" y="2834640"/>
            <a:ext cx="420624" cy="457200"/>
          </a:xfrm>
          <a:prstGeom prst="rect">
            <a:avLst/>
          </a:prstGeom>
          <a:solidFill>
            <a:srgbClr val="008A96"/>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3675887" y="2889504"/>
            <a:ext cx="393192" cy="338328"/>
          </a:xfrm>
          <a:prstGeom prst="rect">
            <a:avLst/>
          </a:prstGeom>
          <a:noFill/>
        </p:spPr>
        <p:txBody>
          <a:bodyPr wrap="square" lIns="9144" tIns="0" rIns="9144" bIns="0" anchor="ctr">
            <a:spAutoFit/>
          </a:bodyPr>
          <a:lstStyle/>
          <a:p>
            <a:pPr algn="ctr">
              <a:spcBef>
                <a:spcPts val="0"/>
              </a:spcBef>
              <a:spcAft>
                <a:spcPts val="0"/>
              </a:spcAft>
              <a:defRPr sz="1100" b="0">
                <a:solidFill>
                  <a:srgbClr val="FFFFFF"/>
                </a:solidFill>
                <a:latin typeface="Noto Sans"/>
              </a:defRPr>
            </a:pPr>
            <a:r>
              <a:t>1</a:t>
            </a:r>
          </a:p>
        </p:txBody>
      </p:sp>
      <p:sp>
        <p:nvSpPr>
          <p:cNvPr id="52" name="Rectangle 51"/>
          <p:cNvSpPr/>
          <p:nvPr/>
        </p:nvSpPr>
        <p:spPr>
          <a:xfrm>
            <a:off x="4105656" y="2834640"/>
            <a:ext cx="420624" cy="457200"/>
          </a:xfrm>
          <a:prstGeom prst="rect">
            <a:avLst/>
          </a:prstGeom>
          <a:solidFill>
            <a:srgbClr val="008A96"/>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4114800" y="2889504"/>
            <a:ext cx="393192" cy="338328"/>
          </a:xfrm>
          <a:prstGeom prst="rect">
            <a:avLst/>
          </a:prstGeom>
          <a:noFill/>
        </p:spPr>
        <p:txBody>
          <a:bodyPr wrap="square" lIns="9144" tIns="0" rIns="9144" bIns="0" anchor="ctr">
            <a:spAutoFit/>
          </a:bodyPr>
          <a:lstStyle/>
          <a:p>
            <a:pPr algn="ctr">
              <a:spcBef>
                <a:spcPts val="0"/>
              </a:spcBef>
              <a:spcAft>
                <a:spcPts val="0"/>
              </a:spcAft>
              <a:defRPr sz="1100" b="0">
                <a:solidFill>
                  <a:srgbClr val="FFFFFF"/>
                </a:solidFill>
                <a:latin typeface="Noto Sans"/>
              </a:defRPr>
            </a:pPr>
            <a:r>
              <a:t>2</a:t>
            </a:r>
          </a:p>
        </p:txBody>
      </p:sp>
      <p:sp>
        <p:nvSpPr>
          <p:cNvPr id="54" name="Rectangle 53"/>
          <p:cNvSpPr/>
          <p:nvPr/>
        </p:nvSpPr>
        <p:spPr>
          <a:xfrm>
            <a:off x="4544568" y="2834640"/>
            <a:ext cx="420624" cy="457200"/>
          </a:xfrm>
          <a:prstGeom prst="rect">
            <a:avLst/>
          </a:prstGeom>
          <a:solidFill>
            <a:srgbClr val="DFE6EC"/>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4553712" y="2889504"/>
            <a:ext cx="393192" cy="338328"/>
          </a:xfrm>
          <a:prstGeom prst="rect">
            <a:avLst/>
          </a:prstGeom>
          <a:noFill/>
        </p:spPr>
        <p:txBody>
          <a:bodyPr wrap="square" lIns="9144" tIns="0" rIns="9144" bIns="0" anchor="ctr">
            <a:spAutoFit/>
          </a:bodyPr>
          <a:lstStyle/>
          <a:p>
            <a:pPr algn="ctr">
              <a:spcBef>
                <a:spcPts val="0"/>
              </a:spcBef>
              <a:spcAft>
                <a:spcPts val="0"/>
              </a:spcAft>
              <a:defRPr sz="1100" b="0">
                <a:solidFill>
                  <a:srgbClr val="607080"/>
                </a:solidFill>
                <a:latin typeface="Noto Sans"/>
              </a:defRPr>
            </a:pPr>
            <a:r>
              <a:t>3</a:t>
            </a:r>
          </a:p>
        </p:txBody>
      </p:sp>
      <p:sp>
        <p:nvSpPr>
          <p:cNvPr id="56" name="Rectangle 55"/>
          <p:cNvSpPr/>
          <p:nvPr/>
        </p:nvSpPr>
        <p:spPr>
          <a:xfrm>
            <a:off x="4983479" y="2834640"/>
            <a:ext cx="420624" cy="457200"/>
          </a:xfrm>
          <a:prstGeom prst="rect">
            <a:avLst/>
          </a:prstGeom>
          <a:solidFill>
            <a:srgbClr val="DFE6EC"/>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4992624" y="2889504"/>
            <a:ext cx="393192" cy="338328"/>
          </a:xfrm>
          <a:prstGeom prst="rect">
            <a:avLst/>
          </a:prstGeom>
          <a:noFill/>
        </p:spPr>
        <p:txBody>
          <a:bodyPr wrap="square" lIns="9144" tIns="0" rIns="9144" bIns="0" anchor="ctr">
            <a:spAutoFit/>
          </a:bodyPr>
          <a:lstStyle/>
          <a:p>
            <a:pPr algn="ctr">
              <a:spcBef>
                <a:spcPts val="0"/>
              </a:spcBef>
              <a:spcAft>
                <a:spcPts val="0"/>
              </a:spcAft>
              <a:defRPr sz="1100" b="0">
                <a:solidFill>
                  <a:srgbClr val="607080"/>
                </a:solidFill>
                <a:latin typeface="Noto Sans"/>
              </a:defRPr>
            </a:pPr>
            <a:r>
              <a:t>4</a:t>
            </a:r>
          </a:p>
        </p:txBody>
      </p:sp>
      <p:sp>
        <p:nvSpPr>
          <p:cNvPr id="58" name="Rectangle 57"/>
          <p:cNvSpPr/>
          <p:nvPr/>
        </p:nvSpPr>
        <p:spPr>
          <a:xfrm>
            <a:off x="5422392" y="2834640"/>
            <a:ext cx="420624" cy="457200"/>
          </a:xfrm>
          <a:prstGeom prst="rect">
            <a:avLst/>
          </a:prstGeom>
          <a:solidFill>
            <a:srgbClr val="DFE6EC"/>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5431536" y="2889504"/>
            <a:ext cx="393192" cy="338328"/>
          </a:xfrm>
          <a:prstGeom prst="rect">
            <a:avLst/>
          </a:prstGeom>
          <a:noFill/>
        </p:spPr>
        <p:txBody>
          <a:bodyPr wrap="square" lIns="9144" tIns="0" rIns="9144" bIns="0" anchor="ctr">
            <a:spAutoFit/>
          </a:bodyPr>
          <a:lstStyle/>
          <a:p>
            <a:pPr algn="ctr">
              <a:spcBef>
                <a:spcPts val="0"/>
              </a:spcBef>
              <a:spcAft>
                <a:spcPts val="0"/>
              </a:spcAft>
              <a:defRPr sz="1100" b="0">
                <a:solidFill>
                  <a:srgbClr val="607080"/>
                </a:solidFill>
                <a:latin typeface="Noto Sans"/>
              </a:defRPr>
            </a:pPr>
            <a:r>
              <a:t>5</a:t>
            </a:r>
          </a:p>
        </p:txBody>
      </p:sp>
      <p:sp>
        <p:nvSpPr>
          <p:cNvPr id="60" name="Rectangle 59"/>
          <p:cNvSpPr/>
          <p:nvPr/>
        </p:nvSpPr>
        <p:spPr>
          <a:xfrm>
            <a:off x="5861304" y="2834640"/>
            <a:ext cx="420624" cy="457200"/>
          </a:xfrm>
          <a:prstGeom prst="rect">
            <a:avLst/>
          </a:prstGeom>
          <a:solidFill>
            <a:srgbClr val="DFE6EC"/>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TextBox 60"/>
          <p:cNvSpPr txBox="1"/>
          <p:nvPr/>
        </p:nvSpPr>
        <p:spPr>
          <a:xfrm>
            <a:off x="5870448" y="2889504"/>
            <a:ext cx="393192" cy="338328"/>
          </a:xfrm>
          <a:prstGeom prst="rect">
            <a:avLst/>
          </a:prstGeom>
          <a:noFill/>
        </p:spPr>
        <p:txBody>
          <a:bodyPr wrap="square" lIns="9144" tIns="0" rIns="9144" bIns="0" anchor="ctr">
            <a:spAutoFit/>
          </a:bodyPr>
          <a:lstStyle/>
          <a:p>
            <a:pPr algn="ctr">
              <a:spcBef>
                <a:spcPts val="0"/>
              </a:spcBef>
              <a:spcAft>
                <a:spcPts val="0"/>
              </a:spcAft>
              <a:defRPr sz="1100" b="0">
                <a:solidFill>
                  <a:srgbClr val="607080"/>
                </a:solidFill>
                <a:latin typeface="Noto Sans"/>
              </a:defRPr>
            </a:pPr>
            <a:r>
              <a:t>6</a:t>
            </a:r>
          </a:p>
        </p:txBody>
      </p:sp>
      <p:sp>
        <p:nvSpPr>
          <p:cNvPr id="62" name="Rectangle 61"/>
          <p:cNvSpPr/>
          <p:nvPr/>
        </p:nvSpPr>
        <p:spPr>
          <a:xfrm>
            <a:off x="6300216" y="2834640"/>
            <a:ext cx="420624" cy="457200"/>
          </a:xfrm>
          <a:prstGeom prst="rect">
            <a:avLst/>
          </a:prstGeom>
          <a:solidFill>
            <a:srgbClr val="DFE6EC"/>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p:cNvSpPr txBox="1"/>
          <p:nvPr/>
        </p:nvSpPr>
        <p:spPr>
          <a:xfrm>
            <a:off x="6309360" y="2889504"/>
            <a:ext cx="393192" cy="338328"/>
          </a:xfrm>
          <a:prstGeom prst="rect">
            <a:avLst/>
          </a:prstGeom>
          <a:noFill/>
        </p:spPr>
        <p:txBody>
          <a:bodyPr wrap="square" lIns="9144" tIns="0" rIns="9144" bIns="0" anchor="ctr">
            <a:spAutoFit/>
          </a:bodyPr>
          <a:lstStyle/>
          <a:p>
            <a:pPr algn="ctr">
              <a:spcBef>
                <a:spcPts val="0"/>
              </a:spcBef>
              <a:spcAft>
                <a:spcPts val="0"/>
              </a:spcAft>
              <a:defRPr sz="1100" b="0">
                <a:solidFill>
                  <a:srgbClr val="607080"/>
                </a:solidFill>
                <a:latin typeface="Noto Sans"/>
              </a:defRPr>
            </a:pPr>
            <a:r>
              <a:t>7</a:t>
            </a:r>
          </a:p>
        </p:txBody>
      </p:sp>
      <p:sp>
        <p:nvSpPr>
          <p:cNvPr id="64" name="TextBox 63"/>
          <p:cNvSpPr txBox="1"/>
          <p:nvPr/>
        </p:nvSpPr>
        <p:spPr>
          <a:xfrm>
            <a:off x="3236976" y="3383280"/>
            <a:ext cx="3657600" cy="283464"/>
          </a:xfrm>
          <a:prstGeom prst="rect">
            <a:avLst/>
          </a:prstGeom>
          <a:noFill/>
        </p:spPr>
        <p:txBody>
          <a:bodyPr wrap="square" lIns="9144" tIns="0" rIns="9144" bIns="0" anchor="ctr">
            <a:spAutoFit/>
          </a:bodyPr>
          <a:lstStyle/>
          <a:p>
            <a:pPr algn="l">
              <a:spcBef>
                <a:spcPts val="0"/>
              </a:spcBef>
              <a:spcAft>
                <a:spcPts val="0"/>
              </a:spcAft>
              <a:defRPr sz="1100" b="0">
                <a:solidFill>
                  <a:srgbClr val="607080"/>
                </a:solidFill>
                <a:latin typeface="Noto Sans"/>
              </a:defRPr>
            </a:pPr>
            <a:r>
              <a:t>64 B example · only highlighted fields used</a:t>
            </a:r>
          </a:p>
        </p:txBody>
      </p:sp>
      <p:sp>
        <p:nvSpPr>
          <p:cNvPr id="65" name="TextBox 64"/>
          <p:cNvSpPr txBox="1"/>
          <p:nvPr/>
        </p:nvSpPr>
        <p:spPr>
          <a:xfrm>
            <a:off x="7132320" y="2834640"/>
            <a:ext cx="1508760" cy="530352"/>
          </a:xfrm>
          <a:prstGeom prst="rect">
            <a:avLst/>
          </a:prstGeom>
          <a:noFill/>
        </p:spPr>
        <p:txBody>
          <a:bodyPr wrap="square" lIns="9144" tIns="0" rIns="9144" bIns="0" anchor="ctr">
            <a:spAutoFit/>
          </a:bodyPr>
          <a:lstStyle/>
          <a:p>
            <a:pPr algn="l">
              <a:spcBef>
                <a:spcPts val="0"/>
              </a:spcBef>
              <a:spcAft>
                <a:spcPts val="0"/>
              </a:spcAft>
              <a:defRPr sz="1400" b="1">
                <a:solidFill>
                  <a:srgbClr val="008A96"/>
                </a:solidFill>
                <a:latin typeface="Noto Sans"/>
              </a:defRPr>
            </a:pPr>
            <a:r>
              <a:t>Useful bytes</a:t>
            </a:r>
          </a:p>
          <a:p>
            <a:pPr algn="l">
              <a:spcBef>
                <a:spcPts val="0"/>
              </a:spcBef>
              <a:spcAft>
                <a:spcPts val="0"/>
              </a:spcAft>
              <a:defRPr sz="1400" b="1">
                <a:solidFill>
                  <a:srgbClr val="008A96"/>
                </a:solidFill>
                <a:latin typeface="Noto Sans"/>
              </a:defRPr>
            </a:pPr>
            <a:r>
              <a:t>≠ fetched bytes</a:t>
            </a:r>
          </a:p>
        </p:txBody>
      </p:sp>
      <p:sp>
        <p:nvSpPr>
          <p:cNvPr id="66" name="Rectangle 65"/>
          <p:cNvSpPr/>
          <p:nvPr/>
        </p:nvSpPr>
        <p:spPr>
          <a:xfrm>
            <a:off x="329184" y="4096512"/>
            <a:ext cx="8458200" cy="356616"/>
          </a:xfrm>
          <a:prstGeom prst="rect">
            <a:avLst/>
          </a:prstGeom>
          <a:solidFill>
            <a:srgbClr val="0414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TextBox 66"/>
          <p:cNvSpPr txBox="1"/>
          <p:nvPr/>
        </p:nvSpPr>
        <p:spPr>
          <a:xfrm>
            <a:off x="438912" y="4123944"/>
            <a:ext cx="8330000" cy="292608"/>
          </a:xfrm>
          <a:prstGeom prst="rect">
            <a:avLst/>
          </a:prstGeom>
          <a:noFill/>
        </p:spPr>
        <p:txBody>
          <a:bodyPr wrap="square" lIns="9144" tIns="0" rIns="9144" bIns="0" anchor="ctr">
            <a:spAutoFit/>
          </a:bodyPr>
          <a:lstStyle/>
          <a:p>
            <a:pPr algn="l">
              <a:spcBef>
                <a:spcPts val="0"/>
              </a:spcBef>
              <a:spcAft>
                <a:spcPts val="0"/>
              </a:spcAft>
              <a:defRPr sz="1150" b="1">
                <a:solidFill>
                  <a:srgbClr val="FFFFFF"/>
                </a:solidFill>
                <a:latin typeface="Noto Sans"/>
              </a:defRPr>
            </a:pPr>
            <a:r>
              <a:t>Which part of a bundled design causes the measured difference? Goal: compare such decisions one at a time.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83464" y="182880"/>
            <a:ext cx="7360920" cy="438912"/>
          </a:xfrm>
          <a:prstGeom prst="rect">
            <a:avLst/>
          </a:prstGeom>
          <a:noFill/>
        </p:spPr>
        <p:txBody>
          <a:bodyPr wrap="square" lIns="9144" tIns="0" rIns="9144" bIns="0" anchor="ctr">
            <a:spAutoFit/>
          </a:bodyPr>
          <a:lstStyle/>
          <a:p>
            <a:pPr algn="l">
              <a:spcBef>
                <a:spcPts val="0"/>
              </a:spcBef>
              <a:spcAft>
                <a:spcPts val="0"/>
              </a:spcAft>
              <a:defRPr sz="2400" b="1">
                <a:solidFill>
                  <a:srgbClr val="041447"/>
                </a:solidFill>
                <a:latin typeface="Noto Sans"/>
              </a:defRPr>
            </a:pPr>
            <a:r>
              <a:t>Roadmap — following the thesis</a:t>
            </a:r>
          </a:p>
        </p:txBody>
      </p:sp>
      <p:sp>
        <p:nvSpPr>
          <p:cNvPr id="3" name="Rectangle 2"/>
          <p:cNvSpPr/>
          <p:nvPr/>
        </p:nvSpPr>
        <p:spPr>
          <a:xfrm>
            <a:off x="310896" y="786384"/>
            <a:ext cx="1197864" cy="45720"/>
          </a:xfrm>
          <a:prstGeom prst="rect">
            <a:avLst/>
          </a:prstGeom>
          <a:solidFill>
            <a:srgbClr val="D2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10896" y="621792"/>
            <a:ext cx="1197864" cy="164592"/>
          </a:xfrm>
          <a:prstGeom prst="rect">
            <a:avLst/>
          </a:prstGeom>
          <a:noFill/>
        </p:spPr>
        <p:txBody>
          <a:bodyPr wrap="square" lIns="9144" tIns="0" rIns="9144" bIns="0" anchor="ctr">
            <a:spAutoFit/>
          </a:bodyPr>
          <a:lstStyle/>
          <a:p>
            <a:pPr algn="l">
              <a:spcBef>
                <a:spcPts val="0"/>
              </a:spcBef>
              <a:spcAft>
                <a:spcPts val="0"/>
              </a:spcAft>
              <a:defRPr sz="850" b="1">
                <a:solidFill>
                  <a:srgbClr val="607080"/>
                </a:solidFill>
                <a:latin typeface="Noto Sans"/>
              </a:defRPr>
            </a:pPr>
            <a:r>
              <a:t>1 Introduction</a:t>
            </a:r>
          </a:p>
        </p:txBody>
      </p:sp>
      <p:sp>
        <p:nvSpPr>
          <p:cNvPr id="5" name="Rectangle 4"/>
          <p:cNvSpPr/>
          <p:nvPr/>
        </p:nvSpPr>
        <p:spPr>
          <a:xfrm>
            <a:off x="1545336" y="786384"/>
            <a:ext cx="1243584" cy="45720"/>
          </a:xfrm>
          <a:prstGeom prst="rect">
            <a:avLst/>
          </a:prstGeom>
          <a:solidFill>
            <a:srgbClr val="008A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545336" y="621792"/>
            <a:ext cx="1243584" cy="164592"/>
          </a:xfrm>
          <a:prstGeom prst="rect">
            <a:avLst/>
          </a:prstGeom>
          <a:noFill/>
        </p:spPr>
        <p:txBody>
          <a:bodyPr wrap="square" lIns="9144" tIns="0" rIns="9144" bIns="0" anchor="ctr">
            <a:spAutoFit/>
          </a:bodyPr>
          <a:lstStyle/>
          <a:p>
            <a:pPr algn="l">
              <a:spcBef>
                <a:spcPts val="0"/>
              </a:spcBef>
              <a:spcAft>
                <a:spcPts val="0"/>
              </a:spcAft>
              <a:defRPr sz="850" b="0">
                <a:solidFill>
                  <a:srgbClr val="008A96"/>
                </a:solidFill>
                <a:latin typeface="Noto Sans"/>
              </a:defRPr>
            </a:pPr>
            <a:r>
              <a:t>2 Background</a:t>
            </a:r>
          </a:p>
        </p:txBody>
      </p:sp>
      <p:sp>
        <p:nvSpPr>
          <p:cNvPr id="7" name="Rectangle 6"/>
          <p:cNvSpPr/>
          <p:nvPr/>
        </p:nvSpPr>
        <p:spPr>
          <a:xfrm>
            <a:off x="2825496" y="786384"/>
            <a:ext cx="1078992" cy="45720"/>
          </a:xfrm>
          <a:prstGeom prst="rect">
            <a:avLst/>
          </a:prstGeom>
          <a:solidFill>
            <a:srgbClr val="D2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2825496" y="621792"/>
            <a:ext cx="1078992" cy="164592"/>
          </a:xfrm>
          <a:prstGeom prst="rect">
            <a:avLst/>
          </a:prstGeom>
          <a:noFill/>
        </p:spPr>
        <p:txBody>
          <a:bodyPr wrap="square" lIns="9144" tIns="0" rIns="9144" bIns="0" anchor="ctr">
            <a:spAutoFit/>
          </a:bodyPr>
          <a:lstStyle/>
          <a:p>
            <a:pPr algn="l">
              <a:spcBef>
                <a:spcPts val="0"/>
              </a:spcBef>
              <a:spcAft>
                <a:spcPts val="0"/>
              </a:spcAft>
              <a:defRPr sz="850" b="0">
                <a:solidFill>
                  <a:srgbClr val="607080"/>
                </a:solidFill>
                <a:latin typeface="Noto Sans"/>
              </a:defRPr>
            </a:pPr>
            <a:r>
              <a:t>3 Concept</a:t>
            </a:r>
          </a:p>
        </p:txBody>
      </p:sp>
      <p:sp>
        <p:nvSpPr>
          <p:cNvPr id="9" name="Rectangle 8"/>
          <p:cNvSpPr/>
          <p:nvPr/>
        </p:nvSpPr>
        <p:spPr>
          <a:xfrm>
            <a:off x="3941063" y="786384"/>
            <a:ext cx="1645920" cy="45720"/>
          </a:xfrm>
          <a:prstGeom prst="rect">
            <a:avLst/>
          </a:prstGeom>
          <a:solidFill>
            <a:srgbClr val="D2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941063" y="621792"/>
            <a:ext cx="1645920" cy="164592"/>
          </a:xfrm>
          <a:prstGeom prst="rect">
            <a:avLst/>
          </a:prstGeom>
          <a:noFill/>
        </p:spPr>
        <p:txBody>
          <a:bodyPr wrap="square" lIns="9144" tIns="0" rIns="9144" bIns="0" anchor="ctr">
            <a:spAutoFit/>
          </a:bodyPr>
          <a:lstStyle/>
          <a:p>
            <a:pPr algn="l">
              <a:spcBef>
                <a:spcPts val="0"/>
              </a:spcBef>
              <a:spcAft>
                <a:spcPts val="0"/>
              </a:spcAft>
              <a:defRPr sz="850" b="0">
                <a:solidFill>
                  <a:srgbClr val="607080"/>
                </a:solidFill>
                <a:latin typeface="Noto Sans"/>
              </a:defRPr>
            </a:pPr>
            <a:r>
              <a:t>4 Implementation</a:t>
            </a:r>
          </a:p>
        </p:txBody>
      </p:sp>
      <p:sp>
        <p:nvSpPr>
          <p:cNvPr id="11" name="Rectangle 10"/>
          <p:cNvSpPr/>
          <p:nvPr/>
        </p:nvSpPr>
        <p:spPr>
          <a:xfrm>
            <a:off x="5623559" y="786384"/>
            <a:ext cx="1252728" cy="45720"/>
          </a:xfrm>
          <a:prstGeom prst="rect">
            <a:avLst/>
          </a:prstGeom>
          <a:solidFill>
            <a:srgbClr val="D2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623559" y="621792"/>
            <a:ext cx="1252728" cy="164592"/>
          </a:xfrm>
          <a:prstGeom prst="rect">
            <a:avLst/>
          </a:prstGeom>
          <a:noFill/>
        </p:spPr>
        <p:txBody>
          <a:bodyPr wrap="square" lIns="9144" tIns="0" rIns="9144" bIns="0" anchor="ctr">
            <a:spAutoFit/>
          </a:bodyPr>
          <a:lstStyle/>
          <a:p>
            <a:pPr algn="l">
              <a:spcBef>
                <a:spcPts val="0"/>
              </a:spcBef>
              <a:spcAft>
                <a:spcPts val="0"/>
              </a:spcAft>
              <a:defRPr sz="850" b="0">
                <a:solidFill>
                  <a:srgbClr val="607080"/>
                </a:solidFill>
                <a:latin typeface="Noto Sans"/>
              </a:defRPr>
            </a:pPr>
            <a:r>
              <a:t>5 Evaluation</a:t>
            </a:r>
          </a:p>
        </p:txBody>
      </p:sp>
      <p:sp>
        <p:nvSpPr>
          <p:cNvPr id="13" name="Rectangle 12"/>
          <p:cNvSpPr/>
          <p:nvPr/>
        </p:nvSpPr>
        <p:spPr>
          <a:xfrm>
            <a:off x="6912864" y="786384"/>
            <a:ext cx="1216152" cy="45720"/>
          </a:xfrm>
          <a:prstGeom prst="rect">
            <a:avLst/>
          </a:prstGeom>
          <a:solidFill>
            <a:srgbClr val="D2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912864" y="621792"/>
            <a:ext cx="1216152" cy="164592"/>
          </a:xfrm>
          <a:prstGeom prst="rect">
            <a:avLst/>
          </a:prstGeom>
          <a:noFill/>
        </p:spPr>
        <p:txBody>
          <a:bodyPr wrap="square" lIns="9144" tIns="0" rIns="9144" bIns="0" anchor="ctr">
            <a:spAutoFit/>
          </a:bodyPr>
          <a:lstStyle/>
          <a:p>
            <a:pPr algn="l">
              <a:spcBef>
                <a:spcPts val="0"/>
              </a:spcBef>
              <a:spcAft>
                <a:spcPts val="0"/>
              </a:spcAft>
              <a:defRPr sz="850" b="0">
                <a:solidFill>
                  <a:srgbClr val="607080"/>
                </a:solidFill>
                <a:latin typeface="Noto Sans"/>
              </a:defRPr>
            </a:pPr>
            <a:r>
              <a:t>6 Conclusion</a:t>
            </a:r>
          </a:p>
        </p:txBody>
      </p:sp>
      <p:sp>
        <p:nvSpPr>
          <p:cNvPr id="15" name="TextBox 14"/>
          <p:cNvSpPr txBox="1"/>
          <p:nvPr/>
        </p:nvSpPr>
        <p:spPr>
          <a:xfrm>
            <a:off x="320040" y="4572000"/>
            <a:ext cx="8321040" cy="182880"/>
          </a:xfrm>
          <a:prstGeom prst="rect">
            <a:avLst/>
          </a:prstGeom>
          <a:noFill/>
        </p:spPr>
        <p:txBody>
          <a:bodyPr wrap="square" lIns="9144" tIns="0" rIns="9144" bIns="0" anchor="ctr">
            <a:spAutoFit/>
          </a:bodyPr>
          <a:lstStyle/>
          <a:p>
            <a:pPr algn="l">
              <a:spcBef>
                <a:spcPts val="0"/>
              </a:spcBef>
              <a:spcAft>
                <a:spcPts val="0"/>
              </a:spcAft>
              <a:defRPr sz="810" b="0">
                <a:solidFill>
                  <a:srgbClr val="607080"/>
                </a:solidFill>
                <a:latin typeface="Noto Sans"/>
              </a:defRPr>
            </a:pPr>
            <a:r>
              <a:t>Structure of diplomarbeit.tex: six included main chapters</a:t>
            </a:r>
          </a:p>
        </p:txBody>
      </p:sp>
      <p:sp>
        <p:nvSpPr>
          <p:cNvPr id="16" name="TextBox 15"/>
          <p:cNvSpPr txBox="1"/>
          <p:nvPr/>
        </p:nvSpPr>
        <p:spPr>
          <a:xfrm>
            <a:off x="1234440" y="4873752"/>
            <a:ext cx="6766560" cy="164592"/>
          </a:xfrm>
          <a:prstGeom prst="rect">
            <a:avLst/>
          </a:prstGeom>
          <a:noFill/>
        </p:spPr>
        <p:txBody>
          <a:bodyPr wrap="square" lIns="9144" tIns="0" rIns="9144" bIns="0" anchor="ctr">
            <a:spAutoFit/>
          </a:bodyPr>
          <a:lstStyle/>
          <a:p>
            <a:pPr algn="l">
              <a:spcBef>
                <a:spcPts val="0"/>
              </a:spcBef>
              <a:spcAft>
                <a:spcPts val="0"/>
              </a:spcAft>
              <a:defRPr sz="830" b="0">
                <a:solidFill>
                  <a:srgbClr val="041447"/>
                </a:solidFill>
                <a:latin typeface="Noto Sans"/>
              </a:defRPr>
            </a:pPr>
            <a:r>
              <a:t>Benjamin-Elias Probst  |  Diploma thesis defense  |  28 September 2026</a:t>
            </a:r>
          </a:p>
        </p:txBody>
      </p:sp>
      <p:sp>
        <p:nvSpPr>
          <p:cNvPr id="17" name="TextBox 16"/>
          <p:cNvSpPr txBox="1"/>
          <p:nvPr/>
        </p:nvSpPr>
        <p:spPr>
          <a:xfrm>
            <a:off x="8412480" y="4864608"/>
            <a:ext cx="393192" cy="192024"/>
          </a:xfrm>
          <a:prstGeom prst="rect">
            <a:avLst/>
          </a:prstGeom>
          <a:noFill/>
        </p:spPr>
        <p:txBody>
          <a:bodyPr wrap="square" lIns="9144" tIns="0" rIns="9144" bIns="0" anchor="ctr">
            <a:spAutoFit/>
          </a:bodyPr>
          <a:lstStyle/>
          <a:p>
            <a:pPr algn="r">
              <a:spcBef>
                <a:spcPts val="0"/>
              </a:spcBef>
              <a:spcAft>
                <a:spcPts val="0"/>
              </a:spcAft>
              <a:defRPr sz="900" b="1">
                <a:solidFill>
                  <a:srgbClr val="041447"/>
                </a:solidFill>
                <a:latin typeface="Noto Sans"/>
              </a:defRPr>
            </a:pPr>
            <a:r>
              <a:t>4</a:t>
            </a:r>
          </a:p>
        </p:txBody>
      </p:sp>
      <p:sp>
        <p:nvSpPr>
          <p:cNvPr id="18" name="Rectangle 17"/>
          <p:cNvSpPr/>
          <p:nvPr/>
        </p:nvSpPr>
        <p:spPr>
          <a:xfrm>
            <a:off x="420624" y="1060704"/>
            <a:ext cx="310896" cy="265176"/>
          </a:xfrm>
          <a:prstGeom prst="rect">
            <a:avLst/>
          </a:prstGeom>
          <a:solidFill>
            <a:srgbClr val="008A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57200" y="1074419"/>
            <a:ext cx="237744" cy="228600"/>
          </a:xfrm>
          <a:prstGeom prst="rect">
            <a:avLst/>
          </a:prstGeom>
          <a:noFill/>
        </p:spPr>
        <p:txBody>
          <a:bodyPr wrap="square" lIns="9144" tIns="0" rIns="9144" bIns="0" anchor="ctr">
            <a:spAutoFit/>
          </a:bodyPr>
          <a:lstStyle/>
          <a:p>
            <a:pPr algn="l">
              <a:spcBef>
                <a:spcPts val="0"/>
              </a:spcBef>
              <a:spcAft>
                <a:spcPts val="0"/>
              </a:spcAft>
              <a:defRPr sz="1200" b="1">
                <a:solidFill>
                  <a:srgbClr val="FFFFFF"/>
                </a:solidFill>
                <a:latin typeface="Noto Sans"/>
              </a:defRPr>
            </a:pPr>
            <a:r>
              <a:t>1</a:t>
            </a:r>
          </a:p>
        </p:txBody>
      </p:sp>
      <p:sp>
        <p:nvSpPr>
          <p:cNvPr id="20" name="TextBox 19"/>
          <p:cNvSpPr txBox="1"/>
          <p:nvPr/>
        </p:nvSpPr>
        <p:spPr>
          <a:xfrm>
            <a:off x="886968" y="1060704"/>
            <a:ext cx="4572000" cy="320040"/>
          </a:xfrm>
          <a:prstGeom prst="rect">
            <a:avLst/>
          </a:prstGeom>
          <a:noFill/>
        </p:spPr>
        <p:txBody>
          <a:bodyPr wrap="square" lIns="9144" tIns="0" rIns="9144" bIns="0" anchor="ctr">
            <a:spAutoFit/>
          </a:bodyPr>
          <a:lstStyle/>
          <a:p>
            <a:pPr algn="l">
              <a:spcBef>
                <a:spcPts val="0"/>
              </a:spcBef>
              <a:spcAft>
                <a:spcPts val="0"/>
              </a:spcAft>
              <a:defRPr sz="1500" b="1">
                <a:solidFill>
                  <a:srgbClr val="041447"/>
                </a:solidFill>
                <a:latin typeface="Noto Sans"/>
              </a:defRPr>
            </a:pPr>
            <a:r>
              <a:t>Introduction</a:t>
            </a:r>
          </a:p>
        </p:txBody>
      </p:sp>
      <p:sp>
        <p:nvSpPr>
          <p:cNvPr id="21" name="TextBox 20"/>
          <p:cNvSpPr txBox="1"/>
          <p:nvPr/>
        </p:nvSpPr>
        <p:spPr>
          <a:xfrm>
            <a:off x="5577840" y="1060704"/>
            <a:ext cx="3127248" cy="320040"/>
          </a:xfrm>
          <a:prstGeom prst="rect">
            <a:avLst/>
          </a:prstGeom>
          <a:noFill/>
        </p:spPr>
        <p:txBody>
          <a:bodyPr wrap="square" lIns="9144" tIns="0" rIns="9144" bIns="0" anchor="ctr">
            <a:spAutoFit/>
          </a:bodyPr>
          <a:lstStyle/>
          <a:p>
            <a:pPr algn="l">
              <a:spcBef>
                <a:spcPts val="0"/>
              </a:spcBef>
              <a:spcAft>
                <a:spcPts val="0"/>
              </a:spcAft>
              <a:defRPr sz="1150" b="0">
                <a:solidFill>
                  <a:srgbClr val="607080"/>
                </a:solidFill>
                <a:latin typeface="Noto Sans"/>
              </a:defRPr>
            </a:pPr>
            <a:r>
              <a:t>What is the question?</a:t>
            </a:r>
          </a:p>
        </p:txBody>
      </p:sp>
      <p:sp>
        <p:nvSpPr>
          <p:cNvPr id="22" name="Rectangle 21"/>
          <p:cNvSpPr/>
          <p:nvPr/>
        </p:nvSpPr>
        <p:spPr>
          <a:xfrm>
            <a:off x="420624" y="1554480"/>
            <a:ext cx="310896" cy="265176"/>
          </a:xfrm>
          <a:prstGeom prst="rect">
            <a:avLst/>
          </a:prstGeom>
          <a:solidFill>
            <a:srgbClr val="008A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457200" y="1568195"/>
            <a:ext cx="237744" cy="228600"/>
          </a:xfrm>
          <a:prstGeom prst="rect">
            <a:avLst/>
          </a:prstGeom>
          <a:noFill/>
        </p:spPr>
        <p:txBody>
          <a:bodyPr wrap="square" lIns="9144" tIns="0" rIns="9144" bIns="0" anchor="ctr">
            <a:spAutoFit/>
          </a:bodyPr>
          <a:lstStyle/>
          <a:p>
            <a:pPr algn="l">
              <a:spcBef>
                <a:spcPts val="0"/>
              </a:spcBef>
              <a:spcAft>
                <a:spcPts val="0"/>
              </a:spcAft>
              <a:defRPr sz="1200" b="1">
                <a:solidFill>
                  <a:srgbClr val="FFFFFF"/>
                </a:solidFill>
                <a:latin typeface="Noto Sans"/>
              </a:defRPr>
            </a:pPr>
            <a:r>
              <a:t>2</a:t>
            </a:r>
          </a:p>
        </p:txBody>
      </p:sp>
      <p:sp>
        <p:nvSpPr>
          <p:cNvPr id="24" name="TextBox 23"/>
          <p:cNvSpPr txBox="1"/>
          <p:nvPr/>
        </p:nvSpPr>
        <p:spPr>
          <a:xfrm>
            <a:off x="886968" y="1554480"/>
            <a:ext cx="4572000" cy="320040"/>
          </a:xfrm>
          <a:prstGeom prst="rect">
            <a:avLst/>
          </a:prstGeom>
          <a:noFill/>
        </p:spPr>
        <p:txBody>
          <a:bodyPr wrap="square" lIns="9144" tIns="0" rIns="9144" bIns="0" anchor="ctr">
            <a:spAutoFit/>
          </a:bodyPr>
          <a:lstStyle/>
          <a:p>
            <a:pPr algn="l">
              <a:spcBef>
                <a:spcPts val="0"/>
              </a:spcBef>
              <a:spcAft>
                <a:spcPts val="0"/>
              </a:spcAft>
              <a:defRPr sz="1500" b="1">
                <a:solidFill>
                  <a:srgbClr val="041447"/>
                </a:solidFill>
                <a:latin typeface="Noto Sans"/>
              </a:defRPr>
            </a:pPr>
            <a:r>
              <a:t>Search trees and foundations</a:t>
            </a:r>
          </a:p>
        </p:txBody>
      </p:sp>
      <p:sp>
        <p:nvSpPr>
          <p:cNvPr id="25" name="TextBox 24"/>
          <p:cNvSpPr txBox="1"/>
          <p:nvPr/>
        </p:nvSpPr>
        <p:spPr>
          <a:xfrm>
            <a:off x="5577840" y="1554480"/>
            <a:ext cx="3127248" cy="320040"/>
          </a:xfrm>
          <a:prstGeom prst="rect">
            <a:avLst/>
          </a:prstGeom>
          <a:noFill/>
        </p:spPr>
        <p:txBody>
          <a:bodyPr wrap="square" lIns="9144" tIns="0" rIns="9144" bIns="0" anchor="ctr">
            <a:spAutoFit/>
          </a:bodyPr>
          <a:lstStyle/>
          <a:p>
            <a:pPr algn="l">
              <a:spcBef>
                <a:spcPts val="0"/>
              </a:spcBef>
              <a:spcAft>
                <a:spcPts val="0"/>
              </a:spcAft>
              <a:defRPr sz="1150" b="0">
                <a:solidFill>
                  <a:srgbClr val="607080"/>
                </a:solidFill>
                <a:latin typeface="Noto Sans"/>
              </a:defRPr>
            </a:pPr>
            <a:r>
              <a:t>What does the literature provide?</a:t>
            </a:r>
          </a:p>
        </p:txBody>
      </p:sp>
      <p:sp>
        <p:nvSpPr>
          <p:cNvPr id="26" name="Rectangle 25"/>
          <p:cNvSpPr/>
          <p:nvPr/>
        </p:nvSpPr>
        <p:spPr>
          <a:xfrm>
            <a:off x="420624" y="2048256"/>
            <a:ext cx="310896" cy="265176"/>
          </a:xfrm>
          <a:prstGeom prst="rect">
            <a:avLst/>
          </a:prstGeom>
          <a:solidFill>
            <a:srgbClr val="008A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457200" y="2061972"/>
            <a:ext cx="237744" cy="228600"/>
          </a:xfrm>
          <a:prstGeom prst="rect">
            <a:avLst/>
          </a:prstGeom>
          <a:noFill/>
        </p:spPr>
        <p:txBody>
          <a:bodyPr wrap="square" lIns="9144" tIns="0" rIns="9144" bIns="0" anchor="ctr">
            <a:spAutoFit/>
          </a:bodyPr>
          <a:lstStyle/>
          <a:p>
            <a:pPr algn="l">
              <a:spcBef>
                <a:spcPts val="0"/>
              </a:spcBef>
              <a:spcAft>
                <a:spcPts val="0"/>
              </a:spcAft>
              <a:defRPr sz="1200" b="1">
                <a:solidFill>
                  <a:srgbClr val="FFFFFF"/>
                </a:solidFill>
                <a:latin typeface="Noto Sans"/>
              </a:defRPr>
            </a:pPr>
            <a:r>
              <a:t>3</a:t>
            </a:r>
          </a:p>
        </p:txBody>
      </p:sp>
      <p:sp>
        <p:nvSpPr>
          <p:cNvPr id="28" name="TextBox 27"/>
          <p:cNvSpPr txBox="1"/>
          <p:nvPr/>
        </p:nvSpPr>
        <p:spPr>
          <a:xfrm>
            <a:off x="886968" y="2048256"/>
            <a:ext cx="4572000" cy="320040"/>
          </a:xfrm>
          <a:prstGeom prst="rect">
            <a:avLst/>
          </a:prstGeom>
          <a:noFill/>
        </p:spPr>
        <p:txBody>
          <a:bodyPr wrap="square" lIns="9144" tIns="0" rIns="9144" bIns="0" anchor="ctr">
            <a:spAutoFit/>
          </a:bodyPr>
          <a:lstStyle/>
          <a:p>
            <a:pPr algn="l">
              <a:spcBef>
                <a:spcPts val="0"/>
              </a:spcBef>
              <a:spcAft>
                <a:spcPts val="0"/>
              </a:spcAft>
              <a:defRPr sz="1500" b="1">
                <a:solidFill>
                  <a:srgbClr val="041447"/>
                </a:solidFill>
                <a:latin typeface="Noto Sans"/>
              </a:defRPr>
            </a:pPr>
            <a:r>
              <a:t>Concepts of a cache-aware measurement system</a:t>
            </a:r>
          </a:p>
        </p:txBody>
      </p:sp>
      <p:sp>
        <p:nvSpPr>
          <p:cNvPr id="29" name="TextBox 28"/>
          <p:cNvSpPr txBox="1"/>
          <p:nvPr/>
        </p:nvSpPr>
        <p:spPr>
          <a:xfrm>
            <a:off x="5577840" y="2048256"/>
            <a:ext cx="3127248" cy="320040"/>
          </a:xfrm>
          <a:prstGeom prst="rect">
            <a:avLst/>
          </a:prstGeom>
          <a:noFill/>
        </p:spPr>
        <p:txBody>
          <a:bodyPr wrap="square" lIns="9144" tIns="0" rIns="9144" bIns="0" anchor="ctr">
            <a:spAutoFit/>
          </a:bodyPr>
          <a:lstStyle/>
          <a:p>
            <a:pPr algn="l">
              <a:spcBef>
                <a:spcPts val="0"/>
              </a:spcBef>
              <a:spcAft>
                <a:spcPts val="0"/>
              </a:spcAft>
              <a:defRPr sz="1150" b="0">
                <a:solidFill>
                  <a:srgbClr val="607080"/>
                </a:solidFill>
                <a:latin typeface="Noto Sans"/>
              </a:defRPr>
            </a:pPr>
            <a:r>
              <a:t>How are the decisions separated?</a:t>
            </a:r>
          </a:p>
        </p:txBody>
      </p:sp>
      <p:sp>
        <p:nvSpPr>
          <p:cNvPr id="30" name="Rectangle 29"/>
          <p:cNvSpPr/>
          <p:nvPr/>
        </p:nvSpPr>
        <p:spPr>
          <a:xfrm>
            <a:off x="420624" y="2542032"/>
            <a:ext cx="310896" cy="265176"/>
          </a:xfrm>
          <a:prstGeom prst="rect">
            <a:avLst/>
          </a:prstGeom>
          <a:solidFill>
            <a:srgbClr val="008A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457200" y="2555748"/>
            <a:ext cx="237744" cy="228600"/>
          </a:xfrm>
          <a:prstGeom prst="rect">
            <a:avLst/>
          </a:prstGeom>
          <a:noFill/>
        </p:spPr>
        <p:txBody>
          <a:bodyPr wrap="square" lIns="9144" tIns="0" rIns="9144" bIns="0" anchor="ctr">
            <a:spAutoFit/>
          </a:bodyPr>
          <a:lstStyle/>
          <a:p>
            <a:pPr algn="l">
              <a:spcBef>
                <a:spcPts val="0"/>
              </a:spcBef>
              <a:spcAft>
                <a:spcPts val="0"/>
              </a:spcAft>
              <a:defRPr sz="1200" b="1">
                <a:solidFill>
                  <a:srgbClr val="FFFFFF"/>
                </a:solidFill>
                <a:latin typeface="Noto Sans"/>
              </a:defRPr>
            </a:pPr>
            <a:r>
              <a:t>4</a:t>
            </a:r>
          </a:p>
        </p:txBody>
      </p:sp>
      <p:sp>
        <p:nvSpPr>
          <p:cNvPr id="32" name="TextBox 31"/>
          <p:cNvSpPr txBox="1"/>
          <p:nvPr/>
        </p:nvSpPr>
        <p:spPr>
          <a:xfrm>
            <a:off x="886968" y="2542032"/>
            <a:ext cx="4572000" cy="320040"/>
          </a:xfrm>
          <a:prstGeom prst="rect">
            <a:avLst/>
          </a:prstGeom>
          <a:noFill/>
        </p:spPr>
        <p:txBody>
          <a:bodyPr wrap="square" lIns="9144" tIns="0" rIns="9144" bIns="0" anchor="ctr">
            <a:spAutoFit/>
          </a:bodyPr>
          <a:lstStyle/>
          <a:p>
            <a:pPr algn="l">
              <a:spcBef>
                <a:spcPts val="0"/>
              </a:spcBef>
              <a:spcAft>
                <a:spcPts val="0"/>
              </a:spcAft>
              <a:defRPr sz="1500" b="1">
                <a:solidFill>
                  <a:srgbClr val="041447"/>
                </a:solidFill>
                <a:latin typeface="Noto Sans"/>
              </a:defRPr>
            </a:pPr>
            <a:r>
              <a:t>Implementation</a:t>
            </a:r>
          </a:p>
        </p:txBody>
      </p:sp>
      <p:sp>
        <p:nvSpPr>
          <p:cNvPr id="33" name="TextBox 32"/>
          <p:cNvSpPr txBox="1"/>
          <p:nvPr/>
        </p:nvSpPr>
        <p:spPr>
          <a:xfrm>
            <a:off x="5577840" y="2542032"/>
            <a:ext cx="3127248" cy="320040"/>
          </a:xfrm>
          <a:prstGeom prst="rect">
            <a:avLst/>
          </a:prstGeom>
          <a:noFill/>
        </p:spPr>
        <p:txBody>
          <a:bodyPr wrap="square" lIns="9144" tIns="0" rIns="9144" bIns="0" anchor="ctr">
            <a:spAutoFit/>
          </a:bodyPr>
          <a:lstStyle/>
          <a:p>
            <a:pPr algn="l">
              <a:spcBef>
                <a:spcPts val="0"/>
              </a:spcBef>
              <a:spcAft>
                <a:spcPts val="0"/>
              </a:spcAft>
              <a:defRPr sz="1150" b="0">
                <a:solidFill>
                  <a:srgbClr val="607080"/>
                </a:solidFill>
                <a:latin typeface="Noto Sans"/>
              </a:defRPr>
            </a:pPr>
            <a:r>
              <a:t>How does the apparatus execute the idea?</a:t>
            </a:r>
          </a:p>
        </p:txBody>
      </p:sp>
      <p:sp>
        <p:nvSpPr>
          <p:cNvPr id="34" name="Rectangle 33"/>
          <p:cNvSpPr/>
          <p:nvPr/>
        </p:nvSpPr>
        <p:spPr>
          <a:xfrm>
            <a:off x="420624" y="3035808"/>
            <a:ext cx="310896" cy="265176"/>
          </a:xfrm>
          <a:prstGeom prst="rect">
            <a:avLst/>
          </a:prstGeom>
          <a:solidFill>
            <a:srgbClr val="008A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457200" y="3049524"/>
            <a:ext cx="237744" cy="228600"/>
          </a:xfrm>
          <a:prstGeom prst="rect">
            <a:avLst/>
          </a:prstGeom>
          <a:noFill/>
        </p:spPr>
        <p:txBody>
          <a:bodyPr wrap="square" lIns="9144" tIns="0" rIns="9144" bIns="0" anchor="ctr">
            <a:spAutoFit/>
          </a:bodyPr>
          <a:lstStyle/>
          <a:p>
            <a:pPr algn="l">
              <a:spcBef>
                <a:spcPts val="0"/>
              </a:spcBef>
              <a:spcAft>
                <a:spcPts val="0"/>
              </a:spcAft>
              <a:defRPr sz="1200" b="1">
                <a:solidFill>
                  <a:srgbClr val="FFFFFF"/>
                </a:solidFill>
                <a:latin typeface="Noto Sans"/>
              </a:defRPr>
            </a:pPr>
            <a:r>
              <a:t>5</a:t>
            </a:r>
          </a:p>
        </p:txBody>
      </p:sp>
      <p:sp>
        <p:nvSpPr>
          <p:cNvPr id="36" name="TextBox 35"/>
          <p:cNvSpPr txBox="1"/>
          <p:nvPr/>
        </p:nvSpPr>
        <p:spPr>
          <a:xfrm>
            <a:off x="886968" y="3035808"/>
            <a:ext cx="4572000" cy="320040"/>
          </a:xfrm>
          <a:prstGeom prst="rect">
            <a:avLst/>
          </a:prstGeom>
          <a:noFill/>
        </p:spPr>
        <p:txBody>
          <a:bodyPr wrap="square" lIns="9144" tIns="0" rIns="9144" bIns="0" anchor="ctr">
            <a:spAutoFit/>
          </a:bodyPr>
          <a:lstStyle/>
          <a:p>
            <a:pPr algn="l">
              <a:spcBef>
                <a:spcPts val="0"/>
              </a:spcBef>
              <a:spcAft>
                <a:spcPts val="0"/>
              </a:spcAft>
              <a:defRPr sz="1500" b="1">
                <a:solidFill>
                  <a:srgbClr val="041447"/>
                </a:solidFill>
                <a:latin typeface="Noto Sans"/>
              </a:defRPr>
            </a:pPr>
            <a:r>
              <a:t>Evaluation</a:t>
            </a:r>
          </a:p>
        </p:txBody>
      </p:sp>
      <p:sp>
        <p:nvSpPr>
          <p:cNvPr id="37" name="TextBox 36"/>
          <p:cNvSpPr txBox="1"/>
          <p:nvPr/>
        </p:nvSpPr>
        <p:spPr>
          <a:xfrm>
            <a:off x="5577840" y="3035808"/>
            <a:ext cx="3127248" cy="320040"/>
          </a:xfrm>
          <a:prstGeom prst="rect">
            <a:avLst/>
          </a:prstGeom>
          <a:noFill/>
        </p:spPr>
        <p:txBody>
          <a:bodyPr wrap="square" lIns="9144" tIns="0" rIns="9144" bIns="0" anchor="ctr">
            <a:spAutoFit/>
          </a:bodyPr>
          <a:lstStyle/>
          <a:p>
            <a:pPr algn="l">
              <a:spcBef>
                <a:spcPts val="0"/>
              </a:spcBef>
              <a:spcAft>
                <a:spcPts val="0"/>
              </a:spcAft>
              <a:defRPr sz="1150" b="0">
                <a:solidFill>
                  <a:srgbClr val="607080"/>
                </a:solidFill>
                <a:latin typeface="Noto Sans"/>
              </a:defRPr>
            </a:pPr>
            <a:r>
              <a:t>What do the comparisons show?</a:t>
            </a:r>
          </a:p>
        </p:txBody>
      </p:sp>
      <p:sp>
        <p:nvSpPr>
          <p:cNvPr id="38" name="Rectangle 37"/>
          <p:cNvSpPr/>
          <p:nvPr/>
        </p:nvSpPr>
        <p:spPr>
          <a:xfrm>
            <a:off x="420624" y="3529584"/>
            <a:ext cx="310896" cy="265176"/>
          </a:xfrm>
          <a:prstGeom prst="rect">
            <a:avLst/>
          </a:prstGeom>
          <a:solidFill>
            <a:srgbClr val="008A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457200" y="3543300"/>
            <a:ext cx="237744" cy="228600"/>
          </a:xfrm>
          <a:prstGeom prst="rect">
            <a:avLst/>
          </a:prstGeom>
          <a:noFill/>
        </p:spPr>
        <p:txBody>
          <a:bodyPr wrap="square" lIns="9144" tIns="0" rIns="9144" bIns="0" anchor="ctr">
            <a:spAutoFit/>
          </a:bodyPr>
          <a:lstStyle/>
          <a:p>
            <a:pPr algn="l">
              <a:spcBef>
                <a:spcPts val="0"/>
              </a:spcBef>
              <a:spcAft>
                <a:spcPts val="0"/>
              </a:spcAft>
              <a:defRPr sz="1200" b="1">
                <a:solidFill>
                  <a:srgbClr val="FFFFFF"/>
                </a:solidFill>
                <a:latin typeface="Noto Sans"/>
              </a:defRPr>
            </a:pPr>
            <a:r>
              <a:t>6</a:t>
            </a:r>
          </a:p>
        </p:txBody>
      </p:sp>
      <p:sp>
        <p:nvSpPr>
          <p:cNvPr id="40" name="TextBox 39"/>
          <p:cNvSpPr txBox="1"/>
          <p:nvPr/>
        </p:nvSpPr>
        <p:spPr>
          <a:xfrm>
            <a:off x="886968" y="3529584"/>
            <a:ext cx="4572000" cy="320040"/>
          </a:xfrm>
          <a:prstGeom prst="rect">
            <a:avLst/>
          </a:prstGeom>
          <a:noFill/>
        </p:spPr>
        <p:txBody>
          <a:bodyPr wrap="square" lIns="9144" tIns="0" rIns="9144" bIns="0" anchor="ctr">
            <a:spAutoFit/>
          </a:bodyPr>
          <a:lstStyle/>
          <a:p>
            <a:pPr algn="l">
              <a:spcBef>
                <a:spcPts val="0"/>
              </a:spcBef>
              <a:spcAft>
                <a:spcPts val="0"/>
              </a:spcAft>
              <a:defRPr sz="1500" b="1">
                <a:solidFill>
                  <a:srgbClr val="041447"/>
                </a:solidFill>
                <a:latin typeface="Noto Sans"/>
              </a:defRPr>
            </a:pPr>
            <a:r>
              <a:t>Conclusion and outlook</a:t>
            </a:r>
          </a:p>
        </p:txBody>
      </p:sp>
      <p:sp>
        <p:nvSpPr>
          <p:cNvPr id="41" name="TextBox 40"/>
          <p:cNvSpPr txBox="1"/>
          <p:nvPr/>
        </p:nvSpPr>
        <p:spPr>
          <a:xfrm>
            <a:off x="5577840" y="3529584"/>
            <a:ext cx="3127248" cy="320040"/>
          </a:xfrm>
          <a:prstGeom prst="rect">
            <a:avLst/>
          </a:prstGeom>
          <a:noFill/>
        </p:spPr>
        <p:txBody>
          <a:bodyPr wrap="square" lIns="9144" tIns="0" rIns="9144" bIns="0" anchor="ctr">
            <a:spAutoFit/>
          </a:bodyPr>
          <a:lstStyle/>
          <a:p>
            <a:pPr algn="l">
              <a:spcBef>
                <a:spcPts val="0"/>
              </a:spcBef>
              <a:spcAft>
                <a:spcPts val="0"/>
              </a:spcAft>
              <a:defRPr sz="1150" b="0">
                <a:solidFill>
                  <a:srgbClr val="607080"/>
                </a:solidFill>
                <a:latin typeface="Noto Sans"/>
              </a:defRPr>
            </a:pPr>
            <a:r>
              <a:t>What follows from the evidence?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83464" y="182880"/>
            <a:ext cx="7360920" cy="438912"/>
          </a:xfrm>
          <a:prstGeom prst="rect">
            <a:avLst/>
          </a:prstGeom>
          <a:noFill/>
        </p:spPr>
        <p:txBody>
          <a:bodyPr wrap="square" lIns="9144" tIns="0" rIns="9144" bIns="0" anchor="ctr">
            <a:spAutoFit/>
          </a:bodyPr>
          <a:lstStyle/>
          <a:p>
            <a:pPr algn="l">
              <a:spcBef>
                <a:spcPts val="0"/>
              </a:spcBef>
              <a:spcAft>
                <a:spcPts val="0"/>
              </a:spcAft>
              <a:defRPr sz="2400" b="1">
                <a:solidFill>
                  <a:srgbClr val="041447"/>
                </a:solidFill>
                <a:latin typeface="Noto Sans"/>
              </a:defRPr>
            </a:pPr>
            <a:r>
              <a:t>The puzzle system: one construction profile</a:t>
            </a:r>
          </a:p>
        </p:txBody>
      </p:sp>
      <p:sp>
        <p:nvSpPr>
          <p:cNvPr id="3" name="Rectangle 2"/>
          <p:cNvSpPr/>
          <p:nvPr/>
        </p:nvSpPr>
        <p:spPr>
          <a:xfrm>
            <a:off x="310896" y="786384"/>
            <a:ext cx="1197864" cy="45720"/>
          </a:xfrm>
          <a:prstGeom prst="rect">
            <a:avLst/>
          </a:prstGeom>
          <a:solidFill>
            <a:srgbClr val="D2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10896" y="621792"/>
            <a:ext cx="1197864" cy="164592"/>
          </a:xfrm>
          <a:prstGeom prst="rect">
            <a:avLst/>
          </a:prstGeom>
          <a:noFill/>
        </p:spPr>
        <p:txBody>
          <a:bodyPr wrap="square" lIns="9144" tIns="0" rIns="9144" bIns="0" anchor="ctr">
            <a:spAutoFit/>
          </a:bodyPr>
          <a:lstStyle/>
          <a:p>
            <a:pPr algn="l">
              <a:spcBef>
                <a:spcPts val="0"/>
              </a:spcBef>
              <a:spcAft>
                <a:spcPts val="0"/>
              </a:spcAft>
              <a:defRPr sz="850" b="0">
                <a:solidFill>
                  <a:srgbClr val="607080"/>
                </a:solidFill>
                <a:latin typeface="Noto Sans"/>
              </a:defRPr>
            </a:pPr>
            <a:r>
              <a:t>1 Introduction</a:t>
            </a:r>
          </a:p>
        </p:txBody>
      </p:sp>
      <p:sp>
        <p:nvSpPr>
          <p:cNvPr id="5" name="Rectangle 4"/>
          <p:cNvSpPr/>
          <p:nvPr/>
        </p:nvSpPr>
        <p:spPr>
          <a:xfrm>
            <a:off x="1545336" y="786384"/>
            <a:ext cx="1243584" cy="45720"/>
          </a:xfrm>
          <a:prstGeom prst="rect">
            <a:avLst/>
          </a:prstGeom>
          <a:solidFill>
            <a:srgbClr val="D2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545336" y="621792"/>
            <a:ext cx="1243584" cy="164592"/>
          </a:xfrm>
          <a:prstGeom prst="rect">
            <a:avLst/>
          </a:prstGeom>
          <a:noFill/>
        </p:spPr>
        <p:txBody>
          <a:bodyPr wrap="square" lIns="9144" tIns="0" rIns="9144" bIns="0" anchor="ctr">
            <a:spAutoFit/>
          </a:bodyPr>
          <a:lstStyle/>
          <a:p>
            <a:pPr algn="l">
              <a:spcBef>
                <a:spcPts val="0"/>
              </a:spcBef>
              <a:spcAft>
                <a:spcPts val="0"/>
              </a:spcAft>
              <a:defRPr sz="850" b="0">
                <a:solidFill>
                  <a:srgbClr val="607080"/>
                </a:solidFill>
                <a:latin typeface="Noto Sans"/>
              </a:defRPr>
            </a:pPr>
            <a:r>
              <a:t>2 Background</a:t>
            </a:r>
          </a:p>
        </p:txBody>
      </p:sp>
      <p:sp>
        <p:nvSpPr>
          <p:cNvPr id="7" name="Rectangle 6"/>
          <p:cNvSpPr/>
          <p:nvPr/>
        </p:nvSpPr>
        <p:spPr>
          <a:xfrm>
            <a:off x="2825496" y="786384"/>
            <a:ext cx="1078992" cy="45720"/>
          </a:xfrm>
          <a:prstGeom prst="rect">
            <a:avLst/>
          </a:prstGeom>
          <a:solidFill>
            <a:srgbClr val="008A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2825496" y="621792"/>
            <a:ext cx="1078992" cy="164592"/>
          </a:xfrm>
          <a:prstGeom prst="rect">
            <a:avLst/>
          </a:prstGeom>
          <a:noFill/>
        </p:spPr>
        <p:txBody>
          <a:bodyPr wrap="square" lIns="9144" tIns="0" rIns="9144" bIns="0" anchor="ctr">
            <a:spAutoFit/>
          </a:bodyPr>
          <a:lstStyle/>
          <a:p>
            <a:pPr algn="l">
              <a:spcBef>
                <a:spcPts val="0"/>
              </a:spcBef>
              <a:spcAft>
                <a:spcPts val="0"/>
              </a:spcAft>
              <a:defRPr sz="850" b="1">
                <a:solidFill>
                  <a:srgbClr val="008A96"/>
                </a:solidFill>
                <a:latin typeface="Noto Sans"/>
              </a:defRPr>
            </a:pPr>
            <a:r>
              <a:t>3 Concept</a:t>
            </a:r>
          </a:p>
        </p:txBody>
      </p:sp>
      <p:sp>
        <p:nvSpPr>
          <p:cNvPr id="9" name="Rectangle 8"/>
          <p:cNvSpPr/>
          <p:nvPr/>
        </p:nvSpPr>
        <p:spPr>
          <a:xfrm>
            <a:off x="3941063" y="786384"/>
            <a:ext cx="1645920" cy="45720"/>
          </a:xfrm>
          <a:prstGeom prst="rect">
            <a:avLst/>
          </a:prstGeom>
          <a:solidFill>
            <a:srgbClr val="D2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941063" y="621792"/>
            <a:ext cx="1645920" cy="164592"/>
          </a:xfrm>
          <a:prstGeom prst="rect">
            <a:avLst/>
          </a:prstGeom>
          <a:noFill/>
        </p:spPr>
        <p:txBody>
          <a:bodyPr wrap="square" lIns="9144" tIns="0" rIns="9144" bIns="0" anchor="ctr">
            <a:spAutoFit/>
          </a:bodyPr>
          <a:lstStyle/>
          <a:p>
            <a:pPr algn="l">
              <a:spcBef>
                <a:spcPts val="0"/>
              </a:spcBef>
              <a:spcAft>
                <a:spcPts val="0"/>
              </a:spcAft>
              <a:defRPr sz="850" b="0">
                <a:solidFill>
                  <a:srgbClr val="607080"/>
                </a:solidFill>
                <a:latin typeface="Noto Sans"/>
              </a:defRPr>
            </a:pPr>
            <a:r>
              <a:t>4 Implementation</a:t>
            </a:r>
          </a:p>
        </p:txBody>
      </p:sp>
      <p:sp>
        <p:nvSpPr>
          <p:cNvPr id="11" name="Rectangle 10"/>
          <p:cNvSpPr/>
          <p:nvPr/>
        </p:nvSpPr>
        <p:spPr>
          <a:xfrm>
            <a:off x="5623559" y="786384"/>
            <a:ext cx="1252728" cy="45720"/>
          </a:xfrm>
          <a:prstGeom prst="rect">
            <a:avLst/>
          </a:prstGeom>
          <a:solidFill>
            <a:srgbClr val="D2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623559" y="621792"/>
            <a:ext cx="1252728" cy="164592"/>
          </a:xfrm>
          <a:prstGeom prst="rect">
            <a:avLst/>
          </a:prstGeom>
          <a:noFill/>
        </p:spPr>
        <p:txBody>
          <a:bodyPr wrap="square" lIns="9144" tIns="0" rIns="9144" bIns="0" anchor="ctr">
            <a:spAutoFit/>
          </a:bodyPr>
          <a:lstStyle/>
          <a:p>
            <a:pPr algn="l">
              <a:spcBef>
                <a:spcPts val="0"/>
              </a:spcBef>
              <a:spcAft>
                <a:spcPts val="0"/>
              </a:spcAft>
              <a:defRPr sz="850" b="0">
                <a:solidFill>
                  <a:srgbClr val="607080"/>
                </a:solidFill>
                <a:latin typeface="Noto Sans"/>
              </a:defRPr>
            </a:pPr>
            <a:r>
              <a:t>5 Evaluation</a:t>
            </a:r>
          </a:p>
        </p:txBody>
      </p:sp>
      <p:sp>
        <p:nvSpPr>
          <p:cNvPr id="13" name="Rectangle 12"/>
          <p:cNvSpPr/>
          <p:nvPr/>
        </p:nvSpPr>
        <p:spPr>
          <a:xfrm>
            <a:off x="6912864" y="786384"/>
            <a:ext cx="1216152" cy="45720"/>
          </a:xfrm>
          <a:prstGeom prst="rect">
            <a:avLst/>
          </a:prstGeom>
          <a:solidFill>
            <a:srgbClr val="D2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912864" y="621792"/>
            <a:ext cx="1216152" cy="164592"/>
          </a:xfrm>
          <a:prstGeom prst="rect">
            <a:avLst/>
          </a:prstGeom>
          <a:noFill/>
        </p:spPr>
        <p:txBody>
          <a:bodyPr wrap="square" lIns="9144" tIns="0" rIns="9144" bIns="0" anchor="ctr">
            <a:spAutoFit/>
          </a:bodyPr>
          <a:lstStyle/>
          <a:p>
            <a:pPr algn="l">
              <a:spcBef>
                <a:spcPts val="0"/>
              </a:spcBef>
              <a:spcAft>
                <a:spcPts val="0"/>
              </a:spcAft>
              <a:defRPr sz="850" b="0">
                <a:solidFill>
                  <a:srgbClr val="607080"/>
                </a:solidFill>
                <a:latin typeface="Noto Sans"/>
              </a:defRPr>
            </a:pPr>
            <a:r>
              <a:t>6 Conclusion</a:t>
            </a:r>
          </a:p>
        </p:txBody>
      </p:sp>
      <p:sp>
        <p:nvSpPr>
          <p:cNvPr id="15" name="TextBox 14"/>
          <p:cNvSpPr txBox="1"/>
          <p:nvPr/>
        </p:nvSpPr>
        <p:spPr>
          <a:xfrm>
            <a:off x="320040" y="4572000"/>
            <a:ext cx="8321040" cy="182880"/>
          </a:xfrm>
          <a:prstGeom prst="rect">
            <a:avLst/>
          </a:prstGeom>
          <a:noFill/>
        </p:spPr>
        <p:txBody>
          <a:bodyPr wrap="square" lIns="9144" tIns="0" rIns="9144" bIns="0" anchor="ctr">
            <a:spAutoFit/>
          </a:bodyPr>
          <a:lstStyle/>
          <a:p>
            <a:pPr algn="l">
              <a:spcBef>
                <a:spcPts val="0"/>
              </a:spcBef>
              <a:spcAft>
                <a:spcPts val="0"/>
              </a:spcAft>
              <a:defRPr sz="810" b="0">
                <a:solidFill>
                  <a:srgbClr val="607080"/>
                </a:solidFill>
                <a:latin typeface="Noto Sans"/>
              </a:defRPr>
            </a:pPr>
            <a:r>
              <a:t>Thesis §§3.2, 3.4.1; 33 profiles (30 full, 3 abstract)  |  'puzzle' is the talk's image; thesis: axis permutation matrix</a:t>
            </a:r>
          </a:p>
        </p:txBody>
      </p:sp>
      <p:sp>
        <p:nvSpPr>
          <p:cNvPr id="16" name="TextBox 15"/>
          <p:cNvSpPr txBox="1"/>
          <p:nvPr/>
        </p:nvSpPr>
        <p:spPr>
          <a:xfrm>
            <a:off x="1234440" y="4873752"/>
            <a:ext cx="6766560" cy="164592"/>
          </a:xfrm>
          <a:prstGeom prst="rect">
            <a:avLst/>
          </a:prstGeom>
          <a:noFill/>
        </p:spPr>
        <p:txBody>
          <a:bodyPr wrap="square" lIns="9144" tIns="0" rIns="9144" bIns="0" anchor="ctr">
            <a:spAutoFit/>
          </a:bodyPr>
          <a:lstStyle/>
          <a:p>
            <a:pPr algn="l">
              <a:spcBef>
                <a:spcPts val="0"/>
              </a:spcBef>
              <a:spcAft>
                <a:spcPts val="0"/>
              </a:spcAft>
              <a:defRPr sz="830" b="0">
                <a:solidFill>
                  <a:srgbClr val="041447"/>
                </a:solidFill>
                <a:latin typeface="Noto Sans"/>
              </a:defRPr>
            </a:pPr>
            <a:r>
              <a:t>Benjamin-Elias Probst  |  Diploma thesis defense  |  28 September 2026</a:t>
            </a:r>
          </a:p>
        </p:txBody>
      </p:sp>
      <p:sp>
        <p:nvSpPr>
          <p:cNvPr id="17" name="TextBox 16"/>
          <p:cNvSpPr txBox="1"/>
          <p:nvPr/>
        </p:nvSpPr>
        <p:spPr>
          <a:xfrm>
            <a:off x="8412480" y="4864608"/>
            <a:ext cx="393192" cy="192024"/>
          </a:xfrm>
          <a:prstGeom prst="rect">
            <a:avLst/>
          </a:prstGeom>
          <a:noFill/>
        </p:spPr>
        <p:txBody>
          <a:bodyPr wrap="square" lIns="9144" tIns="0" rIns="9144" bIns="0" anchor="ctr">
            <a:spAutoFit/>
          </a:bodyPr>
          <a:lstStyle/>
          <a:p>
            <a:pPr algn="r">
              <a:spcBef>
                <a:spcPts val="0"/>
              </a:spcBef>
              <a:spcAft>
                <a:spcPts val="0"/>
              </a:spcAft>
              <a:defRPr sz="900" b="1">
                <a:solidFill>
                  <a:srgbClr val="041447"/>
                </a:solidFill>
                <a:latin typeface="Noto Sans"/>
              </a:defRPr>
            </a:pPr>
            <a:r>
              <a:t>5</a:t>
            </a:r>
          </a:p>
        </p:txBody>
      </p:sp>
      <p:sp>
        <p:nvSpPr>
          <p:cNvPr id="18" name="TextBox 17"/>
          <p:cNvSpPr txBox="1"/>
          <p:nvPr/>
        </p:nvSpPr>
        <p:spPr>
          <a:xfrm>
            <a:off x="2103120" y="1060704"/>
            <a:ext cx="3017520" cy="274320"/>
          </a:xfrm>
          <a:prstGeom prst="rect">
            <a:avLst/>
          </a:prstGeom>
          <a:noFill/>
        </p:spPr>
        <p:txBody>
          <a:bodyPr wrap="square" lIns="9144" tIns="0" rIns="9144" bIns="0" anchor="ctr">
            <a:spAutoFit/>
          </a:bodyPr>
          <a:lstStyle/>
          <a:p>
            <a:pPr algn="l">
              <a:spcBef>
                <a:spcPts val="0"/>
              </a:spcBef>
              <a:spcAft>
                <a:spcPts val="0"/>
              </a:spcAft>
              <a:defRPr sz="1200" b="1">
                <a:solidFill>
                  <a:srgbClr val="041447"/>
                </a:solidFill>
                <a:latin typeface="Noto Sans"/>
              </a:defRPr>
            </a:pPr>
            <a:r>
              <a:t>WHERE THE PIECES COME FROM</a:t>
            </a:r>
          </a:p>
        </p:txBody>
      </p:sp>
      <p:sp>
        <p:nvSpPr>
          <p:cNvPr id="19" name="TextBox 18"/>
          <p:cNvSpPr txBox="1"/>
          <p:nvPr/>
        </p:nvSpPr>
        <p:spPr>
          <a:xfrm>
            <a:off x="5550408" y="1060704"/>
            <a:ext cx="3017520" cy="274320"/>
          </a:xfrm>
          <a:prstGeom prst="rect">
            <a:avLst/>
          </a:prstGeom>
          <a:noFill/>
        </p:spPr>
        <p:txBody>
          <a:bodyPr wrap="square" lIns="9144" tIns="0" rIns="9144" bIns="0" anchor="ctr">
            <a:spAutoFit/>
          </a:bodyPr>
          <a:lstStyle/>
          <a:p>
            <a:pPr algn="l">
              <a:spcBef>
                <a:spcPts val="0"/>
              </a:spcBef>
              <a:spcAft>
                <a:spcPts val="0"/>
              </a:spcAft>
              <a:defRPr sz="1200" b="1">
                <a:solidFill>
                  <a:srgbClr val="041447"/>
                </a:solidFill>
                <a:latin typeface="Noto Sans"/>
              </a:defRPr>
            </a:pPr>
            <a:r>
              <a:t>HOW THE PUZZLE IS PLAYED</a:t>
            </a:r>
          </a:p>
        </p:txBody>
      </p:sp>
      <p:grpSp>
        <p:nvGrpSpPr>
          <p:cNvPr id="43" name="ORGAN AXES: the eighteen organs and the construction profile"/>
          <p:cNvGrpSpPr/>
          <p:nvPr/>
        </p:nvGrpSpPr>
        <p:grpSpPr>
          <a:xfrm>
            <a:off x="411480" y="1572768"/>
            <a:ext cx="8275320" cy="512064"/>
            <a:chOff x="411480" y="1572768"/>
            <a:chExt cx="8275320" cy="512064"/>
          </a:xfrm>
        </p:grpSpPr>
        <p:sp>
          <p:nvSpPr>
            <p:cNvPr id="20" name="Rectangle 19"/>
            <p:cNvSpPr/>
            <p:nvPr/>
          </p:nvSpPr>
          <p:spPr>
            <a:xfrm>
              <a:off x="411480" y="1664208"/>
              <a:ext cx="1500000" cy="265176"/>
            </a:xfrm>
            <a:prstGeom prst="rect">
              <a:avLst/>
            </a:prstGeom>
            <a:solidFill>
              <a:srgbClr val="008A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448056" y="1677924"/>
              <a:ext cx="1430000" cy="228600"/>
            </a:xfrm>
            <a:prstGeom prst="rect">
              <a:avLst/>
            </a:prstGeom>
            <a:noFill/>
          </p:spPr>
          <p:txBody>
            <a:bodyPr wrap="square" lIns="9144" tIns="0" rIns="9144" bIns="0" anchor="ctr">
              <a:spAutoFit/>
            </a:bodyPr>
            <a:lstStyle/>
            <a:p>
              <a:pPr algn="l">
                <a:spcBef>
                  <a:spcPts val="0"/>
                </a:spcBef>
                <a:spcAft>
                  <a:spcPts val="0"/>
                </a:spcAft>
                <a:defRPr sz="1000" b="1">
                  <a:solidFill>
                    <a:srgbClr val="FFFFFF"/>
                  </a:solidFill>
                  <a:latin typeface="Noto Sans"/>
                </a:defRPr>
              </a:pPr>
              <a:r>
                <a:t>Organ axes</a:t>
              </a:r>
            </a:p>
          </p:txBody>
        </p:sp>
        <p:sp>
          <p:nvSpPr>
            <p:cNvPr id="22" name="Rectangle 21"/>
            <p:cNvSpPr/>
            <p:nvPr/>
          </p:nvSpPr>
          <p:spPr>
            <a:xfrm>
              <a:off x="1947672" y="1572768"/>
              <a:ext cx="3099816" cy="512064"/>
            </a:xfrm>
            <a:prstGeom prst="rect">
              <a:avLst/>
            </a:prstGeom>
            <a:solidFill>
              <a:srgbClr val="EFF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2093976" y="1613916"/>
              <a:ext cx="2834640" cy="420624"/>
            </a:xfrm>
            <a:prstGeom prst="rect">
              <a:avLst/>
            </a:prstGeom>
            <a:noFill/>
          </p:spPr>
          <p:txBody>
            <a:bodyPr wrap="square" lIns="9144" tIns="0" rIns="9144" bIns="0" anchor="ctr">
              <a:spAutoFit/>
            </a:bodyPr>
            <a:lstStyle/>
            <a:p>
              <a:pPr algn="l">
                <a:spcBef>
                  <a:spcPts val="0"/>
                </a:spcBef>
                <a:spcAft>
                  <a:spcPts val="0"/>
                </a:spcAft>
                <a:defRPr sz="1200" b="0">
                  <a:solidFill>
                    <a:srgbClr val="192B43"/>
                  </a:solidFill>
                  <a:latin typeface="Noto Sans"/>
                </a:defRPr>
              </a:pPr>
              <a:r>
                <a:t>18 organs of a search algorithm, from 33 published designs</a:t>
              </a:r>
            </a:p>
          </p:txBody>
        </p:sp>
        <p:cxnSp>
          <p:nvCxnSpPr>
            <p:cNvPr id="24" name="Connector 23"/>
            <p:cNvCxnSpPr/>
            <p:nvPr/>
          </p:nvCxnSpPr>
          <p:spPr>
            <a:xfrm>
              <a:off x="5111496" y="1828800"/>
              <a:ext cx="320040" cy="0"/>
            </a:xfrm>
            <a:prstGeom prst="line">
              <a:avLst/>
            </a:prstGeom>
            <a:ln w="22860">
              <a:solidFill>
                <a:srgbClr val="008A96"/>
              </a:solidFill>
              <a:tailEnd type="triangle" w="sm" len="sm"/>
            </a:ln>
          </p:spPr>
          <p:style>
            <a:lnRef idx="2">
              <a:schemeClr val="accent1"/>
            </a:lnRef>
            <a:fillRef idx="0">
              <a:schemeClr val="accent1"/>
            </a:fillRef>
            <a:effectRef idx="1">
              <a:schemeClr val="accent1"/>
            </a:effectRef>
            <a:fontRef idx="minor">
              <a:schemeClr val="tx1"/>
            </a:fontRef>
          </p:style>
        </p:cxnSp>
        <p:sp>
          <p:nvSpPr>
            <p:cNvPr id="25" name="Rectangle 24"/>
            <p:cNvSpPr/>
            <p:nvPr/>
          </p:nvSpPr>
          <p:spPr>
            <a:xfrm>
              <a:off x="5495544" y="1572768"/>
              <a:ext cx="3191256" cy="512064"/>
            </a:xfrm>
            <a:prstGeom prst="rect">
              <a:avLst/>
            </a:prstGeom>
            <a:solidFill>
              <a:srgbClr val="EFF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5632704" y="1613916"/>
              <a:ext cx="2926080" cy="420624"/>
            </a:xfrm>
            <a:prstGeom prst="rect">
              <a:avLst/>
            </a:prstGeom>
            <a:noFill/>
          </p:spPr>
          <p:txBody>
            <a:bodyPr wrap="square" lIns="9144" tIns="0" rIns="9144" bIns="0" anchor="ctr">
              <a:spAutoFit/>
            </a:bodyPr>
            <a:lstStyle/>
            <a:p>
              <a:pPr algn="l">
                <a:spcBef>
                  <a:spcPts val="0"/>
                </a:spcBef>
                <a:spcAft>
                  <a:spcPts val="0"/>
                </a:spcAft>
                <a:defRPr sz="1200" b="0">
                  <a:solidFill>
                    <a:srgbClr val="192B43"/>
                  </a:solidFill>
                  <a:latin typeface="Noto Sans"/>
                </a:defRPr>
              </a:pPr>
              <a:r>
                <a:t>one piece per axis: construction profile; one swap: organ experiment</a:t>
              </a:r>
            </a:p>
          </p:txBody>
        </p:sp>
      </p:grpSp>
      <p:grpSp>
        <p:nvGrpSpPr>
          <p:cNvPr id="44" name="SYSTEM + MEASUREMENT AXES: held fixed while organs are compared"/>
          <p:cNvGrpSpPr/>
          <p:nvPr/>
        </p:nvGrpSpPr>
        <p:grpSpPr>
          <a:xfrm>
            <a:off x="411480" y="2276856"/>
            <a:ext cx="8275320" cy="1216152"/>
            <a:chOff x="411480" y="2276856"/>
            <a:chExt cx="8275320" cy="1216152"/>
          </a:xfrm>
        </p:grpSpPr>
        <p:sp>
          <p:nvSpPr>
            <p:cNvPr id="27" name="Rectangle 26"/>
            <p:cNvSpPr/>
            <p:nvPr/>
          </p:nvSpPr>
          <p:spPr>
            <a:xfrm>
              <a:off x="411480" y="2368296"/>
              <a:ext cx="1500000" cy="265176"/>
            </a:xfrm>
            <a:prstGeom prst="rect">
              <a:avLst/>
            </a:prstGeom>
            <a:solidFill>
              <a:srgbClr val="3178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448056" y="2382012"/>
              <a:ext cx="1430000" cy="228600"/>
            </a:xfrm>
            <a:prstGeom prst="rect">
              <a:avLst/>
            </a:prstGeom>
            <a:noFill/>
          </p:spPr>
          <p:txBody>
            <a:bodyPr wrap="square" lIns="9144" tIns="0" rIns="9144" bIns="0" anchor="ctr">
              <a:spAutoFit/>
            </a:bodyPr>
            <a:lstStyle/>
            <a:p>
              <a:pPr algn="l">
                <a:spcBef>
                  <a:spcPts val="0"/>
                </a:spcBef>
                <a:spcAft>
                  <a:spcPts val="0"/>
                </a:spcAft>
                <a:defRPr sz="1000" b="1">
                  <a:solidFill>
                    <a:srgbClr val="FFFFFF"/>
                  </a:solidFill>
                  <a:latin typeface="Noto Sans"/>
                </a:defRPr>
              </a:pPr>
              <a:r>
                <a:t>System axes</a:t>
              </a:r>
            </a:p>
          </p:txBody>
        </p:sp>
        <p:sp>
          <p:nvSpPr>
            <p:cNvPr id="29" name="Rectangle 28"/>
            <p:cNvSpPr/>
            <p:nvPr/>
          </p:nvSpPr>
          <p:spPr>
            <a:xfrm>
              <a:off x="1947672" y="2276856"/>
              <a:ext cx="3099816" cy="512064"/>
            </a:xfrm>
            <a:prstGeom prst="rect">
              <a:avLst/>
            </a:prstGeom>
            <a:solidFill>
              <a:srgbClr val="EFF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2093976" y="2318004"/>
              <a:ext cx="2834640" cy="420624"/>
            </a:xfrm>
            <a:prstGeom prst="rect">
              <a:avLst/>
            </a:prstGeom>
            <a:noFill/>
          </p:spPr>
          <p:txBody>
            <a:bodyPr wrap="square" lIns="9144" tIns="0" rIns="9144" bIns="0" anchor="ctr">
              <a:spAutoFit/>
            </a:bodyPr>
            <a:lstStyle/>
            <a:p>
              <a:pPr algn="l">
                <a:spcBef>
                  <a:spcPts val="0"/>
                </a:spcBef>
                <a:spcAft>
                  <a:spcPts val="0"/>
                </a:spcAft>
                <a:defRPr sz="1200" b="0">
                  <a:solidFill>
                    <a:srgbClr val="192B43"/>
                  </a:solidFill>
                  <a:latin typeface="Noto Sans"/>
                </a:defRPr>
              </a:pPr>
              <a:r>
                <a:t>build and target platform: ISA, OS, extension hardware</a:t>
              </a:r>
            </a:p>
          </p:txBody>
        </p:sp>
        <p:cxnSp>
          <p:nvCxnSpPr>
            <p:cNvPr id="31" name="Connector 30"/>
            <p:cNvCxnSpPr/>
            <p:nvPr/>
          </p:nvCxnSpPr>
          <p:spPr>
            <a:xfrm>
              <a:off x="5111496" y="2532888"/>
              <a:ext cx="320040" cy="0"/>
            </a:xfrm>
            <a:prstGeom prst="line">
              <a:avLst/>
            </a:prstGeom>
            <a:ln w="22860">
              <a:solidFill>
                <a:srgbClr val="3178B9"/>
              </a:solidFill>
              <a:tailEnd type="triangle" w="sm" len="sm"/>
            </a:ln>
          </p:spPr>
          <p:style>
            <a:lnRef idx="2">
              <a:schemeClr val="accent1"/>
            </a:lnRef>
            <a:fillRef idx="0">
              <a:schemeClr val="accent1"/>
            </a:fillRef>
            <a:effectRef idx="1">
              <a:schemeClr val="accent1"/>
            </a:effectRef>
            <a:fontRef idx="minor">
              <a:schemeClr val="tx1"/>
            </a:fontRef>
          </p:style>
        </p:cxnSp>
        <p:sp>
          <p:nvSpPr>
            <p:cNvPr id="32" name="Rectangle 31"/>
            <p:cNvSpPr/>
            <p:nvPr/>
          </p:nvSpPr>
          <p:spPr>
            <a:xfrm>
              <a:off x="5495544" y="2276856"/>
              <a:ext cx="3191256" cy="512064"/>
            </a:xfrm>
            <a:prstGeom prst="rect">
              <a:avLst/>
            </a:prstGeom>
            <a:solidFill>
              <a:srgbClr val="EFF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5632704" y="2318004"/>
              <a:ext cx="2926080" cy="420624"/>
            </a:xfrm>
            <a:prstGeom prst="rect">
              <a:avLst/>
            </a:prstGeom>
            <a:noFill/>
          </p:spPr>
          <p:txBody>
            <a:bodyPr wrap="square" lIns="9144" tIns="0" rIns="9144" bIns="0" anchor="ctr">
              <a:spAutoFit/>
            </a:bodyPr>
            <a:lstStyle/>
            <a:p>
              <a:pPr algn="l">
                <a:spcBef>
                  <a:spcPts val="0"/>
                </a:spcBef>
                <a:spcAft>
                  <a:spcPts val="0"/>
                </a:spcAft>
                <a:defRPr sz="1200" b="0">
                  <a:solidFill>
                    <a:srgbClr val="192B43"/>
                  </a:solidFill>
                  <a:latin typeface="Noto Sans"/>
                </a:defRPr>
              </a:pPr>
              <a:r>
                <a:t>held fixed while organs are compared</a:t>
              </a:r>
            </a:p>
          </p:txBody>
        </p:sp>
        <p:sp>
          <p:nvSpPr>
            <p:cNvPr id="34" name="Rectangle 33"/>
            <p:cNvSpPr/>
            <p:nvPr/>
          </p:nvSpPr>
          <p:spPr>
            <a:xfrm>
              <a:off x="411480" y="3072384"/>
              <a:ext cx="1500000" cy="265176"/>
            </a:xfrm>
            <a:prstGeom prst="rect">
              <a:avLst/>
            </a:prstGeom>
            <a:solidFill>
              <a:srgbClr val="7458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448056" y="3086100"/>
              <a:ext cx="1430000" cy="228600"/>
            </a:xfrm>
            <a:prstGeom prst="rect">
              <a:avLst/>
            </a:prstGeom>
            <a:noFill/>
          </p:spPr>
          <p:txBody>
            <a:bodyPr wrap="square" lIns="9144" tIns="0" rIns="9144" bIns="0" anchor="ctr">
              <a:spAutoFit/>
            </a:bodyPr>
            <a:lstStyle/>
            <a:p>
              <a:pPr algn="l">
                <a:spcBef>
                  <a:spcPts val="0"/>
                </a:spcBef>
                <a:spcAft>
                  <a:spcPts val="0"/>
                </a:spcAft>
                <a:defRPr sz="1000" b="1">
                  <a:solidFill>
                    <a:srgbClr val="FFFFFF"/>
                  </a:solidFill>
                  <a:latin typeface="Noto Sans"/>
                </a:defRPr>
              </a:pPr>
              <a:r>
                <a:t>Measurement axes</a:t>
              </a:r>
            </a:p>
          </p:txBody>
        </p:sp>
        <p:sp>
          <p:nvSpPr>
            <p:cNvPr id="36" name="Rectangle 35"/>
            <p:cNvSpPr/>
            <p:nvPr/>
          </p:nvSpPr>
          <p:spPr>
            <a:xfrm>
              <a:off x="1947672" y="2980944"/>
              <a:ext cx="3099816" cy="512064"/>
            </a:xfrm>
            <a:prstGeom prst="rect">
              <a:avLst/>
            </a:prstGeom>
            <a:solidFill>
              <a:srgbClr val="EFF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2093976" y="3022091"/>
              <a:ext cx="2834640" cy="420624"/>
            </a:xfrm>
            <a:prstGeom prst="rect">
              <a:avLst/>
            </a:prstGeom>
            <a:noFill/>
          </p:spPr>
          <p:txBody>
            <a:bodyPr wrap="square" lIns="9144" tIns="0" rIns="9144" bIns="0" anchor="ctr">
              <a:spAutoFit/>
            </a:bodyPr>
            <a:lstStyle/>
            <a:p>
              <a:pPr algn="l">
                <a:spcBef>
                  <a:spcPts val="0"/>
                </a:spcBef>
                <a:spcAft>
                  <a:spcPts val="0"/>
                </a:spcAft>
                <a:defRPr sz="1200" b="0">
                  <a:solidFill>
                    <a:srgbClr val="192B43"/>
                  </a:solidFill>
                  <a:latin typeface="Noto Sans"/>
                </a:defRPr>
              </a:pPr>
              <a:r>
                <a:t>how we observe: workload, dataset, repetitions, instruments</a:t>
              </a:r>
            </a:p>
          </p:txBody>
        </p:sp>
        <p:cxnSp>
          <p:nvCxnSpPr>
            <p:cNvPr id="38" name="Connector 37"/>
            <p:cNvCxnSpPr/>
            <p:nvPr/>
          </p:nvCxnSpPr>
          <p:spPr>
            <a:xfrm>
              <a:off x="5111496" y="3236976"/>
              <a:ext cx="320040" cy="0"/>
            </a:xfrm>
            <a:prstGeom prst="line">
              <a:avLst/>
            </a:prstGeom>
            <a:ln w="22860">
              <a:solidFill>
                <a:srgbClr val="74589E"/>
              </a:solidFill>
              <a:tailEnd type="triangle" w="sm" len="sm"/>
            </a:ln>
          </p:spPr>
          <p:style>
            <a:lnRef idx="2">
              <a:schemeClr val="accent1"/>
            </a:lnRef>
            <a:fillRef idx="0">
              <a:schemeClr val="accent1"/>
            </a:fillRef>
            <a:effectRef idx="1">
              <a:schemeClr val="accent1"/>
            </a:effectRef>
            <a:fontRef idx="minor">
              <a:schemeClr val="tx1"/>
            </a:fontRef>
          </p:style>
        </p:cxnSp>
        <p:sp>
          <p:nvSpPr>
            <p:cNvPr id="39" name="Rectangle 38"/>
            <p:cNvSpPr/>
            <p:nvPr/>
          </p:nvSpPr>
          <p:spPr>
            <a:xfrm>
              <a:off x="5495544" y="2980944"/>
              <a:ext cx="3191256" cy="512064"/>
            </a:xfrm>
            <a:prstGeom prst="rect">
              <a:avLst/>
            </a:prstGeom>
            <a:solidFill>
              <a:srgbClr val="EFF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5632704" y="3022091"/>
              <a:ext cx="2926080" cy="420624"/>
            </a:xfrm>
            <a:prstGeom prst="rect">
              <a:avLst/>
            </a:prstGeom>
            <a:noFill/>
          </p:spPr>
          <p:txBody>
            <a:bodyPr wrap="square" lIns="9144" tIns="0" rIns="9144" bIns="0" anchor="ctr">
              <a:spAutoFit/>
            </a:bodyPr>
            <a:lstStyle/>
            <a:p>
              <a:pPr algn="l">
                <a:spcBef>
                  <a:spcPts val="0"/>
                </a:spcBef>
                <a:spcAft>
                  <a:spcPts val="0"/>
                </a:spcAft>
                <a:defRPr sz="1200" b="0">
                  <a:solidFill>
                    <a:srgbClr val="192B43"/>
                  </a:solidFill>
                  <a:latin typeface="Noto Sans"/>
                </a:defRPr>
              </a:pPr>
              <a:r>
                <a:t>held fixed while organs are compared</a:t>
              </a:r>
            </a:p>
          </p:txBody>
        </p:sp>
      </p:grpSp>
      <p:sp>
        <p:nvSpPr>
          <p:cNvPr id="41" name="Rectangle 40"/>
          <p:cNvSpPr/>
          <p:nvPr/>
        </p:nvSpPr>
        <p:spPr>
          <a:xfrm>
            <a:off x="329184" y="4096512"/>
            <a:ext cx="8458200" cy="356616"/>
          </a:xfrm>
          <a:prstGeom prst="rect">
            <a:avLst/>
          </a:prstGeom>
          <a:solidFill>
            <a:srgbClr val="0414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438912" y="4123944"/>
            <a:ext cx="8211312" cy="292608"/>
          </a:xfrm>
          <a:prstGeom prst="rect">
            <a:avLst/>
          </a:prstGeom>
          <a:noFill/>
        </p:spPr>
        <p:txBody>
          <a:bodyPr wrap="square" lIns="9144" tIns="0" rIns="9144" bIns="0" anchor="ctr">
            <a:spAutoFit/>
          </a:bodyPr>
          <a:lstStyle/>
          <a:p>
            <a:pPr algn="l">
              <a:spcBef>
                <a:spcPts val="0"/>
              </a:spcBef>
              <a:spcAft>
                <a:spcPts val="0"/>
              </a:spcAft>
              <a:defRPr sz="1250" b="1">
                <a:solidFill>
                  <a:srgbClr val="FFFFFF"/>
                </a:solidFill>
                <a:latin typeface="Noto Sans"/>
              </a:defRPr>
            </a:pPr>
            <a:r>
              <a:t>Every profile is compiled into its own binary and measured — that is the whole game.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presetID="1" presetClass="entr" presetSubtype="0" fill="hold" nodeType="clickEffect">
                            <p:stCondLst>
                              <p:cond delay="0"/>
                            </p:stCondLst>
                            <p:childTnLst>
                              <p:set>
                                <p:cBhvr>
                                  <p:cTn id="5" dur="1" fill="hold">
                                    <p:stCondLst>
                                      <p:cond delay="0"/>
                                    </p:stCondLst>
                                  </p:cTn>
                                  <p:tgtEl>
                                    <p:spTgt spid="43"/>
                                  </p:tgtEl>
                                  <p:attrNameLst>
                                    <p:attrName>style.visibility</p:attrName>
                                  </p:attrNameLst>
                                </p:cBhvr>
                                <p:to>
                                  <p:strVal val="visible"/>
                                </p:to>
                              </p:set>
                            </p:childTnLst>
                          </p:cTn>
                        </p:par>
                      </p:childTnLst>
                    </p:cTn>
                  </p:par>
                  <p:par>
                    <p:cTn id="6" fill="hold">
                      <p:stCondLst>
                        <p:cond delay="indefinite"/>
                      </p:stCondLst>
                      <p:childTnLst>
                        <p:par>
                          <p:cTn id="7" presetID="1" presetClass="entr" presetSubtype="0" fill="hold" nodeType="clickEffect">
                            <p:stCondLst>
                              <p:cond delay="0"/>
                            </p:stCondLst>
                            <p:childTnLst>
                              <p:set>
                                <p:cBhvr>
                                  <p:cTn id="8" dur="1" fill="hold">
                                    <p:stCondLst>
                                      <p:cond delay="0"/>
                                    </p:stCondLst>
                                  </p:cTn>
                                  <p:tgtEl>
                                    <p:spTgt spid="44"/>
                                  </p:tgtEl>
                                  <p:attrNameLst>
                                    <p:attrName>style.visibility</p:attrName>
                                  </p:attrNameLst>
                                </p:cBhvr>
                                <p:to>
                                  <p:strVal val="visible"/>
                                </p:to>
                              </p:se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83464" y="182880"/>
            <a:ext cx="7360920" cy="438912"/>
          </a:xfrm>
          <a:prstGeom prst="rect">
            <a:avLst/>
          </a:prstGeom>
          <a:noFill/>
        </p:spPr>
        <p:txBody>
          <a:bodyPr wrap="square" lIns="9144" tIns="0" rIns="9144" bIns="0" anchor="ctr">
            <a:spAutoFit/>
          </a:bodyPr>
          <a:lstStyle/>
          <a:p>
            <a:pPr algn="l">
              <a:spcBef>
                <a:spcPts val="0"/>
              </a:spcBef>
              <a:spcAft>
                <a:spcPts val="0"/>
              </a:spcAft>
              <a:defRPr sz="2400" b="1">
                <a:solidFill>
                  <a:srgbClr val="041447"/>
                </a:solidFill>
                <a:latin typeface="Noto Sans"/>
              </a:defRPr>
            </a:pPr>
            <a:r>
              <a:t>From design axes to a storage organ</a:t>
            </a:r>
          </a:p>
        </p:txBody>
      </p:sp>
      <p:sp>
        <p:nvSpPr>
          <p:cNvPr id="3" name="Rectangle 2"/>
          <p:cNvSpPr/>
          <p:nvPr/>
        </p:nvSpPr>
        <p:spPr>
          <a:xfrm>
            <a:off x="310896" y="786384"/>
            <a:ext cx="1197864" cy="45720"/>
          </a:xfrm>
          <a:prstGeom prst="rect">
            <a:avLst/>
          </a:prstGeom>
          <a:solidFill>
            <a:srgbClr val="D2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10896" y="621792"/>
            <a:ext cx="1197864" cy="164592"/>
          </a:xfrm>
          <a:prstGeom prst="rect">
            <a:avLst/>
          </a:prstGeom>
          <a:noFill/>
        </p:spPr>
        <p:txBody>
          <a:bodyPr wrap="square" lIns="9144" tIns="0" rIns="9144" bIns="0" anchor="ctr">
            <a:spAutoFit/>
          </a:bodyPr>
          <a:lstStyle/>
          <a:p>
            <a:pPr algn="l">
              <a:spcBef>
                <a:spcPts val="0"/>
              </a:spcBef>
              <a:spcAft>
                <a:spcPts val="0"/>
              </a:spcAft>
              <a:defRPr sz="850" b="0">
                <a:solidFill>
                  <a:srgbClr val="607080"/>
                </a:solidFill>
                <a:latin typeface="Noto Sans"/>
              </a:defRPr>
            </a:pPr>
            <a:r>
              <a:t>1 Introduction</a:t>
            </a:r>
          </a:p>
        </p:txBody>
      </p:sp>
      <p:sp>
        <p:nvSpPr>
          <p:cNvPr id="5" name="Rectangle 4"/>
          <p:cNvSpPr/>
          <p:nvPr/>
        </p:nvSpPr>
        <p:spPr>
          <a:xfrm>
            <a:off x="1545336" y="786384"/>
            <a:ext cx="1243584" cy="45720"/>
          </a:xfrm>
          <a:prstGeom prst="rect">
            <a:avLst/>
          </a:prstGeom>
          <a:solidFill>
            <a:srgbClr val="D2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545336" y="621792"/>
            <a:ext cx="1243584" cy="164592"/>
          </a:xfrm>
          <a:prstGeom prst="rect">
            <a:avLst/>
          </a:prstGeom>
          <a:noFill/>
        </p:spPr>
        <p:txBody>
          <a:bodyPr wrap="square" lIns="9144" tIns="0" rIns="9144" bIns="0" anchor="ctr">
            <a:spAutoFit/>
          </a:bodyPr>
          <a:lstStyle/>
          <a:p>
            <a:pPr algn="l">
              <a:spcBef>
                <a:spcPts val="0"/>
              </a:spcBef>
              <a:spcAft>
                <a:spcPts val="0"/>
              </a:spcAft>
              <a:defRPr sz="850" b="0">
                <a:solidFill>
                  <a:srgbClr val="607080"/>
                </a:solidFill>
                <a:latin typeface="Noto Sans"/>
              </a:defRPr>
            </a:pPr>
            <a:r>
              <a:t>2 Background</a:t>
            </a:r>
          </a:p>
        </p:txBody>
      </p:sp>
      <p:sp>
        <p:nvSpPr>
          <p:cNvPr id="7" name="Rectangle 6"/>
          <p:cNvSpPr/>
          <p:nvPr/>
        </p:nvSpPr>
        <p:spPr>
          <a:xfrm>
            <a:off x="2825496" y="786384"/>
            <a:ext cx="1078992" cy="45720"/>
          </a:xfrm>
          <a:prstGeom prst="rect">
            <a:avLst/>
          </a:prstGeom>
          <a:solidFill>
            <a:srgbClr val="008A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2825496" y="621792"/>
            <a:ext cx="1078992" cy="164592"/>
          </a:xfrm>
          <a:prstGeom prst="rect">
            <a:avLst/>
          </a:prstGeom>
          <a:noFill/>
        </p:spPr>
        <p:txBody>
          <a:bodyPr wrap="square" lIns="9144" tIns="0" rIns="9144" bIns="0" anchor="ctr">
            <a:spAutoFit/>
          </a:bodyPr>
          <a:lstStyle/>
          <a:p>
            <a:pPr algn="l">
              <a:spcBef>
                <a:spcPts val="0"/>
              </a:spcBef>
              <a:spcAft>
                <a:spcPts val="0"/>
              </a:spcAft>
              <a:defRPr sz="850" b="1">
                <a:solidFill>
                  <a:srgbClr val="008A96"/>
                </a:solidFill>
                <a:latin typeface="Noto Sans"/>
              </a:defRPr>
            </a:pPr>
            <a:r>
              <a:t>3 Concept</a:t>
            </a:r>
          </a:p>
        </p:txBody>
      </p:sp>
      <p:sp>
        <p:nvSpPr>
          <p:cNvPr id="9" name="Rectangle 8"/>
          <p:cNvSpPr/>
          <p:nvPr/>
        </p:nvSpPr>
        <p:spPr>
          <a:xfrm>
            <a:off x="3941063" y="786384"/>
            <a:ext cx="1645920" cy="45720"/>
          </a:xfrm>
          <a:prstGeom prst="rect">
            <a:avLst/>
          </a:prstGeom>
          <a:solidFill>
            <a:srgbClr val="D2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941063" y="621792"/>
            <a:ext cx="1645920" cy="164592"/>
          </a:xfrm>
          <a:prstGeom prst="rect">
            <a:avLst/>
          </a:prstGeom>
          <a:noFill/>
        </p:spPr>
        <p:txBody>
          <a:bodyPr wrap="square" lIns="9144" tIns="0" rIns="9144" bIns="0" anchor="ctr">
            <a:spAutoFit/>
          </a:bodyPr>
          <a:lstStyle/>
          <a:p>
            <a:pPr algn="l">
              <a:spcBef>
                <a:spcPts val="0"/>
              </a:spcBef>
              <a:spcAft>
                <a:spcPts val="0"/>
              </a:spcAft>
              <a:defRPr sz="850" b="0">
                <a:solidFill>
                  <a:srgbClr val="607080"/>
                </a:solidFill>
                <a:latin typeface="Noto Sans"/>
              </a:defRPr>
            </a:pPr>
            <a:r>
              <a:t>4 Implementation</a:t>
            </a:r>
          </a:p>
        </p:txBody>
      </p:sp>
      <p:sp>
        <p:nvSpPr>
          <p:cNvPr id="11" name="Rectangle 10"/>
          <p:cNvSpPr/>
          <p:nvPr/>
        </p:nvSpPr>
        <p:spPr>
          <a:xfrm>
            <a:off x="5623559" y="786384"/>
            <a:ext cx="1252728" cy="45720"/>
          </a:xfrm>
          <a:prstGeom prst="rect">
            <a:avLst/>
          </a:prstGeom>
          <a:solidFill>
            <a:srgbClr val="D2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623559" y="621792"/>
            <a:ext cx="1252728" cy="164592"/>
          </a:xfrm>
          <a:prstGeom prst="rect">
            <a:avLst/>
          </a:prstGeom>
          <a:noFill/>
        </p:spPr>
        <p:txBody>
          <a:bodyPr wrap="square" lIns="9144" tIns="0" rIns="9144" bIns="0" anchor="ctr">
            <a:spAutoFit/>
          </a:bodyPr>
          <a:lstStyle/>
          <a:p>
            <a:pPr algn="l">
              <a:spcBef>
                <a:spcPts val="0"/>
              </a:spcBef>
              <a:spcAft>
                <a:spcPts val="0"/>
              </a:spcAft>
              <a:defRPr sz="850" b="0">
                <a:solidFill>
                  <a:srgbClr val="607080"/>
                </a:solidFill>
                <a:latin typeface="Noto Sans"/>
              </a:defRPr>
            </a:pPr>
            <a:r>
              <a:t>5 Evaluation</a:t>
            </a:r>
          </a:p>
        </p:txBody>
      </p:sp>
      <p:sp>
        <p:nvSpPr>
          <p:cNvPr id="13" name="Rectangle 12"/>
          <p:cNvSpPr/>
          <p:nvPr/>
        </p:nvSpPr>
        <p:spPr>
          <a:xfrm>
            <a:off x="6912864" y="786384"/>
            <a:ext cx="1216152" cy="45720"/>
          </a:xfrm>
          <a:prstGeom prst="rect">
            <a:avLst/>
          </a:prstGeom>
          <a:solidFill>
            <a:srgbClr val="D2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912864" y="621792"/>
            <a:ext cx="1216152" cy="164592"/>
          </a:xfrm>
          <a:prstGeom prst="rect">
            <a:avLst/>
          </a:prstGeom>
          <a:noFill/>
        </p:spPr>
        <p:txBody>
          <a:bodyPr wrap="square" lIns="9144" tIns="0" rIns="9144" bIns="0" anchor="ctr">
            <a:spAutoFit/>
          </a:bodyPr>
          <a:lstStyle/>
          <a:p>
            <a:pPr algn="l">
              <a:spcBef>
                <a:spcPts val="0"/>
              </a:spcBef>
              <a:spcAft>
                <a:spcPts val="0"/>
              </a:spcAft>
              <a:defRPr sz="850" b="0">
                <a:solidFill>
                  <a:srgbClr val="607080"/>
                </a:solidFill>
                <a:latin typeface="Noto Sans"/>
              </a:defRPr>
            </a:pPr>
            <a:r>
              <a:t>6 Conclusion</a:t>
            </a:r>
          </a:p>
        </p:txBody>
      </p:sp>
      <p:sp>
        <p:nvSpPr>
          <p:cNvPr id="15" name="TextBox 14"/>
          <p:cNvSpPr txBox="1"/>
          <p:nvPr/>
        </p:nvSpPr>
        <p:spPr>
          <a:xfrm>
            <a:off x="320040" y="4572000"/>
            <a:ext cx="8321040" cy="182880"/>
          </a:xfrm>
          <a:prstGeom prst="rect">
            <a:avLst/>
          </a:prstGeom>
          <a:noFill/>
        </p:spPr>
        <p:txBody>
          <a:bodyPr wrap="square" lIns="9144" tIns="0" rIns="9144" bIns="0" anchor="ctr">
            <a:spAutoFit/>
          </a:bodyPr>
          <a:lstStyle/>
          <a:p>
            <a:pPr algn="l">
              <a:spcBef>
                <a:spcPts val="0"/>
              </a:spcBef>
              <a:spcAft>
                <a:spcPts val="0"/>
              </a:spcAft>
              <a:defRPr sz="810" b="0">
                <a:solidFill>
                  <a:srgbClr val="607080"/>
                </a:solidFill>
                <a:latin typeface="Noto Sans"/>
              </a:defRPr>
            </a:pPr>
            <a:r>
              <a:t>Thesis §3.3.1 (axis-organ / usage); Appendix D, T4–T6  |  development @53d8c072</a:t>
            </a:r>
          </a:p>
        </p:txBody>
      </p:sp>
      <p:sp>
        <p:nvSpPr>
          <p:cNvPr id="16" name="TextBox 15"/>
          <p:cNvSpPr txBox="1"/>
          <p:nvPr/>
        </p:nvSpPr>
        <p:spPr>
          <a:xfrm>
            <a:off x="1234440" y="4873752"/>
            <a:ext cx="6766560" cy="164592"/>
          </a:xfrm>
          <a:prstGeom prst="rect">
            <a:avLst/>
          </a:prstGeom>
          <a:noFill/>
        </p:spPr>
        <p:txBody>
          <a:bodyPr wrap="square" lIns="9144" tIns="0" rIns="9144" bIns="0" anchor="ctr">
            <a:spAutoFit/>
          </a:bodyPr>
          <a:lstStyle/>
          <a:p>
            <a:pPr algn="l">
              <a:spcBef>
                <a:spcPts val="0"/>
              </a:spcBef>
              <a:spcAft>
                <a:spcPts val="0"/>
              </a:spcAft>
              <a:defRPr sz="830" b="0">
                <a:solidFill>
                  <a:srgbClr val="041447"/>
                </a:solidFill>
                <a:latin typeface="Noto Sans"/>
              </a:defRPr>
            </a:pPr>
            <a:r>
              <a:t>Benjamin-Elias Probst  |  Diploma thesis defense  |  28 September 2026</a:t>
            </a:r>
          </a:p>
        </p:txBody>
      </p:sp>
      <p:sp>
        <p:nvSpPr>
          <p:cNvPr id="17" name="TextBox 16"/>
          <p:cNvSpPr txBox="1"/>
          <p:nvPr/>
        </p:nvSpPr>
        <p:spPr>
          <a:xfrm>
            <a:off x="8412480" y="4864608"/>
            <a:ext cx="393192" cy="192024"/>
          </a:xfrm>
          <a:prstGeom prst="rect">
            <a:avLst/>
          </a:prstGeom>
          <a:noFill/>
        </p:spPr>
        <p:txBody>
          <a:bodyPr wrap="square" lIns="9144" tIns="0" rIns="9144" bIns="0" anchor="ctr">
            <a:spAutoFit/>
          </a:bodyPr>
          <a:lstStyle/>
          <a:p>
            <a:pPr algn="r">
              <a:spcBef>
                <a:spcPts val="0"/>
              </a:spcBef>
              <a:spcAft>
                <a:spcPts val="0"/>
              </a:spcAft>
              <a:defRPr sz="900" b="1">
                <a:solidFill>
                  <a:srgbClr val="041447"/>
                </a:solidFill>
                <a:latin typeface="Noto Sans"/>
              </a:defRPr>
            </a:pPr>
            <a:r>
              <a:t>6</a:t>
            </a:r>
          </a:p>
        </p:txBody>
      </p:sp>
      <p:sp>
        <p:nvSpPr>
          <p:cNvPr id="18" name="Rounded Rectangle 17"/>
          <p:cNvSpPr/>
          <p:nvPr/>
        </p:nvSpPr>
        <p:spPr>
          <a:xfrm>
            <a:off x="393192" y="1005840"/>
            <a:ext cx="1572768" cy="265176"/>
          </a:xfrm>
          <a:prstGeom prst="roundRect">
            <a:avLst>
              <a:gd name="adj" fmla="val 6000"/>
            </a:avLst>
          </a:prstGeom>
          <a:solidFill>
            <a:srgbClr val="F1F5F8"/>
          </a:solidFill>
          <a:ln w="15240">
            <a:solidFill>
              <a:srgbClr val="6A57A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16052" y="1010412"/>
            <a:ext cx="1527048" cy="256031"/>
          </a:xfrm>
          <a:prstGeom prst="rect">
            <a:avLst/>
          </a:prstGeom>
          <a:noFill/>
        </p:spPr>
        <p:txBody>
          <a:bodyPr wrap="square" lIns="22860" tIns="0" rIns="22860" bIns="0" anchor="ctr">
            <a:noAutofit/>
          </a:bodyPr>
          <a:lstStyle/>
          <a:p>
            <a:pPr algn="ctr">
              <a:lnSpc>
                <a:spcPct val="108000"/>
              </a:lnSpc>
              <a:spcBef>
                <a:spcPts val="0"/>
              </a:spcBef>
              <a:spcAft>
                <a:spcPts val="0"/>
              </a:spcAft>
            </a:pPr>
            <a:r>
              <a:rPr sz="1050" b="1">
                <a:solidFill>
                  <a:srgbClr val="6A57A1"/>
                </a:solidFill>
                <a:latin typeface="Noto Sans"/>
              </a:rPr>
              <a:t>Read path</a:t>
            </a:r>
          </a:p>
        </p:txBody>
      </p:sp>
      <p:sp>
        <p:nvSpPr>
          <p:cNvPr id="20" name="Rounded Rectangle 19"/>
          <p:cNvSpPr/>
          <p:nvPr/>
        </p:nvSpPr>
        <p:spPr>
          <a:xfrm>
            <a:off x="2084832" y="1005840"/>
            <a:ext cx="1572768" cy="265176"/>
          </a:xfrm>
          <a:prstGeom prst="roundRect">
            <a:avLst>
              <a:gd name="adj" fmla="val 6000"/>
            </a:avLst>
          </a:prstGeom>
          <a:solidFill>
            <a:srgbClr val="F1F5F8"/>
          </a:solidFill>
          <a:ln w="15240">
            <a:solidFill>
              <a:srgbClr val="3468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2107692" y="1010412"/>
            <a:ext cx="1527048" cy="256031"/>
          </a:xfrm>
          <a:prstGeom prst="rect">
            <a:avLst/>
          </a:prstGeom>
          <a:noFill/>
        </p:spPr>
        <p:txBody>
          <a:bodyPr wrap="square" lIns="22860" tIns="0" rIns="22860" bIns="0" anchor="ctr">
            <a:noAutofit/>
          </a:bodyPr>
          <a:lstStyle/>
          <a:p>
            <a:pPr algn="ctr">
              <a:lnSpc>
                <a:spcPct val="108000"/>
              </a:lnSpc>
              <a:spcBef>
                <a:spcPts val="0"/>
              </a:spcBef>
              <a:spcAft>
                <a:spcPts val="0"/>
              </a:spcAft>
            </a:pPr>
            <a:r>
              <a:rPr sz="1050" b="1">
                <a:solidFill>
                  <a:srgbClr val="3468AA"/>
                </a:solidFill>
                <a:latin typeface="Noto Sans"/>
              </a:rPr>
              <a:t>Layout</a:t>
            </a:r>
          </a:p>
        </p:txBody>
      </p:sp>
      <p:sp>
        <p:nvSpPr>
          <p:cNvPr id="22" name="Rounded Rectangle 21"/>
          <p:cNvSpPr/>
          <p:nvPr/>
        </p:nvSpPr>
        <p:spPr>
          <a:xfrm>
            <a:off x="3776472" y="1005840"/>
            <a:ext cx="1572768" cy="265176"/>
          </a:xfrm>
          <a:prstGeom prst="roundRect">
            <a:avLst>
              <a:gd name="adj" fmla="val 6000"/>
            </a:avLst>
          </a:prstGeom>
          <a:solidFill>
            <a:srgbClr val="F1F5F8"/>
          </a:solidFill>
          <a:ln w="15240">
            <a:solidFill>
              <a:srgbClr val="AD731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3799332" y="1010412"/>
            <a:ext cx="1527048" cy="256031"/>
          </a:xfrm>
          <a:prstGeom prst="rect">
            <a:avLst/>
          </a:prstGeom>
          <a:noFill/>
        </p:spPr>
        <p:txBody>
          <a:bodyPr wrap="square" lIns="22860" tIns="0" rIns="22860" bIns="0" anchor="ctr">
            <a:noAutofit/>
          </a:bodyPr>
          <a:lstStyle/>
          <a:p>
            <a:pPr algn="ctr">
              <a:lnSpc>
                <a:spcPct val="108000"/>
              </a:lnSpc>
              <a:spcBef>
                <a:spcPts val="0"/>
              </a:spcBef>
              <a:spcAft>
                <a:spcPts val="0"/>
              </a:spcAft>
            </a:pPr>
            <a:r>
              <a:rPr sz="1050" b="1">
                <a:solidFill>
                  <a:srgbClr val="AD731A"/>
                </a:solidFill>
                <a:latin typeface="Noto Sans"/>
              </a:rPr>
              <a:t>Placement</a:t>
            </a:r>
          </a:p>
        </p:txBody>
      </p:sp>
      <p:sp>
        <p:nvSpPr>
          <p:cNvPr id="24" name="Rounded Rectangle 23"/>
          <p:cNvSpPr/>
          <p:nvPr/>
        </p:nvSpPr>
        <p:spPr>
          <a:xfrm>
            <a:off x="5468112" y="1005840"/>
            <a:ext cx="1572768" cy="265176"/>
          </a:xfrm>
          <a:prstGeom prst="roundRect">
            <a:avLst>
              <a:gd name="adj" fmla="val 6000"/>
            </a:avLst>
          </a:prstGeom>
          <a:solidFill>
            <a:srgbClr val="F1F5F8"/>
          </a:solidFill>
          <a:ln w="15240">
            <a:solidFill>
              <a:srgbClr val="2F745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5490972" y="1010412"/>
            <a:ext cx="1527048" cy="256031"/>
          </a:xfrm>
          <a:prstGeom prst="rect">
            <a:avLst/>
          </a:prstGeom>
          <a:noFill/>
        </p:spPr>
        <p:txBody>
          <a:bodyPr wrap="square" lIns="22860" tIns="0" rIns="22860" bIns="0" anchor="ctr">
            <a:noAutofit/>
          </a:bodyPr>
          <a:lstStyle/>
          <a:p>
            <a:pPr algn="ctr">
              <a:lnSpc>
                <a:spcPct val="108000"/>
              </a:lnSpc>
              <a:spcBef>
                <a:spcPts val="0"/>
              </a:spcBef>
              <a:spcAft>
                <a:spcPts val="0"/>
              </a:spcAft>
            </a:pPr>
            <a:r>
              <a:rPr sz="1050" b="1">
                <a:solidFill>
                  <a:srgbClr val="2F7458"/>
                </a:solidFill>
                <a:latin typeface="Noto Sans"/>
              </a:rPr>
              <a:t>Execution</a:t>
            </a:r>
          </a:p>
        </p:txBody>
      </p:sp>
      <p:sp>
        <p:nvSpPr>
          <p:cNvPr id="26" name="Rounded Rectangle 25"/>
          <p:cNvSpPr/>
          <p:nvPr/>
        </p:nvSpPr>
        <p:spPr>
          <a:xfrm>
            <a:off x="7159752" y="1005840"/>
            <a:ext cx="1572768" cy="265176"/>
          </a:xfrm>
          <a:prstGeom prst="roundRect">
            <a:avLst>
              <a:gd name="adj" fmla="val 6000"/>
            </a:avLst>
          </a:prstGeom>
          <a:solidFill>
            <a:srgbClr val="F1F5F8"/>
          </a:solidFill>
          <a:ln w="15240">
            <a:solidFill>
              <a:srgbClr val="65748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7182612" y="1010412"/>
            <a:ext cx="1527048" cy="256031"/>
          </a:xfrm>
          <a:prstGeom prst="rect">
            <a:avLst/>
          </a:prstGeom>
          <a:noFill/>
        </p:spPr>
        <p:txBody>
          <a:bodyPr wrap="square" lIns="22860" tIns="0" rIns="22860" bIns="0" anchor="ctr">
            <a:noAutofit/>
          </a:bodyPr>
          <a:lstStyle/>
          <a:p>
            <a:pPr algn="ctr">
              <a:lnSpc>
                <a:spcPct val="108000"/>
              </a:lnSpc>
              <a:spcBef>
                <a:spcPts val="0"/>
              </a:spcBef>
              <a:spcAft>
                <a:spcPts val="0"/>
              </a:spcAft>
            </a:pPr>
            <a:r>
              <a:rPr sz="1050" b="1">
                <a:solidFill>
                  <a:srgbClr val="657487"/>
                </a:solidFill>
                <a:latin typeface="Noto Sans"/>
              </a:rPr>
              <a:t>Write / I/O</a:t>
            </a:r>
          </a:p>
        </p:txBody>
      </p:sp>
      <p:sp>
        <p:nvSpPr>
          <p:cNvPr id="28" name="TextBox 27"/>
          <p:cNvSpPr txBox="1"/>
          <p:nvPr/>
        </p:nvSpPr>
        <p:spPr>
          <a:xfrm>
            <a:off x="393192" y="1371600"/>
            <a:ext cx="4206240" cy="210312"/>
          </a:xfrm>
          <a:prstGeom prst="rect">
            <a:avLst/>
          </a:prstGeom>
          <a:noFill/>
        </p:spPr>
        <p:txBody>
          <a:bodyPr wrap="square" lIns="22860" tIns="0" rIns="22860" bIns="0" anchor="ctr">
            <a:noAutofit/>
          </a:bodyPr>
          <a:lstStyle/>
          <a:p>
            <a:pPr algn="l">
              <a:lnSpc>
                <a:spcPct val="108000"/>
              </a:lnSpc>
              <a:spcBef>
                <a:spcPts val="0"/>
              </a:spcBef>
              <a:spcAft>
                <a:spcPts val="0"/>
              </a:spcAft>
            </a:pPr>
            <a:r>
              <a:rPr sz="1100" b="1">
                <a:solidFill>
                  <a:srgbClr val="041447"/>
                </a:solidFill>
                <a:latin typeface="Noto Sans"/>
              </a:rPr>
              <a:t>SELECT A VARIANT ON EACH AXIS</a:t>
            </a:r>
          </a:p>
        </p:txBody>
      </p:sp>
      <p:sp>
        <p:nvSpPr>
          <p:cNvPr id="29" name="TextBox 28"/>
          <p:cNvSpPr txBox="1"/>
          <p:nvPr/>
        </p:nvSpPr>
        <p:spPr>
          <a:xfrm>
            <a:off x="5166360" y="1371600"/>
            <a:ext cx="3291840" cy="210312"/>
          </a:xfrm>
          <a:prstGeom prst="rect">
            <a:avLst/>
          </a:prstGeom>
          <a:noFill/>
        </p:spPr>
        <p:txBody>
          <a:bodyPr wrap="square" lIns="22860" tIns="0" rIns="22860" bIns="0" anchor="ctr">
            <a:noAutofit/>
          </a:bodyPr>
          <a:lstStyle/>
          <a:p>
            <a:pPr algn="l">
              <a:lnSpc>
                <a:spcPct val="108000"/>
              </a:lnSpc>
              <a:spcBef>
                <a:spcPts val="0"/>
              </a:spcBef>
              <a:spcAft>
                <a:spcPts val="0"/>
              </a:spcAft>
            </a:pPr>
            <a:r>
              <a:rPr sz="1100" b="1">
                <a:solidFill>
                  <a:srgbClr val="041447"/>
                </a:solidFill>
                <a:latin typeface="Noto Sans"/>
              </a:rPr>
              <a:t>COMPOSE A FUNCTIONAL ORGAN</a:t>
            </a:r>
          </a:p>
        </p:txBody>
      </p:sp>
      <p:sp>
        <p:nvSpPr>
          <p:cNvPr id="30" name="TextBox 29"/>
          <p:cNvSpPr txBox="1"/>
          <p:nvPr/>
        </p:nvSpPr>
        <p:spPr>
          <a:xfrm>
            <a:off x="411480" y="1572768"/>
            <a:ext cx="3840480" cy="192024"/>
          </a:xfrm>
          <a:prstGeom prst="rect">
            <a:avLst/>
          </a:prstGeom>
          <a:noFill/>
        </p:spPr>
        <p:txBody>
          <a:bodyPr wrap="square" lIns="22860" tIns="0" rIns="22860" bIns="0" anchor="ctr">
            <a:noAutofit/>
          </a:bodyPr>
          <a:lstStyle/>
          <a:p>
            <a:pPr algn="l">
              <a:lnSpc>
                <a:spcPct val="108000"/>
              </a:lnSpc>
              <a:spcBef>
                <a:spcPts val="0"/>
              </a:spcBef>
              <a:spcAft>
                <a:spcPts val="0"/>
              </a:spcAft>
            </a:pPr>
            <a:r>
              <a:rPr sz="1150" b="1">
                <a:solidFill>
                  <a:srgbClr val="3468AA"/>
                </a:solidFill>
                <a:latin typeface="Noto Sans"/>
              </a:rPr>
              <a:t>T4  Node type</a:t>
            </a:r>
          </a:p>
        </p:txBody>
      </p:sp>
      <p:sp>
        <p:nvSpPr>
          <p:cNvPr id="31" name="Rounded Rectangle 30"/>
          <p:cNvSpPr/>
          <p:nvPr/>
        </p:nvSpPr>
        <p:spPr>
          <a:xfrm>
            <a:off x="420624" y="1810512"/>
            <a:ext cx="795528" cy="393192"/>
          </a:xfrm>
          <a:prstGeom prst="roundRect">
            <a:avLst>
              <a:gd name="adj" fmla="val 6000"/>
            </a:avLst>
          </a:prstGeom>
          <a:solidFill>
            <a:srgbClr val="EAF1F9"/>
          </a:solidFill>
          <a:ln w="15240">
            <a:solidFill>
              <a:srgbClr val="3468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443484" y="1815084"/>
            <a:ext cx="749808" cy="384048"/>
          </a:xfrm>
          <a:prstGeom prst="rect">
            <a:avLst/>
          </a:prstGeom>
          <a:noFill/>
        </p:spPr>
        <p:txBody>
          <a:bodyPr wrap="square" lIns="22860" tIns="0" rIns="22860" bIns="0" anchor="ctr">
            <a:noAutofit/>
          </a:bodyPr>
          <a:lstStyle/>
          <a:p>
            <a:pPr algn="ctr">
              <a:lnSpc>
                <a:spcPct val="108000"/>
              </a:lnSpc>
              <a:spcBef>
                <a:spcPts val="0"/>
              </a:spcBef>
              <a:spcAft>
                <a:spcPts val="0"/>
              </a:spcAft>
            </a:pPr>
            <a:r>
              <a:rPr sz="1110" b="1">
                <a:solidFill>
                  <a:srgbClr val="3468AA"/>
                </a:solidFill>
                <a:latin typeface="Noto Sans"/>
              </a:rPr>
              <a:t>Node4</a:t>
            </a:r>
          </a:p>
        </p:txBody>
      </p:sp>
      <p:sp>
        <p:nvSpPr>
          <p:cNvPr id="33" name="Rounded Rectangle 32"/>
          <p:cNvSpPr/>
          <p:nvPr/>
        </p:nvSpPr>
        <p:spPr>
          <a:xfrm>
            <a:off x="1284732" y="1810512"/>
            <a:ext cx="795528" cy="393192"/>
          </a:xfrm>
          <a:prstGeom prst="roundRect">
            <a:avLst>
              <a:gd name="adj" fmla="val 6000"/>
            </a:avLst>
          </a:prstGeom>
          <a:solidFill>
            <a:srgbClr val="FFFFFF"/>
          </a:solidFill>
          <a:ln w="15240">
            <a:solidFill>
              <a:srgbClr val="D4DEE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1307592" y="1815084"/>
            <a:ext cx="749808" cy="384048"/>
          </a:xfrm>
          <a:prstGeom prst="rect">
            <a:avLst/>
          </a:prstGeom>
          <a:noFill/>
        </p:spPr>
        <p:txBody>
          <a:bodyPr wrap="square" lIns="22860" tIns="0" rIns="22860" bIns="0" anchor="ctr">
            <a:noAutofit/>
          </a:bodyPr>
          <a:lstStyle/>
          <a:p>
            <a:pPr algn="ctr">
              <a:lnSpc>
                <a:spcPct val="108000"/>
              </a:lnSpc>
              <a:spcBef>
                <a:spcPts val="0"/>
              </a:spcBef>
              <a:spcAft>
                <a:spcPts val="0"/>
              </a:spcAft>
            </a:pPr>
            <a:r>
              <a:rPr sz="1110" b="0">
                <a:solidFill>
                  <a:srgbClr val="657487"/>
                </a:solidFill>
                <a:latin typeface="Noto Sans"/>
              </a:rPr>
              <a:t>Node16</a:t>
            </a:r>
          </a:p>
        </p:txBody>
      </p:sp>
      <p:sp>
        <p:nvSpPr>
          <p:cNvPr id="35" name="Rounded Rectangle 34"/>
          <p:cNvSpPr/>
          <p:nvPr/>
        </p:nvSpPr>
        <p:spPr>
          <a:xfrm>
            <a:off x="2148840" y="1810512"/>
            <a:ext cx="795528" cy="393192"/>
          </a:xfrm>
          <a:prstGeom prst="roundRect">
            <a:avLst>
              <a:gd name="adj" fmla="val 6000"/>
            </a:avLst>
          </a:prstGeom>
          <a:solidFill>
            <a:srgbClr val="FFFFFF"/>
          </a:solidFill>
          <a:ln w="15240">
            <a:solidFill>
              <a:srgbClr val="D4DEE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2171700" y="1815084"/>
            <a:ext cx="749808" cy="384048"/>
          </a:xfrm>
          <a:prstGeom prst="rect">
            <a:avLst/>
          </a:prstGeom>
          <a:noFill/>
        </p:spPr>
        <p:txBody>
          <a:bodyPr wrap="square" lIns="22860" tIns="0" rIns="22860" bIns="0" anchor="ctr">
            <a:noAutofit/>
          </a:bodyPr>
          <a:lstStyle/>
          <a:p>
            <a:pPr algn="ctr">
              <a:lnSpc>
                <a:spcPct val="108000"/>
              </a:lnSpc>
              <a:spcBef>
                <a:spcPts val="0"/>
              </a:spcBef>
              <a:spcAft>
                <a:spcPts val="0"/>
              </a:spcAft>
            </a:pPr>
            <a:r>
              <a:rPr sz="1110" b="0">
                <a:solidFill>
                  <a:srgbClr val="657487"/>
                </a:solidFill>
                <a:latin typeface="Noto Sans"/>
              </a:rPr>
              <a:t>Node48</a:t>
            </a:r>
          </a:p>
        </p:txBody>
      </p:sp>
      <p:sp>
        <p:nvSpPr>
          <p:cNvPr id="37" name="Rounded Rectangle 36"/>
          <p:cNvSpPr/>
          <p:nvPr/>
        </p:nvSpPr>
        <p:spPr>
          <a:xfrm>
            <a:off x="3012948" y="1810512"/>
            <a:ext cx="795528" cy="393192"/>
          </a:xfrm>
          <a:prstGeom prst="roundRect">
            <a:avLst>
              <a:gd name="adj" fmla="val 6000"/>
            </a:avLst>
          </a:prstGeom>
          <a:solidFill>
            <a:srgbClr val="FFFFFF"/>
          </a:solidFill>
          <a:ln w="15240">
            <a:solidFill>
              <a:srgbClr val="D4DEE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3035808" y="1815084"/>
            <a:ext cx="749808" cy="384048"/>
          </a:xfrm>
          <a:prstGeom prst="rect">
            <a:avLst/>
          </a:prstGeom>
          <a:noFill/>
        </p:spPr>
        <p:txBody>
          <a:bodyPr wrap="square" lIns="22860" tIns="0" rIns="22860" bIns="0" anchor="ctr">
            <a:noAutofit/>
          </a:bodyPr>
          <a:lstStyle/>
          <a:p>
            <a:pPr algn="ctr">
              <a:lnSpc>
                <a:spcPct val="108000"/>
              </a:lnSpc>
              <a:spcBef>
                <a:spcPts val="0"/>
              </a:spcBef>
              <a:spcAft>
                <a:spcPts val="0"/>
              </a:spcAft>
            </a:pPr>
            <a:r>
              <a:rPr sz="1110" b="0">
                <a:solidFill>
                  <a:srgbClr val="657487"/>
                </a:solidFill>
                <a:latin typeface="Noto Sans"/>
              </a:rPr>
              <a:t>Node256</a:t>
            </a:r>
          </a:p>
        </p:txBody>
      </p:sp>
      <p:sp>
        <p:nvSpPr>
          <p:cNvPr id="39" name="TextBox 38"/>
          <p:cNvSpPr txBox="1"/>
          <p:nvPr/>
        </p:nvSpPr>
        <p:spPr>
          <a:xfrm>
            <a:off x="411480" y="2350008"/>
            <a:ext cx="3840480" cy="192024"/>
          </a:xfrm>
          <a:prstGeom prst="rect">
            <a:avLst/>
          </a:prstGeom>
          <a:noFill/>
        </p:spPr>
        <p:txBody>
          <a:bodyPr wrap="square" lIns="22860" tIns="0" rIns="22860" bIns="0" anchor="ctr">
            <a:noAutofit/>
          </a:bodyPr>
          <a:lstStyle/>
          <a:p>
            <a:pPr algn="l">
              <a:lnSpc>
                <a:spcPct val="108000"/>
              </a:lnSpc>
              <a:spcBef>
                <a:spcPts val="0"/>
              </a:spcBef>
              <a:spcAft>
                <a:spcPts val="0"/>
              </a:spcAft>
            </a:pPr>
            <a:r>
              <a:rPr sz="1150" b="1">
                <a:solidFill>
                  <a:srgbClr val="00878C"/>
                </a:solidFill>
                <a:latin typeface="Noto Sans"/>
              </a:rPr>
              <a:t>T5  Layout</a:t>
            </a:r>
          </a:p>
        </p:txBody>
      </p:sp>
      <p:sp>
        <p:nvSpPr>
          <p:cNvPr id="40" name="Rounded Rectangle 39"/>
          <p:cNvSpPr/>
          <p:nvPr/>
        </p:nvSpPr>
        <p:spPr>
          <a:xfrm>
            <a:off x="420624" y="2587752"/>
            <a:ext cx="1060704" cy="393192"/>
          </a:xfrm>
          <a:prstGeom prst="roundRect">
            <a:avLst>
              <a:gd name="adj" fmla="val 6000"/>
            </a:avLst>
          </a:prstGeom>
          <a:solidFill>
            <a:srgbClr val="E7F4F3"/>
          </a:solidFill>
          <a:ln w="15240">
            <a:solidFill>
              <a:srgbClr val="00878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443484" y="2592324"/>
            <a:ext cx="1014983" cy="384048"/>
          </a:xfrm>
          <a:prstGeom prst="rect">
            <a:avLst/>
          </a:prstGeom>
          <a:noFill/>
        </p:spPr>
        <p:txBody>
          <a:bodyPr wrap="square" lIns="22860" tIns="0" rIns="22860" bIns="0" anchor="ctr">
            <a:noAutofit/>
          </a:bodyPr>
          <a:lstStyle/>
          <a:p>
            <a:pPr algn="ctr">
              <a:lnSpc>
                <a:spcPct val="108000"/>
              </a:lnSpc>
              <a:spcBef>
                <a:spcPts val="0"/>
              </a:spcBef>
              <a:spcAft>
                <a:spcPts val="0"/>
              </a:spcAft>
            </a:pPr>
            <a:r>
              <a:rPr sz="1110" b="1">
                <a:solidFill>
                  <a:srgbClr val="00878C"/>
                </a:solidFill>
                <a:latin typeface="Noto Sans"/>
              </a:rPr>
              <a:t>Aligned</a:t>
            </a:r>
          </a:p>
        </p:txBody>
      </p:sp>
      <p:sp>
        <p:nvSpPr>
          <p:cNvPr id="42" name="Rounded Rectangle 41"/>
          <p:cNvSpPr/>
          <p:nvPr/>
        </p:nvSpPr>
        <p:spPr>
          <a:xfrm>
            <a:off x="1549907" y="2587752"/>
            <a:ext cx="1060704" cy="393192"/>
          </a:xfrm>
          <a:prstGeom prst="roundRect">
            <a:avLst>
              <a:gd name="adj" fmla="val 6000"/>
            </a:avLst>
          </a:prstGeom>
          <a:solidFill>
            <a:srgbClr val="FFFFFF"/>
          </a:solidFill>
          <a:ln w="15240">
            <a:solidFill>
              <a:srgbClr val="D4DEE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1572767" y="2592324"/>
            <a:ext cx="1014983" cy="384048"/>
          </a:xfrm>
          <a:prstGeom prst="rect">
            <a:avLst/>
          </a:prstGeom>
          <a:noFill/>
        </p:spPr>
        <p:txBody>
          <a:bodyPr wrap="square" lIns="22860" tIns="0" rIns="22860" bIns="0" anchor="ctr">
            <a:noAutofit/>
          </a:bodyPr>
          <a:lstStyle/>
          <a:p>
            <a:pPr algn="ctr">
              <a:lnSpc>
                <a:spcPct val="108000"/>
              </a:lnSpc>
              <a:spcBef>
                <a:spcPts val="0"/>
              </a:spcBef>
              <a:spcAft>
                <a:spcPts val="0"/>
              </a:spcAft>
            </a:pPr>
            <a:r>
              <a:rPr sz="1110" b="0">
                <a:solidFill>
                  <a:srgbClr val="657487"/>
                </a:solidFill>
                <a:latin typeface="Noto Sans"/>
              </a:rPr>
              <a:t>AoS</a:t>
            </a:r>
          </a:p>
        </p:txBody>
      </p:sp>
      <p:sp>
        <p:nvSpPr>
          <p:cNvPr id="44" name="Rounded Rectangle 43"/>
          <p:cNvSpPr/>
          <p:nvPr/>
        </p:nvSpPr>
        <p:spPr>
          <a:xfrm>
            <a:off x="2679191" y="2587752"/>
            <a:ext cx="1060704" cy="393192"/>
          </a:xfrm>
          <a:prstGeom prst="roundRect">
            <a:avLst>
              <a:gd name="adj" fmla="val 6000"/>
            </a:avLst>
          </a:prstGeom>
          <a:solidFill>
            <a:srgbClr val="FFFFFF"/>
          </a:solidFill>
          <a:ln w="15240">
            <a:solidFill>
              <a:srgbClr val="D4DEE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2702051" y="2592324"/>
            <a:ext cx="1014983" cy="384048"/>
          </a:xfrm>
          <a:prstGeom prst="rect">
            <a:avLst/>
          </a:prstGeom>
          <a:noFill/>
        </p:spPr>
        <p:txBody>
          <a:bodyPr wrap="square" lIns="22860" tIns="0" rIns="22860" bIns="0" anchor="ctr">
            <a:noAutofit/>
          </a:bodyPr>
          <a:lstStyle/>
          <a:p>
            <a:pPr algn="ctr">
              <a:lnSpc>
                <a:spcPct val="108000"/>
              </a:lnSpc>
              <a:spcBef>
                <a:spcPts val="0"/>
              </a:spcBef>
              <a:spcAft>
                <a:spcPts val="0"/>
              </a:spcAft>
            </a:pPr>
            <a:r>
              <a:rPr sz="1110" b="0">
                <a:solidFill>
                  <a:srgbClr val="657487"/>
                </a:solidFill>
                <a:latin typeface="Noto Sans"/>
              </a:rPr>
              <a:t>SoA</a:t>
            </a:r>
          </a:p>
        </p:txBody>
      </p:sp>
      <p:sp>
        <p:nvSpPr>
          <p:cNvPr id="46" name="TextBox 45"/>
          <p:cNvSpPr txBox="1"/>
          <p:nvPr/>
        </p:nvSpPr>
        <p:spPr>
          <a:xfrm>
            <a:off x="411480" y="3127248"/>
            <a:ext cx="3840480" cy="192024"/>
          </a:xfrm>
          <a:prstGeom prst="rect">
            <a:avLst/>
          </a:prstGeom>
          <a:noFill/>
        </p:spPr>
        <p:txBody>
          <a:bodyPr wrap="square" lIns="22860" tIns="0" rIns="22860" bIns="0" anchor="ctr">
            <a:noAutofit/>
          </a:bodyPr>
          <a:lstStyle/>
          <a:p>
            <a:pPr algn="l">
              <a:lnSpc>
                <a:spcPct val="108000"/>
              </a:lnSpc>
              <a:spcBef>
                <a:spcPts val="0"/>
              </a:spcBef>
              <a:spcAft>
                <a:spcPts val="0"/>
              </a:spcAft>
            </a:pPr>
            <a:r>
              <a:rPr sz="1150" b="1">
                <a:solidFill>
                  <a:srgbClr val="AD731A"/>
                </a:solidFill>
                <a:latin typeface="Noto Sans"/>
              </a:rPr>
              <a:t>T6  Allocator</a:t>
            </a:r>
          </a:p>
        </p:txBody>
      </p:sp>
      <p:sp>
        <p:nvSpPr>
          <p:cNvPr id="47" name="Rounded Rectangle 46"/>
          <p:cNvSpPr/>
          <p:nvPr/>
        </p:nvSpPr>
        <p:spPr>
          <a:xfrm>
            <a:off x="420624" y="3364992"/>
            <a:ext cx="1060704" cy="393192"/>
          </a:xfrm>
          <a:prstGeom prst="roundRect">
            <a:avLst>
              <a:gd name="adj" fmla="val 6000"/>
            </a:avLst>
          </a:prstGeom>
          <a:solidFill>
            <a:srgbClr val="FAF1DF"/>
          </a:solidFill>
          <a:ln w="15240">
            <a:solidFill>
              <a:srgbClr val="AD731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443484" y="3369564"/>
            <a:ext cx="1014983" cy="384048"/>
          </a:xfrm>
          <a:prstGeom prst="rect">
            <a:avLst/>
          </a:prstGeom>
          <a:noFill/>
        </p:spPr>
        <p:txBody>
          <a:bodyPr wrap="square" lIns="22860" tIns="0" rIns="22860" bIns="0" anchor="ctr">
            <a:noAutofit/>
          </a:bodyPr>
          <a:lstStyle/>
          <a:p>
            <a:pPr algn="ctr">
              <a:lnSpc>
                <a:spcPct val="108000"/>
              </a:lnSpc>
              <a:spcBef>
                <a:spcPts val="0"/>
              </a:spcBef>
              <a:spcAft>
                <a:spcPts val="0"/>
              </a:spcAft>
            </a:pPr>
            <a:r>
              <a:rPr sz="1110" b="1">
                <a:solidFill>
                  <a:srgbClr val="AD731A"/>
                </a:solidFill>
                <a:latin typeface="Noto Sans"/>
              </a:rPr>
              <a:t>mimalloc</a:t>
            </a:r>
          </a:p>
        </p:txBody>
      </p:sp>
      <p:sp>
        <p:nvSpPr>
          <p:cNvPr id="49" name="Rounded Rectangle 48"/>
          <p:cNvSpPr/>
          <p:nvPr/>
        </p:nvSpPr>
        <p:spPr>
          <a:xfrm>
            <a:off x="1549907" y="3364992"/>
            <a:ext cx="1060704" cy="393192"/>
          </a:xfrm>
          <a:prstGeom prst="roundRect">
            <a:avLst>
              <a:gd name="adj" fmla="val 6000"/>
            </a:avLst>
          </a:prstGeom>
          <a:solidFill>
            <a:srgbClr val="FFFFFF"/>
          </a:solidFill>
          <a:ln w="15240">
            <a:solidFill>
              <a:srgbClr val="D4DEE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1572767" y="3369564"/>
            <a:ext cx="1014983" cy="384048"/>
          </a:xfrm>
          <a:prstGeom prst="rect">
            <a:avLst/>
          </a:prstGeom>
          <a:noFill/>
        </p:spPr>
        <p:txBody>
          <a:bodyPr wrap="square" lIns="22860" tIns="0" rIns="22860" bIns="0" anchor="ctr">
            <a:noAutofit/>
          </a:bodyPr>
          <a:lstStyle/>
          <a:p>
            <a:pPr algn="ctr">
              <a:lnSpc>
                <a:spcPct val="108000"/>
              </a:lnSpc>
              <a:spcBef>
                <a:spcPts val="0"/>
              </a:spcBef>
              <a:spcAft>
                <a:spcPts val="0"/>
              </a:spcAft>
            </a:pPr>
            <a:r>
              <a:rPr sz="1110" b="0">
                <a:solidFill>
                  <a:srgbClr val="657487"/>
                </a:solidFill>
                <a:latin typeface="Noto Sans"/>
              </a:rPr>
              <a:t>malloc</a:t>
            </a:r>
          </a:p>
        </p:txBody>
      </p:sp>
      <p:sp>
        <p:nvSpPr>
          <p:cNvPr id="51" name="Rounded Rectangle 50"/>
          <p:cNvSpPr/>
          <p:nvPr/>
        </p:nvSpPr>
        <p:spPr>
          <a:xfrm>
            <a:off x="2679191" y="3364992"/>
            <a:ext cx="1060704" cy="393192"/>
          </a:xfrm>
          <a:prstGeom prst="roundRect">
            <a:avLst>
              <a:gd name="adj" fmla="val 6000"/>
            </a:avLst>
          </a:prstGeom>
          <a:solidFill>
            <a:srgbClr val="FFFFFF"/>
          </a:solidFill>
          <a:ln w="15240">
            <a:solidFill>
              <a:srgbClr val="D4DEE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2702051" y="3369564"/>
            <a:ext cx="1014983" cy="384048"/>
          </a:xfrm>
          <a:prstGeom prst="rect">
            <a:avLst/>
          </a:prstGeom>
          <a:noFill/>
        </p:spPr>
        <p:txBody>
          <a:bodyPr wrap="square" lIns="22860" tIns="0" rIns="22860" bIns="0" anchor="ctr">
            <a:noAutofit/>
          </a:bodyPr>
          <a:lstStyle/>
          <a:p>
            <a:pPr algn="ctr">
              <a:lnSpc>
                <a:spcPct val="108000"/>
              </a:lnSpc>
              <a:spcBef>
                <a:spcPts val="0"/>
              </a:spcBef>
              <a:spcAft>
                <a:spcPts val="0"/>
              </a:spcAft>
            </a:pPr>
            <a:r>
              <a:rPr sz="1110" b="0">
                <a:solidFill>
                  <a:srgbClr val="657487"/>
                </a:solidFill>
                <a:latin typeface="Noto Sans"/>
              </a:rPr>
              <a:t>pool</a:t>
            </a:r>
          </a:p>
        </p:txBody>
      </p:sp>
      <p:grpSp>
        <p:nvGrpSpPr>
          <p:cNvPr id="75" name="ASSEMBLY: selected node, layout, allocator form storage"/>
          <p:cNvGrpSpPr/>
          <p:nvPr/>
        </p:nvGrpSpPr>
        <p:grpSpPr>
          <a:xfrm>
            <a:off x="818388" y="1801368"/>
            <a:ext cx="7840980" cy="2075688"/>
            <a:chOff x="818388" y="1801368"/>
            <a:chExt cx="7840980" cy="2075688"/>
          </a:xfrm>
        </p:grpSpPr>
        <p:cxnSp>
          <p:nvCxnSpPr>
            <p:cNvPr id="53" name="Connector 52"/>
            <p:cNvCxnSpPr/>
            <p:nvPr/>
          </p:nvCxnSpPr>
          <p:spPr>
            <a:xfrm>
              <a:off x="818388" y="2221992"/>
              <a:ext cx="0" cy="100584"/>
            </a:xfrm>
            <a:prstGeom prst="line">
              <a:avLst/>
            </a:prstGeom>
            <a:ln w="15875">
              <a:solidFill>
                <a:srgbClr val="3468AA"/>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a:off x="818388" y="2322576"/>
              <a:ext cx="3131820" cy="0"/>
            </a:xfrm>
            <a:prstGeom prst="line">
              <a:avLst/>
            </a:prstGeom>
            <a:ln w="15875">
              <a:solidFill>
                <a:srgbClr val="3468AA"/>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a:off x="3950208" y="2322576"/>
              <a:ext cx="859536" cy="384048"/>
            </a:xfrm>
            <a:prstGeom prst="line">
              <a:avLst/>
            </a:prstGeom>
            <a:ln w="21590">
              <a:solidFill>
                <a:srgbClr val="3468AA"/>
              </a:solidFill>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a:off x="950976" y="2999232"/>
              <a:ext cx="0" cy="100584"/>
            </a:xfrm>
            <a:prstGeom prst="line">
              <a:avLst/>
            </a:prstGeom>
            <a:ln w="15875">
              <a:solidFill>
                <a:srgbClr val="00878C"/>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a:off x="950976" y="3099816"/>
              <a:ext cx="2999232" cy="0"/>
            </a:xfrm>
            <a:prstGeom prst="line">
              <a:avLst/>
            </a:prstGeom>
            <a:ln w="15875">
              <a:solidFill>
                <a:srgbClr val="00878C"/>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flipV="1">
              <a:off x="3950208" y="2706624"/>
              <a:ext cx="859536" cy="393192"/>
            </a:xfrm>
            <a:prstGeom prst="line">
              <a:avLst/>
            </a:prstGeom>
            <a:ln w="21590">
              <a:solidFill>
                <a:srgbClr val="00878C"/>
              </a:solidFill>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a:off x="950976" y="3776472"/>
              <a:ext cx="0" cy="100584"/>
            </a:xfrm>
            <a:prstGeom prst="line">
              <a:avLst/>
            </a:prstGeom>
            <a:ln w="15875">
              <a:solidFill>
                <a:srgbClr val="AD731A"/>
              </a:solidFill>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a:off x="950976" y="3877056"/>
              <a:ext cx="2999232" cy="0"/>
            </a:xfrm>
            <a:prstGeom prst="line">
              <a:avLst/>
            </a:prstGeom>
            <a:ln w="15875">
              <a:solidFill>
                <a:srgbClr val="AD731A"/>
              </a:solidFill>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flipV="1">
              <a:off x="3950208" y="2706624"/>
              <a:ext cx="859536" cy="1170432"/>
            </a:xfrm>
            <a:prstGeom prst="line">
              <a:avLst/>
            </a:prstGeom>
            <a:ln w="21590">
              <a:solidFill>
                <a:srgbClr val="AD731A"/>
              </a:solidFill>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a:off x="4809744" y="2706624"/>
              <a:ext cx="356616" cy="0"/>
            </a:xfrm>
            <a:prstGeom prst="line">
              <a:avLst/>
            </a:prstGeom>
            <a:ln w="22860">
              <a:solidFill>
                <a:srgbClr val="041447"/>
              </a:solidFill>
              <a:tailEnd type="triangle" w="sm" len="sm"/>
            </a:ln>
          </p:spPr>
          <p:style>
            <a:lnRef idx="2">
              <a:schemeClr val="accent1"/>
            </a:lnRef>
            <a:fillRef idx="0">
              <a:schemeClr val="accent1"/>
            </a:fillRef>
            <a:effectRef idx="1">
              <a:schemeClr val="accent1"/>
            </a:effectRef>
            <a:fontRef idx="minor">
              <a:schemeClr val="tx1"/>
            </a:fontRef>
          </p:style>
        </p:cxnSp>
        <p:sp>
          <p:nvSpPr>
            <p:cNvPr id="63" name="Rounded Rectangle 62"/>
            <p:cNvSpPr/>
            <p:nvPr/>
          </p:nvSpPr>
          <p:spPr>
            <a:xfrm>
              <a:off x="5193792" y="1801368"/>
              <a:ext cx="3465576" cy="2020824"/>
            </a:xfrm>
            <a:prstGeom prst="roundRect">
              <a:avLst>
                <a:gd name="adj" fmla="val 6000"/>
              </a:avLst>
            </a:prstGeom>
            <a:solidFill>
              <a:srgbClr val="F1F5F8"/>
            </a:solidFill>
            <a:ln w="16510">
              <a:solidFill>
                <a:srgbClr val="04144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TextBox 63"/>
            <p:cNvSpPr txBox="1"/>
            <p:nvPr/>
          </p:nvSpPr>
          <p:spPr>
            <a:xfrm>
              <a:off x="5340096" y="1892807"/>
              <a:ext cx="3154680" cy="292608"/>
            </a:xfrm>
            <a:prstGeom prst="rect">
              <a:avLst/>
            </a:prstGeom>
            <a:noFill/>
          </p:spPr>
          <p:txBody>
            <a:bodyPr wrap="square" lIns="22860" tIns="0" rIns="22860" bIns="0" anchor="ctr">
              <a:noAutofit/>
            </a:bodyPr>
            <a:lstStyle/>
            <a:p>
              <a:pPr algn="ctr">
                <a:lnSpc>
                  <a:spcPct val="108000"/>
                </a:lnSpc>
                <a:spcBef>
                  <a:spcPts val="0"/>
                </a:spcBef>
                <a:spcAft>
                  <a:spcPts val="0"/>
                </a:spcAft>
              </a:pPr>
              <a:r>
                <a:rPr sz="1700" b="1">
                  <a:solidFill>
                    <a:srgbClr val="041447"/>
                  </a:solidFill>
                  <a:latin typeface="Noto Sans"/>
                </a:rPr>
                <a:t>STORAGE ORGAN</a:t>
              </a:r>
            </a:p>
          </p:txBody>
        </p:sp>
        <p:sp>
          <p:nvSpPr>
            <p:cNvPr id="65" name="Freeform 64"/>
            <p:cNvSpPr/>
            <p:nvPr/>
          </p:nvSpPr>
          <p:spPr>
            <a:xfrm>
              <a:off x="5431536" y="2350008"/>
              <a:ext cx="1077163" cy="850392"/>
            </a:xfrm>
            <a:custGeom>
              <a:avLst/>
              <a:gdLst/>
              <a:ahLst/>
              <a:cxnLst/>
              <a:rect l="l" t="t" r="r" b="b"/>
              <a:pathLst>
                <a:path w="1178" h="930">
                  <a:moveTo>
                    <a:pt x="0" y="0"/>
                  </a:moveTo>
                  <a:lnTo>
                    <a:pt x="1057" y="0"/>
                  </a:lnTo>
                  <a:lnTo>
                    <a:pt x="1057" y="391"/>
                  </a:lnTo>
                  <a:lnTo>
                    <a:pt x="1084" y="405"/>
                  </a:lnTo>
                  <a:lnTo>
                    <a:pt x="1109" y="420"/>
                  </a:lnTo>
                  <a:lnTo>
                    <a:pt x="1132" y="434"/>
                  </a:lnTo>
                  <a:lnTo>
                    <a:pt x="1151" y="449"/>
                  </a:lnTo>
                  <a:lnTo>
                    <a:pt x="1166" y="464"/>
                  </a:lnTo>
                  <a:lnTo>
                    <a:pt x="1175" y="478"/>
                  </a:lnTo>
                  <a:lnTo>
                    <a:pt x="1178" y="493"/>
                  </a:lnTo>
                  <a:lnTo>
                    <a:pt x="1175" y="508"/>
                  </a:lnTo>
                  <a:lnTo>
                    <a:pt x="1166" y="522"/>
                  </a:lnTo>
                  <a:lnTo>
                    <a:pt x="1151" y="537"/>
                  </a:lnTo>
                  <a:lnTo>
                    <a:pt x="1132" y="551"/>
                  </a:lnTo>
                  <a:lnTo>
                    <a:pt x="1109" y="566"/>
                  </a:lnTo>
                  <a:lnTo>
                    <a:pt x="1084" y="581"/>
                  </a:lnTo>
                  <a:lnTo>
                    <a:pt x="1057" y="595"/>
                  </a:lnTo>
                  <a:lnTo>
                    <a:pt x="1057" y="930"/>
                  </a:lnTo>
                  <a:lnTo>
                    <a:pt x="0" y="930"/>
                  </a:lnTo>
                  <a:lnTo>
                    <a:pt x="0" y="595"/>
                  </a:lnTo>
                  <a:lnTo>
                    <a:pt x="0" y="0"/>
                  </a:lnTo>
                  <a:close/>
                </a:path>
              </a:pathLst>
            </a:custGeom>
            <a:solidFill>
              <a:srgbClr val="3468AA"/>
            </a:solidFill>
            <a:ln w="1651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TextBox 65"/>
            <p:cNvSpPr txBox="1"/>
            <p:nvPr/>
          </p:nvSpPr>
          <p:spPr>
            <a:xfrm>
              <a:off x="5513832" y="2391156"/>
              <a:ext cx="838200" cy="221101"/>
            </a:xfrm>
            <a:prstGeom prst="rect">
              <a:avLst/>
            </a:prstGeom>
            <a:noFill/>
          </p:spPr>
          <p:txBody>
            <a:bodyPr wrap="square" lIns="22860" tIns="0" rIns="22860" bIns="0" anchor="ctr">
              <a:noAutofit/>
            </a:bodyPr>
            <a:lstStyle/>
            <a:p>
              <a:pPr algn="ctr">
                <a:lnSpc>
                  <a:spcPct val="108000"/>
                </a:lnSpc>
                <a:spcBef>
                  <a:spcPts val="0"/>
                </a:spcBef>
                <a:spcAft>
                  <a:spcPts val="0"/>
                </a:spcAft>
              </a:pPr>
              <a:r>
                <a:rPr sz="1200" b="1">
                  <a:solidFill>
                    <a:srgbClr val="FFFFFF"/>
                  </a:solidFill>
                  <a:latin typeface="Noto Sans"/>
                </a:rPr>
                <a:t>T4</a:t>
              </a:r>
            </a:p>
          </p:txBody>
        </p:sp>
        <p:sp>
          <p:nvSpPr>
            <p:cNvPr id="67" name="TextBox 66"/>
            <p:cNvSpPr txBox="1"/>
            <p:nvPr/>
          </p:nvSpPr>
          <p:spPr>
            <a:xfrm>
              <a:off x="5472684" y="2639141"/>
              <a:ext cx="897636" cy="374172"/>
            </a:xfrm>
            <a:prstGeom prst="rect">
              <a:avLst/>
            </a:prstGeom>
            <a:noFill/>
          </p:spPr>
          <p:txBody>
            <a:bodyPr wrap="square" lIns="22860" tIns="0" rIns="22860" bIns="0" anchor="ctr">
              <a:noAutofit/>
            </a:bodyPr>
            <a:lstStyle/>
            <a:p>
              <a:pPr algn="ctr">
                <a:lnSpc>
                  <a:spcPct val="108000"/>
                </a:lnSpc>
                <a:spcBef>
                  <a:spcPts val="0"/>
                </a:spcBef>
                <a:spcAft>
                  <a:spcPts val="0"/>
                </a:spcAft>
              </a:pPr>
              <a:r>
                <a:rPr sz="1250" b="1">
                  <a:solidFill>
                    <a:srgbClr val="FFFFFF"/>
                  </a:solidFill>
                  <a:latin typeface="Noto Sans"/>
                </a:rPr>
                <a:t>Node4</a:t>
              </a:r>
            </a:p>
          </p:txBody>
        </p:sp>
        <p:sp>
          <p:nvSpPr>
            <p:cNvPr id="68" name="Freeform 67"/>
            <p:cNvSpPr/>
            <p:nvPr/>
          </p:nvSpPr>
          <p:spPr>
            <a:xfrm>
              <a:off x="6397752" y="2350008"/>
              <a:ext cx="1077163" cy="850392"/>
            </a:xfrm>
            <a:custGeom>
              <a:avLst/>
              <a:gdLst/>
              <a:ahLst/>
              <a:cxnLst/>
              <a:rect l="l" t="t" r="r" b="b"/>
              <a:pathLst>
                <a:path w="1178" h="930">
                  <a:moveTo>
                    <a:pt x="0" y="0"/>
                  </a:moveTo>
                  <a:lnTo>
                    <a:pt x="1057" y="0"/>
                  </a:lnTo>
                  <a:lnTo>
                    <a:pt x="1057" y="391"/>
                  </a:lnTo>
                  <a:lnTo>
                    <a:pt x="1084" y="405"/>
                  </a:lnTo>
                  <a:lnTo>
                    <a:pt x="1109" y="420"/>
                  </a:lnTo>
                  <a:lnTo>
                    <a:pt x="1132" y="434"/>
                  </a:lnTo>
                  <a:lnTo>
                    <a:pt x="1151" y="449"/>
                  </a:lnTo>
                  <a:lnTo>
                    <a:pt x="1166" y="464"/>
                  </a:lnTo>
                  <a:lnTo>
                    <a:pt x="1175" y="478"/>
                  </a:lnTo>
                  <a:lnTo>
                    <a:pt x="1178" y="493"/>
                  </a:lnTo>
                  <a:lnTo>
                    <a:pt x="1175" y="508"/>
                  </a:lnTo>
                  <a:lnTo>
                    <a:pt x="1166" y="522"/>
                  </a:lnTo>
                  <a:lnTo>
                    <a:pt x="1151" y="537"/>
                  </a:lnTo>
                  <a:lnTo>
                    <a:pt x="1132" y="551"/>
                  </a:lnTo>
                  <a:lnTo>
                    <a:pt x="1109" y="566"/>
                  </a:lnTo>
                  <a:lnTo>
                    <a:pt x="1084" y="581"/>
                  </a:lnTo>
                  <a:lnTo>
                    <a:pt x="1057" y="595"/>
                  </a:lnTo>
                  <a:lnTo>
                    <a:pt x="1057" y="930"/>
                  </a:lnTo>
                  <a:lnTo>
                    <a:pt x="0" y="930"/>
                  </a:lnTo>
                  <a:lnTo>
                    <a:pt x="0" y="595"/>
                  </a:lnTo>
                  <a:lnTo>
                    <a:pt x="27" y="581"/>
                  </a:lnTo>
                  <a:lnTo>
                    <a:pt x="52" y="566"/>
                  </a:lnTo>
                  <a:lnTo>
                    <a:pt x="75" y="551"/>
                  </a:lnTo>
                  <a:lnTo>
                    <a:pt x="95" y="537"/>
                  </a:lnTo>
                  <a:lnTo>
                    <a:pt x="109" y="522"/>
                  </a:lnTo>
                  <a:lnTo>
                    <a:pt x="118" y="508"/>
                  </a:lnTo>
                  <a:lnTo>
                    <a:pt x="121" y="493"/>
                  </a:lnTo>
                  <a:lnTo>
                    <a:pt x="118" y="478"/>
                  </a:lnTo>
                  <a:lnTo>
                    <a:pt x="109" y="464"/>
                  </a:lnTo>
                  <a:lnTo>
                    <a:pt x="95" y="449"/>
                  </a:lnTo>
                  <a:lnTo>
                    <a:pt x="75" y="434"/>
                  </a:lnTo>
                  <a:lnTo>
                    <a:pt x="52" y="420"/>
                  </a:lnTo>
                  <a:lnTo>
                    <a:pt x="27" y="405"/>
                  </a:lnTo>
                  <a:lnTo>
                    <a:pt x="0" y="391"/>
                  </a:lnTo>
                  <a:lnTo>
                    <a:pt x="0" y="0"/>
                  </a:lnTo>
                  <a:close/>
                </a:path>
              </a:pathLst>
            </a:custGeom>
            <a:solidFill>
              <a:srgbClr val="00878C"/>
            </a:solidFill>
            <a:ln w="1651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TextBox 68"/>
            <p:cNvSpPr txBox="1"/>
            <p:nvPr/>
          </p:nvSpPr>
          <p:spPr>
            <a:xfrm>
              <a:off x="6480048" y="2391156"/>
              <a:ext cx="838200" cy="221101"/>
            </a:xfrm>
            <a:prstGeom prst="rect">
              <a:avLst/>
            </a:prstGeom>
            <a:noFill/>
          </p:spPr>
          <p:txBody>
            <a:bodyPr wrap="square" lIns="22860" tIns="0" rIns="22860" bIns="0" anchor="ctr">
              <a:noAutofit/>
            </a:bodyPr>
            <a:lstStyle/>
            <a:p>
              <a:pPr algn="ctr">
                <a:lnSpc>
                  <a:spcPct val="108000"/>
                </a:lnSpc>
                <a:spcBef>
                  <a:spcPts val="0"/>
                </a:spcBef>
                <a:spcAft>
                  <a:spcPts val="0"/>
                </a:spcAft>
              </a:pPr>
              <a:r>
                <a:rPr sz="1200" b="1">
                  <a:solidFill>
                    <a:srgbClr val="FFFFFF"/>
                  </a:solidFill>
                  <a:latin typeface="Noto Sans"/>
                </a:rPr>
                <a:t>T5</a:t>
              </a:r>
            </a:p>
          </p:txBody>
        </p:sp>
        <p:sp>
          <p:nvSpPr>
            <p:cNvPr id="70" name="TextBox 69"/>
            <p:cNvSpPr txBox="1"/>
            <p:nvPr/>
          </p:nvSpPr>
          <p:spPr>
            <a:xfrm>
              <a:off x="6438900" y="2639141"/>
              <a:ext cx="897636" cy="374172"/>
            </a:xfrm>
            <a:prstGeom prst="rect">
              <a:avLst/>
            </a:prstGeom>
            <a:noFill/>
          </p:spPr>
          <p:txBody>
            <a:bodyPr wrap="square" lIns="22860" tIns="0" rIns="22860" bIns="0" anchor="ctr">
              <a:noAutofit/>
            </a:bodyPr>
            <a:lstStyle/>
            <a:p>
              <a:pPr algn="ctr">
                <a:lnSpc>
                  <a:spcPct val="108000"/>
                </a:lnSpc>
                <a:spcBef>
                  <a:spcPts val="0"/>
                </a:spcBef>
                <a:spcAft>
                  <a:spcPts val="0"/>
                </a:spcAft>
              </a:pPr>
              <a:r>
                <a:rPr sz="1250" b="1">
                  <a:solidFill>
                    <a:srgbClr val="FFFFFF"/>
                  </a:solidFill>
                  <a:latin typeface="Noto Sans"/>
                </a:rPr>
                <a:t>Aligned</a:t>
              </a:r>
            </a:p>
          </p:txBody>
        </p:sp>
        <p:sp>
          <p:nvSpPr>
            <p:cNvPr id="71" name="Freeform 70"/>
            <p:cNvSpPr/>
            <p:nvPr/>
          </p:nvSpPr>
          <p:spPr>
            <a:xfrm>
              <a:off x="7363968" y="2350008"/>
              <a:ext cx="966521" cy="850392"/>
            </a:xfrm>
            <a:custGeom>
              <a:avLst/>
              <a:gdLst/>
              <a:ahLst/>
              <a:cxnLst/>
              <a:rect l="l" t="t" r="r" b="b"/>
              <a:pathLst>
                <a:path w="1057" h="930">
                  <a:moveTo>
                    <a:pt x="0" y="0"/>
                  </a:moveTo>
                  <a:lnTo>
                    <a:pt x="1057" y="0"/>
                  </a:lnTo>
                  <a:lnTo>
                    <a:pt x="1057" y="391"/>
                  </a:lnTo>
                  <a:lnTo>
                    <a:pt x="1057" y="930"/>
                  </a:lnTo>
                  <a:lnTo>
                    <a:pt x="0" y="930"/>
                  </a:lnTo>
                  <a:lnTo>
                    <a:pt x="0" y="595"/>
                  </a:lnTo>
                  <a:lnTo>
                    <a:pt x="27" y="581"/>
                  </a:lnTo>
                  <a:lnTo>
                    <a:pt x="52" y="566"/>
                  </a:lnTo>
                  <a:lnTo>
                    <a:pt x="75" y="551"/>
                  </a:lnTo>
                  <a:lnTo>
                    <a:pt x="95" y="537"/>
                  </a:lnTo>
                  <a:lnTo>
                    <a:pt x="109" y="522"/>
                  </a:lnTo>
                  <a:lnTo>
                    <a:pt x="118" y="508"/>
                  </a:lnTo>
                  <a:lnTo>
                    <a:pt x="121" y="493"/>
                  </a:lnTo>
                  <a:lnTo>
                    <a:pt x="118" y="478"/>
                  </a:lnTo>
                  <a:lnTo>
                    <a:pt x="109" y="464"/>
                  </a:lnTo>
                  <a:lnTo>
                    <a:pt x="95" y="449"/>
                  </a:lnTo>
                  <a:lnTo>
                    <a:pt x="75" y="434"/>
                  </a:lnTo>
                  <a:lnTo>
                    <a:pt x="52" y="420"/>
                  </a:lnTo>
                  <a:lnTo>
                    <a:pt x="27" y="405"/>
                  </a:lnTo>
                  <a:lnTo>
                    <a:pt x="0" y="391"/>
                  </a:lnTo>
                  <a:lnTo>
                    <a:pt x="0" y="0"/>
                  </a:lnTo>
                  <a:close/>
                </a:path>
              </a:pathLst>
            </a:custGeom>
            <a:solidFill>
              <a:srgbClr val="AD731A"/>
            </a:solidFill>
            <a:ln w="1651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TextBox 71"/>
            <p:cNvSpPr txBox="1"/>
            <p:nvPr/>
          </p:nvSpPr>
          <p:spPr>
            <a:xfrm>
              <a:off x="7446264" y="2391156"/>
              <a:ext cx="838200" cy="221101"/>
            </a:xfrm>
            <a:prstGeom prst="rect">
              <a:avLst/>
            </a:prstGeom>
            <a:noFill/>
          </p:spPr>
          <p:txBody>
            <a:bodyPr wrap="square" lIns="22860" tIns="0" rIns="22860" bIns="0" anchor="ctr">
              <a:noAutofit/>
            </a:bodyPr>
            <a:lstStyle/>
            <a:p>
              <a:pPr algn="ctr">
                <a:lnSpc>
                  <a:spcPct val="108000"/>
                </a:lnSpc>
                <a:spcBef>
                  <a:spcPts val="0"/>
                </a:spcBef>
                <a:spcAft>
                  <a:spcPts val="0"/>
                </a:spcAft>
              </a:pPr>
              <a:r>
                <a:rPr sz="1200" b="1">
                  <a:solidFill>
                    <a:srgbClr val="FFFFFF"/>
                  </a:solidFill>
                  <a:latin typeface="Noto Sans"/>
                </a:rPr>
                <a:t>T6</a:t>
              </a:r>
            </a:p>
          </p:txBody>
        </p:sp>
        <p:sp>
          <p:nvSpPr>
            <p:cNvPr id="73" name="TextBox 72"/>
            <p:cNvSpPr txBox="1"/>
            <p:nvPr/>
          </p:nvSpPr>
          <p:spPr>
            <a:xfrm>
              <a:off x="7405116" y="2639141"/>
              <a:ext cx="897636" cy="374172"/>
            </a:xfrm>
            <a:prstGeom prst="rect">
              <a:avLst/>
            </a:prstGeom>
            <a:noFill/>
          </p:spPr>
          <p:txBody>
            <a:bodyPr wrap="square" lIns="22860" tIns="0" rIns="22860" bIns="0" anchor="ctr">
              <a:noAutofit/>
            </a:bodyPr>
            <a:lstStyle/>
            <a:p>
              <a:pPr algn="ctr">
                <a:lnSpc>
                  <a:spcPct val="108000"/>
                </a:lnSpc>
                <a:spcBef>
                  <a:spcPts val="0"/>
                </a:spcBef>
                <a:spcAft>
                  <a:spcPts val="0"/>
                </a:spcAft>
              </a:pPr>
              <a:r>
                <a:rPr sz="1250" b="1">
                  <a:solidFill>
                    <a:srgbClr val="FFFFFF"/>
                  </a:solidFill>
                  <a:latin typeface="Noto Sans"/>
                </a:rPr>
                <a:t>mimalloc</a:t>
              </a:r>
            </a:p>
          </p:txBody>
        </p:sp>
        <p:sp>
          <p:nvSpPr>
            <p:cNvPr id="74" name="TextBox 73"/>
            <p:cNvSpPr txBox="1"/>
            <p:nvPr/>
          </p:nvSpPr>
          <p:spPr>
            <a:xfrm>
              <a:off x="5394960" y="3282696"/>
              <a:ext cx="3026664" cy="219456"/>
            </a:xfrm>
            <a:prstGeom prst="rect">
              <a:avLst/>
            </a:prstGeom>
            <a:noFill/>
          </p:spPr>
          <p:txBody>
            <a:bodyPr wrap="square" lIns="22860" tIns="0" rIns="22860" bIns="0" anchor="ctr">
              <a:noAutofit/>
            </a:bodyPr>
            <a:lstStyle/>
            <a:p>
              <a:pPr algn="ctr">
                <a:lnSpc>
                  <a:spcPct val="108000"/>
                </a:lnSpc>
                <a:spcBef>
                  <a:spcPts val="0"/>
                </a:spcBef>
                <a:spcAft>
                  <a:spcPts val="0"/>
                </a:spcAft>
              </a:pPr>
              <a:r>
                <a:rPr sz="1080" b="0">
                  <a:solidFill>
                    <a:srgbClr val="23364B"/>
                  </a:solidFill>
                  <a:latin typeface="Noto Sans"/>
                </a:rPr>
                <a:t>capacity  +  layout  +  allocation</a:t>
              </a:r>
            </a:p>
          </p:txBody>
        </p:sp>
      </p:grpSp>
      <p:grpSp>
        <p:nvGrpSpPr>
          <p:cNvPr id="78" name="CONTRACT: composed storage exports StorageOrgan"/>
          <p:cNvGrpSpPr/>
          <p:nvPr/>
        </p:nvGrpSpPr>
        <p:grpSpPr>
          <a:xfrm>
            <a:off x="5879592" y="3584448"/>
            <a:ext cx="2075688" cy="301752"/>
            <a:chOff x="5879592" y="3584448"/>
            <a:chExt cx="2075688" cy="301752"/>
          </a:xfrm>
        </p:grpSpPr>
        <p:sp>
          <p:nvSpPr>
            <p:cNvPr id="76" name="Rounded Rectangle 75"/>
            <p:cNvSpPr/>
            <p:nvPr/>
          </p:nvSpPr>
          <p:spPr>
            <a:xfrm>
              <a:off x="5879592" y="3584448"/>
              <a:ext cx="2075688" cy="301752"/>
            </a:xfrm>
            <a:prstGeom prst="roundRect">
              <a:avLst>
                <a:gd name="adj" fmla="val 6000"/>
              </a:avLst>
            </a:prstGeom>
            <a:solidFill>
              <a:srgbClr val="FFFFFF"/>
            </a:solidFill>
            <a:ln w="15240">
              <a:solidFill>
                <a:srgbClr val="04144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 name="TextBox 76"/>
            <p:cNvSpPr txBox="1"/>
            <p:nvPr/>
          </p:nvSpPr>
          <p:spPr>
            <a:xfrm>
              <a:off x="5902452" y="3589020"/>
              <a:ext cx="2029968" cy="292608"/>
            </a:xfrm>
            <a:prstGeom prst="rect">
              <a:avLst/>
            </a:prstGeom>
            <a:noFill/>
          </p:spPr>
          <p:txBody>
            <a:bodyPr wrap="square" lIns="22860" tIns="0" rIns="22860" bIns="0" anchor="ctr">
              <a:noAutofit/>
            </a:bodyPr>
            <a:lstStyle/>
            <a:p>
              <a:pPr algn="ctr">
                <a:lnSpc>
                  <a:spcPct val="108000"/>
                </a:lnSpc>
                <a:spcBef>
                  <a:spcPts val="0"/>
                </a:spcBef>
                <a:spcAft>
                  <a:spcPts val="0"/>
                </a:spcAft>
              </a:pPr>
              <a:r>
                <a:rPr sz="1100" b="1">
                  <a:solidFill>
                    <a:srgbClr val="041447"/>
                  </a:solidFill>
                  <a:latin typeface="Noto Sans"/>
                </a:rPr>
                <a:t>StorageOrgan interface</a:t>
              </a:r>
            </a:p>
          </p:txBody>
        </p:sp>
      </p:grpSp>
      <p:sp>
        <p:nvSpPr>
          <p:cNvPr id="79" name="Rectangle 78"/>
          <p:cNvSpPr/>
          <p:nvPr/>
        </p:nvSpPr>
        <p:spPr>
          <a:xfrm>
            <a:off x="329184" y="4096512"/>
            <a:ext cx="8458200" cy="356616"/>
          </a:xfrm>
          <a:prstGeom prst="rect">
            <a:avLst/>
          </a:prstGeom>
          <a:solidFill>
            <a:srgbClr val="EAF0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0" name="TextBox 79"/>
          <p:cNvSpPr txBox="1"/>
          <p:nvPr/>
        </p:nvSpPr>
        <p:spPr>
          <a:xfrm>
            <a:off x="438912" y="4114800"/>
            <a:ext cx="8211312" cy="310896"/>
          </a:xfrm>
          <a:prstGeom prst="rect">
            <a:avLst/>
          </a:prstGeom>
          <a:noFill/>
        </p:spPr>
        <p:txBody>
          <a:bodyPr wrap="square" lIns="22860" tIns="0" rIns="22860" bIns="0" anchor="ctr">
            <a:noAutofit/>
          </a:bodyPr>
          <a:lstStyle/>
          <a:p>
            <a:pPr algn="l">
              <a:lnSpc>
                <a:spcPct val="108000"/>
              </a:lnSpc>
              <a:spcBef>
                <a:spcPts val="0"/>
              </a:spcBef>
              <a:spcAft>
                <a:spcPts val="0"/>
              </a:spcAft>
            </a:pPr>
            <a:r>
              <a:rPr sz="1300" b="1">
                <a:solidFill>
                  <a:srgbClr val="041447"/>
                </a:solidFill>
                <a:latin typeface="Noto Sans"/>
              </a:rPr>
              <a:t>Node type + memory layout + allocator form a working storage organ.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presetID="1" presetClass="entr" presetSubtype="0" fill="hold" nodeType="clickEffect">
                            <p:stCondLst>
                              <p:cond delay="0"/>
                            </p:stCondLst>
                            <p:childTnLst>
                              <p:set>
                                <p:cBhvr>
                                  <p:cTn id="5" dur="1" fill="hold">
                                    <p:stCondLst>
                                      <p:cond delay="0"/>
                                    </p:stCondLst>
                                  </p:cTn>
                                  <p:tgtEl>
                                    <p:spTgt spid="75"/>
                                  </p:tgtEl>
                                  <p:attrNameLst>
                                    <p:attrName>style.visibility</p:attrName>
                                  </p:attrNameLst>
                                </p:cBhvr>
                                <p:to>
                                  <p:strVal val="visible"/>
                                </p:to>
                              </p:set>
                            </p:childTnLst>
                          </p:cTn>
                        </p:par>
                      </p:childTnLst>
                    </p:cTn>
                  </p:par>
                  <p:par>
                    <p:cTn id="6" fill="hold">
                      <p:stCondLst>
                        <p:cond delay="indefinite"/>
                      </p:stCondLst>
                      <p:childTnLst>
                        <p:par>
                          <p:cTn id="7" presetID="1" presetClass="entr" presetSubtype="0" fill="hold" nodeType="clickEffect">
                            <p:stCondLst>
                              <p:cond delay="0"/>
                            </p:stCondLst>
                            <p:childTnLst>
                              <p:set>
                                <p:cBhvr>
                                  <p:cTn id="8" dur="1" fill="hold">
                                    <p:stCondLst>
                                      <p:cond delay="0"/>
                                    </p:stCondLst>
                                  </p:cTn>
                                  <p:tgtEl>
                                    <p:spTgt spid="78"/>
                                  </p:tgtEl>
                                  <p:attrNameLst>
                                    <p:attrName>style.visibility</p:attrName>
                                  </p:attrNameLst>
                                </p:cBhvr>
                                <p:to>
                                  <p:strVal val="visible"/>
                                </p:to>
                              </p:se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83464" y="182880"/>
            <a:ext cx="7360920" cy="438912"/>
          </a:xfrm>
          <a:prstGeom prst="rect">
            <a:avLst/>
          </a:prstGeom>
          <a:noFill/>
        </p:spPr>
        <p:txBody>
          <a:bodyPr wrap="square" lIns="9144" tIns="0" rIns="9144" bIns="0" anchor="ctr">
            <a:spAutoFit/>
          </a:bodyPr>
          <a:lstStyle/>
          <a:p>
            <a:pPr algn="l">
              <a:spcBef>
                <a:spcPts val="0"/>
              </a:spcBef>
              <a:spcAft>
                <a:spcPts val="0"/>
              </a:spcAft>
              <a:defRPr sz="2400" b="1">
                <a:solidFill>
                  <a:srgbClr val="041447"/>
                </a:solidFill>
                <a:latin typeface="Noto Sans"/>
              </a:defRPr>
            </a:pPr>
            <a:r>
              <a:t>Wire organs into a complete algorithm</a:t>
            </a:r>
          </a:p>
        </p:txBody>
      </p:sp>
      <p:sp>
        <p:nvSpPr>
          <p:cNvPr id="3" name="Rectangle 2"/>
          <p:cNvSpPr/>
          <p:nvPr/>
        </p:nvSpPr>
        <p:spPr>
          <a:xfrm>
            <a:off x="310896" y="786384"/>
            <a:ext cx="1197864" cy="45720"/>
          </a:xfrm>
          <a:prstGeom prst="rect">
            <a:avLst/>
          </a:prstGeom>
          <a:solidFill>
            <a:srgbClr val="D2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10896" y="621792"/>
            <a:ext cx="1197864" cy="164592"/>
          </a:xfrm>
          <a:prstGeom prst="rect">
            <a:avLst/>
          </a:prstGeom>
          <a:noFill/>
        </p:spPr>
        <p:txBody>
          <a:bodyPr wrap="square" lIns="9144" tIns="0" rIns="9144" bIns="0" anchor="ctr">
            <a:spAutoFit/>
          </a:bodyPr>
          <a:lstStyle/>
          <a:p>
            <a:pPr algn="l">
              <a:spcBef>
                <a:spcPts val="0"/>
              </a:spcBef>
              <a:spcAft>
                <a:spcPts val="0"/>
              </a:spcAft>
              <a:defRPr sz="850" b="0">
                <a:solidFill>
                  <a:srgbClr val="607080"/>
                </a:solidFill>
                <a:latin typeface="Noto Sans"/>
              </a:defRPr>
            </a:pPr>
            <a:r>
              <a:t>1 Introduction</a:t>
            </a:r>
          </a:p>
        </p:txBody>
      </p:sp>
      <p:sp>
        <p:nvSpPr>
          <p:cNvPr id="5" name="Rectangle 4"/>
          <p:cNvSpPr/>
          <p:nvPr/>
        </p:nvSpPr>
        <p:spPr>
          <a:xfrm>
            <a:off x="1545336" y="786384"/>
            <a:ext cx="1243584" cy="45720"/>
          </a:xfrm>
          <a:prstGeom prst="rect">
            <a:avLst/>
          </a:prstGeom>
          <a:solidFill>
            <a:srgbClr val="D2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545336" y="621792"/>
            <a:ext cx="1243584" cy="164592"/>
          </a:xfrm>
          <a:prstGeom prst="rect">
            <a:avLst/>
          </a:prstGeom>
          <a:noFill/>
        </p:spPr>
        <p:txBody>
          <a:bodyPr wrap="square" lIns="9144" tIns="0" rIns="9144" bIns="0" anchor="ctr">
            <a:spAutoFit/>
          </a:bodyPr>
          <a:lstStyle/>
          <a:p>
            <a:pPr algn="l">
              <a:spcBef>
                <a:spcPts val="0"/>
              </a:spcBef>
              <a:spcAft>
                <a:spcPts val="0"/>
              </a:spcAft>
              <a:defRPr sz="850" b="0">
                <a:solidFill>
                  <a:srgbClr val="607080"/>
                </a:solidFill>
                <a:latin typeface="Noto Sans"/>
              </a:defRPr>
            </a:pPr>
            <a:r>
              <a:t>2 Background</a:t>
            </a:r>
          </a:p>
        </p:txBody>
      </p:sp>
      <p:sp>
        <p:nvSpPr>
          <p:cNvPr id="7" name="Rectangle 6"/>
          <p:cNvSpPr/>
          <p:nvPr/>
        </p:nvSpPr>
        <p:spPr>
          <a:xfrm>
            <a:off x="2825496" y="786384"/>
            <a:ext cx="1078992" cy="45720"/>
          </a:xfrm>
          <a:prstGeom prst="rect">
            <a:avLst/>
          </a:prstGeom>
          <a:solidFill>
            <a:srgbClr val="008A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2825496" y="621792"/>
            <a:ext cx="1078992" cy="164592"/>
          </a:xfrm>
          <a:prstGeom prst="rect">
            <a:avLst/>
          </a:prstGeom>
          <a:noFill/>
        </p:spPr>
        <p:txBody>
          <a:bodyPr wrap="square" lIns="9144" tIns="0" rIns="9144" bIns="0" anchor="ctr">
            <a:spAutoFit/>
          </a:bodyPr>
          <a:lstStyle/>
          <a:p>
            <a:pPr algn="l">
              <a:spcBef>
                <a:spcPts val="0"/>
              </a:spcBef>
              <a:spcAft>
                <a:spcPts val="0"/>
              </a:spcAft>
              <a:defRPr sz="850" b="1">
                <a:solidFill>
                  <a:srgbClr val="008A96"/>
                </a:solidFill>
                <a:latin typeface="Noto Sans"/>
              </a:defRPr>
            </a:pPr>
            <a:r>
              <a:t>3 Concept</a:t>
            </a:r>
          </a:p>
        </p:txBody>
      </p:sp>
      <p:sp>
        <p:nvSpPr>
          <p:cNvPr id="9" name="Rectangle 8"/>
          <p:cNvSpPr/>
          <p:nvPr/>
        </p:nvSpPr>
        <p:spPr>
          <a:xfrm>
            <a:off x="3941063" y="786384"/>
            <a:ext cx="1645920" cy="45720"/>
          </a:xfrm>
          <a:prstGeom prst="rect">
            <a:avLst/>
          </a:prstGeom>
          <a:solidFill>
            <a:srgbClr val="D2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941063" y="621792"/>
            <a:ext cx="1645920" cy="164592"/>
          </a:xfrm>
          <a:prstGeom prst="rect">
            <a:avLst/>
          </a:prstGeom>
          <a:noFill/>
        </p:spPr>
        <p:txBody>
          <a:bodyPr wrap="square" lIns="9144" tIns="0" rIns="9144" bIns="0" anchor="ctr">
            <a:spAutoFit/>
          </a:bodyPr>
          <a:lstStyle/>
          <a:p>
            <a:pPr algn="l">
              <a:spcBef>
                <a:spcPts val="0"/>
              </a:spcBef>
              <a:spcAft>
                <a:spcPts val="0"/>
              </a:spcAft>
              <a:defRPr sz="850" b="0">
                <a:solidFill>
                  <a:srgbClr val="607080"/>
                </a:solidFill>
                <a:latin typeface="Noto Sans"/>
              </a:defRPr>
            </a:pPr>
            <a:r>
              <a:t>4 Implementation</a:t>
            </a:r>
          </a:p>
        </p:txBody>
      </p:sp>
      <p:sp>
        <p:nvSpPr>
          <p:cNvPr id="11" name="Rectangle 10"/>
          <p:cNvSpPr/>
          <p:nvPr/>
        </p:nvSpPr>
        <p:spPr>
          <a:xfrm>
            <a:off x="5623559" y="786384"/>
            <a:ext cx="1252728" cy="45720"/>
          </a:xfrm>
          <a:prstGeom prst="rect">
            <a:avLst/>
          </a:prstGeom>
          <a:solidFill>
            <a:srgbClr val="D2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623559" y="621792"/>
            <a:ext cx="1252728" cy="164592"/>
          </a:xfrm>
          <a:prstGeom prst="rect">
            <a:avLst/>
          </a:prstGeom>
          <a:noFill/>
        </p:spPr>
        <p:txBody>
          <a:bodyPr wrap="square" lIns="9144" tIns="0" rIns="9144" bIns="0" anchor="ctr">
            <a:spAutoFit/>
          </a:bodyPr>
          <a:lstStyle/>
          <a:p>
            <a:pPr algn="l">
              <a:spcBef>
                <a:spcPts val="0"/>
              </a:spcBef>
              <a:spcAft>
                <a:spcPts val="0"/>
              </a:spcAft>
              <a:defRPr sz="850" b="0">
                <a:solidFill>
                  <a:srgbClr val="607080"/>
                </a:solidFill>
                <a:latin typeface="Noto Sans"/>
              </a:defRPr>
            </a:pPr>
            <a:r>
              <a:t>5 Evaluation</a:t>
            </a:r>
          </a:p>
        </p:txBody>
      </p:sp>
      <p:sp>
        <p:nvSpPr>
          <p:cNvPr id="13" name="Rectangle 12"/>
          <p:cNvSpPr/>
          <p:nvPr/>
        </p:nvSpPr>
        <p:spPr>
          <a:xfrm>
            <a:off x="6912864" y="786384"/>
            <a:ext cx="1216152" cy="45720"/>
          </a:xfrm>
          <a:prstGeom prst="rect">
            <a:avLst/>
          </a:prstGeom>
          <a:solidFill>
            <a:srgbClr val="D2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912864" y="621792"/>
            <a:ext cx="1216152" cy="164592"/>
          </a:xfrm>
          <a:prstGeom prst="rect">
            <a:avLst/>
          </a:prstGeom>
          <a:noFill/>
        </p:spPr>
        <p:txBody>
          <a:bodyPr wrap="square" lIns="9144" tIns="0" rIns="9144" bIns="0" anchor="ctr">
            <a:spAutoFit/>
          </a:bodyPr>
          <a:lstStyle/>
          <a:p>
            <a:pPr algn="l">
              <a:spcBef>
                <a:spcPts val="0"/>
              </a:spcBef>
              <a:spcAft>
                <a:spcPts val="0"/>
              </a:spcAft>
              <a:defRPr sz="850" b="0">
                <a:solidFill>
                  <a:srgbClr val="607080"/>
                </a:solidFill>
                <a:latin typeface="Noto Sans"/>
              </a:defRPr>
            </a:pPr>
            <a:r>
              <a:t>6 Conclusion</a:t>
            </a:r>
          </a:p>
        </p:txBody>
      </p:sp>
      <p:sp>
        <p:nvSpPr>
          <p:cNvPr id="15" name="TextBox 14"/>
          <p:cNvSpPr txBox="1"/>
          <p:nvPr/>
        </p:nvSpPr>
        <p:spPr>
          <a:xfrm>
            <a:off x="320040" y="4572000"/>
            <a:ext cx="8321040" cy="182880"/>
          </a:xfrm>
          <a:prstGeom prst="rect">
            <a:avLst/>
          </a:prstGeom>
          <a:noFill/>
        </p:spPr>
        <p:txBody>
          <a:bodyPr wrap="square" lIns="9144" tIns="0" rIns="9144" bIns="0" anchor="ctr">
            <a:spAutoFit/>
          </a:bodyPr>
          <a:lstStyle/>
          <a:p>
            <a:pPr algn="l">
              <a:spcBef>
                <a:spcPts val="0"/>
              </a:spcBef>
              <a:spcAft>
                <a:spcPts val="0"/>
              </a:spcAft>
              <a:defRPr sz="810" b="0">
                <a:solidFill>
                  <a:srgbClr val="607080"/>
                </a:solidFill>
                <a:latin typeface="Noto Sans"/>
              </a:defRPr>
            </a:pPr>
            <a:r>
              <a:t>Thesis §3.3.1, usage graph; §4.1; Appendix D, T4  |  Framework composition, not original ART</a:t>
            </a:r>
          </a:p>
        </p:txBody>
      </p:sp>
      <p:sp>
        <p:nvSpPr>
          <p:cNvPr id="16" name="TextBox 15"/>
          <p:cNvSpPr txBox="1"/>
          <p:nvPr/>
        </p:nvSpPr>
        <p:spPr>
          <a:xfrm>
            <a:off x="1234440" y="4873752"/>
            <a:ext cx="6766560" cy="164592"/>
          </a:xfrm>
          <a:prstGeom prst="rect">
            <a:avLst/>
          </a:prstGeom>
          <a:noFill/>
        </p:spPr>
        <p:txBody>
          <a:bodyPr wrap="square" lIns="9144" tIns="0" rIns="9144" bIns="0" anchor="ctr">
            <a:spAutoFit/>
          </a:bodyPr>
          <a:lstStyle/>
          <a:p>
            <a:pPr algn="l">
              <a:spcBef>
                <a:spcPts val="0"/>
              </a:spcBef>
              <a:spcAft>
                <a:spcPts val="0"/>
              </a:spcAft>
              <a:defRPr sz="830" b="0">
                <a:solidFill>
                  <a:srgbClr val="041447"/>
                </a:solidFill>
                <a:latin typeface="Noto Sans"/>
              </a:defRPr>
            </a:pPr>
            <a:r>
              <a:t>Benjamin-Elias Probst  |  Diploma thesis defense  |  28 September 2026</a:t>
            </a:r>
          </a:p>
        </p:txBody>
      </p:sp>
      <p:sp>
        <p:nvSpPr>
          <p:cNvPr id="17" name="TextBox 16"/>
          <p:cNvSpPr txBox="1"/>
          <p:nvPr/>
        </p:nvSpPr>
        <p:spPr>
          <a:xfrm>
            <a:off x="8412480" y="4864608"/>
            <a:ext cx="393192" cy="192024"/>
          </a:xfrm>
          <a:prstGeom prst="rect">
            <a:avLst/>
          </a:prstGeom>
          <a:noFill/>
        </p:spPr>
        <p:txBody>
          <a:bodyPr wrap="square" lIns="9144" tIns="0" rIns="9144" bIns="0" anchor="ctr">
            <a:spAutoFit/>
          </a:bodyPr>
          <a:lstStyle/>
          <a:p>
            <a:pPr algn="r">
              <a:spcBef>
                <a:spcPts val="0"/>
              </a:spcBef>
              <a:spcAft>
                <a:spcPts val="0"/>
              </a:spcAft>
              <a:defRPr sz="900" b="1">
                <a:solidFill>
                  <a:srgbClr val="041447"/>
                </a:solidFill>
                <a:latin typeface="Noto Sans"/>
              </a:defRPr>
            </a:pPr>
            <a:r>
              <a:t>7</a:t>
            </a:r>
          </a:p>
        </p:txBody>
      </p:sp>
      <p:sp>
        <p:nvSpPr>
          <p:cNvPr id="18" name="TextBox 17"/>
          <p:cNvSpPr txBox="1"/>
          <p:nvPr/>
        </p:nvSpPr>
        <p:spPr>
          <a:xfrm>
            <a:off x="438912" y="1024128"/>
            <a:ext cx="8211312" cy="228600"/>
          </a:xfrm>
          <a:prstGeom prst="rect">
            <a:avLst/>
          </a:prstGeom>
          <a:noFill/>
        </p:spPr>
        <p:txBody>
          <a:bodyPr wrap="square" lIns="22860" tIns="0" rIns="22860" bIns="0" anchor="ctr">
            <a:noAutofit/>
          </a:bodyPr>
          <a:lstStyle/>
          <a:p>
            <a:pPr algn="l">
              <a:lnSpc>
                <a:spcPct val="108000"/>
              </a:lnSpc>
              <a:spcBef>
                <a:spcPts val="0"/>
              </a:spcBef>
              <a:spcAft>
                <a:spcPts val="0"/>
              </a:spcAft>
            </a:pPr>
            <a:r>
              <a:rPr sz="1100" b="1">
                <a:solidFill>
                  <a:srgbClr val="041447"/>
                </a:solidFill>
                <a:latin typeface="Noto Sans"/>
              </a:rPr>
              <a:t>THE SAME STORAGE ORGAN — NOW INSIDE THE ALGORITHM</a:t>
            </a:r>
          </a:p>
        </p:txBody>
      </p:sp>
      <p:sp>
        <p:nvSpPr>
          <p:cNvPr id="19" name="Rounded Rectangle 18"/>
          <p:cNvSpPr/>
          <p:nvPr/>
        </p:nvSpPr>
        <p:spPr>
          <a:xfrm>
            <a:off x="420624" y="2231136"/>
            <a:ext cx="1353312" cy="512064"/>
          </a:xfrm>
          <a:prstGeom prst="roundRect">
            <a:avLst>
              <a:gd name="adj" fmla="val 6000"/>
            </a:avLst>
          </a:prstGeom>
          <a:solidFill>
            <a:srgbClr val="FFFFFF"/>
          </a:solidFill>
          <a:ln w="15240">
            <a:solidFill>
              <a:srgbClr val="04144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443484" y="2235708"/>
            <a:ext cx="1307592" cy="502920"/>
          </a:xfrm>
          <a:prstGeom prst="rect">
            <a:avLst/>
          </a:prstGeom>
          <a:noFill/>
        </p:spPr>
        <p:txBody>
          <a:bodyPr wrap="square" lIns="22860" tIns="0" rIns="22860" bIns="0" anchor="ctr">
            <a:noAutofit/>
          </a:bodyPr>
          <a:lstStyle/>
          <a:p>
            <a:pPr algn="ctr">
              <a:lnSpc>
                <a:spcPct val="108000"/>
              </a:lnSpc>
              <a:spcBef>
                <a:spcPts val="0"/>
              </a:spcBef>
              <a:spcAft>
                <a:spcPts val="0"/>
              </a:spcAft>
            </a:pPr>
            <a:r>
              <a:rPr sz="1300" b="1">
                <a:solidFill>
                  <a:srgbClr val="041447"/>
                </a:solidFill>
                <a:latin typeface="Noto Sans"/>
              </a:rPr>
              <a:t>find("cat")</a:t>
            </a:r>
          </a:p>
        </p:txBody>
      </p:sp>
      <p:sp>
        <p:nvSpPr>
          <p:cNvPr id="21" name="Rounded Rectangle 20"/>
          <p:cNvSpPr/>
          <p:nvPr/>
        </p:nvSpPr>
        <p:spPr>
          <a:xfrm>
            <a:off x="7882127" y="2231136"/>
            <a:ext cx="896112" cy="512064"/>
          </a:xfrm>
          <a:prstGeom prst="roundRect">
            <a:avLst>
              <a:gd name="adj" fmla="val 6000"/>
            </a:avLst>
          </a:prstGeom>
          <a:solidFill>
            <a:srgbClr val="EFF7F2"/>
          </a:solidFill>
          <a:ln w="15240">
            <a:solidFill>
              <a:srgbClr val="2F745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7904988" y="2235708"/>
            <a:ext cx="850392" cy="502920"/>
          </a:xfrm>
          <a:prstGeom prst="rect">
            <a:avLst/>
          </a:prstGeom>
          <a:noFill/>
        </p:spPr>
        <p:txBody>
          <a:bodyPr wrap="square" lIns="22860" tIns="0" rIns="22860" bIns="0" anchor="ctr">
            <a:noAutofit/>
          </a:bodyPr>
          <a:lstStyle/>
          <a:p>
            <a:pPr algn="ctr">
              <a:lnSpc>
                <a:spcPct val="108000"/>
              </a:lnSpc>
              <a:spcBef>
                <a:spcPts val="0"/>
              </a:spcBef>
              <a:spcAft>
                <a:spcPts val="0"/>
              </a:spcAft>
            </a:pPr>
            <a:r>
              <a:rPr sz="1900" b="1">
                <a:solidFill>
                  <a:srgbClr val="2F7458"/>
                </a:solidFill>
                <a:latin typeface="Noto Sans"/>
              </a:rPr>
              <a:t>42</a:t>
            </a:r>
          </a:p>
        </p:txBody>
      </p:sp>
      <p:sp>
        <p:nvSpPr>
          <p:cNvPr id="23" name="Rounded Rectangle 22"/>
          <p:cNvSpPr/>
          <p:nvPr/>
        </p:nvSpPr>
        <p:spPr>
          <a:xfrm>
            <a:off x="1984248" y="1463040"/>
            <a:ext cx="5577840" cy="2441448"/>
          </a:xfrm>
          <a:prstGeom prst="roundRect">
            <a:avLst>
              <a:gd name="adj" fmla="val 6000"/>
            </a:avLst>
          </a:prstGeom>
          <a:solidFill>
            <a:srgbClr val="F8FAFC"/>
          </a:solidFill>
          <a:ln w="19050">
            <a:solidFill>
              <a:srgbClr val="04144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2148840" y="1572768"/>
            <a:ext cx="5202936" cy="274320"/>
          </a:xfrm>
          <a:prstGeom prst="rect">
            <a:avLst/>
          </a:prstGeom>
          <a:noFill/>
        </p:spPr>
        <p:txBody>
          <a:bodyPr wrap="square" lIns="22860" tIns="0" rIns="22860" bIns="0" anchor="ctr">
            <a:noAutofit/>
          </a:bodyPr>
          <a:lstStyle/>
          <a:p>
            <a:pPr algn="ctr">
              <a:lnSpc>
                <a:spcPct val="108000"/>
              </a:lnSpc>
              <a:spcBef>
                <a:spcPts val="0"/>
              </a:spcBef>
              <a:spcAft>
                <a:spcPts val="0"/>
              </a:spcAft>
            </a:pPr>
            <a:r>
              <a:rPr sz="1220" b="1">
                <a:solidFill>
                  <a:srgbClr val="041447"/>
                </a:solidFill>
                <a:latin typeface="Noto Sans"/>
              </a:rPr>
              <a:t>SearchAlgorithm anatomy  |  fixed external Map contract</a:t>
            </a:r>
          </a:p>
        </p:txBody>
      </p:sp>
      <p:grpSp>
        <p:nvGrpSpPr>
          <p:cNvPr id="42" name="BODY: search, composed storage and value representation"/>
          <p:cNvGrpSpPr/>
          <p:nvPr/>
        </p:nvGrpSpPr>
        <p:grpSpPr>
          <a:xfrm>
            <a:off x="2249424" y="1956816"/>
            <a:ext cx="5047488" cy="1728216"/>
            <a:chOff x="2249424" y="1956816"/>
            <a:chExt cx="5047488" cy="1728216"/>
          </a:xfrm>
        </p:grpSpPr>
        <p:sp>
          <p:nvSpPr>
            <p:cNvPr id="25" name="Rounded Rectangle 24"/>
            <p:cNvSpPr/>
            <p:nvPr/>
          </p:nvSpPr>
          <p:spPr>
            <a:xfrm>
              <a:off x="2249424" y="2039112"/>
              <a:ext cx="1216152" cy="1088136"/>
            </a:xfrm>
            <a:prstGeom prst="roundRect">
              <a:avLst>
                <a:gd name="adj" fmla="val 6000"/>
              </a:avLst>
            </a:prstGeom>
            <a:solidFill>
              <a:srgbClr val="F0EDF7"/>
            </a:solidFill>
            <a:ln w="11430">
              <a:solidFill>
                <a:srgbClr val="6A57A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2304288" y="2121408"/>
              <a:ext cx="1106424" cy="384048"/>
            </a:xfrm>
            <a:prstGeom prst="rect">
              <a:avLst/>
            </a:prstGeom>
            <a:noFill/>
          </p:spPr>
          <p:txBody>
            <a:bodyPr wrap="square" lIns="22860" tIns="0" rIns="22860" bIns="0" anchor="ctr">
              <a:noAutofit/>
            </a:bodyPr>
            <a:lstStyle/>
            <a:p>
              <a:pPr algn="ctr">
                <a:lnSpc>
                  <a:spcPct val="108000"/>
                </a:lnSpc>
                <a:spcBef>
                  <a:spcPts val="0"/>
                </a:spcBef>
                <a:spcAft>
                  <a:spcPts val="0"/>
                </a:spcAft>
              </a:pPr>
              <a:r>
                <a:rPr sz="1300" b="1">
                  <a:solidFill>
                    <a:srgbClr val="6A57A1"/>
                  </a:solidFill>
                  <a:latin typeface="Noto Sans"/>
                </a:rPr>
                <a:t>Search</a:t>
              </a:r>
            </a:p>
            <a:p>
              <a:pPr algn="ctr">
                <a:lnSpc>
                  <a:spcPct val="108000"/>
                </a:lnSpc>
                <a:spcBef>
                  <a:spcPts val="0"/>
                </a:spcBef>
                <a:spcAft>
                  <a:spcPts val="0"/>
                </a:spcAft>
              </a:pPr>
              <a:r>
                <a:rPr sz="1300" b="1">
                  <a:solidFill>
                    <a:srgbClr val="6A57A1"/>
                  </a:solidFill>
                  <a:latin typeface="Noto Sans"/>
                </a:rPr>
                <a:t>T0</a:t>
              </a:r>
            </a:p>
          </p:txBody>
        </p:sp>
        <p:sp>
          <p:nvSpPr>
            <p:cNvPr id="27" name="TextBox 26"/>
            <p:cNvSpPr txBox="1"/>
            <p:nvPr/>
          </p:nvSpPr>
          <p:spPr>
            <a:xfrm>
              <a:off x="2322576" y="2651760"/>
              <a:ext cx="1069848" cy="292608"/>
            </a:xfrm>
            <a:prstGeom prst="rect">
              <a:avLst/>
            </a:prstGeom>
            <a:noFill/>
          </p:spPr>
          <p:txBody>
            <a:bodyPr wrap="square" lIns="22860" tIns="0" rIns="22860" bIns="0" anchor="ctr">
              <a:noAutofit/>
            </a:bodyPr>
            <a:lstStyle/>
            <a:p>
              <a:pPr algn="ctr">
                <a:lnSpc>
                  <a:spcPct val="108000"/>
                </a:lnSpc>
                <a:spcBef>
                  <a:spcPts val="0"/>
                </a:spcBef>
                <a:spcAft>
                  <a:spcPts val="0"/>
                </a:spcAft>
              </a:pPr>
              <a:r>
                <a:rPr sz="1150" b="0">
                  <a:solidFill>
                    <a:srgbClr val="6A57A1"/>
                  </a:solidFill>
                  <a:latin typeface="Noto Sans"/>
                </a:rPr>
                <a:t>ca → t</a:t>
              </a:r>
            </a:p>
          </p:txBody>
        </p:sp>
        <p:sp>
          <p:nvSpPr>
            <p:cNvPr id="28" name="Rounded Rectangle 27"/>
            <p:cNvSpPr/>
            <p:nvPr/>
          </p:nvSpPr>
          <p:spPr>
            <a:xfrm>
              <a:off x="3785615" y="1956816"/>
              <a:ext cx="2276856" cy="1298448"/>
            </a:xfrm>
            <a:prstGeom prst="roundRect">
              <a:avLst>
                <a:gd name="adj" fmla="val 6000"/>
              </a:avLst>
            </a:prstGeom>
            <a:solidFill>
              <a:srgbClr val="F1F5F8"/>
            </a:solidFill>
            <a:ln w="15875">
              <a:solidFill>
                <a:srgbClr val="04144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3867912" y="2029968"/>
              <a:ext cx="2112264" cy="219456"/>
            </a:xfrm>
            <a:prstGeom prst="rect">
              <a:avLst/>
            </a:prstGeom>
            <a:noFill/>
          </p:spPr>
          <p:txBody>
            <a:bodyPr wrap="square" lIns="22860" tIns="0" rIns="22860" bIns="0" anchor="ctr">
              <a:noAutofit/>
            </a:bodyPr>
            <a:lstStyle/>
            <a:p>
              <a:pPr algn="ctr">
                <a:lnSpc>
                  <a:spcPct val="108000"/>
                </a:lnSpc>
                <a:spcBef>
                  <a:spcPts val="0"/>
                </a:spcBef>
                <a:spcAft>
                  <a:spcPts val="0"/>
                </a:spcAft>
              </a:pPr>
              <a:r>
                <a:rPr sz="1400" b="1">
                  <a:solidFill>
                    <a:srgbClr val="041447"/>
                  </a:solidFill>
                  <a:latin typeface="Noto Sans"/>
                </a:rPr>
                <a:t>Storage organ</a:t>
              </a:r>
            </a:p>
          </p:txBody>
        </p:sp>
        <p:sp>
          <p:nvSpPr>
            <p:cNvPr id="30" name="Freeform 29"/>
            <p:cNvSpPr/>
            <p:nvPr/>
          </p:nvSpPr>
          <p:spPr>
            <a:xfrm>
              <a:off x="3941063" y="2350008"/>
              <a:ext cx="715975" cy="630936"/>
            </a:xfrm>
            <a:custGeom>
              <a:avLst/>
              <a:gdLst/>
              <a:ahLst/>
              <a:cxnLst/>
              <a:rect l="l" t="t" r="r" b="b"/>
              <a:pathLst>
                <a:path w="783" h="690">
                  <a:moveTo>
                    <a:pt x="0" y="0"/>
                  </a:moveTo>
                  <a:lnTo>
                    <a:pt x="693" y="0"/>
                  </a:lnTo>
                  <a:lnTo>
                    <a:pt x="693" y="290"/>
                  </a:lnTo>
                  <a:lnTo>
                    <a:pt x="713" y="301"/>
                  </a:lnTo>
                  <a:lnTo>
                    <a:pt x="732" y="311"/>
                  </a:lnTo>
                  <a:lnTo>
                    <a:pt x="749" y="322"/>
                  </a:lnTo>
                  <a:lnTo>
                    <a:pt x="763" y="333"/>
                  </a:lnTo>
                  <a:lnTo>
                    <a:pt x="774" y="344"/>
                  </a:lnTo>
                  <a:lnTo>
                    <a:pt x="781" y="355"/>
                  </a:lnTo>
                  <a:lnTo>
                    <a:pt x="783" y="366"/>
                  </a:lnTo>
                  <a:lnTo>
                    <a:pt x="781" y="377"/>
                  </a:lnTo>
                  <a:lnTo>
                    <a:pt x="774" y="387"/>
                  </a:lnTo>
                  <a:lnTo>
                    <a:pt x="763" y="398"/>
                  </a:lnTo>
                  <a:lnTo>
                    <a:pt x="749" y="409"/>
                  </a:lnTo>
                  <a:lnTo>
                    <a:pt x="732" y="420"/>
                  </a:lnTo>
                  <a:lnTo>
                    <a:pt x="713" y="431"/>
                  </a:lnTo>
                  <a:lnTo>
                    <a:pt x="693" y="442"/>
                  </a:lnTo>
                  <a:lnTo>
                    <a:pt x="693" y="690"/>
                  </a:lnTo>
                  <a:lnTo>
                    <a:pt x="0" y="690"/>
                  </a:lnTo>
                  <a:lnTo>
                    <a:pt x="0" y="442"/>
                  </a:lnTo>
                  <a:lnTo>
                    <a:pt x="0" y="0"/>
                  </a:lnTo>
                  <a:close/>
                </a:path>
              </a:pathLst>
            </a:custGeom>
            <a:solidFill>
              <a:srgbClr val="3468AA"/>
            </a:solidFill>
            <a:ln w="1651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4023359" y="2391156"/>
              <a:ext cx="505968" cy="164043"/>
            </a:xfrm>
            <a:prstGeom prst="rect">
              <a:avLst/>
            </a:prstGeom>
            <a:noFill/>
          </p:spPr>
          <p:txBody>
            <a:bodyPr wrap="square" lIns="22860" tIns="0" rIns="22860" bIns="0" anchor="ctr">
              <a:noAutofit/>
            </a:bodyPr>
            <a:lstStyle/>
            <a:p>
              <a:pPr algn="ctr">
                <a:lnSpc>
                  <a:spcPct val="108000"/>
                </a:lnSpc>
                <a:spcBef>
                  <a:spcPts val="0"/>
                </a:spcBef>
                <a:spcAft>
                  <a:spcPts val="0"/>
                </a:spcAft>
              </a:pPr>
              <a:r>
                <a:rPr sz="1050" b="1">
                  <a:solidFill>
                    <a:srgbClr val="FFFFFF"/>
                  </a:solidFill>
                  <a:latin typeface="Noto Sans"/>
                </a:rPr>
                <a:t>T4</a:t>
              </a:r>
            </a:p>
          </p:txBody>
        </p:sp>
        <p:sp>
          <p:nvSpPr>
            <p:cNvPr id="32" name="TextBox 31"/>
            <p:cNvSpPr txBox="1"/>
            <p:nvPr/>
          </p:nvSpPr>
          <p:spPr>
            <a:xfrm>
              <a:off x="3982211" y="2564526"/>
              <a:ext cx="565404" cy="277611"/>
            </a:xfrm>
            <a:prstGeom prst="rect">
              <a:avLst/>
            </a:prstGeom>
            <a:noFill/>
          </p:spPr>
          <p:txBody>
            <a:bodyPr wrap="square" lIns="22860" tIns="0" rIns="22860" bIns="0" anchor="ctr">
              <a:noAutofit/>
            </a:bodyPr>
            <a:lstStyle/>
            <a:p>
              <a:pPr algn="ctr">
                <a:lnSpc>
                  <a:spcPct val="108000"/>
                </a:lnSpc>
                <a:spcBef>
                  <a:spcPts val="0"/>
                </a:spcBef>
                <a:spcAft>
                  <a:spcPts val="0"/>
                </a:spcAft>
              </a:pPr>
              <a:r>
                <a:rPr sz="950" b="1">
                  <a:solidFill>
                    <a:srgbClr val="FFFFFF"/>
                  </a:solidFill>
                  <a:latin typeface="Noto Sans"/>
                </a:rPr>
                <a:t>Node4</a:t>
              </a:r>
            </a:p>
          </p:txBody>
        </p:sp>
        <p:sp>
          <p:nvSpPr>
            <p:cNvPr id="33" name="Freeform 32"/>
            <p:cNvSpPr/>
            <p:nvPr/>
          </p:nvSpPr>
          <p:spPr>
            <a:xfrm>
              <a:off x="4575048" y="2350008"/>
              <a:ext cx="715975" cy="630936"/>
            </a:xfrm>
            <a:custGeom>
              <a:avLst/>
              <a:gdLst/>
              <a:ahLst/>
              <a:cxnLst/>
              <a:rect l="l" t="t" r="r" b="b"/>
              <a:pathLst>
                <a:path w="783" h="690">
                  <a:moveTo>
                    <a:pt x="0" y="0"/>
                  </a:moveTo>
                  <a:lnTo>
                    <a:pt x="693" y="0"/>
                  </a:lnTo>
                  <a:lnTo>
                    <a:pt x="693" y="290"/>
                  </a:lnTo>
                  <a:lnTo>
                    <a:pt x="713" y="301"/>
                  </a:lnTo>
                  <a:lnTo>
                    <a:pt x="732" y="311"/>
                  </a:lnTo>
                  <a:lnTo>
                    <a:pt x="749" y="322"/>
                  </a:lnTo>
                  <a:lnTo>
                    <a:pt x="763" y="333"/>
                  </a:lnTo>
                  <a:lnTo>
                    <a:pt x="774" y="344"/>
                  </a:lnTo>
                  <a:lnTo>
                    <a:pt x="781" y="355"/>
                  </a:lnTo>
                  <a:lnTo>
                    <a:pt x="783" y="366"/>
                  </a:lnTo>
                  <a:lnTo>
                    <a:pt x="781" y="377"/>
                  </a:lnTo>
                  <a:lnTo>
                    <a:pt x="774" y="387"/>
                  </a:lnTo>
                  <a:lnTo>
                    <a:pt x="763" y="398"/>
                  </a:lnTo>
                  <a:lnTo>
                    <a:pt x="749" y="409"/>
                  </a:lnTo>
                  <a:lnTo>
                    <a:pt x="732" y="420"/>
                  </a:lnTo>
                  <a:lnTo>
                    <a:pt x="713" y="431"/>
                  </a:lnTo>
                  <a:lnTo>
                    <a:pt x="693" y="442"/>
                  </a:lnTo>
                  <a:lnTo>
                    <a:pt x="693" y="690"/>
                  </a:lnTo>
                  <a:lnTo>
                    <a:pt x="0" y="690"/>
                  </a:lnTo>
                  <a:lnTo>
                    <a:pt x="0" y="442"/>
                  </a:lnTo>
                  <a:lnTo>
                    <a:pt x="20" y="431"/>
                  </a:lnTo>
                  <a:lnTo>
                    <a:pt x="39" y="420"/>
                  </a:lnTo>
                  <a:lnTo>
                    <a:pt x="56" y="409"/>
                  </a:lnTo>
                  <a:lnTo>
                    <a:pt x="70" y="398"/>
                  </a:lnTo>
                  <a:lnTo>
                    <a:pt x="81" y="387"/>
                  </a:lnTo>
                  <a:lnTo>
                    <a:pt x="87" y="377"/>
                  </a:lnTo>
                  <a:lnTo>
                    <a:pt x="90" y="366"/>
                  </a:lnTo>
                  <a:lnTo>
                    <a:pt x="87" y="355"/>
                  </a:lnTo>
                  <a:lnTo>
                    <a:pt x="81" y="344"/>
                  </a:lnTo>
                  <a:lnTo>
                    <a:pt x="70" y="333"/>
                  </a:lnTo>
                  <a:lnTo>
                    <a:pt x="56" y="322"/>
                  </a:lnTo>
                  <a:lnTo>
                    <a:pt x="39" y="311"/>
                  </a:lnTo>
                  <a:lnTo>
                    <a:pt x="20" y="301"/>
                  </a:lnTo>
                  <a:lnTo>
                    <a:pt x="0" y="290"/>
                  </a:lnTo>
                  <a:lnTo>
                    <a:pt x="0" y="0"/>
                  </a:lnTo>
                  <a:close/>
                </a:path>
              </a:pathLst>
            </a:custGeom>
            <a:solidFill>
              <a:srgbClr val="00878C"/>
            </a:solidFill>
            <a:ln w="1651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4657344" y="2391156"/>
              <a:ext cx="505968" cy="164043"/>
            </a:xfrm>
            <a:prstGeom prst="rect">
              <a:avLst/>
            </a:prstGeom>
            <a:noFill/>
          </p:spPr>
          <p:txBody>
            <a:bodyPr wrap="square" lIns="22860" tIns="0" rIns="22860" bIns="0" anchor="ctr">
              <a:noAutofit/>
            </a:bodyPr>
            <a:lstStyle/>
            <a:p>
              <a:pPr algn="ctr">
                <a:lnSpc>
                  <a:spcPct val="108000"/>
                </a:lnSpc>
                <a:spcBef>
                  <a:spcPts val="0"/>
                </a:spcBef>
                <a:spcAft>
                  <a:spcPts val="0"/>
                </a:spcAft>
              </a:pPr>
              <a:r>
                <a:rPr sz="1050" b="1">
                  <a:solidFill>
                    <a:srgbClr val="FFFFFF"/>
                  </a:solidFill>
                  <a:latin typeface="Noto Sans"/>
                </a:rPr>
                <a:t>T5</a:t>
              </a:r>
            </a:p>
          </p:txBody>
        </p:sp>
        <p:sp>
          <p:nvSpPr>
            <p:cNvPr id="35" name="TextBox 34"/>
            <p:cNvSpPr txBox="1"/>
            <p:nvPr/>
          </p:nvSpPr>
          <p:spPr>
            <a:xfrm>
              <a:off x="4616196" y="2564526"/>
              <a:ext cx="565404" cy="277611"/>
            </a:xfrm>
            <a:prstGeom prst="rect">
              <a:avLst/>
            </a:prstGeom>
            <a:noFill/>
          </p:spPr>
          <p:txBody>
            <a:bodyPr wrap="square" lIns="22860" tIns="0" rIns="22860" bIns="0" anchor="ctr">
              <a:noAutofit/>
            </a:bodyPr>
            <a:lstStyle/>
            <a:p>
              <a:pPr algn="ctr">
                <a:lnSpc>
                  <a:spcPct val="108000"/>
                </a:lnSpc>
                <a:spcBef>
                  <a:spcPts val="0"/>
                </a:spcBef>
                <a:spcAft>
                  <a:spcPts val="0"/>
                </a:spcAft>
              </a:pPr>
              <a:r>
                <a:rPr sz="950" b="1">
                  <a:solidFill>
                    <a:srgbClr val="FFFFFF"/>
                  </a:solidFill>
                  <a:latin typeface="Noto Sans"/>
                </a:rPr>
                <a:t>Align</a:t>
              </a:r>
            </a:p>
          </p:txBody>
        </p:sp>
        <p:sp>
          <p:nvSpPr>
            <p:cNvPr id="36" name="Freeform 35"/>
            <p:cNvSpPr/>
            <p:nvPr/>
          </p:nvSpPr>
          <p:spPr>
            <a:xfrm>
              <a:off x="5209032" y="2350008"/>
              <a:ext cx="633679" cy="630936"/>
            </a:xfrm>
            <a:custGeom>
              <a:avLst/>
              <a:gdLst/>
              <a:ahLst/>
              <a:cxnLst/>
              <a:rect l="l" t="t" r="r" b="b"/>
              <a:pathLst>
                <a:path w="693" h="690">
                  <a:moveTo>
                    <a:pt x="0" y="0"/>
                  </a:moveTo>
                  <a:lnTo>
                    <a:pt x="693" y="0"/>
                  </a:lnTo>
                  <a:lnTo>
                    <a:pt x="693" y="290"/>
                  </a:lnTo>
                  <a:lnTo>
                    <a:pt x="693" y="690"/>
                  </a:lnTo>
                  <a:lnTo>
                    <a:pt x="0" y="690"/>
                  </a:lnTo>
                  <a:lnTo>
                    <a:pt x="0" y="442"/>
                  </a:lnTo>
                  <a:lnTo>
                    <a:pt x="20" y="431"/>
                  </a:lnTo>
                  <a:lnTo>
                    <a:pt x="39" y="420"/>
                  </a:lnTo>
                  <a:lnTo>
                    <a:pt x="56" y="409"/>
                  </a:lnTo>
                  <a:lnTo>
                    <a:pt x="70" y="398"/>
                  </a:lnTo>
                  <a:lnTo>
                    <a:pt x="81" y="387"/>
                  </a:lnTo>
                  <a:lnTo>
                    <a:pt x="87" y="377"/>
                  </a:lnTo>
                  <a:lnTo>
                    <a:pt x="90" y="366"/>
                  </a:lnTo>
                  <a:lnTo>
                    <a:pt x="87" y="355"/>
                  </a:lnTo>
                  <a:lnTo>
                    <a:pt x="81" y="344"/>
                  </a:lnTo>
                  <a:lnTo>
                    <a:pt x="70" y="333"/>
                  </a:lnTo>
                  <a:lnTo>
                    <a:pt x="56" y="322"/>
                  </a:lnTo>
                  <a:lnTo>
                    <a:pt x="39" y="311"/>
                  </a:lnTo>
                  <a:lnTo>
                    <a:pt x="20" y="301"/>
                  </a:lnTo>
                  <a:lnTo>
                    <a:pt x="0" y="290"/>
                  </a:lnTo>
                  <a:lnTo>
                    <a:pt x="0" y="0"/>
                  </a:lnTo>
                  <a:close/>
                </a:path>
              </a:pathLst>
            </a:custGeom>
            <a:solidFill>
              <a:srgbClr val="AD731A"/>
            </a:solidFill>
            <a:ln w="1651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5291328" y="2391156"/>
              <a:ext cx="505968" cy="164043"/>
            </a:xfrm>
            <a:prstGeom prst="rect">
              <a:avLst/>
            </a:prstGeom>
            <a:noFill/>
          </p:spPr>
          <p:txBody>
            <a:bodyPr wrap="square" lIns="22860" tIns="0" rIns="22860" bIns="0" anchor="ctr">
              <a:noAutofit/>
            </a:bodyPr>
            <a:lstStyle/>
            <a:p>
              <a:pPr algn="ctr">
                <a:lnSpc>
                  <a:spcPct val="108000"/>
                </a:lnSpc>
                <a:spcBef>
                  <a:spcPts val="0"/>
                </a:spcBef>
                <a:spcAft>
                  <a:spcPts val="0"/>
                </a:spcAft>
              </a:pPr>
              <a:r>
                <a:rPr sz="1050" b="1">
                  <a:solidFill>
                    <a:srgbClr val="FFFFFF"/>
                  </a:solidFill>
                  <a:latin typeface="Noto Sans"/>
                </a:rPr>
                <a:t>T6</a:t>
              </a:r>
            </a:p>
          </p:txBody>
        </p:sp>
        <p:sp>
          <p:nvSpPr>
            <p:cNvPr id="38" name="TextBox 37"/>
            <p:cNvSpPr txBox="1"/>
            <p:nvPr/>
          </p:nvSpPr>
          <p:spPr>
            <a:xfrm>
              <a:off x="5250180" y="2564526"/>
              <a:ext cx="565404" cy="277611"/>
            </a:xfrm>
            <a:prstGeom prst="rect">
              <a:avLst/>
            </a:prstGeom>
            <a:noFill/>
          </p:spPr>
          <p:txBody>
            <a:bodyPr wrap="square" lIns="22860" tIns="0" rIns="22860" bIns="0" anchor="ctr">
              <a:noAutofit/>
            </a:bodyPr>
            <a:lstStyle/>
            <a:p>
              <a:pPr algn="ctr">
                <a:lnSpc>
                  <a:spcPct val="108000"/>
                </a:lnSpc>
                <a:spcBef>
                  <a:spcPts val="0"/>
                </a:spcBef>
                <a:spcAft>
                  <a:spcPts val="0"/>
                </a:spcAft>
              </a:pPr>
              <a:r>
                <a:rPr sz="950" b="1">
                  <a:solidFill>
                    <a:srgbClr val="FFFFFF"/>
                  </a:solidFill>
                  <a:latin typeface="Noto Sans"/>
                </a:rPr>
                <a:t>Alloc.</a:t>
              </a:r>
            </a:p>
          </p:txBody>
        </p:sp>
        <p:sp>
          <p:nvSpPr>
            <p:cNvPr id="39" name="Rounded Rectangle 38"/>
            <p:cNvSpPr/>
            <p:nvPr/>
          </p:nvSpPr>
          <p:spPr>
            <a:xfrm>
              <a:off x="6382512" y="2066543"/>
              <a:ext cx="914400" cy="1060704"/>
            </a:xfrm>
            <a:prstGeom prst="roundRect">
              <a:avLst>
                <a:gd name="adj" fmla="val 6000"/>
              </a:avLst>
            </a:prstGeom>
            <a:solidFill>
              <a:srgbClr val="EFF7F2"/>
            </a:solidFill>
            <a:ln w="11430">
              <a:solidFill>
                <a:srgbClr val="2F745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6419088" y="2185416"/>
              <a:ext cx="841248" cy="585216"/>
            </a:xfrm>
            <a:prstGeom prst="rect">
              <a:avLst/>
            </a:prstGeom>
            <a:noFill/>
          </p:spPr>
          <p:txBody>
            <a:bodyPr wrap="square" lIns="22860" tIns="0" rIns="22860" bIns="0" anchor="ctr">
              <a:noAutofit/>
            </a:bodyPr>
            <a:lstStyle/>
            <a:p>
              <a:pPr algn="ctr">
                <a:lnSpc>
                  <a:spcPct val="108000"/>
                </a:lnSpc>
                <a:spcBef>
                  <a:spcPts val="0"/>
                </a:spcBef>
                <a:spcAft>
                  <a:spcPts val="0"/>
                </a:spcAft>
              </a:pPr>
              <a:r>
                <a:rPr sz="1130" b="1">
                  <a:solidFill>
                    <a:srgbClr val="2F7458"/>
                  </a:solidFill>
                  <a:latin typeface="Noto Sans"/>
                </a:rPr>
                <a:t>Value</a:t>
              </a:r>
            </a:p>
            <a:p>
              <a:pPr algn="ctr">
                <a:lnSpc>
                  <a:spcPct val="108000"/>
                </a:lnSpc>
                <a:spcBef>
                  <a:spcPts val="0"/>
                </a:spcBef>
                <a:spcAft>
                  <a:spcPts val="0"/>
                </a:spcAft>
              </a:pPr>
              <a:r>
                <a:rPr sz="1130" b="1">
                  <a:solidFill>
                    <a:srgbClr val="2F7458"/>
                  </a:solidFill>
                  <a:latin typeface="Noto Sans"/>
                </a:rPr>
                <a:t>handle</a:t>
              </a:r>
            </a:p>
            <a:p>
              <a:pPr algn="ctr">
                <a:lnSpc>
                  <a:spcPct val="108000"/>
                </a:lnSpc>
                <a:spcBef>
                  <a:spcPts val="0"/>
                </a:spcBef>
                <a:spcAft>
                  <a:spcPts val="0"/>
                </a:spcAft>
              </a:pPr>
              <a:r>
                <a:rPr sz="1130" b="1">
                  <a:solidFill>
                    <a:srgbClr val="2F7458"/>
                  </a:solidFill>
                  <a:latin typeface="Noto Sans"/>
                </a:rPr>
                <a:t>T10</a:t>
              </a:r>
            </a:p>
          </p:txBody>
        </p:sp>
        <p:sp>
          <p:nvSpPr>
            <p:cNvPr id="41" name="TextBox 40"/>
            <p:cNvSpPr txBox="1"/>
            <p:nvPr/>
          </p:nvSpPr>
          <p:spPr>
            <a:xfrm>
              <a:off x="2276856" y="3456432"/>
              <a:ext cx="4983480" cy="228600"/>
            </a:xfrm>
            <a:prstGeom prst="rect">
              <a:avLst/>
            </a:prstGeom>
            <a:noFill/>
          </p:spPr>
          <p:txBody>
            <a:bodyPr wrap="square" lIns="22860" tIns="0" rIns="22860" bIns="0" anchor="ctr">
              <a:noAutofit/>
            </a:bodyPr>
            <a:lstStyle/>
            <a:p>
              <a:pPr algn="ctr">
                <a:lnSpc>
                  <a:spcPct val="108000"/>
                </a:lnSpc>
                <a:spcBef>
                  <a:spcPts val="0"/>
                </a:spcBef>
                <a:spcAft>
                  <a:spcPts val="0"/>
                </a:spcAft>
              </a:pPr>
              <a:r>
                <a:rPr sz="1100" b="0">
                  <a:solidFill>
                    <a:srgbClr val="657487"/>
                  </a:solidFill>
                  <a:latin typeface="Noto Sans"/>
                </a:rPr>
                <a:t>Remaining organ slots are bound, not omitted.</a:t>
              </a:r>
            </a:p>
          </p:txBody>
        </p:sp>
      </p:grpSp>
      <p:grpSp>
        <p:nvGrpSpPr>
          <p:cNvPr id="49" name="WIRING: lookup must use the chosen storage organ"/>
          <p:cNvGrpSpPr/>
          <p:nvPr/>
        </p:nvGrpSpPr>
        <p:grpSpPr>
          <a:xfrm>
            <a:off x="1792224" y="2423160"/>
            <a:ext cx="6062472" cy="777240"/>
            <a:chOff x="1792224" y="2423160"/>
            <a:chExt cx="6062472" cy="777240"/>
          </a:xfrm>
        </p:grpSpPr>
        <p:cxnSp>
          <p:nvCxnSpPr>
            <p:cNvPr id="43" name="Connector 42"/>
            <p:cNvCxnSpPr/>
            <p:nvPr/>
          </p:nvCxnSpPr>
          <p:spPr>
            <a:xfrm>
              <a:off x="1792224" y="2487168"/>
              <a:ext cx="429768" cy="0"/>
            </a:xfrm>
            <a:prstGeom prst="line">
              <a:avLst/>
            </a:prstGeom>
            <a:ln w="22860">
              <a:solidFill>
                <a:srgbClr val="041447"/>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3483864" y="2487168"/>
              <a:ext cx="283464" cy="0"/>
            </a:xfrm>
            <a:prstGeom prst="line">
              <a:avLst/>
            </a:prstGeom>
            <a:ln w="22860">
              <a:solidFill>
                <a:srgbClr val="6A57A1"/>
              </a:solidFill>
              <a:tailEnd type="triangle" w="sm" len="sm"/>
            </a:ln>
          </p:spPr>
          <p:style>
            <a:lnRef idx="2">
              <a:schemeClr val="accent1"/>
            </a:lnRef>
            <a:fillRef idx="0">
              <a:schemeClr val="accent1"/>
            </a:fillRef>
            <a:effectRef idx="1">
              <a:schemeClr val="accent1"/>
            </a:effectRef>
            <a:fontRef idx="minor">
              <a:schemeClr val="tx1"/>
            </a:fontRef>
          </p:style>
        </p:cxnSp>
        <p:sp>
          <p:nvSpPr>
            <p:cNvPr id="45" name="Rectangle 44"/>
            <p:cNvSpPr/>
            <p:nvPr/>
          </p:nvSpPr>
          <p:spPr>
            <a:xfrm>
              <a:off x="3749039" y="2423160"/>
              <a:ext cx="73152" cy="128016"/>
            </a:xfrm>
            <a:prstGeom prst="rect">
              <a:avLst/>
            </a:prstGeom>
            <a:solidFill>
              <a:srgbClr val="FFFFFF"/>
            </a:solidFill>
            <a:ln w="13970">
              <a:solidFill>
                <a:srgbClr val="04144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3877056" y="3008376"/>
              <a:ext cx="2057400" cy="192024"/>
            </a:xfrm>
            <a:prstGeom prst="rect">
              <a:avLst/>
            </a:prstGeom>
            <a:noFill/>
          </p:spPr>
          <p:txBody>
            <a:bodyPr wrap="square" lIns="22860" tIns="0" rIns="22860" bIns="0" anchor="ctr">
              <a:noAutofit/>
            </a:bodyPr>
            <a:lstStyle/>
            <a:p>
              <a:pPr algn="ctr">
                <a:lnSpc>
                  <a:spcPct val="108000"/>
                </a:lnSpc>
                <a:spcBef>
                  <a:spcPts val="0"/>
                </a:spcBef>
                <a:spcAft>
                  <a:spcPts val="0"/>
                </a:spcAft>
              </a:pPr>
              <a:r>
                <a:rPr sz="969" b="0">
                  <a:solidFill>
                    <a:srgbClr val="041447"/>
                  </a:solidFill>
                  <a:latin typeface="Noto Sans"/>
                </a:rPr>
                <a:t>StorageOrgan interface</a:t>
              </a:r>
            </a:p>
          </p:txBody>
        </p:sp>
        <p:cxnSp>
          <p:nvCxnSpPr>
            <p:cNvPr id="47" name="Connector 46"/>
            <p:cNvCxnSpPr/>
            <p:nvPr/>
          </p:nvCxnSpPr>
          <p:spPr>
            <a:xfrm>
              <a:off x="6080760" y="2487168"/>
              <a:ext cx="274320" cy="0"/>
            </a:xfrm>
            <a:prstGeom prst="line">
              <a:avLst/>
            </a:prstGeom>
            <a:ln w="22860">
              <a:solidFill>
                <a:srgbClr val="2F7458"/>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7315200" y="2487168"/>
              <a:ext cx="539496" cy="0"/>
            </a:xfrm>
            <a:prstGeom prst="line">
              <a:avLst/>
            </a:prstGeom>
            <a:ln w="22860">
              <a:solidFill>
                <a:srgbClr val="2F7458"/>
              </a:solidFill>
              <a:tailEnd type="triangle" w="sm" len="sm"/>
            </a:ln>
          </p:spPr>
          <p:style>
            <a:lnRef idx="2">
              <a:schemeClr val="accent1"/>
            </a:lnRef>
            <a:fillRef idx="0">
              <a:schemeClr val="accent1"/>
            </a:fillRef>
            <a:effectRef idx="1">
              <a:schemeClr val="accent1"/>
            </a:effectRef>
            <a:fontRef idx="minor">
              <a:schemeClr val="tx1"/>
            </a:fontRef>
          </p:style>
        </p:cxnSp>
      </p:grpSp>
      <p:sp>
        <p:nvSpPr>
          <p:cNvPr id="50" name="Rectangle 49"/>
          <p:cNvSpPr/>
          <p:nvPr/>
        </p:nvSpPr>
        <p:spPr>
          <a:xfrm>
            <a:off x="329184" y="4096512"/>
            <a:ext cx="8458200" cy="356616"/>
          </a:xfrm>
          <a:prstGeom prst="rect">
            <a:avLst/>
          </a:prstGeom>
          <a:solidFill>
            <a:srgbClr val="EAF0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438912" y="4114800"/>
            <a:ext cx="8211312" cy="310896"/>
          </a:xfrm>
          <a:prstGeom prst="rect">
            <a:avLst/>
          </a:prstGeom>
          <a:noFill/>
        </p:spPr>
        <p:txBody>
          <a:bodyPr wrap="square" lIns="22860" tIns="0" rIns="22860" bIns="0" anchor="ctr">
            <a:noAutofit/>
          </a:bodyPr>
          <a:lstStyle/>
          <a:p>
            <a:pPr algn="l">
              <a:lnSpc>
                <a:spcPct val="108000"/>
              </a:lnSpc>
              <a:spcBef>
                <a:spcPts val="0"/>
              </a:spcBef>
              <a:spcAft>
                <a:spcPts val="0"/>
              </a:spcAft>
            </a:pPr>
            <a:r>
              <a:rPr sz="1300" b="1">
                <a:solidFill>
                  <a:srgbClr val="041447"/>
                </a:solidFill>
                <a:latin typeface="Noto Sans"/>
              </a:rPr>
              <a:t>Anatomy is the assembled body AND its interface wiring—not a list of options.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presetID="1" presetClass="entr" presetSubtype="0" fill="hold" nodeType="clickEffect">
                            <p:stCondLst>
                              <p:cond delay="0"/>
                            </p:stCondLst>
                            <p:childTnLst>
                              <p:set>
                                <p:cBhvr>
                                  <p:cTn id="5" dur="1" fill="hold">
                                    <p:stCondLst>
                                      <p:cond delay="0"/>
                                    </p:stCondLst>
                                  </p:cTn>
                                  <p:tgtEl>
                                    <p:spTgt spid="42"/>
                                  </p:tgtEl>
                                  <p:attrNameLst>
                                    <p:attrName>style.visibility</p:attrName>
                                  </p:attrNameLst>
                                </p:cBhvr>
                                <p:to>
                                  <p:strVal val="visible"/>
                                </p:to>
                              </p:set>
                            </p:childTnLst>
                          </p:cTn>
                        </p:par>
                      </p:childTnLst>
                    </p:cTn>
                  </p:par>
                  <p:par>
                    <p:cTn id="6" fill="hold">
                      <p:stCondLst>
                        <p:cond delay="indefinite"/>
                      </p:stCondLst>
                      <p:childTnLst>
                        <p:par>
                          <p:cTn id="7" presetID="1" presetClass="entr" presetSubtype="0" fill="hold" nodeType="clickEffect">
                            <p:stCondLst>
                              <p:cond delay="0"/>
                            </p:stCondLst>
                            <p:childTnLst>
                              <p:set>
                                <p:cBhvr>
                                  <p:cTn id="8" dur="1" fill="hold">
                                    <p:stCondLst>
                                      <p:cond delay="0"/>
                                    </p:stCondLst>
                                  </p:cTn>
                                  <p:tgtEl>
                                    <p:spTgt spid="49"/>
                                  </p:tgtEl>
                                  <p:attrNameLst>
                                    <p:attrName>style.visibility</p:attrName>
                                  </p:attrNameLst>
                                </p:cBhvr>
                                <p:to>
                                  <p:strVal val="visible"/>
                                </p:to>
                              </p:se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83464" y="182880"/>
            <a:ext cx="7360920" cy="438912"/>
          </a:xfrm>
          <a:prstGeom prst="rect">
            <a:avLst/>
          </a:prstGeom>
          <a:noFill/>
        </p:spPr>
        <p:txBody>
          <a:bodyPr wrap="square" lIns="9144" tIns="0" rIns="9144" bIns="0" anchor="ctr">
            <a:spAutoFit/>
          </a:bodyPr>
          <a:lstStyle/>
          <a:p>
            <a:pPr algn="l">
              <a:spcBef>
                <a:spcPts val="0"/>
              </a:spcBef>
              <a:spcAft>
                <a:spcPts val="0"/>
              </a:spcAft>
              <a:defRPr sz="2400" b="1">
                <a:solidFill>
                  <a:srgbClr val="041447"/>
                </a:solidFill>
                <a:latin typeface="Noto Sans"/>
              </a:defRPr>
            </a:pPr>
            <a:r>
              <a:t>Three design spaces, two binding times</a:t>
            </a:r>
          </a:p>
        </p:txBody>
      </p:sp>
      <p:sp>
        <p:nvSpPr>
          <p:cNvPr id="3" name="Rectangle 2"/>
          <p:cNvSpPr/>
          <p:nvPr/>
        </p:nvSpPr>
        <p:spPr>
          <a:xfrm>
            <a:off x="310896" y="786384"/>
            <a:ext cx="1197864" cy="45720"/>
          </a:xfrm>
          <a:prstGeom prst="rect">
            <a:avLst/>
          </a:prstGeom>
          <a:solidFill>
            <a:srgbClr val="D2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10896" y="621792"/>
            <a:ext cx="1197864" cy="164592"/>
          </a:xfrm>
          <a:prstGeom prst="rect">
            <a:avLst/>
          </a:prstGeom>
          <a:noFill/>
        </p:spPr>
        <p:txBody>
          <a:bodyPr wrap="square" lIns="9144" tIns="0" rIns="9144" bIns="0" anchor="ctr">
            <a:spAutoFit/>
          </a:bodyPr>
          <a:lstStyle/>
          <a:p>
            <a:pPr algn="l">
              <a:spcBef>
                <a:spcPts val="0"/>
              </a:spcBef>
              <a:spcAft>
                <a:spcPts val="0"/>
              </a:spcAft>
              <a:defRPr sz="850" b="0">
                <a:solidFill>
                  <a:srgbClr val="607080"/>
                </a:solidFill>
                <a:latin typeface="Noto Sans"/>
              </a:defRPr>
            </a:pPr>
            <a:r>
              <a:t>1 Introduction</a:t>
            </a:r>
          </a:p>
        </p:txBody>
      </p:sp>
      <p:sp>
        <p:nvSpPr>
          <p:cNvPr id="5" name="Rectangle 4"/>
          <p:cNvSpPr/>
          <p:nvPr/>
        </p:nvSpPr>
        <p:spPr>
          <a:xfrm>
            <a:off x="1545336" y="786384"/>
            <a:ext cx="1243584" cy="45720"/>
          </a:xfrm>
          <a:prstGeom prst="rect">
            <a:avLst/>
          </a:prstGeom>
          <a:solidFill>
            <a:srgbClr val="D2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545336" y="621792"/>
            <a:ext cx="1243584" cy="164592"/>
          </a:xfrm>
          <a:prstGeom prst="rect">
            <a:avLst/>
          </a:prstGeom>
          <a:noFill/>
        </p:spPr>
        <p:txBody>
          <a:bodyPr wrap="square" lIns="9144" tIns="0" rIns="9144" bIns="0" anchor="ctr">
            <a:spAutoFit/>
          </a:bodyPr>
          <a:lstStyle/>
          <a:p>
            <a:pPr algn="l">
              <a:spcBef>
                <a:spcPts val="0"/>
              </a:spcBef>
              <a:spcAft>
                <a:spcPts val="0"/>
              </a:spcAft>
              <a:defRPr sz="850" b="0">
                <a:solidFill>
                  <a:srgbClr val="607080"/>
                </a:solidFill>
                <a:latin typeface="Noto Sans"/>
              </a:defRPr>
            </a:pPr>
            <a:r>
              <a:t>2 Background</a:t>
            </a:r>
          </a:p>
        </p:txBody>
      </p:sp>
      <p:sp>
        <p:nvSpPr>
          <p:cNvPr id="7" name="Rectangle 6"/>
          <p:cNvSpPr/>
          <p:nvPr/>
        </p:nvSpPr>
        <p:spPr>
          <a:xfrm>
            <a:off x="2825496" y="786384"/>
            <a:ext cx="1078992" cy="45720"/>
          </a:xfrm>
          <a:prstGeom prst="rect">
            <a:avLst/>
          </a:prstGeom>
          <a:solidFill>
            <a:srgbClr val="008A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2825496" y="621792"/>
            <a:ext cx="1078992" cy="164592"/>
          </a:xfrm>
          <a:prstGeom prst="rect">
            <a:avLst/>
          </a:prstGeom>
          <a:noFill/>
        </p:spPr>
        <p:txBody>
          <a:bodyPr wrap="square" lIns="9144" tIns="0" rIns="9144" bIns="0" anchor="ctr">
            <a:spAutoFit/>
          </a:bodyPr>
          <a:lstStyle/>
          <a:p>
            <a:pPr algn="l">
              <a:spcBef>
                <a:spcPts val="0"/>
              </a:spcBef>
              <a:spcAft>
                <a:spcPts val="0"/>
              </a:spcAft>
              <a:defRPr sz="850" b="1">
                <a:solidFill>
                  <a:srgbClr val="008A96"/>
                </a:solidFill>
                <a:latin typeface="Noto Sans"/>
              </a:defRPr>
            </a:pPr>
            <a:r>
              <a:t>3 Concept</a:t>
            </a:r>
          </a:p>
        </p:txBody>
      </p:sp>
      <p:sp>
        <p:nvSpPr>
          <p:cNvPr id="9" name="Rectangle 8"/>
          <p:cNvSpPr/>
          <p:nvPr/>
        </p:nvSpPr>
        <p:spPr>
          <a:xfrm>
            <a:off x="3941063" y="786384"/>
            <a:ext cx="1645920" cy="45720"/>
          </a:xfrm>
          <a:prstGeom prst="rect">
            <a:avLst/>
          </a:prstGeom>
          <a:solidFill>
            <a:srgbClr val="D2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941063" y="621792"/>
            <a:ext cx="1645920" cy="164592"/>
          </a:xfrm>
          <a:prstGeom prst="rect">
            <a:avLst/>
          </a:prstGeom>
          <a:noFill/>
        </p:spPr>
        <p:txBody>
          <a:bodyPr wrap="square" lIns="9144" tIns="0" rIns="9144" bIns="0" anchor="ctr">
            <a:spAutoFit/>
          </a:bodyPr>
          <a:lstStyle/>
          <a:p>
            <a:pPr algn="l">
              <a:spcBef>
                <a:spcPts val="0"/>
              </a:spcBef>
              <a:spcAft>
                <a:spcPts val="0"/>
              </a:spcAft>
              <a:defRPr sz="850" b="0">
                <a:solidFill>
                  <a:srgbClr val="607080"/>
                </a:solidFill>
                <a:latin typeface="Noto Sans"/>
              </a:defRPr>
            </a:pPr>
            <a:r>
              <a:t>4 Implementation</a:t>
            </a:r>
          </a:p>
        </p:txBody>
      </p:sp>
      <p:sp>
        <p:nvSpPr>
          <p:cNvPr id="11" name="Rectangle 10"/>
          <p:cNvSpPr/>
          <p:nvPr/>
        </p:nvSpPr>
        <p:spPr>
          <a:xfrm>
            <a:off x="5623559" y="786384"/>
            <a:ext cx="1252728" cy="45720"/>
          </a:xfrm>
          <a:prstGeom prst="rect">
            <a:avLst/>
          </a:prstGeom>
          <a:solidFill>
            <a:srgbClr val="D2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623559" y="621792"/>
            <a:ext cx="1252728" cy="164592"/>
          </a:xfrm>
          <a:prstGeom prst="rect">
            <a:avLst/>
          </a:prstGeom>
          <a:noFill/>
        </p:spPr>
        <p:txBody>
          <a:bodyPr wrap="square" lIns="9144" tIns="0" rIns="9144" bIns="0" anchor="ctr">
            <a:spAutoFit/>
          </a:bodyPr>
          <a:lstStyle/>
          <a:p>
            <a:pPr algn="l">
              <a:spcBef>
                <a:spcPts val="0"/>
              </a:spcBef>
              <a:spcAft>
                <a:spcPts val="0"/>
              </a:spcAft>
              <a:defRPr sz="850" b="0">
                <a:solidFill>
                  <a:srgbClr val="607080"/>
                </a:solidFill>
                <a:latin typeface="Noto Sans"/>
              </a:defRPr>
            </a:pPr>
            <a:r>
              <a:t>5 Evaluation</a:t>
            </a:r>
          </a:p>
        </p:txBody>
      </p:sp>
      <p:sp>
        <p:nvSpPr>
          <p:cNvPr id="13" name="Rectangle 12"/>
          <p:cNvSpPr/>
          <p:nvPr/>
        </p:nvSpPr>
        <p:spPr>
          <a:xfrm>
            <a:off x="6912864" y="786384"/>
            <a:ext cx="1216152" cy="45720"/>
          </a:xfrm>
          <a:prstGeom prst="rect">
            <a:avLst/>
          </a:prstGeom>
          <a:solidFill>
            <a:srgbClr val="D2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912864" y="621792"/>
            <a:ext cx="1216152" cy="164592"/>
          </a:xfrm>
          <a:prstGeom prst="rect">
            <a:avLst/>
          </a:prstGeom>
          <a:noFill/>
        </p:spPr>
        <p:txBody>
          <a:bodyPr wrap="square" lIns="9144" tIns="0" rIns="9144" bIns="0" anchor="ctr">
            <a:spAutoFit/>
          </a:bodyPr>
          <a:lstStyle/>
          <a:p>
            <a:pPr algn="l">
              <a:spcBef>
                <a:spcPts val="0"/>
              </a:spcBef>
              <a:spcAft>
                <a:spcPts val="0"/>
              </a:spcAft>
              <a:defRPr sz="850" b="0">
                <a:solidFill>
                  <a:srgbClr val="607080"/>
                </a:solidFill>
                <a:latin typeface="Noto Sans"/>
              </a:defRPr>
            </a:pPr>
            <a:r>
              <a:t>6 Conclusion</a:t>
            </a:r>
          </a:p>
        </p:txBody>
      </p:sp>
      <p:sp>
        <p:nvSpPr>
          <p:cNvPr id="15" name="TextBox 14"/>
          <p:cNvSpPr txBox="1"/>
          <p:nvPr/>
        </p:nvSpPr>
        <p:spPr>
          <a:xfrm>
            <a:off x="320040" y="4572000"/>
            <a:ext cx="8321040" cy="182880"/>
          </a:xfrm>
          <a:prstGeom prst="rect">
            <a:avLst/>
          </a:prstGeom>
          <a:noFill/>
        </p:spPr>
        <p:txBody>
          <a:bodyPr wrap="square" lIns="9144" tIns="0" rIns="9144" bIns="0" anchor="ctr">
            <a:spAutoFit/>
          </a:bodyPr>
          <a:lstStyle/>
          <a:p>
            <a:pPr algn="l">
              <a:spcBef>
                <a:spcPts val="0"/>
              </a:spcBef>
              <a:spcAft>
                <a:spcPts val="0"/>
              </a:spcAft>
              <a:defRPr sz="810" b="0">
                <a:solidFill>
                  <a:srgbClr val="607080"/>
                </a:solidFill>
                <a:latin typeface="Noto Sans"/>
              </a:defRPr>
            </a:pPr>
            <a:r>
              <a:t>Thesis §3.4.1: organ, system and measurement decisions</a:t>
            </a:r>
          </a:p>
        </p:txBody>
      </p:sp>
      <p:sp>
        <p:nvSpPr>
          <p:cNvPr id="16" name="TextBox 15"/>
          <p:cNvSpPr txBox="1"/>
          <p:nvPr/>
        </p:nvSpPr>
        <p:spPr>
          <a:xfrm>
            <a:off x="1234440" y="4873752"/>
            <a:ext cx="6766560" cy="164592"/>
          </a:xfrm>
          <a:prstGeom prst="rect">
            <a:avLst/>
          </a:prstGeom>
          <a:noFill/>
        </p:spPr>
        <p:txBody>
          <a:bodyPr wrap="square" lIns="9144" tIns="0" rIns="9144" bIns="0" anchor="ctr">
            <a:spAutoFit/>
          </a:bodyPr>
          <a:lstStyle/>
          <a:p>
            <a:pPr algn="l">
              <a:spcBef>
                <a:spcPts val="0"/>
              </a:spcBef>
              <a:spcAft>
                <a:spcPts val="0"/>
              </a:spcAft>
              <a:defRPr sz="830" b="0">
                <a:solidFill>
                  <a:srgbClr val="041447"/>
                </a:solidFill>
                <a:latin typeface="Noto Sans"/>
              </a:defRPr>
            </a:pPr>
            <a:r>
              <a:t>Benjamin-Elias Probst  |  Diploma thesis defense  |  28 September 2026</a:t>
            </a:r>
          </a:p>
        </p:txBody>
      </p:sp>
      <p:sp>
        <p:nvSpPr>
          <p:cNvPr id="17" name="TextBox 16"/>
          <p:cNvSpPr txBox="1"/>
          <p:nvPr/>
        </p:nvSpPr>
        <p:spPr>
          <a:xfrm>
            <a:off x="8412480" y="4864608"/>
            <a:ext cx="393192" cy="192024"/>
          </a:xfrm>
          <a:prstGeom prst="rect">
            <a:avLst/>
          </a:prstGeom>
          <a:noFill/>
        </p:spPr>
        <p:txBody>
          <a:bodyPr wrap="square" lIns="9144" tIns="0" rIns="9144" bIns="0" anchor="ctr">
            <a:spAutoFit/>
          </a:bodyPr>
          <a:lstStyle/>
          <a:p>
            <a:pPr algn="r">
              <a:spcBef>
                <a:spcPts val="0"/>
              </a:spcBef>
              <a:spcAft>
                <a:spcPts val="0"/>
              </a:spcAft>
              <a:defRPr sz="900" b="1">
                <a:solidFill>
                  <a:srgbClr val="041447"/>
                </a:solidFill>
                <a:latin typeface="Noto Sans"/>
              </a:defRPr>
            </a:pPr>
            <a:r>
              <a:t>8</a:t>
            </a:r>
          </a:p>
        </p:txBody>
      </p:sp>
      <p:sp>
        <p:nvSpPr>
          <p:cNvPr id="18" name="TextBox 17"/>
          <p:cNvSpPr txBox="1"/>
          <p:nvPr/>
        </p:nvSpPr>
        <p:spPr>
          <a:xfrm>
            <a:off x="2103120" y="1060704"/>
            <a:ext cx="3017520" cy="274320"/>
          </a:xfrm>
          <a:prstGeom prst="rect">
            <a:avLst/>
          </a:prstGeom>
          <a:noFill/>
        </p:spPr>
        <p:txBody>
          <a:bodyPr wrap="square" lIns="9144" tIns="0" rIns="9144" bIns="0" anchor="ctr">
            <a:spAutoFit/>
          </a:bodyPr>
          <a:lstStyle/>
          <a:p>
            <a:pPr algn="l">
              <a:spcBef>
                <a:spcPts val="0"/>
              </a:spcBef>
              <a:spcAft>
                <a:spcPts val="0"/>
              </a:spcAft>
              <a:defRPr sz="1200" b="1">
                <a:solidFill>
                  <a:srgbClr val="041447"/>
                </a:solidFill>
                <a:latin typeface="Noto Sans"/>
              </a:defRPr>
            </a:pPr>
            <a:r>
              <a:t>MAIN CHOICES · COMPILE TIME</a:t>
            </a:r>
          </a:p>
        </p:txBody>
      </p:sp>
      <p:sp>
        <p:nvSpPr>
          <p:cNvPr id="19" name="TextBox 18"/>
          <p:cNvSpPr txBox="1"/>
          <p:nvPr/>
        </p:nvSpPr>
        <p:spPr>
          <a:xfrm>
            <a:off x="5550408" y="1060704"/>
            <a:ext cx="3017520" cy="274320"/>
          </a:xfrm>
          <a:prstGeom prst="rect">
            <a:avLst/>
          </a:prstGeom>
          <a:noFill/>
        </p:spPr>
        <p:txBody>
          <a:bodyPr wrap="square" lIns="9144" tIns="0" rIns="9144" bIns="0" anchor="ctr">
            <a:spAutoFit/>
          </a:bodyPr>
          <a:lstStyle/>
          <a:p>
            <a:pPr algn="l">
              <a:spcBef>
                <a:spcPts val="0"/>
              </a:spcBef>
              <a:spcAft>
                <a:spcPts val="0"/>
              </a:spcAft>
              <a:defRPr sz="1200" b="1">
                <a:solidFill>
                  <a:srgbClr val="041447"/>
                </a:solidFill>
                <a:latin typeface="Noto Sans"/>
              </a:defRPr>
            </a:pPr>
            <a:r>
              <a:t>SUB-AXES · RUNTIME</a:t>
            </a:r>
          </a:p>
        </p:txBody>
      </p:sp>
      <p:sp>
        <p:nvSpPr>
          <p:cNvPr id="20" name="Rectangle 19"/>
          <p:cNvSpPr/>
          <p:nvPr/>
        </p:nvSpPr>
        <p:spPr>
          <a:xfrm>
            <a:off x="411480" y="1664208"/>
            <a:ext cx="1362456" cy="265176"/>
          </a:xfrm>
          <a:prstGeom prst="rect">
            <a:avLst/>
          </a:prstGeom>
          <a:solidFill>
            <a:srgbClr val="008A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448056" y="1677924"/>
            <a:ext cx="1289304" cy="228600"/>
          </a:xfrm>
          <a:prstGeom prst="rect">
            <a:avLst/>
          </a:prstGeom>
          <a:noFill/>
        </p:spPr>
        <p:txBody>
          <a:bodyPr wrap="square" lIns="9144" tIns="0" rIns="9144" bIns="0" anchor="ctr">
            <a:spAutoFit/>
          </a:bodyPr>
          <a:lstStyle/>
          <a:p>
            <a:pPr algn="l">
              <a:spcBef>
                <a:spcPts val="0"/>
              </a:spcBef>
              <a:spcAft>
                <a:spcPts val="0"/>
              </a:spcAft>
              <a:defRPr sz="1400" b="1">
                <a:solidFill>
                  <a:srgbClr val="FFFFFF"/>
                </a:solidFill>
                <a:latin typeface="Noto Sans"/>
              </a:defRPr>
            </a:pPr>
            <a:r>
              <a:t>Organ</a:t>
            </a:r>
          </a:p>
        </p:txBody>
      </p:sp>
      <p:sp>
        <p:nvSpPr>
          <p:cNvPr id="22" name="Rectangle 21"/>
          <p:cNvSpPr/>
          <p:nvPr/>
        </p:nvSpPr>
        <p:spPr>
          <a:xfrm>
            <a:off x="1947672" y="1572768"/>
            <a:ext cx="3099816" cy="512064"/>
          </a:xfrm>
          <a:prstGeom prst="rect">
            <a:avLst/>
          </a:prstGeom>
          <a:solidFill>
            <a:srgbClr val="EFF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2093976" y="1613916"/>
            <a:ext cx="2834640" cy="420624"/>
          </a:xfrm>
          <a:prstGeom prst="rect">
            <a:avLst/>
          </a:prstGeom>
          <a:noFill/>
        </p:spPr>
        <p:txBody>
          <a:bodyPr wrap="square" lIns="9144" tIns="0" rIns="9144" bIns="0" anchor="ctr">
            <a:spAutoFit/>
          </a:bodyPr>
          <a:lstStyle/>
          <a:p>
            <a:pPr algn="l">
              <a:spcBef>
                <a:spcPts val="0"/>
              </a:spcBef>
              <a:spcAft>
                <a:spcPts val="0"/>
              </a:spcAft>
              <a:defRPr sz="1400" b="0">
                <a:solidFill>
                  <a:srgbClr val="192B43"/>
                </a:solidFill>
                <a:latin typeface="Noto Sans"/>
              </a:defRPr>
            </a:pPr>
            <a:r>
              <a:t>node / layout strategy</a:t>
            </a:r>
          </a:p>
        </p:txBody>
      </p:sp>
      <p:cxnSp>
        <p:nvCxnSpPr>
          <p:cNvPr id="24" name="Connector 23"/>
          <p:cNvCxnSpPr/>
          <p:nvPr/>
        </p:nvCxnSpPr>
        <p:spPr>
          <a:xfrm>
            <a:off x="5111496" y="1828800"/>
            <a:ext cx="320040" cy="0"/>
          </a:xfrm>
          <a:prstGeom prst="line">
            <a:avLst/>
          </a:prstGeom>
          <a:ln w="22860">
            <a:solidFill>
              <a:srgbClr val="008A96"/>
            </a:solidFill>
            <a:tailEnd type="triangle" w="sm" len="sm"/>
          </a:ln>
        </p:spPr>
        <p:style>
          <a:lnRef idx="2">
            <a:schemeClr val="accent1"/>
          </a:lnRef>
          <a:fillRef idx="0">
            <a:schemeClr val="accent1"/>
          </a:fillRef>
          <a:effectRef idx="1">
            <a:schemeClr val="accent1"/>
          </a:effectRef>
          <a:fontRef idx="minor">
            <a:schemeClr val="tx1"/>
          </a:fontRef>
        </p:style>
      </p:cxnSp>
      <p:sp>
        <p:nvSpPr>
          <p:cNvPr id="25" name="Rectangle 24"/>
          <p:cNvSpPr/>
          <p:nvPr/>
        </p:nvSpPr>
        <p:spPr>
          <a:xfrm>
            <a:off x="5495544" y="1572768"/>
            <a:ext cx="3191256" cy="512064"/>
          </a:xfrm>
          <a:prstGeom prst="rect">
            <a:avLst/>
          </a:prstGeom>
          <a:solidFill>
            <a:srgbClr val="EFF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5632704" y="1613916"/>
            <a:ext cx="2926080" cy="420624"/>
          </a:xfrm>
          <a:prstGeom prst="rect">
            <a:avLst/>
          </a:prstGeom>
          <a:noFill/>
        </p:spPr>
        <p:txBody>
          <a:bodyPr wrap="square" lIns="9144" tIns="0" rIns="9144" bIns="0" anchor="ctr">
            <a:spAutoFit/>
          </a:bodyPr>
          <a:lstStyle/>
          <a:p>
            <a:pPr algn="l">
              <a:spcBef>
                <a:spcPts val="0"/>
              </a:spcBef>
              <a:spcAft>
                <a:spcPts val="0"/>
              </a:spcAft>
              <a:defRPr sz="1340" b="0">
                <a:solidFill>
                  <a:srgbClr val="192B43"/>
                </a:solidFill>
                <a:latin typeface="Noto Sans"/>
              </a:defRPr>
            </a:pPr>
            <a:r>
              <a:t>permitted distance or budget</a:t>
            </a:r>
          </a:p>
        </p:txBody>
      </p:sp>
      <p:sp>
        <p:nvSpPr>
          <p:cNvPr id="27" name="Rectangle 26"/>
          <p:cNvSpPr/>
          <p:nvPr/>
        </p:nvSpPr>
        <p:spPr>
          <a:xfrm>
            <a:off x="411480" y="2368296"/>
            <a:ext cx="1362456" cy="265176"/>
          </a:xfrm>
          <a:prstGeom prst="rect">
            <a:avLst/>
          </a:prstGeom>
          <a:solidFill>
            <a:srgbClr val="3178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448056" y="2382012"/>
            <a:ext cx="1289304" cy="228600"/>
          </a:xfrm>
          <a:prstGeom prst="rect">
            <a:avLst/>
          </a:prstGeom>
          <a:noFill/>
        </p:spPr>
        <p:txBody>
          <a:bodyPr wrap="square" lIns="9144" tIns="0" rIns="9144" bIns="0" anchor="ctr">
            <a:spAutoFit/>
          </a:bodyPr>
          <a:lstStyle/>
          <a:p>
            <a:pPr algn="l">
              <a:spcBef>
                <a:spcPts val="0"/>
              </a:spcBef>
              <a:spcAft>
                <a:spcPts val="0"/>
              </a:spcAft>
              <a:defRPr sz="1400" b="1">
                <a:solidFill>
                  <a:srgbClr val="FFFFFF"/>
                </a:solidFill>
                <a:latin typeface="Noto Sans"/>
              </a:defRPr>
            </a:pPr>
            <a:r>
              <a:t>System</a:t>
            </a:r>
          </a:p>
        </p:txBody>
      </p:sp>
      <p:sp>
        <p:nvSpPr>
          <p:cNvPr id="29" name="Rectangle 28"/>
          <p:cNvSpPr/>
          <p:nvPr/>
        </p:nvSpPr>
        <p:spPr>
          <a:xfrm>
            <a:off x="1947672" y="2276856"/>
            <a:ext cx="3099816" cy="512064"/>
          </a:xfrm>
          <a:prstGeom prst="rect">
            <a:avLst/>
          </a:prstGeom>
          <a:solidFill>
            <a:srgbClr val="EFF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2093976" y="2318004"/>
            <a:ext cx="2834640" cy="420624"/>
          </a:xfrm>
          <a:prstGeom prst="rect">
            <a:avLst/>
          </a:prstGeom>
          <a:noFill/>
        </p:spPr>
        <p:txBody>
          <a:bodyPr wrap="square" lIns="9144" tIns="0" rIns="9144" bIns="0" anchor="ctr">
            <a:spAutoFit/>
          </a:bodyPr>
          <a:lstStyle/>
          <a:p>
            <a:pPr algn="l">
              <a:spcBef>
                <a:spcPts val="0"/>
              </a:spcBef>
              <a:spcAft>
                <a:spcPts val="0"/>
              </a:spcAft>
              <a:defRPr sz="1400" b="0">
                <a:solidFill>
                  <a:srgbClr val="192B43"/>
                </a:solidFill>
                <a:latin typeface="Noto Sans"/>
              </a:defRPr>
            </a:pPr>
            <a:r>
              <a:t>ISA · OS · extension hardware</a:t>
            </a:r>
          </a:p>
        </p:txBody>
      </p:sp>
      <p:cxnSp>
        <p:nvCxnSpPr>
          <p:cNvPr id="31" name="Connector 30"/>
          <p:cNvCxnSpPr/>
          <p:nvPr/>
        </p:nvCxnSpPr>
        <p:spPr>
          <a:xfrm>
            <a:off x="5111496" y="2532888"/>
            <a:ext cx="320040" cy="0"/>
          </a:xfrm>
          <a:prstGeom prst="line">
            <a:avLst/>
          </a:prstGeom>
          <a:ln w="22860">
            <a:solidFill>
              <a:srgbClr val="3178B9"/>
            </a:solidFill>
            <a:tailEnd type="triangle" w="sm" len="sm"/>
          </a:ln>
        </p:spPr>
        <p:style>
          <a:lnRef idx="2">
            <a:schemeClr val="accent1"/>
          </a:lnRef>
          <a:fillRef idx="0">
            <a:schemeClr val="accent1"/>
          </a:fillRef>
          <a:effectRef idx="1">
            <a:schemeClr val="accent1"/>
          </a:effectRef>
          <a:fontRef idx="minor">
            <a:schemeClr val="tx1"/>
          </a:fontRef>
        </p:style>
      </p:cxnSp>
      <p:sp>
        <p:nvSpPr>
          <p:cNvPr id="32" name="Rectangle 31"/>
          <p:cNvSpPr/>
          <p:nvPr/>
        </p:nvSpPr>
        <p:spPr>
          <a:xfrm>
            <a:off x="5495544" y="2276856"/>
            <a:ext cx="3191256" cy="512064"/>
          </a:xfrm>
          <a:prstGeom prst="rect">
            <a:avLst/>
          </a:prstGeom>
          <a:solidFill>
            <a:srgbClr val="EFF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5632704" y="2318004"/>
            <a:ext cx="2926080" cy="420624"/>
          </a:xfrm>
          <a:prstGeom prst="rect">
            <a:avLst/>
          </a:prstGeom>
          <a:noFill/>
        </p:spPr>
        <p:txBody>
          <a:bodyPr wrap="square" lIns="9144" tIns="0" rIns="9144" bIns="0" anchor="ctr">
            <a:spAutoFit/>
          </a:bodyPr>
          <a:lstStyle/>
          <a:p>
            <a:pPr algn="l">
              <a:spcBef>
                <a:spcPts val="0"/>
              </a:spcBef>
              <a:spcAft>
                <a:spcPts val="0"/>
              </a:spcAft>
              <a:defRPr sz="1340" b="0">
                <a:solidFill>
                  <a:srgbClr val="192B43"/>
                </a:solidFill>
                <a:latin typeface="Noto Sans"/>
              </a:defRPr>
            </a:pPr>
            <a:r>
              <a:t>core / NUMA settings</a:t>
            </a:r>
          </a:p>
        </p:txBody>
      </p:sp>
      <p:sp>
        <p:nvSpPr>
          <p:cNvPr id="34" name="Rectangle 33"/>
          <p:cNvSpPr/>
          <p:nvPr/>
        </p:nvSpPr>
        <p:spPr>
          <a:xfrm>
            <a:off x="411480" y="3072384"/>
            <a:ext cx="1362456" cy="265176"/>
          </a:xfrm>
          <a:prstGeom prst="rect">
            <a:avLst/>
          </a:prstGeom>
          <a:solidFill>
            <a:srgbClr val="7458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448056" y="3086100"/>
            <a:ext cx="1289304" cy="228600"/>
          </a:xfrm>
          <a:prstGeom prst="rect">
            <a:avLst/>
          </a:prstGeom>
          <a:noFill/>
        </p:spPr>
        <p:txBody>
          <a:bodyPr wrap="square" lIns="9144" tIns="0" rIns="9144" bIns="0" anchor="ctr">
            <a:spAutoFit/>
          </a:bodyPr>
          <a:lstStyle/>
          <a:p>
            <a:pPr algn="l">
              <a:spcBef>
                <a:spcPts val="0"/>
              </a:spcBef>
              <a:spcAft>
                <a:spcPts val="0"/>
              </a:spcAft>
              <a:defRPr sz="1400" b="1">
                <a:solidFill>
                  <a:srgbClr val="FFFFFF"/>
                </a:solidFill>
                <a:latin typeface="Noto Sans"/>
              </a:defRPr>
            </a:pPr>
            <a:r>
              <a:t>Measurement</a:t>
            </a:r>
          </a:p>
        </p:txBody>
      </p:sp>
      <p:sp>
        <p:nvSpPr>
          <p:cNvPr id="36" name="Rectangle 35"/>
          <p:cNvSpPr/>
          <p:nvPr/>
        </p:nvSpPr>
        <p:spPr>
          <a:xfrm>
            <a:off x="1947672" y="2980944"/>
            <a:ext cx="3099816" cy="512064"/>
          </a:xfrm>
          <a:prstGeom prst="rect">
            <a:avLst/>
          </a:prstGeom>
          <a:solidFill>
            <a:srgbClr val="EFF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2093976" y="3022091"/>
            <a:ext cx="2834640" cy="420624"/>
          </a:xfrm>
          <a:prstGeom prst="rect">
            <a:avLst/>
          </a:prstGeom>
          <a:noFill/>
        </p:spPr>
        <p:txBody>
          <a:bodyPr wrap="square" lIns="9144" tIns="0" rIns="9144" bIns="0" anchor="ctr">
            <a:spAutoFit/>
          </a:bodyPr>
          <a:lstStyle/>
          <a:p>
            <a:pPr algn="l">
              <a:spcBef>
                <a:spcPts val="0"/>
              </a:spcBef>
              <a:spcAft>
                <a:spcPts val="0"/>
              </a:spcAft>
              <a:defRPr sz="1400" b="0">
                <a:solidFill>
                  <a:srgbClr val="192B43"/>
                </a:solidFill>
                <a:latin typeface="Noto Sans"/>
              </a:defRPr>
            </a:pPr>
            <a:r>
              <a:t>instrumentation mode</a:t>
            </a:r>
          </a:p>
        </p:txBody>
      </p:sp>
      <p:cxnSp>
        <p:nvCxnSpPr>
          <p:cNvPr id="38" name="Connector 37"/>
          <p:cNvCxnSpPr/>
          <p:nvPr/>
        </p:nvCxnSpPr>
        <p:spPr>
          <a:xfrm>
            <a:off x="5111496" y="3236976"/>
            <a:ext cx="320040" cy="0"/>
          </a:xfrm>
          <a:prstGeom prst="line">
            <a:avLst/>
          </a:prstGeom>
          <a:ln w="22860">
            <a:solidFill>
              <a:srgbClr val="74589E"/>
            </a:solidFill>
            <a:tailEnd type="triangle" w="sm" len="sm"/>
          </a:ln>
        </p:spPr>
        <p:style>
          <a:lnRef idx="2">
            <a:schemeClr val="accent1"/>
          </a:lnRef>
          <a:fillRef idx="0">
            <a:schemeClr val="accent1"/>
          </a:fillRef>
          <a:effectRef idx="1">
            <a:schemeClr val="accent1"/>
          </a:effectRef>
          <a:fontRef idx="minor">
            <a:schemeClr val="tx1"/>
          </a:fontRef>
        </p:style>
      </p:cxnSp>
      <p:sp>
        <p:nvSpPr>
          <p:cNvPr id="39" name="Rectangle 38"/>
          <p:cNvSpPr/>
          <p:nvPr/>
        </p:nvSpPr>
        <p:spPr>
          <a:xfrm>
            <a:off x="5495544" y="2980944"/>
            <a:ext cx="3191256" cy="512064"/>
          </a:xfrm>
          <a:prstGeom prst="rect">
            <a:avLst/>
          </a:prstGeom>
          <a:solidFill>
            <a:srgbClr val="EFF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5632704" y="3022091"/>
            <a:ext cx="2926080" cy="420624"/>
          </a:xfrm>
          <a:prstGeom prst="rect">
            <a:avLst/>
          </a:prstGeom>
          <a:noFill/>
        </p:spPr>
        <p:txBody>
          <a:bodyPr wrap="square" lIns="9144" tIns="0" rIns="9144" bIns="0" anchor="ctr">
            <a:spAutoFit/>
          </a:bodyPr>
          <a:lstStyle/>
          <a:p>
            <a:pPr algn="l">
              <a:spcBef>
                <a:spcPts val="0"/>
              </a:spcBef>
              <a:spcAft>
                <a:spcPts val="0"/>
              </a:spcAft>
              <a:defRPr sz="1340" b="0">
                <a:solidFill>
                  <a:srgbClr val="192B43"/>
                </a:solidFill>
                <a:latin typeface="Noto Sans"/>
              </a:defRPr>
            </a:pPr>
            <a:r>
              <a:t>dataset · workload · repetitions</a:t>
            </a:r>
          </a:p>
        </p:txBody>
      </p:sp>
      <p:sp>
        <p:nvSpPr>
          <p:cNvPr id="41" name="Rectangle 40"/>
          <p:cNvSpPr/>
          <p:nvPr/>
        </p:nvSpPr>
        <p:spPr>
          <a:xfrm>
            <a:off x="329184" y="4096512"/>
            <a:ext cx="8458200" cy="356616"/>
          </a:xfrm>
          <a:prstGeom prst="rect">
            <a:avLst/>
          </a:prstGeom>
          <a:solidFill>
            <a:srgbClr val="0414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438912" y="4123944"/>
            <a:ext cx="8211312" cy="292608"/>
          </a:xfrm>
          <a:prstGeom prst="rect">
            <a:avLst/>
          </a:prstGeom>
          <a:noFill/>
        </p:spPr>
        <p:txBody>
          <a:bodyPr wrap="square" lIns="9144" tIns="0" rIns="9144" bIns="0" anchor="ctr">
            <a:spAutoFit/>
          </a:bodyPr>
          <a:lstStyle/>
          <a:p>
            <a:pPr algn="l">
              <a:spcBef>
                <a:spcPts val="0"/>
              </a:spcBef>
              <a:spcAft>
                <a:spcPts val="0"/>
              </a:spcAft>
              <a:defRPr sz="1300" b="1">
                <a:solidFill>
                  <a:srgbClr val="FFFFFF"/>
                </a:solidFill>
                <a:latin typeface="Noto Sans"/>
              </a:defRPr>
            </a:pPr>
            <a:r>
              <a:t>Compose at build time. Parameterize at runtime. Select from measurements.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83464" y="182880"/>
            <a:ext cx="7360920" cy="438912"/>
          </a:xfrm>
          <a:prstGeom prst="rect">
            <a:avLst/>
          </a:prstGeom>
          <a:noFill/>
        </p:spPr>
        <p:txBody>
          <a:bodyPr wrap="square" lIns="9144" tIns="0" rIns="9144" bIns="0" anchor="ctr">
            <a:spAutoFit/>
          </a:bodyPr>
          <a:lstStyle/>
          <a:p>
            <a:pPr algn="l">
              <a:spcBef>
                <a:spcPts val="0"/>
              </a:spcBef>
              <a:spcAft>
                <a:spcPts val="0"/>
              </a:spcAft>
              <a:defRPr sz="2400" b="1">
                <a:solidFill>
                  <a:srgbClr val="041447"/>
                </a:solidFill>
                <a:latin typeface="Noto Sans"/>
              </a:defRPr>
            </a:pPr>
            <a:r>
              <a:t>One real tree taken apart: ART's organs</a:t>
            </a:r>
          </a:p>
        </p:txBody>
      </p:sp>
      <p:sp>
        <p:nvSpPr>
          <p:cNvPr id="3" name="Rectangle 2"/>
          <p:cNvSpPr/>
          <p:nvPr/>
        </p:nvSpPr>
        <p:spPr>
          <a:xfrm>
            <a:off x="310896" y="786384"/>
            <a:ext cx="1197864" cy="45720"/>
          </a:xfrm>
          <a:prstGeom prst="rect">
            <a:avLst/>
          </a:prstGeom>
          <a:solidFill>
            <a:srgbClr val="D2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10896" y="621792"/>
            <a:ext cx="1197864" cy="164592"/>
          </a:xfrm>
          <a:prstGeom prst="rect">
            <a:avLst/>
          </a:prstGeom>
          <a:noFill/>
        </p:spPr>
        <p:txBody>
          <a:bodyPr wrap="square" lIns="9144" tIns="0" rIns="9144" bIns="0" anchor="ctr">
            <a:spAutoFit/>
          </a:bodyPr>
          <a:lstStyle/>
          <a:p>
            <a:pPr algn="l">
              <a:spcBef>
                <a:spcPts val="0"/>
              </a:spcBef>
              <a:spcAft>
                <a:spcPts val="0"/>
              </a:spcAft>
              <a:defRPr sz="850" b="0">
                <a:solidFill>
                  <a:srgbClr val="607080"/>
                </a:solidFill>
                <a:latin typeface="Noto Sans"/>
              </a:defRPr>
            </a:pPr>
            <a:r>
              <a:t>1 Introduction</a:t>
            </a:r>
          </a:p>
        </p:txBody>
      </p:sp>
      <p:sp>
        <p:nvSpPr>
          <p:cNvPr id="5" name="Rectangle 4"/>
          <p:cNvSpPr/>
          <p:nvPr/>
        </p:nvSpPr>
        <p:spPr>
          <a:xfrm>
            <a:off x="1545336" y="786384"/>
            <a:ext cx="1243584" cy="45720"/>
          </a:xfrm>
          <a:prstGeom prst="rect">
            <a:avLst/>
          </a:prstGeom>
          <a:solidFill>
            <a:srgbClr val="D2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545336" y="621792"/>
            <a:ext cx="1243584" cy="164592"/>
          </a:xfrm>
          <a:prstGeom prst="rect">
            <a:avLst/>
          </a:prstGeom>
          <a:noFill/>
        </p:spPr>
        <p:txBody>
          <a:bodyPr wrap="square" lIns="9144" tIns="0" rIns="9144" bIns="0" anchor="ctr">
            <a:spAutoFit/>
          </a:bodyPr>
          <a:lstStyle/>
          <a:p>
            <a:pPr algn="l">
              <a:spcBef>
                <a:spcPts val="0"/>
              </a:spcBef>
              <a:spcAft>
                <a:spcPts val="0"/>
              </a:spcAft>
              <a:defRPr sz="850" b="0">
                <a:solidFill>
                  <a:srgbClr val="607080"/>
                </a:solidFill>
                <a:latin typeface="Noto Sans"/>
              </a:defRPr>
            </a:pPr>
            <a:r>
              <a:t>2 Background</a:t>
            </a:r>
          </a:p>
        </p:txBody>
      </p:sp>
      <p:sp>
        <p:nvSpPr>
          <p:cNvPr id="7" name="Rectangle 6"/>
          <p:cNvSpPr/>
          <p:nvPr/>
        </p:nvSpPr>
        <p:spPr>
          <a:xfrm>
            <a:off x="2825496" y="786384"/>
            <a:ext cx="1078992" cy="45720"/>
          </a:xfrm>
          <a:prstGeom prst="rect">
            <a:avLst/>
          </a:prstGeom>
          <a:solidFill>
            <a:srgbClr val="008A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2825496" y="621792"/>
            <a:ext cx="1078992" cy="164592"/>
          </a:xfrm>
          <a:prstGeom prst="rect">
            <a:avLst/>
          </a:prstGeom>
          <a:noFill/>
        </p:spPr>
        <p:txBody>
          <a:bodyPr wrap="square" lIns="9144" tIns="0" rIns="9144" bIns="0" anchor="ctr">
            <a:spAutoFit/>
          </a:bodyPr>
          <a:lstStyle/>
          <a:p>
            <a:pPr algn="l">
              <a:spcBef>
                <a:spcPts val="0"/>
              </a:spcBef>
              <a:spcAft>
                <a:spcPts val="0"/>
              </a:spcAft>
              <a:defRPr sz="850" b="1">
                <a:solidFill>
                  <a:srgbClr val="008A96"/>
                </a:solidFill>
                <a:latin typeface="Noto Sans"/>
              </a:defRPr>
            </a:pPr>
            <a:r>
              <a:t>3 Concept</a:t>
            </a:r>
          </a:p>
        </p:txBody>
      </p:sp>
      <p:sp>
        <p:nvSpPr>
          <p:cNvPr id="9" name="Rectangle 8"/>
          <p:cNvSpPr/>
          <p:nvPr/>
        </p:nvSpPr>
        <p:spPr>
          <a:xfrm>
            <a:off x="3941063" y="786384"/>
            <a:ext cx="1645920" cy="45720"/>
          </a:xfrm>
          <a:prstGeom prst="rect">
            <a:avLst/>
          </a:prstGeom>
          <a:solidFill>
            <a:srgbClr val="D2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941063" y="621792"/>
            <a:ext cx="1645920" cy="164592"/>
          </a:xfrm>
          <a:prstGeom prst="rect">
            <a:avLst/>
          </a:prstGeom>
          <a:noFill/>
        </p:spPr>
        <p:txBody>
          <a:bodyPr wrap="square" lIns="9144" tIns="0" rIns="9144" bIns="0" anchor="ctr">
            <a:spAutoFit/>
          </a:bodyPr>
          <a:lstStyle/>
          <a:p>
            <a:pPr algn="l">
              <a:spcBef>
                <a:spcPts val="0"/>
              </a:spcBef>
              <a:spcAft>
                <a:spcPts val="0"/>
              </a:spcAft>
              <a:defRPr sz="850" b="0">
                <a:solidFill>
                  <a:srgbClr val="607080"/>
                </a:solidFill>
                <a:latin typeface="Noto Sans"/>
              </a:defRPr>
            </a:pPr>
            <a:r>
              <a:t>4 Implementation</a:t>
            </a:r>
          </a:p>
        </p:txBody>
      </p:sp>
      <p:sp>
        <p:nvSpPr>
          <p:cNvPr id="11" name="Rectangle 10"/>
          <p:cNvSpPr/>
          <p:nvPr/>
        </p:nvSpPr>
        <p:spPr>
          <a:xfrm>
            <a:off x="5623559" y="786384"/>
            <a:ext cx="1252728" cy="45720"/>
          </a:xfrm>
          <a:prstGeom prst="rect">
            <a:avLst/>
          </a:prstGeom>
          <a:solidFill>
            <a:srgbClr val="D2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623559" y="621792"/>
            <a:ext cx="1252728" cy="164592"/>
          </a:xfrm>
          <a:prstGeom prst="rect">
            <a:avLst/>
          </a:prstGeom>
          <a:noFill/>
        </p:spPr>
        <p:txBody>
          <a:bodyPr wrap="square" lIns="9144" tIns="0" rIns="9144" bIns="0" anchor="ctr">
            <a:spAutoFit/>
          </a:bodyPr>
          <a:lstStyle/>
          <a:p>
            <a:pPr algn="l">
              <a:spcBef>
                <a:spcPts val="0"/>
              </a:spcBef>
              <a:spcAft>
                <a:spcPts val="0"/>
              </a:spcAft>
              <a:defRPr sz="850" b="0">
                <a:solidFill>
                  <a:srgbClr val="607080"/>
                </a:solidFill>
                <a:latin typeface="Noto Sans"/>
              </a:defRPr>
            </a:pPr>
            <a:r>
              <a:t>5 Evaluation</a:t>
            </a:r>
          </a:p>
        </p:txBody>
      </p:sp>
      <p:sp>
        <p:nvSpPr>
          <p:cNvPr id="13" name="Rectangle 12"/>
          <p:cNvSpPr/>
          <p:nvPr/>
        </p:nvSpPr>
        <p:spPr>
          <a:xfrm>
            <a:off x="6912864" y="786384"/>
            <a:ext cx="1216152" cy="45720"/>
          </a:xfrm>
          <a:prstGeom prst="rect">
            <a:avLst/>
          </a:prstGeom>
          <a:solidFill>
            <a:srgbClr val="D2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912864" y="621792"/>
            <a:ext cx="1216152" cy="164592"/>
          </a:xfrm>
          <a:prstGeom prst="rect">
            <a:avLst/>
          </a:prstGeom>
          <a:noFill/>
        </p:spPr>
        <p:txBody>
          <a:bodyPr wrap="square" lIns="9144" tIns="0" rIns="9144" bIns="0" anchor="ctr">
            <a:spAutoFit/>
          </a:bodyPr>
          <a:lstStyle/>
          <a:p>
            <a:pPr algn="l">
              <a:spcBef>
                <a:spcPts val="0"/>
              </a:spcBef>
              <a:spcAft>
                <a:spcPts val="0"/>
              </a:spcAft>
              <a:defRPr sz="850" b="0">
                <a:solidFill>
                  <a:srgbClr val="607080"/>
                </a:solidFill>
                <a:latin typeface="Noto Sans"/>
              </a:defRPr>
            </a:pPr>
            <a:r>
              <a:t>6 Conclusion</a:t>
            </a:r>
          </a:p>
        </p:txBody>
      </p:sp>
      <p:sp>
        <p:nvSpPr>
          <p:cNvPr id="15" name="TextBox 14"/>
          <p:cNvSpPr txBox="1"/>
          <p:nvPr/>
        </p:nvSpPr>
        <p:spPr>
          <a:xfrm>
            <a:off x="320040" y="4572000"/>
            <a:ext cx="8321040" cy="182880"/>
          </a:xfrm>
          <a:prstGeom prst="rect">
            <a:avLst/>
          </a:prstGeom>
          <a:noFill/>
        </p:spPr>
        <p:txBody>
          <a:bodyPr wrap="square" lIns="9144" tIns="0" rIns="9144" bIns="0" anchor="ctr">
            <a:spAutoFit/>
          </a:bodyPr>
          <a:lstStyle/>
          <a:p>
            <a:pPr algn="l">
              <a:spcBef>
                <a:spcPts val="0"/>
              </a:spcBef>
              <a:spcAft>
                <a:spcPts val="0"/>
              </a:spcAft>
              <a:defRPr sz="810" b="0">
                <a:solidFill>
                  <a:srgbClr val="607080"/>
                </a:solidFill>
                <a:latin typeface="Noto Sans"/>
              </a:defRPr>
            </a:pPr>
            <a:r>
              <a:t>ce sota/art.profile.xml + sota/hot.profile.xml, legacy eleven-axis axes block; thesis §§2.1, 3.2; Appendix D  |  Framework composition, not original ART or HOT</a:t>
            </a:r>
          </a:p>
        </p:txBody>
      </p:sp>
      <p:sp>
        <p:nvSpPr>
          <p:cNvPr id="16" name="TextBox 15"/>
          <p:cNvSpPr txBox="1"/>
          <p:nvPr/>
        </p:nvSpPr>
        <p:spPr>
          <a:xfrm>
            <a:off x="1234440" y="4873752"/>
            <a:ext cx="6766560" cy="164592"/>
          </a:xfrm>
          <a:prstGeom prst="rect">
            <a:avLst/>
          </a:prstGeom>
          <a:noFill/>
        </p:spPr>
        <p:txBody>
          <a:bodyPr wrap="square" lIns="9144" tIns="0" rIns="9144" bIns="0" anchor="ctr">
            <a:spAutoFit/>
          </a:bodyPr>
          <a:lstStyle/>
          <a:p>
            <a:pPr algn="l">
              <a:spcBef>
                <a:spcPts val="0"/>
              </a:spcBef>
              <a:spcAft>
                <a:spcPts val="0"/>
              </a:spcAft>
              <a:defRPr sz="830" b="0">
                <a:solidFill>
                  <a:srgbClr val="041447"/>
                </a:solidFill>
                <a:latin typeface="Noto Sans"/>
              </a:defRPr>
            </a:pPr>
            <a:r>
              <a:t>Benjamin-Elias Probst  |  Diploma thesis defense  |  28 September 2026</a:t>
            </a:r>
          </a:p>
        </p:txBody>
      </p:sp>
      <p:sp>
        <p:nvSpPr>
          <p:cNvPr id="17" name="TextBox 16"/>
          <p:cNvSpPr txBox="1"/>
          <p:nvPr/>
        </p:nvSpPr>
        <p:spPr>
          <a:xfrm>
            <a:off x="8412480" y="4864608"/>
            <a:ext cx="393192" cy="192024"/>
          </a:xfrm>
          <a:prstGeom prst="rect">
            <a:avLst/>
          </a:prstGeom>
          <a:noFill/>
        </p:spPr>
        <p:txBody>
          <a:bodyPr wrap="square" lIns="9144" tIns="0" rIns="9144" bIns="0" anchor="ctr">
            <a:spAutoFit/>
          </a:bodyPr>
          <a:lstStyle/>
          <a:p>
            <a:pPr algn="r">
              <a:spcBef>
                <a:spcPts val="0"/>
              </a:spcBef>
              <a:spcAft>
                <a:spcPts val="0"/>
              </a:spcAft>
              <a:defRPr sz="900" b="1">
                <a:solidFill>
                  <a:srgbClr val="041447"/>
                </a:solidFill>
                <a:latin typeface="Noto Sans"/>
              </a:defRPr>
            </a:pPr>
            <a:r>
              <a:t>9</a:t>
            </a:r>
          </a:p>
        </p:txBody>
      </p:sp>
      <p:grpSp>
        <p:nvGrpSpPr>
          <p:cNvPr id="42" name="ART: six organ rows T4 to T10"/>
          <p:cNvGrpSpPr/>
          <p:nvPr/>
        </p:nvGrpSpPr>
        <p:grpSpPr>
          <a:xfrm>
            <a:off x="420624" y="1060704"/>
            <a:ext cx="5038344" cy="2788920"/>
            <a:chOff x="420624" y="1060704"/>
            <a:chExt cx="5038344" cy="2788920"/>
          </a:xfrm>
        </p:grpSpPr>
        <p:sp>
          <p:nvSpPr>
            <p:cNvPr id="18" name="Rectangle 17"/>
            <p:cNvSpPr/>
            <p:nvPr/>
          </p:nvSpPr>
          <p:spPr>
            <a:xfrm>
              <a:off x="420624" y="1060704"/>
              <a:ext cx="420000" cy="265176"/>
            </a:xfrm>
            <a:prstGeom prst="rect">
              <a:avLst/>
            </a:prstGeom>
            <a:solidFill>
              <a:srgbClr val="008A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57200" y="1074419"/>
              <a:ext cx="350000" cy="228600"/>
            </a:xfrm>
            <a:prstGeom prst="rect">
              <a:avLst/>
            </a:prstGeom>
            <a:noFill/>
          </p:spPr>
          <p:txBody>
            <a:bodyPr wrap="square" lIns="9144" tIns="0" rIns="9144" bIns="0" anchor="ctr">
              <a:spAutoFit/>
            </a:bodyPr>
            <a:lstStyle/>
            <a:p>
              <a:pPr algn="l">
                <a:spcBef>
                  <a:spcPts val="0"/>
                </a:spcBef>
                <a:spcAft>
                  <a:spcPts val="0"/>
                </a:spcAft>
                <a:defRPr sz="1200" b="1">
                  <a:solidFill>
                    <a:srgbClr val="FFFFFF"/>
                  </a:solidFill>
                  <a:latin typeface="Noto Sans"/>
                </a:defRPr>
              </a:pPr>
              <a:r>
                <a:t>T4</a:t>
              </a:r>
            </a:p>
          </p:txBody>
        </p:sp>
        <p:sp>
          <p:nvSpPr>
            <p:cNvPr id="20" name="TextBox 19"/>
            <p:cNvSpPr txBox="1"/>
            <p:nvPr/>
          </p:nvSpPr>
          <p:spPr>
            <a:xfrm>
              <a:off x="886968" y="1060704"/>
              <a:ext cx="4572000" cy="320040"/>
            </a:xfrm>
            <a:prstGeom prst="rect">
              <a:avLst/>
            </a:prstGeom>
            <a:noFill/>
          </p:spPr>
          <p:txBody>
            <a:bodyPr wrap="square" lIns="9144" tIns="0" rIns="9144" bIns="0" anchor="ctr">
              <a:spAutoFit/>
            </a:bodyPr>
            <a:lstStyle/>
            <a:p>
              <a:pPr algn="l">
                <a:spcBef>
                  <a:spcPts val="0"/>
                </a:spcBef>
                <a:spcAft>
                  <a:spcPts val="0"/>
                </a:spcAft>
                <a:defRPr sz="1100" b="1">
                  <a:solidFill>
                    <a:srgbClr val="041447"/>
                  </a:solidFill>
                  <a:latin typeface="Noto Sans"/>
                </a:defRPr>
              </a:pPr>
              <a:r>
                <a:t>Node type (node): SPARSE_NODE4_ART</a:t>
              </a:r>
            </a:p>
            <a:p>
              <a:pPr algn="l">
                <a:spcBef>
                  <a:spcPts val="0"/>
                </a:spcBef>
                <a:spcAft>
                  <a:spcPts val="0"/>
                </a:spcAft>
                <a:defRPr sz="1100" b="1">
                  <a:solidFill>
                    <a:srgbClr val="041447"/>
                  </a:solidFill>
                  <a:latin typeface="Noto Sans"/>
                </a:defRPr>
              </a:pPr>
              <a:r>
                <a:t>— adaptive Node4 / 16 / 48 / 256</a:t>
              </a:r>
            </a:p>
          </p:txBody>
        </p:sp>
        <p:sp>
          <p:nvSpPr>
            <p:cNvPr id="22" name="Rectangle 21"/>
            <p:cNvSpPr/>
            <p:nvPr/>
          </p:nvSpPr>
          <p:spPr>
            <a:xfrm>
              <a:off x="420624" y="1554480"/>
              <a:ext cx="420000" cy="265176"/>
            </a:xfrm>
            <a:prstGeom prst="rect">
              <a:avLst/>
            </a:prstGeom>
            <a:solidFill>
              <a:srgbClr val="008A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457200" y="1568195"/>
              <a:ext cx="350000" cy="228600"/>
            </a:xfrm>
            <a:prstGeom prst="rect">
              <a:avLst/>
            </a:prstGeom>
            <a:noFill/>
          </p:spPr>
          <p:txBody>
            <a:bodyPr wrap="square" lIns="9144" tIns="0" rIns="9144" bIns="0" anchor="ctr">
              <a:spAutoFit/>
            </a:bodyPr>
            <a:lstStyle/>
            <a:p>
              <a:pPr algn="l">
                <a:spcBef>
                  <a:spcPts val="0"/>
                </a:spcBef>
                <a:spcAft>
                  <a:spcPts val="0"/>
                </a:spcAft>
                <a:defRPr sz="1200" b="1">
                  <a:solidFill>
                    <a:srgbClr val="FFFFFF"/>
                  </a:solidFill>
                  <a:latin typeface="Noto Sans"/>
                </a:defRPr>
              </a:pPr>
              <a:r>
                <a:t>T5</a:t>
              </a:r>
            </a:p>
          </p:txBody>
        </p:sp>
        <p:sp>
          <p:nvSpPr>
            <p:cNvPr id="24" name="TextBox 23"/>
            <p:cNvSpPr txBox="1"/>
            <p:nvPr/>
          </p:nvSpPr>
          <p:spPr>
            <a:xfrm>
              <a:off x="886968" y="1554480"/>
              <a:ext cx="4572000" cy="320040"/>
            </a:xfrm>
            <a:prstGeom prst="rect">
              <a:avLst/>
            </a:prstGeom>
            <a:noFill/>
          </p:spPr>
          <p:txBody>
            <a:bodyPr wrap="square" lIns="9144" tIns="0" rIns="9144" bIns="0" anchor="ctr">
              <a:spAutoFit/>
            </a:bodyPr>
            <a:lstStyle/>
            <a:p>
              <a:pPr algn="l">
                <a:spcBef>
                  <a:spcPts val="0"/>
                </a:spcBef>
                <a:spcAft>
                  <a:spcPts val="0"/>
                </a:spcAft>
                <a:defRPr sz="1100" b="1">
                  <a:solidFill>
                    <a:srgbClr val="041447"/>
                  </a:solidFill>
                  <a:latin typeface="Noto Sans"/>
                </a:defRPr>
              </a:pPr>
              <a:r>
                <a:t>Memory layout (layout): CACHE_LINE_ALIGNED</a:t>
              </a:r>
            </a:p>
          </p:txBody>
        </p:sp>
        <p:sp>
          <p:nvSpPr>
            <p:cNvPr id="26" name="Rectangle 25"/>
            <p:cNvSpPr/>
            <p:nvPr/>
          </p:nvSpPr>
          <p:spPr>
            <a:xfrm>
              <a:off x="420624" y="2048256"/>
              <a:ext cx="420000" cy="265176"/>
            </a:xfrm>
            <a:prstGeom prst="rect">
              <a:avLst/>
            </a:prstGeom>
            <a:solidFill>
              <a:srgbClr val="008A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457200" y="2061972"/>
              <a:ext cx="350000" cy="228600"/>
            </a:xfrm>
            <a:prstGeom prst="rect">
              <a:avLst/>
            </a:prstGeom>
            <a:noFill/>
          </p:spPr>
          <p:txBody>
            <a:bodyPr wrap="square" lIns="9144" tIns="0" rIns="9144" bIns="0" anchor="ctr">
              <a:spAutoFit/>
            </a:bodyPr>
            <a:lstStyle/>
            <a:p>
              <a:pPr algn="l">
                <a:spcBef>
                  <a:spcPts val="0"/>
                </a:spcBef>
                <a:spcAft>
                  <a:spcPts val="0"/>
                </a:spcAft>
                <a:defRPr sz="1200" b="1">
                  <a:solidFill>
                    <a:srgbClr val="FFFFFF"/>
                  </a:solidFill>
                  <a:latin typeface="Noto Sans"/>
                </a:defRPr>
              </a:pPr>
              <a:r>
                <a:t>T6</a:t>
              </a:r>
            </a:p>
          </p:txBody>
        </p:sp>
        <p:sp>
          <p:nvSpPr>
            <p:cNvPr id="28" name="TextBox 27"/>
            <p:cNvSpPr txBox="1"/>
            <p:nvPr/>
          </p:nvSpPr>
          <p:spPr>
            <a:xfrm>
              <a:off x="886968" y="2048256"/>
              <a:ext cx="4572000" cy="320040"/>
            </a:xfrm>
            <a:prstGeom prst="rect">
              <a:avLst/>
            </a:prstGeom>
            <a:noFill/>
          </p:spPr>
          <p:txBody>
            <a:bodyPr wrap="square" lIns="9144" tIns="0" rIns="9144" bIns="0" anchor="ctr">
              <a:spAutoFit/>
            </a:bodyPr>
            <a:lstStyle/>
            <a:p>
              <a:pPr algn="l">
                <a:spcBef>
                  <a:spcPts val="0"/>
                </a:spcBef>
                <a:spcAft>
                  <a:spcPts val="0"/>
                </a:spcAft>
                <a:defRPr sz="1100" b="1">
                  <a:solidFill>
                    <a:srgbClr val="041447"/>
                  </a:solidFill>
                  <a:latin typeface="Noto Sans"/>
                </a:defRPr>
              </a:pPr>
              <a:r>
                <a:t>Allocator (allocator): MIMALLOC</a:t>
              </a:r>
            </a:p>
          </p:txBody>
        </p:sp>
        <p:sp>
          <p:nvSpPr>
            <p:cNvPr id="30" name="Rectangle 29"/>
            <p:cNvSpPr/>
            <p:nvPr/>
          </p:nvSpPr>
          <p:spPr>
            <a:xfrm>
              <a:off x="420624" y="2542032"/>
              <a:ext cx="420000" cy="265176"/>
            </a:xfrm>
            <a:prstGeom prst="rect">
              <a:avLst/>
            </a:prstGeom>
            <a:solidFill>
              <a:srgbClr val="008A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457200" y="2555748"/>
              <a:ext cx="350000" cy="228600"/>
            </a:xfrm>
            <a:prstGeom prst="rect">
              <a:avLst/>
            </a:prstGeom>
            <a:noFill/>
          </p:spPr>
          <p:txBody>
            <a:bodyPr wrap="square" lIns="9144" tIns="0" rIns="9144" bIns="0" anchor="ctr">
              <a:spAutoFit/>
            </a:bodyPr>
            <a:lstStyle/>
            <a:p>
              <a:pPr algn="l">
                <a:spcBef>
                  <a:spcPts val="0"/>
                </a:spcBef>
                <a:spcAft>
                  <a:spcPts val="0"/>
                </a:spcAft>
                <a:defRPr sz="1200" b="1">
                  <a:solidFill>
                    <a:srgbClr val="FFFFFF"/>
                  </a:solidFill>
                  <a:latin typeface="Noto Sans"/>
                </a:defRPr>
              </a:pPr>
              <a:r>
                <a:t>T7</a:t>
              </a:r>
            </a:p>
          </p:txBody>
        </p:sp>
        <p:sp>
          <p:nvSpPr>
            <p:cNvPr id="32" name="TextBox 31"/>
            <p:cNvSpPr txBox="1"/>
            <p:nvPr/>
          </p:nvSpPr>
          <p:spPr>
            <a:xfrm>
              <a:off x="886968" y="2542032"/>
              <a:ext cx="4572000" cy="320040"/>
            </a:xfrm>
            <a:prstGeom prst="rect">
              <a:avLst/>
            </a:prstGeom>
            <a:noFill/>
          </p:spPr>
          <p:txBody>
            <a:bodyPr wrap="square" lIns="9144" tIns="0" rIns="9144" bIns="0" anchor="ctr">
              <a:spAutoFit/>
            </a:bodyPr>
            <a:lstStyle/>
            <a:p>
              <a:pPr algn="l">
                <a:spcBef>
                  <a:spcPts val="0"/>
                </a:spcBef>
                <a:spcAft>
                  <a:spcPts val="0"/>
                </a:spcAft>
                <a:defRPr sz="1100" b="1">
                  <a:solidFill>
                    <a:srgbClr val="041447"/>
                  </a:solidFill>
                  <a:latin typeface="Noto Sans"/>
                </a:defRPr>
              </a:pPr>
              <a:r>
                <a:t>Prefetch (prefetch): NONE</a:t>
              </a:r>
            </a:p>
          </p:txBody>
        </p:sp>
        <p:sp>
          <p:nvSpPr>
            <p:cNvPr id="34" name="Rectangle 33"/>
            <p:cNvSpPr/>
            <p:nvPr/>
          </p:nvSpPr>
          <p:spPr>
            <a:xfrm>
              <a:off x="420624" y="3035808"/>
              <a:ext cx="420000" cy="265176"/>
            </a:xfrm>
            <a:prstGeom prst="rect">
              <a:avLst/>
            </a:prstGeom>
            <a:solidFill>
              <a:srgbClr val="008A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457200" y="3049524"/>
              <a:ext cx="350000" cy="228600"/>
            </a:xfrm>
            <a:prstGeom prst="rect">
              <a:avLst/>
            </a:prstGeom>
            <a:noFill/>
          </p:spPr>
          <p:txBody>
            <a:bodyPr wrap="square" lIns="9144" tIns="0" rIns="9144" bIns="0" anchor="ctr">
              <a:spAutoFit/>
            </a:bodyPr>
            <a:lstStyle/>
            <a:p>
              <a:pPr algn="l">
                <a:spcBef>
                  <a:spcPts val="0"/>
                </a:spcBef>
                <a:spcAft>
                  <a:spcPts val="0"/>
                </a:spcAft>
                <a:defRPr sz="1200" b="1">
                  <a:solidFill>
                    <a:srgbClr val="FFFFFF"/>
                  </a:solidFill>
                  <a:latin typeface="Noto Sans"/>
                </a:defRPr>
              </a:pPr>
              <a:r>
                <a:t>T8</a:t>
              </a:r>
            </a:p>
          </p:txBody>
        </p:sp>
        <p:sp>
          <p:nvSpPr>
            <p:cNvPr id="36" name="TextBox 35"/>
            <p:cNvSpPr txBox="1"/>
            <p:nvPr/>
          </p:nvSpPr>
          <p:spPr>
            <a:xfrm>
              <a:off x="886968" y="3035808"/>
              <a:ext cx="4572000" cy="320040"/>
            </a:xfrm>
            <a:prstGeom prst="rect">
              <a:avLst/>
            </a:prstGeom>
            <a:noFill/>
          </p:spPr>
          <p:txBody>
            <a:bodyPr wrap="square" lIns="9144" tIns="0" rIns="9144" bIns="0" anchor="ctr">
              <a:spAutoFit/>
            </a:bodyPr>
            <a:lstStyle/>
            <a:p>
              <a:pPr algn="l">
                <a:spcBef>
                  <a:spcPts val="0"/>
                </a:spcBef>
                <a:spcAft>
                  <a:spcPts val="0"/>
                </a:spcAft>
                <a:defRPr sz="1100" b="1">
                  <a:solidFill>
                    <a:srgbClr val="041447"/>
                  </a:solidFill>
                  <a:latin typeface="Noto Sans"/>
                </a:defRPr>
              </a:pPr>
              <a:r>
                <a:t>Concurrency (concurrency): OPTIMISTIC_LOCK_COUPLING</a:t>
              </a:r>
            </a:p>
          </p:txBody>
        </p:sp>
        <p:sp>
          <p:nvSpPr>
            <p:cNvPr id="38" name="Rectangle 37"/>
            <p:cNvSpPr/>
            <p:nvPr/>
          </p:nvSpPr>
          <p:spPr>
            <a:xfrm>
              <a:off x="420624" y="3529584"/>
              <a:ext cx="420000" cy="265176"/>
            </a:xfrm>
            <a:prstGeom prst="rect">
              <a:avLst/>
            </a:prstGeom>
            <a:solidFill>
              <a:srgbClr val="008A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457200" y="3543300"/>
              <a:ext cx="350000" cy="228600"/>
            </a:xfrm>
            <a:prstGeom prst="rect">
              <a:avLst/>
            </a:prstGeom>
            <a:noFill/>
          </p:spPr>
          <p:txBody>
            <a:bodyPr wrap="square" lIns="9144" tIns="0" rIns="9144" bIns="0" anchor="ctr">
              <a:spAutoFit/>
            </a:bodyPr>
            <a:lstStyle/>
            <a:p>
              <a:pPr algn="l">
                <a:spcBef>
                  <a:spcPts val="0"/>
                </a:spcBef>
                <a:spcAft>
                  <a:spcPts val="0"/>
                </a:spcAft>
                <a:defRPr sz="1200" b="1">
                  <a:solidFill>
                    <a:srgbClr val="FFFFFF"/>
                  </a:solidFill>
                  <a:latin typeface="Noto Sans"/>
                </a:defRPr>
              </a:pPr>
              <a:r>
                <a:t>T10</a:t>
              </a:r>
            </a:p>
          </p:txBody>
        </p:sp>
        <p:sp>
          <p:nvSpPr>
            <p:cNvPr id="40" name="TextBox 39"/>
            <p:cNvSpPr txBox="1"/>
            <p:nvPr/>
          </p:nvSpPr>
          <p:spPr>
            <a:xfrm>
              <a:off x="886968" y="3529584"/>
              <a:ext cx="4572000" cy="320040"/>
            </a:xfrm>
            <a:prstGeom prst="rect">
              <a:avLst/>
            </a:prstGeom>
            <a:noFill/>
          </p:spPr>
          <p:txBody>
            <a:bodyPr wrap="square" lIns="9144" tIns="0" rIns="9144" bIns="0" anchor="ctr">
              <a:spAutoFit/>
            </a:bodyPr>
            <a:lstStyle/>
            <a:p>
              <a:pPr algn="l">
                <a:spcBef>
                  <a:spcPts val="0"/>
                </a:spcBef>
                <a:spcAft>
                  <a:spcPts val="0"/>
                </a:spcAft>
                <a:defRPr sz="1100" b="1">
                  <a:solidFill>
                    <a:srgbClr val="041447"/>
                  </a:solidFill>
                  <a:latin typeface="Noto Sans"/>
                </a:defRPr>
              </a:pPr>
              <a:r>
                <a:t>Value handle (value_handle): EXTERNAL</a:t>
              </a:r>
            </a:p>
          </p:txBody>
        </p:sp>
      </p:grpSp>
      <p:grpSp>
        <p:nvGrpSpPr>
          <p:cNvPr id="43" name="SWAP: HOT's pieces and PRT-ART's slot"/>
          <p:cNvGrpSpPr/>
          <p:nvPr/>
        </p:nvGrpSpPr>
        <p:grpSpPr>
          <a:xfrm>
            <a:off x="5577840" y="1060704"/>
            <a:ext cx="3127248" cy="2788920"/>
            <a:chOff x="5577840" y="1060704"/>
            <a:chExt cx="3127248" cy="2788920"/>
          </a:xfrm>
        </p:grpSpPr>
        <p:sp>
          <p:nvSpPr>
            <p:cNvPr id="21" name="TextBox 20"/>
            <p:cNvSpPr txBox="1"/>
            <p:nvPr/>
          </p:nvSpPr>
          <p:spPr>
            <a:xfrm>
              <a:off x="5577840" y="1060704"/>
              <a:ext cx="3127248" cy="320040"/>
            </a:xfrm>
            <a:prstGeom prst="rect">
              <a:avLst/>
            </a:prstGeom>
            <a:noFill/>
          </p:spPr>
          <p:txBody>
            <a:bodyPr wrap="square" lIns="9144" tIns="0" rIns="9144" bIns="0" anchor="ctr">
              <a:spAutoFit/>
            </a:bodyPr>
            <a:lstStyle/>
            <a:p>
              <a:pPr algn="l">
                <a:spcBef>
                  <a:spcPts val="0"/>
                </a:spcBef>
                <a:spcAft>
                  <a:spcPts val="0"/>
                </a:spcAft>
                <a:defRPr sz="1200" b="0">
                  <a:solidFill>
                    <a:srgbClr val="607080"/>
                  </a:solidFill>
                  <a:latin typeface="Noto Sans"/>
                </a:defRPr>
              </a:pPr>
              <a:r>
                <a:t>swap: HOT_BIT_NODE (HOT)</a:t>
              </a:r>
            </a:p>
          </p:txBody>
        </p:sp>
        <p:sp>
          <p:nvSpPr>
            <p:cNvPr id="25" name="TextBox 24"/>
            <p:cNvSpPr txBox="1"/>
            <p:nvPr/>
          </p:nvSpPr>
          <p:spPr>
            <a:xfrm>
              <a:off x="5577840" y="1554480"/>
              <a:ext cx="3127248" cy="320040"/>
            </a:xfrm>
            <a:prstGeom prst="rect">
              <a:avLst/>
            </a:prstGeom>
            <a:noFill/>
          </p:spPr>
          <p:txBody>
            <a:bodyPr wrap="square" lIns="9144" tIns="0" rIns="9144" bIns="0" anchor="ctr">
              <a:spAutoFit/>
            </a:bodyPr>
            <a:lstStyle/>
            <a:p>
              <a:pPr algn="l">
                <a:spcBef>
                  <a:spcPts val="0"/>
                </a:spcBef>
                <a:spcAft>
                  <a:spcPts val="0"/>
                </a:spcAft>
                <a:defRPr sz="1200" b="0">
                  <a:solidFill>
                    <a:srgbClr val="607080"/>
                  </a:solidFill>
                  <a:latin typeface="Noto Sans"/>
                </a:defRPr>
              </a:pPr>
              <a:r>
                <a:t>swap: AoS strict, SoA, AoSoA</a:t>
              </a:r>
            </a:p>
          </p:txBody>
        </p:sp>
        <p:sp>
          <p:nvSpPr>
            <p:cNvPr id="29" name="TextBox 28"/>
            <p:cNvSpPr txBox="1"/>
            <p:nvPr/>
          </p:nvSpPr>
          <p:spPr>
            <a:xfrm>
              <a:off x="5577840" y="2048256"/>
              <a:ext cx="3127248" cy="320040"/>
            </a:xfrm>
            <a:prstGeom prst="rect">
              <a:avLst/>
            </a:prstGeom>
            <a:noFill/>
          </p:spPr>
          <p:txBody>
            <a:bodyPr wrap="square" lIns="9144" tIns="0" rIns="9144" bIns="0" anchor="ctr">
              <a:spAutoFit/>
            </a:bodyPr>
            <a:lstStyle/>
            <a:p>
              <a:pPr algn="l">
                <a:spcBef>
                  <a:spcPts val="0"/>
                </a:spcBef>
                <a:spcAft>
                  <a:spcPts val="0"/>
                </a:spcAft>
                <a:defRPr sz="1200" b="0">
                  <a:solidFill>
                    <a:srgbClr val="607080"/>
                  </a:solidFill>
                  <a:latin typeface="Noto Sans"/>
                </a:defRPr>
              </a:pPr>
              <a:r>
                <a:t>swap: JEMALLOC (HOT), pool</a:t>
              </a:r>
            </a:p>
          </p:txBody>
        </p:sp>
        <p:sp>
          <p:nvSpPr>
            <p:cNvPr id="33" name="TextBox 32"/>
            <p:cNvSpPr txBox="1"/>
            <p:nvPr/>
          </p:nvSpPr>
          <p:spPr>
            <a:xfrm>
              <a:off x="5577840" y="2542032"/>
              <a:ext cx="3127248" cy="320040"/>
            </a:xfrm>
            <a:prstGeom prst="rect">
              <a:avLst/>
            </a:prstGeom>
            <a:noFill/>
          </p:spPr>
          <p:txBody>
            <a:bodyPr wrap="square" lIns="9144" tIns="0" rIns="9144" bIns="0" anchor="ctr">
              <a:spAutoFit/>
            </a:bodyPr>
            <a:lstStyle/>
            <a:p>
              <a:pPr algn="l">
                <a:spcBef>
                  <a:spcPts val="0"/>
                </a:spcBef>
                <a:spcAft>
                  <a:spcPts val="0"/>
                </a:spcAft>
                <a:defRPr sz="1200" b="0">
                  <a:solidFill>
                    <a:srgbClr val="607080"/>
                  </a:solidFill>
                  <a:latin typeface="Noto Sans"/>
                </a:defRPr>
              </a:pPr>
              <a:r>
                <a:t>swap: ADAPTIVE_DISTANCE (HOT)</a:t>
              </a:r>
            </a:p>
          </p:txBody>
        </p:sp>
        <p:sp>
          <p:nvSpPr>
            <p:cNvPr id="37" name="TextBox 36"/>
            <p:cNvSpPr txBox="1"/>
            <p:nvPr/>
          </p:nvSpPr>
          <p:spPr>
            <a:xfrm>
              <a:off x="5577840" y="3035808"/>
              <a:ext cx="3127248" cy="320040"/>
            </a:xfrm>
            <a:prstGeom prst="rect">
              <a:avLst/>
            </a:prstGeom>
            <a:noFill/>
          </p:spPr>
          <p:txBody>
            <a:bodyPr wrap="square" lIns="9144" tIns="0" rIns="9144" bIns="0" anchor="ctr">
              <a:spAutoFit/>
            </a:bodyPr>
            <a:lstStyle/>
            <a:p>
              <a:pPr algn="l">
                <a:spcBef>
                  <a:spcPts val="0"/>
                </a:spcBef>
                <a:spcAft>
                  <a:spcPts val="0"/>
                </a:spcAft>
                <a:defRPr sz="1200" b="0">
                  <a:solidFill>
                    <a:srgbClr val="607080"/>
                  </a:solidFill>
                  <a:latin typeface="Noto Sans"/>
                </a:defRPr>
              </a:pPr>
              <a:r>
                <a:t>same piece in ART and HOT</a:t>
              </a:r>
            </a:p>
          </p:txBody>
        </p:sp>
        <p:sp>
          <p:nvSpPr>
            <p:cNvPr id="41" name="TextBox 40"/>
            <p:cNvSpPr txBox="1"/>
            <p:nvPr/>
          </p:nvSpPr>
          <p:spPr>
            <a:xfrm>
              <a:off x="5577840" y="3529584"/>
              <a:ext cx="3127248" cy="320040"/>
            </a:xfrm>
            <a:prstGeom prst="rect">
              <a:avLst/>
            </a:prstGeom>
            <a:noFill/>
          </p:spPr>
          <p:txBody>
            <a:bodyPr wrap="square" lIns="9144" tIns="0" rIns="9144" bIns="0" anchor="ctr">
              <a:spAutoFit/>
            </a:bodyPr>
            <a:lstStyle/>
            <a:p>
              <a:pPr algn="l">
                <a:spcBef>
                  <a:spcPts val="0"/>
                </a:spcBef>
                <a:spcAft>
                  <a:spcPts val="0"/>
                </a:spcAft>
                <a:defRPr sz="1200" b="0">
                  <a:solidFill>
                    <a:srgbClr val="607080"/>
                  </a:solidFill>
                  <a:latin typeface="Noto Sans"/>
                </a:defRPr>
              </a:pPr>
              <a:r>
                <a:t>swap: ChainRef (PRT-ART's slot)</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presetID="1" presetClass="entr" presetSubtype="0" fill="hold" nodeType="clickEffect">
                            <p:stCondLst>
                              <p:cond delay="0"/>
                            </p:stCondLst>
                            <p:childTnLst>
                              <p:set>
                                <p:cBhvr>
                                  <p:cTn id="5" dur="1" fill="hold">
                                    <p:stCondLst>
                                      <p:cond delay="0"/>
                                    </p:stCondLst>
                                  </p:cTn>
                                  <p:tgtEl>
                                    <p:spTgt spid="42"/>
                                  </p:tgtEl>
                                  <p:attrNameLst>
                                    <p:attrName>style.visibility</p:attrName>
                                  </p:attrNameLst>
                                </p:cBhvr>
                                <p:to>
                                  <p:strVal val="visible"/>
                                </p:to>
                              </p:set>
                            </p:childTnLst>
                          </p:cTn>
                        </p:par>
                      </p:childTnLst>
                    </p:cTn>
                  </p:par>
                  <p:par>
                    <p:cTn id="6" fill="hold">
                      <p:stCondLst>
                        <p:cond delay="indefinite"/>
                      </p:stCondLst>
                      <p:childTnLst>
                        <p:par>
                          <p:cTn id="7" presetID="1" presetClass="entr" presetSubtype="0" fill="hold" nodeType="clickEffect">
                            <p:stCondLst>
                              <p:cond delay="0"/>
                            </p:stCondLst>
                            <p:childTnLst>
                              <p:set>
                                <p:cBhvr>
                                  <p:cTn id="8" dur="1" fill="hold">
                                    <p:stCondLst>
                                      <p:cond delay="0"/>
                                    </p:stCondLst>
                                  </p:cTn>
                                  <p:tgtEl>
                                    <p:spTgt spid="43"/>
                                  </p:tgtEl>
                                  <p:attrNameLst>
                                    <p:attrName>style.visibility</p:attrName>
                                  </p:attrNameLst>
                                </p:cBhvr>
                                <p:to>
                                  <p:strVal val="visible"/>
                                </p:to>
                              </p:se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83464" y="182880"/>
            <a:ext cx="7360920" cy="438912"/>
          </a:xfrm>
          <a:prstGeom prst="rect">
            <a:avLst/>
          </a:prstGeom>
          <a:noFill/>
        </p:spPr>
        <p:txBody>
          <a:bodyPr wrap="square" lIns="9144" tIns="0" rIns="9144" bIns="0" anchor="ctr">
            <a:spAutoFit/>
          </a:bodyPr>
          <a:lstStyle/>
          <a:p>
            <a:pPr algn="l">
              <a:spcBef>
                <a:spcPts val="0"/>
              </a:spcBef>
              <a:spcAft>
                <a:spcPts val="0"/>
              </a:spcAft>
              <a:defRPr sz="2400" b="1">
                <a:solidFill>
                  <a:srgbClr val="041447"/>
                </a:solidFill>
                <a:latin typeface="Noto Sans"/>
              </a:defRPr>
            </a:pPr>
            <a:r>
              <a:t>The same tree as its XML profile, verbatim</a:t>
            </a:r>
          </a:p>
        </p:txBody>
      </p:sp>
      <p:sp>
        <p:nvSpPr>
          <p:cNvPr id="3" name="Rectangle 2"/>
          <p:cNvSpPr/>
          <p:nvPr/>
        </p:nvSpPr>
        <p:spPr>
          <a:xfrm>
            <a:off x="310896" y="786384"/>
            <a:ext cx="1197864" cy="45720"/>
          </a:xfrm>
          <a:prstGeom prst="rect">
            <a:avLst/>
          </a:prstGeom>
          <a:solidFill>
            <a:srgbClr val="D2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10896" y="621792"/>
            <a:ext cx="1197864" cy="164592"/>
          </a:xfrm>
          <a:prstGeom prst="rect">
            <a:avLst/>
          </a:prstGeom>
          <a:noFill/>
        </p:spPr>
        <p:txBody>
          <a:bodyPr wrap="square" lIns="9144" tIns="0" rIns="9144" bIns="0" anchor="ctr">
            <a:spAutoFit/>
          </a:bodyPr>
          <a:lstStyle/>
          <a:p>
            <a:pPr algn="l">
              <a:spcBef>
                <a:spcPts val="0"/>
              </a:spcBef>
              <a:spcAft>
                <a:spcPts val="0"/>
              </a:spcAft>
              <a:defRPr sz="850" b="0">
                <a:solidFill>
                  <a:srgbClr val="607080"/>
                </a:solidFill>
                <a:latin typeface="Noto Sans"/>
              </a:defRPr>
            </a:pPr>
            <a:r>
              <a:t>1 Introduction</a:t>
            </a:r>
          </a:p>
        </p:txBody>
      </p:sp>
      <p:sp>
        <p:nvSpPr>
          <p:cNvPr id="5" name="Rectangle 4"/>
          <p:cNvSpPr/>
          <p:nvPr/>
        </p:nvSpPr>
        <p:spPr>
          <a:xfrm>
            <a:off x="1545336" y="786384"/>
            <a:ext cx="1243584" cy="45720"/>
          </a:xfrm>
          <a:prstGeom prst="rect">
            <a:avLst/>
          </a:prstGeom>
          <a:solidFill>
            <a:srgbClr val="D2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545336" y="621792"/>
            <a:ext cx="1243584" cy="164592"/>
          </a:xfrm>
          <a:prstGeom prst="rect">
            <a:avLst/>
          </a:prstGeom>
          <a:noFill/>
        </p:spPr>
        <p:txBody>
          <a:bodyPr wrap="square" lIns="9144" tIns="0" rIns="9144" bIns="0" anchor="ctr">
            <a:spAutoFit/>
          </a:bodyPr>
          <a:lstStyle/>
          <a:p>
            <a:pPr algn="l">
              <a:spcBef>
                <a:spcPts val="0"/>
              </a:spcBef>
              <a:spcAft>
                <a:spcPts val="0"/>
              </a:spcAft>
              <a:defRPr sz="850" b="0">
                <a:solidFill>
                  <a:srgbClr val="607080"/>
                </a:solidFill>
                <a:latin typeface="Noto Sans"/>
              </a:defRPr>
            </a:pPr>
            <a:r>
              <a:t>2 Background</a:t>
            </a:r>
          </a:p>
        </p:txBody>
      </p:sp>
      <p:sp>
        <p:nvSpPr>
          <p:cNvPr id="7" name="Rectangle 6"/>
          <p:cNvSpPr/>
          <p:nvPr/>
        </p:nvSpPr>
        <p:spPr>
          <a:xfrm>
            <a:off x="2825496" y="786384"/>
            <a:ext cx="1078992" cy="45720"/>
          </a:xfrm>
          <a:prstGeom prst="rect">
            <a:avLst/>
          </a:prstGeom>
          <a:solidFill>
            <a:srgbClr val="008A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2825496" y="621792"/>
            <a:ext cx="1078992" cy="164592"/>
          </a:xfrm>
          <a:prstGeom prst="rect">
            <a:avLst/>
          </a:prstGeom>
          <a:noFill/>
        </p:spPr>
        <p:txBody>
          <a:bodyPr wrap="square" lIns="9144" tIns="0" rIns="9144" bIns="0" anchor="ctr">
            <a:spAutoFit/>
          </a:bodyPr>
          <a:lstStyle/>
          <a:p>
            <a:pPr algn="l">
              <a:spcBef>
                <a:spcPts val="0"/>
              </a:spcBef>
              <a:spcAft>
                <a:spcPts val="0"/>
              </a:spcAft>
              <a:defRPr sz="850" b="1">
                <a:solidFill>
                  <a:srgbClr val="008A96"/>
                </a:solidFill>
                <a:latin typeface="Noto Sans"/>
              </a:defRPr>
            </a:pPr>
            <a:r>
              <a:t>3 Concept</a:t>
            </a:r>
          </a:p>
        </p:txBody>
      </p:sp>
      <p:sp>
        <p:nvSpPr>
          <p:cNvPr id="9" name="Rectangle 8"/>
          <p:cNvSpPr/>
          <p:nvPr/>
        </p:nvSpPr>
        <p:spPr>
          <a:xfrm>
            <a:off x="3941063" y="786384"/>
            <a:ext cx="1645920" cy="45720"/>
          </a:xfrm>
          <a:prstGeom prst="rect">
            <a:avLst/>
          </a:prstGeom>
          <a:solidFill>
            <a:srgbClr val="D2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941063" y="621792"/>
            <a:ext cx="1645920" cy="164592"/>
          </a:xfrm>
          <a:prstGeom prst="rect">
            <a:avLst/>
          </a:prstGeom>
          <a:noFill/>
        </p:spPr>
        <p:txBody>
          <a:bodyPr wrap="square" lIns="9144" tIns="0" rIns="9144" bIns="0" anchor="ctr">
            <a:spAutoFit/>
          </a:bodyPr>
          <a:lstStyle/>
          <a:p>
            <a:pPr algn="l">
              <a:spcBef>
                <a:spcPts val="0"/>
              </a:spcBef>
              <a:spcAft>
                <a:spcPts val="0"/>
              </a:spcAft>
              <a:defRPr sz="850" b="0">
                <a:solidFill>
                  <a:srgbClr val="607080"/>
                </a:solidFill>
                <a:latin typeface="Noto Sans"/>
              </a:defRPr>
            </a:pPr>
            <a:r>
              <a:t>4 Implementation</a:t>
            </a:r>
          </a:p>
        </p:txBody>
      </p:sp>
      <p:sp>
        <p:nvSpPr>
          <p:cNvPr id="11" name="Rectangle 10"/>
          <p:cNvSpPr/>
          <p:nvPr/>
        </p:nvSpPr>
        <p:spPr>
          <a:xfrm>
            <a:off x="5623559" y="786384"/>
            <a:ext cx="1252728" cy="45720"/>
          </a:xfrm>
          <a:prstGeom prst="rect">
            <a:avLst/>
          </a:prstGeom>
          <a:solidFill>
            <a:srgbClr val="D2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623559" y="621792"/>
            <a:ext cx="1252728" cy="164592"/>
          </a:xfrm>
          <a:prstGeom prst="rect">
            <a:avLst/>
          </a:prstGeom>
          <a:noFill/>
        </p:spPr>
        <p:txBody>
          <a:bodyPr wrap="square" lIns="9144" tIns="0" rIns="9144" bIns="0" anchor="ctr">
            <a:spAutoFit/>
          </a:bodyPr>
          <a:lstStyle/>
          <a:p>
            <a:pPr algn="l">
              <a:spcBef>
                <a:spcPts val="0"/>
              </a:spcBef>
              <a:spcAft>
                <a:spcPts val="0"/>
              </a:spcAft>
              <a:defRPr sz="850" b="0">
                <a:solidFill>
                  <a:srgbClr val="607080"/>
                </a:solidFill>
                <a:latin typeface="Noto Sans"/>
              </a:defRPr>
            </a:pPr>
            <a:r>
              <a:t>5 Evaluation</a:t>
            </a:r>
          </a:p>
        </p:txBody>
      </p:sp>
      <p:sp>
        <p:nvSpPr>
          <p:cNvPr id="13" name="Rectangle 12"/>
          <p:cNvSpPr/>
          <p:nvPr/>
        </p:nvSpPr>
        <p:spPr>
          <a:xfrm>
            <a:off x="6912864" y="786384"/>
            <a:ext cx="1216152" cy="45720"/>
          </a:xfrm>
          <a:prstGeom prst="rect">
            <a:avLst/>
          </a:prstGeom>
          <a:solidFill>
            <a:srgbClr val="D2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912864" y="621792"/>
            <a:ext cx="1216152" cy="164592"/>
          </a:xfrm>
          <a:prstGeom prst="rect">
            <a:avLst/>
          </a:prstGeom>
          <a:noFill/>
        </p:spPr>
        <p:txBody>
          <a:bodyPr wrap="square" lIns="9144" tIns="0" rIns="9144" bIns="0" anchor="ctr">
            <a:spAutoFit/>
          </a:bodyPr>
          <a:lstStyle/>
          <a:p>
            <a:pPr algn="l">
              <a:spcBef>
                <a:spcPts val="0"/>
              </a:spcBef>
              <a:spcAft>
                <a:spcPts val="0"/>
              </a:spcAft>
              <a:defRPr sz="850" b="0">
                <a:solidFill>
                  <a:srgbClr val="607080"/>
                </a:solidFill>
                <a:latin typeface="Noto Sans"/>
              </a:defRPr>
            </a:pPr>
            <a:r>
              <a:t>6 Conclusion</a:t>
            </a:r>
          </a:p>
        </p:txBody>
      </p:sp>
      <p:sp>
        <p:nvSpPr>
          <p:cNvPr id="15" name="TextBox 14"/>
          <p:cNvSpPr txBox="1"/>
          <p:nvPr/>
        </p:nvSpPr>
        <p:spPr>
          <a:xfrm>
            <a:off x="320040" y="4572000"/>
            <a:ext cx="8321040" cy="182880"/>
          </a:xfrm>
          <a:prstGeom prst="rect">
            <a:avLst/>
          </a:prstGeom>
          <a:noFill/>
        </p:spPr>
        <p:txBody>
          <a:bodyPr wrap="square" lIns="9144" tIns="0" rIns="9144" bIns="0" anchor="ctr">
            <a:spAutoFit/>
          </a:bodyPr>
          <a:lstStyle/>
          <a:p>
            <a:pPr algn="l">
              <a:spcBef>
                <a:spcPts val="0"/>
              </a:spcBef>
              <a:spcAft>
                <a:spcPts val="0"/>
              </a:spcAft>
              <a:defRPr sz="810" b="0">
                <a:solidFill>
                  <a:srgbClr val="607080"/>
                </a:solidFill>
                <a:latin typeface="Noto Sans"/>
              </a:defRPr>
            </a:pPr>
            <a:r>
              <a:t>ce libs/cache_engine/algorithm_profiles/sota/art.profile.xml, 28 lines verbatim (ce @57757fe3)  |  Assembly drawing: next slide</a:t>
            </a:r>
          </a:p>
        </p:txBody>
      </p:sp>
      <p:sp>
        <p:nvSpPr>
          <p:cNvPr id="16" name="TextBox 15"/>
          <p:cNvSpPr txBox="1"/>
          <p:nvPr/>
        </p:nvSpPr>
        <p:spPr>
          <a:xfrm>
            <a:off x="1234440" y="4873752"/>
            <a:ext cx="6766560" cy="164592"/>
          </a:xfrm>
          <a:prstGeom prst="rect">
            <a:avLst/>
          </a:prstGeom>
          <a:noFill/>
        </p:spPr>
        <p:txBody>
          <a:bodyPr wrap="square" lIns="9144" tIns="0" rIns="9144" bIns="0" anchor="ctr">
            <a:spAutoFit/>
          </a:bodyPr>
          <a:lstStyle/>
          <a:p>
            <a:pPr algn="l">
              <a:spcBef>
                <a:spcPts val="0"/>
              </a:spcBef>
              <a:spcAft>
                <a:spcPts val="0"/>
              </a:spcAft>
              <a:defRPr sz="830" b="0">
                <a:solidFill>
                  <a:srgbClr val="041447"/>
                </a:solidFill>
                <a:latin typeface="Noto Sans"/>
              </a:defRPr>
            </a:pPr>
            <a:r>
              <a:t>Benjamin-Elias Probst  |  Diploma thesis defense  |  28 September 2026</a:t>
            </a:r>
          </a:p>
        </p:txBody>
      </p:sp>
      <p:sp>
        <p:nvSpPr>
          <p:cNvPr id="17" name="TextBox 16"/>
          <p:cNvSpPr txBox="1"/>
          <p:nvPr/>
        </p:nvSpPr>
        <p:spPr>
          <a:xfrm>
            <a:off x="8412480" y="4864608"/>
            <a:ext cx="393192" cy="192024"/>
          </a:xfrm>
          <a:prstGeom prst="rect">
            <a:avLst/>
          </a:prstGeom>
          <a:noFill/>
        </p:spPr>
        <p:txBody>
          <a:bodyPr wrap="square" lIns="9144" tIns="0" rIns="9144" bIns="0" anchor="ctr">
            <a:spAutoFit/>
          </a:bodyPr>
          <a:lstStyle/>
          <a:p>
            <a:pPr algn="r">
              <a:spcBef>
                <a:spcPts val="0"/>
              </a:spcBef>
              <a:spcAft>
                <a:spcPts val="0"/>
              </a:spcAft>
              <a:defRPr sz="900" b="1">
                <a:solidFill>
                  <a:srgbClr val="041447"/>
                </a:solidFill>
                <a:latin typeface="Noto Sans"/>
              </a:defRPr>
            </a:pPr>
            <a:r>
              <a:t>10</a:t>
            </a:r>
          </a:p>
        </p:txBody>
      </p:sp>
      <p:grpSp>
        <p:nvGrpSpPr>
          <p:cNvPr id="32" name="PROFILE 1: art.profile.xml lines 1 to 14 and the reading key"/>
          <p:cNvGrpSpPr/>
          <p:nvPr/>
        </p:nvGrpSpPr>
        <p:grpSpPr>
          <a:xfrm>
            <a:off x="329184" y="870000"/>
            <a:ext cx="8458200" cy="3090000"/>
            <a:chOff x="329184" y="870000"/>
            <a:chExt cx="8458200" cy="3090000"/>
          </a:xfrm>
        </p:grpSpPr>
        <p:sp>
          <p:nvSpPr>
            <p:cNvPr id="18" name="Rounded Rectangle 17"/>
            <p:cNvSpPr/>
            <p:nvPr/>
          </p:nvSpPr>
          <p:spPr>
            <a:xfrm>
              <a:off x="329184" y="1480000"/>
              <a:ext cx="4183380" cy="2480000"/>
            </a:xfrm>
            <a:prstGeom prst="roundRect">
              <a:avLst>
                <a:gd name="adj" fmla="val 8000"/>
              </a:avLst>
            </a:prstGeom>
            <a:solidFill>
              <a:srgbClr val="EFF3F7"/>
            </a:solidFill>
            <a:ln w="10160">
              <a:solidFill>
                <a:srgbClr val="D2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329184" y="1480000"/>
              <a:ext cx="32004" cy="2480000"/>
            </a:xfrm>
            <a:prstGeom prst="rect">
              <a:avLst/>
            </a:prstGeom>
            <a:solidFill>
              <a:srgbClr val="3178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429768" y="1520000"/>
              <a:ext cx="4000499" cy="280000"/>
            </a:xfrm>
            <a:prstGeom prst="rect">
              <a:avLst/>
            </a:prstGeom>
            <a:noFill/>
          </p:spPr>
          <p:txBody>
            <a:bodyPr wrap="square" lIns="9144" tIns="0" rIns="9144" bIns="0" anchor="ctr">
              <a:spAutoFit/>
            </a:bodyPr>
            <a:lstStyle/>
            <a:p>
              <a:pPr algn="l">
                <a:spcBef>
                  <a:spcPts val="0"/>
                </a:spcBef>
                <a:spcAft>
                  <a:spcPts val="0"/>
                </a:spcAft>
                <a:defRPr sz="1550" b="1">
                  <a:solidFill>
                    <a:srgbClr val="3178B9"/>
                  </a:solidFill>
                  <a:latin typeface="Noto Sans"/>
                </a:defRPr>
              </a:pPr>
              <a:r>
                <a:t>art.profile.xml — lines 1–14</a:t>
              </a:r>
            </a:p>
          </p:txBody>
        </p:sp>
        <p:sp>
          <p:nvSpPr>
            <p:cNvPr id="21" name="TextBox 20"/>
            <p:cNvSpPr txBox="1"/>
            <p:nvPr/>
          </p:nvSpPr>
          <p:spPr>
            <a:xfrm>
              <a:off x="374904" y="1810000"/>
              <a:ext cx="4091940" cy="2130000"/>
            </a:xfrm>
            <a:prstGeom prst="rect">
              <a:avLst/>
            </a:prstGeom>
            <a:noFill/>
          </p:spPr>
          <p:txBody>
            <a:bodyPr wrap="none" lIns="45720" tIns="0" rIns="45720" bIns="0" anchor="ctr">
              <a:noAutofit/>
            </a:bodyPr>
            <a:lstStyle/>
            <a:p>
              <a:pPr algn="l">
                <a:spcBef>
                  <a:spcPts val="0"/>
                </a:spcBef>
                <a:spcAft>
                  <a:spcPts val="0"/>
                </a:spcAft>
                <a:defRPr sz="1000" b="0">
                  <a:solidFill>
                    <a:srgbClr val="192B43"/>
                  </a:solidFill>
                  <a:latin typeface="Consolas"/>
                </a:defRPr>
              </a:pPr>
              <a:r>
                <a:t>&lt;?xml version="1.0" encoding="UTF-8"?&gt;</a:t>
              </a:r>
            </a:p>
            <a:p>
              <a:pPr algn="l">
                <a:spcBef>
                  <a:spcPts val="0"/>
                </a:spcBef>
                <a:spcAft>
                  <a:spcPts val="0"/>
                </a:spcAft>
                <a:defRPr sz="1000" b="0">
                  <a:solidFill>
                    <a:srgbClr val="192B43"/>
                  </a:solidFill>
                  <a:latin typeface="Consolas"/>
                </a:defRPr>
              </a:pPr>
              <a:r>
                <a:t>&lt;comdare_algorithm_profile id="art" paper_ref="P01"&gt;</a:t>
              </a:r>
            </a:p>
            <a:p>
              <a:pPr algn="l">
                <a:spcBef>
                  <a:spcPts val="0"/>
                </a:spcBef>
                <a:spcAft>
                  <a:spcPts val="0"/>
                </a:spcAft>
                <a:defRPr sz="1000" b="0">
                  <a:solidFill>
                    <a:srgbClr val="192B43"/>
                  </a:solidFill>
                  <a:latin typeface="Consolas"/>
                </a:defRPr>
              </a:pPr>
              <a:r>
                <a:t>  &lt;metadata&gt;</a:t>
              </a:r>
            </a:p>
            <a:p>
              <a:pPr algn="l">
                <a:spcBef>
                  <a:spcPts val="0"/>
                </a:spcBef>
                <a:spcAft>
                  <a:spcPts val="0"/>
                </a:spcAft>
                <a:defRPr sz="1000" b="0">
                  <a:solidFill>
                    <a:srgbClr val="192B43"/>
                  </a:solidFill>
                  <a:latin typeface="Consolas"/>
                </a:defRPr>
              </a:pPr>
              <a:r>
                <a:t>    &lt;name&gt;Adaptive Radix Tree&lt;/name&gt;</a:t>
              </a:r>
            </a:p>
            <a:p>
              <a:pPr algn="l">
                <a:spcBef>
                  <a:spcPts val="0"/>
                </a:spcBef>
                <a:spcAft>
                  <a:spcPts val="0"/>
                </a:spcAft>
                <a:defRPr sz="1000" b="0">
                  <a:solidFill>
                    <a:srgbClr val="192B43"/>
                  </a:solidFill>
                  <a:latin typeface="Consolas"/>
                </a:defRPr>
              </a:pPr>
              <a:r>
                <a:t>    &lt;authors&gt;Leis, Kemper, Neumann&lt;/authors&gt;</a:t>
              </a:r>
            </a:p>
            <a:p>
              <a:pPr algn="l">
                <a:spcBef>
                  <a:spcPts val="0"/>
                </a:spcBef>
                <a:spcAft>
                  <a:spcPts val="0"/>
                </a:spcAft>
                <a:defRPr sz="1000" b="0">
                  <a:solidFill>
                    <a:srgbClr val="192B43"/>
                  </a:solidFill>
                  <a:latin typeface="Consolas"/>
                </a:defRPr>
              </a:pPr>
              <a:r>
                <a:t>    &lt;year&gt;2013&lt;/year&gt;</a:t>
              </a:r>
            </a:p>
            <a:p>
              <a:pPr algn="l">
                <a:spcBef>
                  <a:spcPts val="0"/>
                </a:spcBef>
                <a:spcAft>
                  <a:spcPts val="0"/>
                </a:spcAft>
                <a:defRPr sz="1000" b="0">
                  <a:solidFill>
                    <a:srgbClr val="192B43"/>
                  </a:solidFill>
                  <a:latin typeface="Consolas"/>
                </a:defRPr>
              </a:pPr>
              <a:r>
                <a:t>    &lt;venue&gt;ICDE&lt;/venue&gt;</a:t>
              </a:r>
            </a:p>
            <a:p>
              <a:pPr algn="l">
                <a:spcBef>
                  <a:spcPts val="0"/>
                </a:spcBef>
                <a:spcAft>
                  <a:spcPts val="0"/>
                </a:spcAft>
                <a:defRPr sz="1000" b="0">
                  <a:solidFill>
                    <a:srgbClr val="192B43"/>
                  </a:solidFill>
                  <a:latin typeface="Consolas"/>
                </a:defRPr>
              </a:pPr>
              <a:r>
                <a:t>    &lt;doi&gt;10.1109/ICDE.2013.6544812&lt;/doi&gt;</a:t>
              </a:r>
            </a:p>
            <a:p>
              <a:pPr algn="l">
                <a:spcBef>
                  <a:spcPts val="0"/>
                </a:spcBef>
                <a:spcAft>
                  <a:spcPts val="0"/>
                </a:spcAft>
                <a:defRPr sz="1000" b="0">
                  <a:solidFill>
                    <a:srgbClr val="192B43"/>
                  </a:solidFill>
                  <a:latin typeface="Consolas"/>
                </a:defRPr>
              </a:pPr>
              <a:r>
                <a:t>  &lt;/metadata&gt;</a:t>
              </a:r>
            </a:p>
            <a:p>
              <a:pPr algn="l">
                <a:spcBef>
                  <a:spcPts val="0"/>
                </a:spcBef>
                <a:spcAft>
                  <a:spcPts val="0"/>
                </a:spcAft>
                <a:defRPr sz="1000" b="0">
                  <a:solidFill>
                    <a:srgbClr val="192B43"/>
                  </a:solidFill>
                  <a:latin typeface="Consolas"/>
                </a:defRPr>
              </a:pPr>
              <a:r>
                <a:t>  &lt;axes&gt;</a:t>
              </a:r>
            </a:p>
            <a:p>
              <a:pPr algn="l">
                <a:spcBef>
                  <a:spcPts val="0"/>
                </a:spcBef>
                <a:spcAft>
                  <a:spcPts val="0"/>
                </a:spcAft>
                <a:defRPr sz="1000" b="0">
                  <a:solidFill>
                    <a:srgbClr val="192B43"/>
                  </a:solidFill>
                  <a:latin typeface="Consolas"/>
                </a:defRPr>
              </a:pPr>
              <a:r>
                <a:t>    &lt;page&gt;DENSEBYTE_ART256&lt;/page&gt;</a:t>
              </a:r>
            </a:p>
            <a:p>
              <a:pPr algn="l">
                <a:spcBef>
                  <a:spcPts val="0"/>
                </a:spcBef>
                <a:spcAft>
                  <a:spcPts val="0"/>
                </a:spcAft>
                <a:defRPr sz="1000" b="0">
                  <a:solidFill>
                    <a:srgbClr val="192B43"/>
                  </a:solidFill>
                  <a:latin typeface="Consolas"/>
                </a:defRPr>
              </a:pPr>
              <a:r>
                <a:t>    &lt;node&gt;SPARSE_NODE4_ART&lt;/node&gt;</a:t>
              </a:r>
            </a:p>
            <a:p>
              <a:pPr algn="l">
                <a:spcBef>
                  <a:spcPts val="0"/>
                </a:spcBef>
                <a:spcAft>
                  <a:spcPts val="0"/>
                </a:spcAft>
                <a:defRPr sz="1000" b="0">
                  <a:solidFill>
                    <a:srgbClr val="192B43"/>
                  </a:solidFill>
                  <a:latin typeface="Consolas"/>
                </a:defRPr>
              </a:pPr>
              <a:r>
                <a:t>    &lt;traversal&gt;STANDARD&lt;/traversal&gt;</a:t>
              </a:r>
            </a:p>
            <a:p>
              <a:pPr algn="l">
                <a:spcBef>
                  <a:spcPts val="0"/>
                </a:spcBef>
                <a:spcAft>
                  <a:spcPts val="0"/>
                </a:spcAft>
                <a:defRPr sz="1000" b="0">
                  <a:solidFill>
                    <a:srgbClr val="192B43"/>
                  </a:solidFill>
                  <a:latin typeface="Consolas"/>
                </a:defRPr>
              </a:pPr>
              <a:r>
                <a:t>    &lt;value_handle&gt;EXTERNAL&lt;/value_handle&gt;</a:t>
              </a:r>
            </a:p>
          </p:txBody>
        </p:sp>
        <p:sp>
          <p:nvSpPr>
            <p:cNvPr id="26" name="Rounded Rectangle 25"/>
            <p:cNvSpPr/>
            <p:nvPr/>
          </p:nvSpPr>
          <p:spPr>
            <a:xfrm>
              <a:off x="329184" y="870000"/>
              <a:ext cx="8458200" cy="560000"/>
            </a:xfrm>
            <a:prstGeom prst="roundRect">
              <a:avLst>
                <a:gd name="adj" fmla="val 8000"/>
              </a:avLst>
            </a:prstGeom>
            <a:solidFill>
              <a:srgbClr val="EFF3F7"/>
            </a:solidFill>
            <a:ln w="10160">
              <a:solidFill>
                <a:srgbClr val="D2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329184" y="870000"/>
              <a:ext cx="32004" cy="560000"/>
            </a:xfrm>
            <a:prstGeom prst="rect">
              <a:avLst/>
            </a:prstGeom>
            <a:solidFill>
              <a:srgbClr val="7458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411480" y="900000"/>
              <a:ext cx="820000" cy="500000"/>
            </a:xfrm>
            <a:prstGeom prst="rect">
              <a:avLst/>
            </a:prstGeom>
            <a:noFill/>
          </p:spPr>
          <p:txBody>
            <a:bodyPr wrap="square" lIns="9144" tIns="0" rIns="9144" bIns="0" anchor="ctr">
              <a:spAutoFit/>
            </a:bodyPr>
            <a:lstStyle/>
            <a:p>
              <a:pPr algn="l">
                <a:spcBef>
                  <a:spcPts val="0"/>
                </a:spcBef>
                <a:spcAft>
                  <a:spcPts val="0"/>
                </a:spcAft>
                <a:defRPr sz="1050" b="1">
                  <a:solidFill>
                    <a:srgbClr val="74589E"/>
                  </a:solidFill>
                  <a:latin typeface="Noto Sans"/>
                </a:defRPr>
              </a:pPr>
              <a:r>
                <a:t>How to</a:t>
              </a:r>
            </a:p>
            <a:p>
              <a:pPr algn="l">
                <a:spcBef>
                  <a:spcPts val="0"/>
                </a:spcBef>
                <a:spcAft>
                  <a:spcPts val="0"/>
                </a:spcAft>
                <a:defRPr sz="1050" b="1">
                  <a:solidFill>
                    <a:srgbClr val="74589E"/>
                  </a:solidFill>
                  <a:latin typeface="Noto Sans"/>
                </a:defRPr>
              </a:pPr>
              <a:r>
                <a:t>read it</a:t>
              </a:r>
            </a:p>
          </p:txBody>
        </p:sp>
        <p:sp>
          <p:nvSpPr>
            <p:cNvPr id="29" name="TextBox 28"/>
            <p:cNvSpPr txBox="1"/>
            <p:nvPr/>
          </p:nvSpPr>
          <p:spPr>
            <a:xfrm>
              <a:off x="1249184" y="890000"/>
              <a:ext cx="7478200" cy="520000"/>
            </a:xfrm>
            <a:prstGeom prst="rect">
              <a:avLst/>
            </a:prstGeom>
            <a:noFill/>
          </p:spPr>
          <p:txBody>
            <a:bodyPr wrap="square" lIns="9144" tIns="0" rIns="9144" bIns="0" anchor="ctr">
              <a:spAutoFit/>
            </a:bodyPr>
            <a:lstStyle/>
            <a:p>
              <a:pPr algn="l">
                <a:spcBef>
                  <a:spcPts val="0"/>
                </a:spcBef>
                <a:spcAft>
                  <a:spcPts val="0"/>
                </a:spcAft>
                <a:defRPr sz="1000" b="0">
                  <a:solidFill>
                    <a:srgbClr val="192B43"/>
                  </a:solidFill>
                  <a:latin typeface="Noto Sans"/>
                </a:defRPr>
              </a:pPr>
              <a:r>
                <a:t>id + paper_ref: identity and provenance (wired)  ·  &lt;metadata&gt;: the paper (Leis, Kemper, Neumann, ICDE 2013)</a:t>
              </a:r>
            </a:p>
            <a:p>
              <a:pPr algn="l">
                <a:spcBef>
                  <a:spcPts val="0"/>
                </a:spcBef>
                <a:spcAft>
                  <a:spcPts val="0"/>
                </a:spcAft>
                <a:defRPr sz="1000" b="0">
                  <a:solidFill>
                    <a:srgbClr val="192B43"/>
                  </a:solidFill>
                  <a:latin typeface="Noto Sans"/>
                </a:defRPr>
              </a:pPr>
              <a:r>
                <a:t>&lt;axes&gt;: the organs, one value per axis (historical eleven-axis form; 18 organ axes today)</a:t>
              </a:r>
            </a:p>
            <a:p>
              <a:pPr algn="l">
                <a:spcBef>
                  <a:spcPts val="0"/>
                </a:spcBef>
                <a:spcAft>
                  <a:spcPts val="0"/>
                </a:spcAft>
                <a:defRPr sz="1000" b="0">
                  <a:solidFill>
                    <a:srgbClr val="192B43"/>
                  </a:solidFill>
                  <a:latin typeface="Noto Sans"/>
                </a:defRPr>
              </a:pPr>
              <a:r>
                <a:t>&lt;key_value_signature&gt;: the contract to serve · &lt;expected_workload&gt;: what the design was made for</a:t>
              </a:r>
            </a:p>
          </p:txBody>
        </p:sp>
      </p:grpSp>
      <p:grpSp>
        <p:nvGrpSpPr>
          <p:cNvPr id="33" name="PROFILE 2: art.profile.xml lines 15 to 28"/>
          <p:cNvGrpSpPr/>
          <p:nvPr/>
        </p:nvGrpSpPr>
        <p:grpSpPr>
          <a:xfrm>
            <a:off x="4604004" y="1480000"/>
            <a:ext cx="4183380" cy="2480000"/>
            <a:chOff x="4604004" y="1480000"/>
            <a:chExt cx="4183380" cy="2480000"/>
          </a:xfrm>
        </p:grpSpPr>
        <p:sp>
          <p:nvSpPr>
            <p:cNvPr id="22" name="Rounded Rectangle 21"/>
            <p:cNvSpPr/>
            <p:nvPr/>
          </p:nvSpPr>
          <p:spPr>
            <a:xfrm>
              <a:off x="4604004" y="1480000"/>
              <a:ext cx="4183380" cy="2480000"/>
            </a:xfrm>
            <a:prstGeom prst="roundRect">
              <a:avLst>
                <a:gd name="adj" fmla="val 8000"/>
              </a:avLst>
            </a:prstGeom>
            <a:solidFill>
              <a:srgbClr val="EFF3F7"/>
            </a:solidFill>
            <a:ln w="10160">
              <a:solidFill>
                <a:srgbClr val="D2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4604004" y="1480000"/>
              <a:ext cx="32004" cy="2480000"/>
            </a:xfrm>
            <a:prstGeom prst="rect">
              <a:avLst/>
            </a:prstGeom>
            <a:solidFill>
              <a:srgbClr val="008A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4704588" y="1520000"/>
              <a:ext cx="4000499" cy="280000"/>
            </a:xfrm>
            <a:prstGeom prst="rect">
              <a:avLst/>
            </a:prstGeom>
            <a:noFill/>
          </p:spPr>
          <p:txBody>
            <a:bodyPr wrap="square" lIns="9144" tIns="0" rIns="9144" bIns="0" anchor="ctr">
              <a:spAutoFit/>
            </a:bodyPr>
            <a:lstStyle/>
            <a:p>
              <a:pPr algn="l">
                <a:spcBef>
                  <a:spcPts val="0"/>
                </a:spcBef>
                <a:spcAft>
                  <a:spcPts val="0"/>
                </a:spcAft>
                <a:defRPr sz="1550" b="1">
                  <a:solidFill>
                    <a:srgbClr val="008A96"/>
                  </a:solidFill>
                  <a:latin typeface="Noto Sans"/>
                </a:defRPr>
              </a:pPr>
              <a:r>
                <a:t>lines 15–28</a:t>
              </a:r>
            </a:p>
          </p:txBody>
        </p:sp>
        <p:sp>
          <p:nvSpPr>
            <p:cNvPr id="25" name="TextBox 24"/>
            <p:cNvSpPr txBox="1"/>
            <p:nvPr/>
          </p:nvSpPr>
          <p:spPr>
            <a:xfrm>
              <a:off x="4649724" y="1810000"/>
              <a:ext cx="4091940" cy="2130000"/>
            </a:xfrm>
            <a:prstGeom prst="rect">
              <a:avLst/>
            </a:prstGeom>
            <a:noFill/>
          </p:spPr>
          <p:txBody>
            <a:bodyPr wrap="none" lIns="45720" tIns="0" rIns="45720" bIns="0" anchor="ctr">
              <a:noAutofit/>
            </a:bodyPr>
            <a:lstStyle/>
            <a:p>
              <a:pPr algn="l">
                <a:spcBef>
                  <a:spcPts val="0"/>
                </a:spcBef>
                <a:spcAft>
                  <a:spcPts val="0"/>
                </a:spcAft>
                <a:defRPr sz="1000" b="0">
                  <a:solidFill>
                    <a:srgbClr val="192B43"/>
                  </a:solidFill>
                  <a:latin typeface="Consolas"/>
                </a:defRPr>
              </a:pPr>
              <a:r>
                <a:t>    &lt;concurrency&gt;OPTIMISTIC_LOCK_COUPLING&lt;/concurrency&gt;</a:t>
              </a:r>
            </a:p>
            <a:p>
              <a:pPr algn="l">
                <a:spcBef>
                  <a:spcPts val="0"/>
                </a:spcBef>
                <a:spcAft>
                  <a:spcPts val="0"/>
                </a:spcAft>
                <a:defRPr sz="1000" b="0">
                  <a:solidFill>
                    <a:srgbClr val="192B43"/>
                  </a:solidFill>
                  <a:latin typeface="Consolas"/>
                </a:defRPr>
              </a:pPr>
              <a:r>
                <a:t>    &lt;allocator&gt;MIMALLOC&lt;/allocator&gt;</a:t>
              </a:r>
            </a:p>
            <a:p>
              <a:pPr algn="l">
                <a:spcBef>
                  <a:spcPts val="0"/>
                </a:spcBef>
                <a:spcAft>
                  <a:spcPts val="0"/>
                </a:spcAft>
                <a:defRPr sz="1000" b="0">
                  <a:solidFill>
                    <a:srgbClr val="192B43"/>
                  </a:solidFill>
                  <a:latin typeface="Consolas"/>
                </a:defRPr>
              </a:pPr>
              <a:r>
                <a:t>    &lt;prefetch&gt;NONE&lt;/prefetch&gt;</a:t>
              </a:r>
            </a:p>
            <a:p>
              <a:pPr algn="l">
                <a:spcBef>
                  <a:spcPts val="0"/>
                </a:spcBef>
                <a:spcAft>
                  <a:spcPts val="0"/>
                </a:spcAft>
                <a:defRPr sz="1000" b="0">
                  <a:solidFill>
                    <a:srgbClr val="192B43"/>
                  </a:solidFill>
                  <a:latin typeface="Consolas"/>
                </a:defRPr>
              </a:pPr>
              <a:r>
                <a:t>    &lt;telemetry&gt;OFF&lt;/telemetry&gt;</a:t>
              </a:r>
            </a:p>
            <a:p>
              <a:pPr algn="l">
                <a:spcBef>
                  <a:spcPts val="0"/>
                </a:spcBef>
                <a:spcAft>
                  <a:spcPts val="0"/>
                </a:spcAft>
                <a:defRPr sz="1000" b="0">
                  <a:solidFill>
                    <a:srgbClr val="192B43"/>
                  </a:solidFill>
                  <a:latin typeface="Consolas"/>
                </a:defRPr>
              </a:pPr>
              <a:r>
                <a:t>    &lt;isa&gt;X86_AVX2&lt;/isa&gt;</a:t>
              </a:r>
            </a:p>
            <a:p>
              <a:pPr algn="l">
                <a:spcBef>
                  <a:spcPts val="0"/>
                </a:spcBef>
                <a:spcAft>
                  <a:spcPts val="0"/>
                </a:spcAft>
                <a:defRPr sz="1000" b="0">
                  <a:solidFill>
                    <a:srgbClr val="192B43"/>
                  </a:solidFill>
                  <a:latin typeface="Consolas"/>
                </a:defRPr>
              </a:pPr>
              <a:r>
                <a:t>    &lt;layout&gt;CACHE_LINE_ALIGNED&lt;/layout&gt;</a:t>
              </a:r>
            </a:p>
            <a:p>
              <a:pPr algn="l">
                <a:spcBef>
                  <a:spcPts val="0"/>
                </a:spcBef>
                <a:spcAft>
                  <a:spcPts val="0"/>
                </a:spcAft>
                <a:defRPr sz="1000" b="0">
                  <a:solidFill>
                    <a:srgbClr val="192B43"/>
                  </a:solidFill>
                  <a:latin typeface="Consolas"/>
                </a:defRPr>
              </a:pPr>
              <a:r>
                <a:t>    &lt;reclamation&gt;NONE&lt;/reclamation&gt;</a:t>
              </a:r>
            </a:p>
            <a:p>
              <a:pPr algn="l">
                <a:spcBef>
                  <a:spcPts val="0"/>
                </a:spcBef>
                <a:spcAft>
                  <a:spcPts val="0"/>
                </a:spcAft>
                <a:defRPr sz="1000" b="0">
                  <a:solidFill>
                    <a:srgbClr val="192B43"/>
                  </a:solidFill>
                  <a:latin typeface="Consolas"/>
                </a:defRPr>
              </a:pPr>
              <a:r>
                <a:t>  &lt;/axes&gt;</a:t>
              </a:r>
            </a:p>
            <a:p>
              <a:pPr algn="l">
                <a:spcBef>
                  <a:spcPts val="0"/>
                </a:spcBef>
                <a:spcAft>
                  <a:spcPts val="0"/>
                </a:spcAft>
                <a:defRPr sz="1000" b="0">
                  <a:solidFill>
                    <a:srgbClr val="192B43"/>
                  </a:solidFill>
                  <a:latin typeface="Consolas"/>
                </a:defRPr>
              </a:pPr>
              <a:r>
                <a:t>  &lt;key_value_signature&gt;</a:t>
              </a:r>
            </a:p>
            <a:p>
              <a:pPr algn="l">
                <a:spcBef>
                  <a:spcPts val="0"/>
                </a:spcBef>
                <a:spcAft>
                  <a:spcPts val="0"/>
                </a:spcAft>
                <a:defRPr sz="1000" b="0">
                  <a:solidFill>
                    <a:srgbClr val="192B43"/>
                  </a:solidFill>
                  <a:latin typeface="Consolas"/>
                </a:defRPr>
              </a:pPr>
              <a:r>
                <a:t>    &lt;key_types&gt;std::uint64_t&lt;/key_types&gt;</a:t>
              </a:r>
            </a:p>
            <a:p>
              <a:pPr algn="l">
                <a:spcBef>
                  <a:spcPts val="0"/>
                </a:spcBef>
                <a:spcAft>
                  <a:spcPts val="0"/>
                </a:spcAft>
                <a:defRPr sz="1000" b="0">
                  <a:solidFill>
                    <a:srgbClr val="192B43"/>
                  </a:solidFill>
                  <a:latin typeface="Consolas"/>
                </a:defRPr>
              </a:pPr>
              <a:r>
                <a:t>    &lt;value_types&gt;std::string&lt;/value_types&gt;</a:t>
              </a:r>
            </a:p>
            <a:p>
              <a:pPr algn="l">
                <a:spcBef>
                  <a:spcPts val="0"/>
                </a:spcBef>
                <a:spcAft>
                  <a:spcPts val="0"/>
                </a:spcAft>
                <a:defRPr sz="1000" b="0">
                  <a:solidFill>
                    <a:srgbClr val="192B43"/>
                  </a:solidFill>
                  <a:latin typeface="Consolas"/>
                </a:defRPr>
              </a:pPr>
              <a:r>
                <a:t>  &lt;/key_value_signature&gt;</a:t>
              </a:r>
            </a:p>
            <a:p>
              <a:pPr algn="l">
                <a:spcBef>
                  <a:spcPts val="0"/>
                </a:spcBef>
                <a:spcAft>
                  <a:spcPts val="0"/>
                </a:spcAft>
                <a:defRPr sz="1000" b="0">
                  <a:solidFill>
                    <a:srgbClr val="192B43"/>
                  </a:solidFill>
                  <a:latin typeface="Consolas"/>
                </a:defRPr>
              </a:pPr>
              <a:r>
                <a:t>  &lt;expected_workload&gt;YCSB_C&lt;/expected_workload&gt;</a:t>
              </a:r>
            </a:p>
            <a:p>
              <a:pPr algn="l">
                <a:spcBef>
                  <a:spcPts val="0"/>
                </a:spcBef>
                <a:spcAft>
                  <a:spcPts val="0"/>
                </a:spcAft>
                <a:defRPr sz="1000" b="0">
                  <a:solidFill>
                    <a:srgbClr val="192B43"/>
                  </a:solidFill>
                  <a:latin typeface="Consolas"/>
                </a:defRPr>
              </a:pPr>
              <a:r>
                <a:t>&lt;/comdare_algorithm_profile&gt;</a:t>
              </a:r>
            </a:p>
          </p:txBody>
        </p:sp>
      </p:grpSp>
      <p:sp>
        <p:nvSpPr>
          <p:cNvPr id="30" name="Rectangle 29"/>
          <p:cNvSpPr/>
          <p:nvPr/>
        </p:nvSpPr>
        <p:spPr>
          <a:xfrm>
            <a:off x="329184" y="4096512"/>
            <a:ext cx="8458200" cy="356616"/>
          </a:xfrm>
          <a:prstGeom prst="rect">
            <a:avLst/>
          </a:prstGeom>
          <a:solidFill>
            <a:srgbClr val="0414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438912" y="4123944"/>
            <a:ext cx="8211312" cy="292608"/>
          </a:xfrm>
          <a:prstGeom prst="rect">
            <a:avLst/>
          </a:prstGeom>
          <a:noFill/>
        </p:spPr>
        <p:txBody>
          <a:bodyPr wrap="square" lIns="9144" tIns="0" rIns="9144" bIns="0" anchor="ctr">
            <a:spAutoFit/>
          </a:bodyPr>
          <a:lstStyle/>
          <a:p>
            <a:pPr algn="l">
              <a:spcBef>
                <a:spcPts val="0"/>
              </a:spcBef>
              <a:spcAft>
                <a:spcPts val="0"/>
              </a:spcAft>
              <a:defRPr sz="1050" b="1">
                <a:solidFill>
                  <a:srgbClr val="FFFFFF"/>
                </a:solidFill>
                <a:latin typeface="Noto Sans"/>
              </a:defRPr>
            </a:pPr>
            <a:r>
              <a:t>One profile = one candidate. An experiment file names the axes to permute; the planner does the rest.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presetID="1" presetClass="entr" presetSubtype="0" fill="hold" nodeType="clickEffect">
                            <p:stCondLst>
                              <p:cond delay="0"/>
                            </p:stCondLst>
                            <p:childTnLst>
                              <p:set>
                                <p:cBhvr>
                                  <p:cTn id="5" dur="1" fill="hold">
                                    <p:stCondLst>
                                      <p:cond delay="0"/>
                                    </p:stCondLst>
                                  </p:cTn>
                                  <p:tgtEl>
                                    <p:spTgt spid="32"/>
                                  </p:tgtEl>
                                  <p:attrNameLst>
                                    <p:attrName>style.visibility</p:attrName>
                                  </p:attrNameLst>
                                </p:cBhvr>
                                <p:to>
                                  <p:strVal val="visible"/>
                                </p:to>
                              </p:set>
                            </p:childTnLst>
                          </p:cTn>
                        </p:par>
                      </p:childTnLst>
                    </p:cTn>
                  </p:par>
                  <p:par>
                    <p:cTn id="6" fill="hold">
                      <p:stCondLst>
                        <p:cond delay="indefinite"/>
                      </p:stCondLst>
                      <p:childTnLst>
                        <p:par>
                          <p:cTn id="7" presetID="1" presetClass="entr" presetSubtype="0" fill="hold" nodeType="clickEffect">
                            <p:stCondLst>
                              <p:cond delay="0"/>
                            </p:stCondLst>
                            <p:childTnLst>
                              <p:set>
                                <p:cBhvr>
                                  <p:cTn id="8" dur="1" fill="hold">
                                    <p:stCondLst>
                                      <p:cond delay="0"/>
                                    </p:stCondLst>
                                  </p:cTn>
                                  <p:tgtEl>
                                    <p:spTgt spid="33"/>
                                  </p:tgtEl>
                                  <p:attrNameLst>
                                    <p:attrName>style.visibility</p:attrName>
                                  </p:attrNameLst>
                                </p:cBhvr>
                                <p:to>
                                  <p:strVal val="visible"/>
                                </p:to>
                              </p:se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83464" y="182880"/>
            <a:ext cx="7360920" cy="438912"/>
          </a:xfrm>
          <a:prstGeom prst="rect">
            <a:avLst/>
          </a:prstGeom>
          <a:noFill/>
        </p:spPr>
        <p:txBody>
          <a:bodyPr wrap="square" lIns="9144" tIns="0" rIns="9144" bIns="0" anchor="ctr">
            <a:spAutoFit/>
          </a:bodyPr>
          <a:lstStyle/>
          <a:p>
            <a:pPr algn="l">
              <a:spcBef>
                <a:spcPts val="0"/>
              </a:spcBef>
              <a:spcAft>
                <a:spcPts val="0"/>
              </a:spcAft>
              <a:defRPr sz="2400" b="1">
                <a:solidFill>
                  <a:srgbClr val="041447"/>
                </a:solidFill>
                <a:latin typeface="Noto Sans"/>
              </a:defRPr>
            </a:pPr>
            <a:r>
              <a:t>The profile binds the pieces of the anatomy</a:t>
            </a:r>
          </a:p>
        </p:txBody>
      </p:sp>
      <p:sp>
        <p:nvSpPr>
          <p:cNvPr id="3" name="Rectangle 2"/>
          <p:cNvSpPr/>
          <p:nvPr/>
        </p:nvSpPr>
        <p:spPr>
          <a:xfrm>
            <a:off x="310896" y="786384"/>
            <a:ext cx="1197864" cy="45720"/>
          </a:xfrm>
          <a:prstGeom prst="rect">
            <a:avLst/>
          </a:prstGeom>
          <a:solidFill>
            <a:srgbClr val="D2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10896" y="621792"/>
            <a:ext cx="1197864" cy="164592"/>
          </a:xfrm>
          <a:prstGeom prst="rect">
            <a:avLst/>
          </a:prstGeom>
          <a:noFill/>
        </p:spPr>
        <p:txBody>
          <a:bodyPr wrap="square" lIns="9144" tIns="0" rIns="9144" bIns="0" anchor="ctr">
            <a:spAutoFit/>
          </a:bodyPr>
          <a:lstStyle/>
          <a:p>
            <a:pPr algn="l">
              <a:spcBef>
                <a:spcPts val="0"/>
              </a:spcBef>
              <a:spcAft>
                <a:spcPts val="0"/>
              </a:spcAft>
              <a:defRPr sz="850" b="0">
                <a:solidFill>
                  <a:srgbClr val="607080"/>
                </a:solidFill>
                <a:latin typeface="Noto Sans"/>
              </a:defRPr>
            </a:pPr>
            <a:r>
              <a:t>1 Introduction</a:t>
            </a:r>
          </a:p>
        </p:txBody>
      </p:sp>
      <p:sp>
        <p:nvSpPr>
          <p:cNvPr id="5" name="Rectangle 4"/>
          <p:cNvSpPr/>
          <p:nvPr/>
        </p:nvSpPr>
        <p:spPr>
          <a:xfrm>
            <a:off x="1545336" y="786384"/>
            <a:ext cx="1243584" cy="45720"/>
          </a:xfrm>
          <a:prstGeom prst="rect">
            <a:avLst/>
          </a:prstGeom>
          <a:solidFill>
            <a:srgbClr val="D2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545336" y="621792"/>
            <a:ext cx="1243584" cy="164592"/>
          </a:xfrm>
          <a:prstGeom prst="rect">
            <a:avLst/>
          </a:prstGeom>
          <a:noFill/>
        </p:spPr>
        <p:txBody>
          <a:bodyPr wrap="square" lIns="9144" tIns="0" rIns="9144" bIns="0" anchor="ctr">
            <a:spAutoFit/>
          </a:bodyPr>
          <a:lstStyle/>
          <a:p>
            <a:pPr algn="l">
              <a:spcBef>
                <a:spcPts val="0"/>
              </a:spcBef>
              <a:spcAft>
                <a:spcPts val="0"/>
              </a:spcAft>
              <a:defRPr sz="850" b="0">
                <a:solidFill>
                  <a:srgbClr val="607080"/>
                </a:solidFill>
                <a:latin typeface="Noto Sans"/>
              </a:defRPr>
            </a:pPr>
            <a:r>
              <a:t>2 Background</a:t>
            </a:r>
          </a:p>
        </p:txBody>
      </p:sp>
      <p:sp>
        <p:nvSpPr>
          <p:cNvPr id="7" name="Rectangle 6"/>
          <p:cNvSpPr/>
          <p:nvPr/>
        </p:nvSpPr>
        <p:spPr>
          <a:xfrm>
            <a:off x="2825496" y="786384"/>
            <a:ext cx="1078992" cy="45720"/>
          </a:xfrm>
          <a:prstGeom prst="rect">
            <a:avLst/>
          </a:prstGeom>
          <a:solidFill>
            <a:srgbClr val="D2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2825496" y="621792"/>
            <a:ext cx="1078992" cy="164592"/>
          </a:xfrm>
          <a:prstGeom prst="rect">
            <a:avLst/>
          </a:prstGeom>
          <a:noFill/>
        </p:spPr>
        <p:txBody>
          <a:bodyPr wrap="square" lIns="9144" tIns="0" rIns="9144" bIns="0" anchor="ctr">
            <a:spAutoFit/>
          </a:bodyPr>
          <a:lstStyle/>
          <a:p>
            <a:pPr algn="l">
              <a:spcBef>
                <a:spcPts val="0"/>
              </a:spcBef>
              <a:spcAft>
                <a:spcPts val="0"/>
              </a:spcAft>
              <a:defRPr sz="850" b="0">
                <a:solidFill>
                  <a:srgbClr val="607080"/>
                </a:solidFill>
                <a:latin typeface="Noto Sans"/>
              </a:defRPr>
            </a:pPr>
            <a:r>
              <a:t>3 Concept</a:t>
            </a:r>
          </a:p>
        </p:txBody>
      </p:sp>
      <p:sp>
        <p:nvSpPr>
          <p:cNvPr id="9" name="Rectangle 8"/>
          <p:cNvSpPr/>
          <p:nvPr/>
        </p:nvSpPr>
        <p:spPr>
          <a:xfrm>
            <a:off x="3941063" y="786384"/>
            <a:ext cx="1645920" cy="45720"/>
          </a:xfrm>
          <a:prstGeom prst="rect">
            <a:avLst/>
          </a:prstGeom>
          <a:solidFill>
            <a:srgbClr val="008A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941063" y="621792"/>
            <a:ext cx="1645920" cy="164592"/>
          </a:xfrm>
          <a:prstGeom prst="rect">
            <a:avLst/>
          </a:prstGeom>
          <a:noFill/>
        </p:spPr>
        <p:txBody>
          <a:bodyPr wrap="square" lIns="9144" tIns="0" rIns="9144" bIns="0" anchor="ctr">
            <a:spAutoFit/>
          </a:bodyPr>
          <a:lstStyle/>
          <a:p>
            <a:pPr algn="l">
              <a:spcBef>
                <a:spcPts val="0"/>
              </a:spcBef>
              <a:spcAft>
                <a:spcPts val="0"/>
              </a:spcAft>
              <a:defRPr sz="850" b="1">
                <a:solidFill>
                  <a:srgbClr val="008A96"/>
                </a:solidFill>
                <a:latin typeface="Noto Sans"/>
              </a:defRPr>
            </a:pPr>
            <a:r>
              <a:t>4 Implementation</a:t>
            </a:r>
          </a:p>
        </p:txBody>
      </p:sp>
      <p:sp>
        <p:nvSpPr>
          <p:cNvPr id="11" name="Rectangle 10"/>
          <p:cNvSpPr/>
          <p:nvPr/>
        </p:nvSpPr>
        <p:spPr>
          <a:xfrm>
            <a:off x="5623559" y="786384"/>
            <a:ext cx="1252728" cy="45720"/>
          </a:xfrm>
          <a:prstGeom prst="rect">
            <a:avLst/>
          </a:prstGeom>
          <a:solidFill>
            <a:srgbClr val="D2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623559" y="621792"/>
            <a:ext cx="1252728" cy="164592"/>
          </a:xfrm>
          <a:prstGeom prst="rect">
            <a:avLst/>
          </a:prstGeom>
          <a:noFill/>
        </p:spPr>
        <p:txBody>
          <a:bodyPr wrap="square" lIns="9144" tIns="0" rIns="9144" bIns="0" anchor="ctr">
            <a:spAutoFit/>
          </a:bodyPr>
          <a:lstStyle/>
          <a:p>
            <a:pPr algn="l">
              <a:spcBef>
                <a:spcPts val="0"/>
              </a:spcBef>
              <a:spcAft>
                <a:spcPts val="0"/>
              </a:spcAft>
              <a:defRPr sz="850" b="0">
                <a:solidFill>
                  <a:srgbClr val="607080"/>
                </a:solidFill>
                <a:latin typeface="Noto Sans"/>
              </a:defRPr>
            </a:pPr>
            <a:r>
              <a:t>5 Evaluation</a:t>
            </a:r>
          </a:p>
        </p:txBody>
      </p:sp>
      <p:sp>
        <p:nvSpPr>
          <p:cNvPr id="13" name="Rectangle 12"/>
          <p:cNvSpPr/>
          <p:nvPr/>
        </p:nvSpPr>
        <p:spPr>
          <a:xfrm>
            <a:off x="6912864" y="786384"/>
            <a:ext cx="1216152" cy="45720"/>
          </a:xfrm>
          <a:prstGeom prst="rect">
            <a:avLst/>
          </a:prstGeom>
          <a:solidFill>
            <a:srgbClr val="D2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912864" y="621792"/>
            <a:ext cx="1216152" cy="164592"/>
          </a:xfrm>
          <a:prstGeom prst="rect">
            <a:avLst/>
          </a:prstGeom>
          <a:noFill/>
        </p:spPr>
        <p:txBody>
          <a:bodyPr wrap="square" lIns="9144" tIns="0" rIns="9144" bIns="0" anchor="ctr">
            <a:spAutoFit/>
          </a:bodyPr>
          <a:lstStyle/>
          <a:p>
            <a:pPr algn="l">
              <a:spcBef>
                <a:spcPts val="0"/>
              </a:spcBef>
              <a:spcAft>
                <a:spcPts val="0"/>
              </a:spcAft>
              <a:defRPr sz="850" b="0">
                <a:solidFill>
                  <a:srgbClr val="607080"/>
                </a:solidFill>
                <a:latin typeface="Noto Sans"/>
              </a:defRPr>
            </a:pPr>
            <a:r>
              <a:t>6 Conclusion</a:t>
            </a:r>
          </a:p>
        </p:txBody>
      </p:sp>
      <p:sp>
        <p:nvSpPr>
          <p:cNvPr id="15" name="TextBox 14"/>
          <p:cNvSpPr txBox="1"/>
          <p:nvPr/>
        </p:nvSpPr>
        <p:spPr>
          <a:xfrm>
            <a:off x="320040" y="4572000"/>
            <a:ext cx="8321040" cy="182880"/>
          </a:xfrm>
          <a:prstGeom prst="rect">
            <a:avLst/>
          </a:prstGeom>
          <a:noFill/>
        </p:spPr>
        <p:txBody>
          <a:bodyPr wrap="square" lIns="9144" tIns="0" rIns="9144" bIns="0" anchor="ctr">
            <a:spAutoFit/>
          </a:bodyPr>
          <a:lstStyle/>
          <a:p>
            <a:pPr algn="l">
              <a:spcBef>
                <a:spcPts val="0"/>
              </a:spcBef>
              <a:spcAft>
                <a:spcPts val="0"/>
              </a:spcAft>
              <a:defRPr sz="810" b="0">
                <a:solidFill>
                  <a:srgbClr val="607080"/>
                </a:solidFill>
                <a:latin typeface="Noto Sans"/>
              </a:defRPr>
            </a:pPr>
            <a:r>
              <a:t>Repository art.profile.xml: selected fields  |  Assembly drawing: thesis §3.3.1 / §4.1</a:t>
            </a:r>
          </a:p>
        </p:txBody>
      </p:sp>
      <p:sp>
        <p:nvSpPr>
          <p:cNvPr id="16" name="TextBox 15"/>
          <p:cNvSpPr txBox="1"/>
          <p:nvPr/>
        </p:nvSpPr>
        <p:spPr>
          <a:xfrm>
            <a:off x="1234440" y="4873752"/>
            <a:ext cx="6766560" cy="164592"/>
          </a:xfrm>
          <a:prstGeom prst="rect">
            <a:avLst/>
          </a:prstGeom>
          <a:noFill/>
        </p:spPr>
        <p:txBody>
          <a:bodyPr wrap="square" lIns="9144" tIns="0" rIns="9144" bIns="0" anchor="ctr">
            <a:spAutoFit/>
          </a:bodyPr>
          <a:lstStyle/>
          <a:p>
            <a:pPr algn="l">
              <a:spcBef>
                <a:spcPts val="0"/>
              </a:spcBef>
              <a:spcAft>
                <a:spcPts val="0"/>
              </a:spcAft>
              <a:defRPr sz="830" b="0">
                <a:solidFill>
                  <a:srgbClr val="041447"/>
                </a:solidFill>
                <a:latin typeface="Noto Sans"/>
              </a:defRPr>
            </a:pPr>
            <a:r>
              <a:t>Benjamin-Elias Probst  |  Diploma thesis defense  |  28 September 2026</a:t>
            </a:r>
          </a:p>
        </p:txBody>
      </p:sp>
      <p:sp>
        <p:nvSpPr>
          <p:cNvPr id="17" name="TextBox 16"/>
          <p:cNvSpPr txBox="1"/>
          <p:nvPr/>
        </p:nvSpPr>
        <p:spPr>
          <a:xfrm>
            <a:off x="8412480" y="4864608"/>
            <a:ext cx="393192" cy="192024"/>
          </a:xfrm>
          <a:prstGeom prst="rect">
            <a:avLst/>
          </a:prstGeom>
          <a:noFill/>
        </p:spPr>
        <p:txBody>
          <a:bodyPr wrap="square" lIns="9144" tIns="0" rIns="9144" bIns="0" anchor="ctr">
            <a:spAutoFit/>
          </a:bodyPr>
          <a:lstStyle/>
          <a:p>
            <a:pPr algn="r">
              <a:spcBef>
                <a:spcPts val="0"/>
              </a:spcBef>
              <a:spcAft>
                <a:spcPts val="0"/>
              </a:spcAft>
              <a:defRPr sz="900" b="1">
                <a:solidFill>
                  <a:srgbClr val="041447"/>
                </a:solidFill>
                <a:latin typeface="Noto Sans"/>
              </a:defRPr>
            </a:pPr>
            <a:r>
              <a:t>11</a:t>
            </a:r>
          </a:p>
        </p:txBody>
      </p:sp>
      <p:sp>
        <p:nvSpPr>
          <p:cNvPr id="18" name="TextBox 17"/>
          <p:cNvSpPr txBox="1"/>
          <p:nvPr/>
        </p:nvSpPr>
        <p:spPr>
          <a:xfrm>
            <a:off x="420624" y="1005840"/>
            <a:ext cx="4846320" cy="228600"/>
          </a:xfrm>
          <a:prstGeom prst="rect">
            <a:avLst/>
          </a:prstGeom>
          <a:noFill/>
        </p:spPr>
        <p:txBody>
          <a:bodyPr wrap="square" lIns="22860" tIns="0" rIns="22860" bIns="0" anchor="ctr">
            <a:noAutofit/>
          </a:bodyPr>
          <a:lstStyle/>
          <a:p>
            <a:pPr algn="l">
              <a:lnSpc>
                <a:spcPct val="108000"/>
              </a:lnSpc>
              <a:spcBef>
                <a:spcPts val="0"/>
              </a:spcBef>
              <a:spcAft>
                <a:spcPts val="0"/>
              </a:spcAft>
            </a:pPr>
            <a:r>
              <a:rPr sz="1060" b="1">
                <a:solidFill>
                  <a:srgbClr val="041447"/>
                </a:solidFill>
                <a:latin typeface="Noto Sans"/>
              </a:rPr>
              <a:t>PERSISTED PROFILE  ·  SELECTED-FIELD EXTRACT</a:t>
            </a:r>
          </a:p>
        </p:txBody>
      </p:sp>
      <p:sp>
        <p:nvSpPr>
          <p:cNvPr id="19" name="Rounded Rectangle 18"/>
          <p:cNvSpPr/>
          <p:nvPr/>
        </p:nvSpPr>
        <p:spPr>
          <a:xfrm>
            <a:off x="420624" y="1362456"/>
            <a:ext cx="4892040" cy="2496312"/>
          </a:xfrm>
          <a:prstGeom prst="roundRect">
            <a:avLst>
              <a:gd name="adj" fmla="val 6000"/>
            </a:avLst>
          </a:prstGeom>
          <a:solidFill>
            <a:srgbClr val="F5F7FA"/>
          </a:solidFill>
          <a:ln w="11430">
            <a:solidFill>
              <a:srgbClr val="D4DEE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576072" y="1517904"/>
            <a:ext cx="4590288" cy="228600"/>
          </a:xfrm>
          <a:prstGeom prst="rect">
            <a:avLst/>
          </a:prstGeom>
          <a:noFill/>
        </p:spPr>
        <p:txBody>
          <a:bodyPr wrap="square" lIns="22860" tIns="0" rIns="22860" bIns="0" anchor="ctr">
            <a:noAutofit/>
          </a:bodyPr>
          <a:lstStyle/>
          <a:p>
            <a:pPr algn="l">
              <a:lnSpc>
                <a:spcPct val="108000"/>
              </a:lnSpc>
              <a:spcBef>
                <a:spcPts val="0"/>
              </a:spcBef>
              <a:spcAft>
                <a:spcPts val="0"/>
              </a:spcAft>
            </a:pPr>
            <a:r>
              <a:rPr sz="1110" b="0">
                <a:solidFill>
                  <a:srgbClr val="23364B"/>
                </a:solidFill>
                <a:latin typeface="DejaVu Sans Mono"/>
              </a:rPr>
              <a:t>&lt;comdare_algorithm_profile</a:t>
            </a:r>
          </a:p>
        </p:txBody>
      </p:sp>
      <p:sp>
        <p:nvSpPr>
          <p:cNvPr id="21" name="TextBox 20"/>
          <p:cNvSpPr txBox="1"/>
          <p:nvPr/>
        </p:nvSpPr>
        <p:spPr>
          <a:xfrm>
            <a:off x="576072" y="1747418"/>
            <a:ext cx="4590288" cy="228600"/>
          </a:xfrm>
          <a:prstGeom prst="rect">
            <a:avLst/>
          </a:prstGeom>
          <a:noFill/>
        </p:spPr>
        <p:txBody>
          <a:bodyPr wrap="square" lIns="22860" tIns="0" rIns="22860" bIns="0" anchor="ctr">
            <a:noAutofit/>
          </a:bodyPr>
          <a:lstStyle/>
          <a:p>
            <a:pPr algn="l">
              <a:lnSpc>
                <a:spcPct val="108000"/>
              </a:lnSpc>
              <a:spcBef>
                <a:spcPts val="0"/>
              </a:spcBef>
              <a:spcAft>
                <a:spcPts val="0"/>
              </a:spcAft>
            </a:pPr>
            <a:r>
              <a:rPr sz="1110" b="0">
                <a:solidFill>
                  <a:srgbClr val="23364B"/>
                </a:solidFill>
                <a:latin typeface="DejaVu Sans Mono"/>
              </a:rPr>
              <a:t>    id="art" paper_ref="P01"&gt;</a:t>
            </a:r>
          </a:p>
        </p:txBody>
      </p:sp>
      <p:sp>
        <p:nvSpPr>
          <p:cNvPr id="22" name="TextBox 21"/>
          <p:cNvSpPr txBox="1"/>
          <p:nvPr/>
        </p:nvSpPr>
        <p:spPr>
          <a:xfrm>
            <a:off x="576072" y="1976932"/>
            <a:ext cx="4590288" cy="228600"/>
          </a:xfrm>
          <a:prstGeom prst="rect">
            <a:avLst/>
          </a:prstGeom>
          <a:noFill/>
        </p:spPr>
        <p:txBody>
          <a:bodyPr wrap="square" lIns="22860" tIns="0" rIns="22860" bIns="0" anchor="ctr">
            <a:noAutofit/>
          </a:bodyPr>
          <a:lstStyle/>
          <a:p>
            <a:pPr algn="l">
              <a:lnSpc>
                <a:spcPct val="108000"/>
              </a:lnSpc>
              <a:spcBef>
                <a:spcPts val="0"/>
              </a:spcBef>
              <a:spcAft>
                <a:spcPts val="0"/>
              </a:spcAft>
            </a:pPr>
            <a:r>
              <a:rPr sz="1110" b="0">
                <a:solidFill>
                  <a:srgbClr val="23364B"/>
                </a:solidFill>
                <a:latin typeface="DejaVu Sans Mono"/>
              </a:rPr>
              <a:t>  &lt;axes&gt;</a:t>
            </a:r>
          </a:p>
        </p:txBody>
      </p:sp>
      <p:sp>
        <p:nvSpPr>
          <p:cNvPr id="23" name="TextBox 22"/>
          <p:cNvSpPr txBox="1"/>
          <p:nvPr/>
        </p:nvSpPr>
        <p:spPr>
          <a:xfrm>
            <a:off x="576072" y="2206447"/>
            <a:ext cx="4590288" cy="228600"/>
          </a:xfrm>
          <a:prstGeom prst="rect">
            <a:avLst/>
          </a:prstGeom>
          <a:noFill/>
        </p:spPr>
        <p:txBody>
          <a:bodyPr wrap="square" lIns="22860" tIns="0" rIns="22860" bIns="0" anchor="ctr">
            <a:noAutofit/>
          </a:bodyPr>
          <a:lstStyle/>
          <a:p>
            <a:pPr algn="l">
              <a:lnSpc>
                <a:spcPct val="108000"/>
              </a:lnSpc>
              <a:spcBef>
                <a:spcPts val="0"/>
              </a:spcBef>
              <a:spcAft>
                <a:spcPts val="0"/>
              </a:spcAft>
            </a:pPr>
            <a:r>
              <a:rPr sz="1110" b="1">
                <a:solidFill>
                  <a:srgbClr val="3468AA"/>
                </a:solidFill>
                <a:latin typeface="DejaVu Sans Mono"/>
              </a:rPr>
              <a:t>    &lt;node&gt;SPARSE_NODE4_ART&lt;/node&gt;</a:t>
            </a:r>
          </a:p>
        </p:txBody>
      </p:sp>
      <p:sp>
        <p:nvSpPr>
          <p:cNvPr id="24" name="TextBox 23"/>
          <p:cNvSpPr txBox="1"/>
          <p:nvPr/>
        </p:nvSpPr>
        <p:spPr>
          <a:xfrm>
            <a:off x="576072" y="2435961"/>
            <a:ext cx="4590288" cy="228600"/>
          </a:xfrm>
          <a:prstGeom prst="rect">
            <a:avLst/>
          </a:prstGeom>
          <a:noFill/>
        </p:spPr>
        <p:txBody>
          <a:bodyPr wrap="square" lIns="22860" tIns="0" rIns="22860" bIns="0" anchor="ctr">
            <a:noAutofit/>
          </a:bodyPr>
          <a:lstStyle/>
          <a:p>
            <a:pPr algn="l">
              <a:lnSpc>
                <a:spcPct val="108000"/>
              </a:lnSpc>
              <a:spcBef>
                <a:spcPts val="0"/>
              </a:spcBef>
              <a:spcAft>
                <a:spcPts val="0"/>
              </a:spcAft>
            </a:pPr>
            <a:r>
              <a:rPr sz="1110" b="1">
                <a:solidFill>
                  <a:srgbClr val="00878C"/>
                </a:solidFill>
                <a:latin typeface="DejaVu Sans Mono"/>
              </a:rPr>
              <a:t>    &lt;layout&gt;CACHE_LINE_ALIGNED&lt;/layout&gt;</a:t>
            </a:r>
          </a:p>
        </p:txBody>
      </p:sp>
      <p:sp>
        <p:nvSpPr>
          <p:cNvPr id="25" name="TextBox 24"/>
          <p:cNvSpPr txBox="1"/>
          <p:nvPr/>
        </p:nvSpPr>
        <p:spPr>
          <a:xfrm>
            <a:off x="576072" y="2665476"/>
            <a:ext cx="4590288" cy="228600"/>
          </a:xfrm>
          <a:prstGeom prst="rect">
            <a:avLst/>
          </a:prstGeom>
          <a:noFill/>
        </p:spPr>
        <p:txBody>
          <a:bodyPr wrap="square" lIns="22860" tIns="0" rIns="22860" bIns="0" anchor="ctr">
            <a:noAutofit/>
          </a:bodyPr>
          <a:lstStyle/>
          <a:p>
            <a:pPr algn="l">
              <a:lnSpc>
                <a:spcPct val="108000"/>
              </a:lnSpc>
              <a:spcBef>
                <a:spcPts val="0"/>
              </a:spcBef>
              <a:spcAft>
                <a:spcPts val="0"/>
              </a:spcAft>
            </a:pPr>
            <a:r>
              <a:rPr sz="1110" b="1">
                <a:solidFill>
                  <a:srgbClr val="AD731A"/>
                </a:solidFill>
                <a:latin typeface="DejaVu Sans Mono"/>
              </a:rPr>
              <a:t>    &lt;allocator&gt;MIMALLOC&lt;/allocator&gt;</a:t>
            </a:r>
          </a:p>
        </p:txBody>
      </p:sp>
      <p:sp>
        <p:nvSpPr>
          <p:cNvPr id="26" name="TextBox 25"/>
          <p:cNvSpPr txBox="1"/>
          <p:nvPr/>
        </p:nvSpPr>
        <p:spPr>
          <a:xfrm>
            <a:off x="576072" y="2894990"/>
            <a:ext cx="4590288" cy="228600"/>
          </a:xfrm>
          <a:prstGeom prst="rect">
            <a:avLst/>
          </a:prstGeom>
          <a:noFill/>
        </p:spPr>
        <p:txBody>
          <a:bodyPr wrap="square" lIns="22860" tIns="0" rIns="22860" bIns="0" anchor="ctr">
            <a:noAutofit/>
          </a:bodyPr>
          <a:lstStyle/>
          <a:p>
            <a:pPr algn="l">
              <a:lnSpc>
                <a:spcPct val="108000"/>
              </a:lnSpc>
              <a:spcBef>
                <a:spcPts val="0"/>
              </a:spcBef>
              <a:spcAft>
                <a:spcPts val="0"/>
              </a:spcAft>
            </a:pPr>
            <a:r>
              <a:rPr sz="1110" b="0">
                <a:solidFill>
                  <a:srgbClr val="657487"/>
                </a:solidFill>
                <a:latin typeface="DejaVu Sans Mono"/>
              </a:rPr>
              <a:t>    &lt;!-- other fields omitted --&gt;</a:t>
            </a:r>
          </a:p>
        </p:txBody>
      </p:sp>
      <p:sp>
        <p:nvSpPr>
          <p:cNvPr id="27" name="TextBox 26"/>
          <p:cNvSpPr txBox="1"/>
          <p:nvPr/>
        </p:nvSpPr>
        <p:spPr>
          <a:xfrm>
            <a:off x="576072" y="3124504"/>
            <a:ext cx="4590288" cy="228600"/>
          </a:xfrm>
          <a:prstGeom prst="rect">
            <a:avLst/>
          </a:prstGeom>
          <a:noFill/>
        </p:spPr>
        <p:txBody>
          <a:bodyPr wrap="square" lIns="22860" tIns="0" rIns="22860" bIns="0" anchor="ctr">
            <a:noAutofit/>
          </a:bodyPr>
          <a:lstStyle/>
          <a:p>
            <a:pPr algn="l">
              <a:lnSpc>
                <a:spcPct val="108000"/>
              </a:lnSpc>
              <a:spcBef>
                <a:spcPts val="0"/>
              </a:spcBef>
              <a:spcAft>
                <a:spcPts val="0"/>
              </a:spcAft>
            </a:pPr>
            <a:r>
              <a:rPr sz="1110" b="0">
                <a:solidFill>
                  <a:srgbClr val="23364B"/>
                </a:solidFill>
                <a:latin typeface="DejaVu Sans Mono"/>
              </a:rPr>
              <a:t>  &lt;/axes&gt;</a:t>
            </a:r>
          </a:p>
        </p:txBody>
      </p:sp>
      <p:sp>
        <p:nvSpPr>
          <p:cNvPr id="28" name="TextBox 27"/>
          <p:cNvSpPr txBox="1"/>
          <p:nvPr/>
        </p:nvSpPr>
        <p:spPr>
          <a:xfrm>
            <a:off x="576072" y="3354019"/>
            <a:ext cx="4590288" cy="228600"/>
          </a:xfrm>
          <a:prstGeom prst="rect">
            <a:avLst/>
          </a:prstGeom>
          <a:noFill/>
        </p:spPr>
        <p:txBody>
          <a:bodyPr wrap="square" lIns="22860" tIns="0" rIns="22860" bIns="0" anchor="ctr">
            <a:noAutofit/>
          </a:bodyPr>
          <a:lstStyle/>
          <a:p>
            <a:pPr algn="l">
              <a:lnSpc>
                <a:spcPct val="108000"/>
              </a:lnSpc>
              <a:spcBef>
                <a:spcPts val="0"/>
              </a:spcBef>
              <a:spcAft>
                <a:spcPts val="0"/>
              </a:spcAft>
            </a:pPr>
            <a:r>
              <a:rPr sz="1110" b="0">
                <a:solidFill>
                  <a:srgbClr val="23364B"/>
                </a:solidFill>
                <a:latin typeface="DejaVu Sans Mono"/>
              </a:rPr>
              <a:t>&lt;/comdare_algorithm_profile&gt;</a:t>
            </a:r>
          </a:p>
        </p:txBody>
      </p:sp>
      <p:sp>
        <p:nvSpPr>
          <p:cNvPr id="29" name="TextBox 28"/>
          <p:cNvSpPr txBox="1"/>
          <p:nvPr/>
        </p:nvSpPr>
        <p:spPr>
          <a:xfrm>
            <a:off x="5650992" y="1005840"/>
            <a:ext cx="3072384" cy="228600"/>
          </a:xfrm>
          <a:prstGeom prst="rect">
            <a:avLst/>
          </a:prstGeom>
          <a:noFill/>
        </p:spPr>
        <p:txBody>
          <a:bodyPr wrap="square" lIns="22860" tIns="0" rIns="22860" bIns="0" anchor="ctr">
            <a:noAutofit/>
          </a:bodyPr>
          <a:lstStyle/>
          <a:p>
            <a:pPr algn="l">
              <a:lnSpc>
                <a:spcPct val="108000"/>
              </a:lnSpc>
              <a:spcBef>
                <a:spcPts val="0"/>
              </a:spcBef>
              <a:spcAft>
                <a:spcPts val="0"/>
              </a:spcAft>
            </a:pPr>
            <a:r>
              <a:rPr sz="1060" b="1">
                <a:solidFill>
                  <a:srgbClr val="041447"/>
                </a:solidFill>
                <a:latin typeface="Noto Sans"/>
              </a:rPr>
              <a:t>COMPOSE → WIRE → COMPILE</a:t>
            </a:r>
          </a:p>
        </p:txBody>
      </p:sp>
      <p:grpSp>
        <p:nvGrpSpPr>
          <p:cNvPr id="42" name="BINDING: XML values instantiate the same storage organ"/>
          <p:cNvGrpSpPr/>
          <p:nvPr/>
        </p:nvGrpSpPr>
        <p:grpSpPr>
          <a:xfrm>
            <a:off x="5330952" y="1362456"/>
            <a:ext cx="3364992" cy="1097280"/>
            <a:chOff x="5330952" y="1362456"/>
            <a:chExt cx="3364992" cy="1097280"/>
          </a:xfrm>
        </p:grpSpPr>
        <p:sp>
          <p:nvSpPr>
            <p:cNvPr id="30" name="Rounded Rectangle 29"/>
            <p:cNvSpPr/>
            <p:nvPr/>
          </p:nvSpPr>
          <p:spPr>
            <a:xfrm>
              <a:off x="5650992" y="1362456"/>
              <a:ext cx="3044952" cy="1097280"/>
            </a:xfrm>
            <a:prstGeom prst="roundRect">
              <a:avLst>
                <a:gd name="adj" fmla="val 6000"/>
              </a:avLst>
            </a:prstGeom>
            <a:solidFill>
              <a:srgbClr val="F1F5F8"/>
            </a:solidFill>
            <a:ln w="11430">
              <a:solidFill>
                <a:srgbClr val="04144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5760720" y="1444752"/>
              <a:ext cx="2816352" cy="237744"/>
            </a:xfrm>
            <a:prstGeom prst="rect">
              <a:avLst/>
            </a:prstGeom>
            <a:noFill/>
          </p:spPr>
          <p:txBody>
            <a:bodyPr wrap="square" lIns="22860" tIns="0" rIns="22860" bIns="0" anchor="ctr">
              <a:noAutofit/>
            </a:bodyPr>
            <a:lstStyle/>
            <a:p>
              <a:pPr algn="ctr">
                <a:lnSpc>
                  <a:spcPct val="108000"/>
                </a:lnSpc>
                <a:spcBef>
                  <a:spcPts val="0"/>
                </a:spcBef>
                <a:spcAft>
                  <a:spcPts val="0"/>
                </a:spcAft>
              </a:pPr>
              <a:r>
                <a:rPr sz="1340" b="1">
                  <a:solidFill>
                    <a:srgbClr val="041447"/>
                  </a:solidFill>
                  <a:latin typeface="Noto Sans"/>
                </a:rPr>
                <a:t>The same storage organ</a:t>
              </a:r>
            </a:p>
          </p:txBody>
        </p:sp>
        <p:sp>
          <p:nvSpPr>
            <p:cNvPr id="32" name="Freeform 31"/>
            <p:cNvSpPr/>
            <p:nvPr/>
          </p:nvSpPr>
          <p:spPr>
            <a:xfrm>
              <a:off x="5907024" y="1810512"/>
              <a:ext cx="899770" cy="475488"/>
            </a:xfrm>
            <a:custGeom>
              <a:avLst/>
              <a:gdLst/>
              <a:ahLst/>
              <a:cxnLst/>
              <a:rect l="l" t="t" r="r" b="b"/>
              <a:pathLst>
                <a:path w="984" h="520">
                  <a:moveTo>
                    <a:pt x="0" y="0"/>
                  </a:moveTo>
                  <a:lnTo>
                    <a:pt x="917" y="0"/>
                  </a:lnTo>
                  <a:lnTo>
                    <a:pt x="917" y="218"/>
                  </a:lnTo>
                  <a:lnTo>
                    <a:pt x="932" y="227"/>
                  </a:lnTo>
                  <a:lnTo>
                    <a:pt x="946" y="235"/>
                  </a:lnTo>
                  <a:lnTo>
                    <a:pt x="959" y="243"/>
                  </a:lnTo>
                  <a:lnTo>
                    <a:pt x="970" y="251"/>
                  </a:lnTo>
                  <a:lnTo>
                    <a:pt x="978" y="259"/>
                  </a:lnTo>
                  <a:lnTo>
                    <a:pt x="983" y="267"/>
                  </a:lnTo>
                  <a:lnTo>
                    <a:pt x="984" y="276"/>
                  </a:lnTo>
                  <a:lnTo>
                    <a:pt x="983" y="284"/>
                  </a:lnTo>
                  <a:lnTo>
                    <a:pt x="978" y="292"/>
                  </a:lnTo>
                  <a:lnTo>
                    <a:pt x="970" y="300"/>
                  </a:lnTo>
                  <a:lnTo>
                    <a:pt x="959" y="308"/>
                  </a:lnTo>
                  <a:lnTo>
                    <a:pt x="946" y="316"/>
                  </a:lnTo>
                  <a:lnTo>
                    <a:pt x="932" y="325"/>
                  </a:lnTo>
                  <a:lnTo>
                    <a:pt x="917" y="333"/>
                  </a:lnTo>
                  <a:lnTo>
                    <a:pt x="917" y="520"/>
                  </a:lnTo>
                  <a:lnTo>
                    <a:pt x="0" y="520"/>
                  </a:lnTo>
                  <a:lnTo>
                    <a:pt x="0" y="333"/>
                  </a:lnTo>
                  <a:lnTo>
                    <a:pt x="0" y="0"/>
                  </a:lnTo>
                  <a:close/>
                </a:path>
              </a:pathLst>
            </a:custGeom>
            <a:solidFill>
              <a:srgbClr val="3468AA"/>
            </a:solidFill>
            <a:ln w="1651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5989320" y="1851660"/>
              <a:ext cx="710184" cy="123626"/>
            </a:xfrm>
            <a:prstGeom prst="rect">
              <a:avLst/>
            </a:prstGeom>
            <a:noFill/>
          </p:spPr>
          <p:txBody>
            <a:bodyPr wrap="square" lIns="22860" tIns="0" rIns="22860" bIns="0" anchor="ctr">
              <a:noAutofit/>
            </a:bodyPr>
            <a:lstStyle/>
            <a:p>
              <a:pPr algn="ctr">
                <a:lnSpc>
                  <a:spcPct val="108000"/>
                </a:lnSpc>
                <a:spcBef>
                  <a:spcPts val="0"/>
                </a:spcBef>
                <a:spcAft>
                  <a:spcPts val="0"/>
                </a:spcAft>
              </a:pPr>
              <a:r>
                <a:rPr sz="1050" b="1">
                  <a:solidFill>
                    <a:srgbClr val="FFFFFF"/>
                  </a:solidFill>
                  <a:latin typeface="Noto Sans"/>
                </a:rPr>
                <a:t>T4</a:t>
              </a:r>
            </a:p>
          </p:txBody>
        </p:sp>
        <p:sp>
          <p:nvSpPr>
            <p:cNvPr id="34" name="TextBox 33"/>
            <p:cNvSpPr txBox="1"/>
            <p:nvPr/>
          </p:nvSpPr>
          <p:spPr>
            <a:xfrm>
              <a:off x="5948172" y="1972177"/>
              <a:ext cx="769620" cy="209214"/>
            </a:xfrm>
            <a:prstGeom prst="rect">
              <a:avLst/>
            </a:prstGeom>
            <a:noFill/>
          </p:spPr>
          <p:txBody>
            <a:bodyPr wrap="square" lIns="22860" tIns="0" rIns="22860" bIns="0" anchor="ctr">
              <a:noAutofit/>
            </a:bodyPr>
            <a:lstStyle/>
            <a:p>
              <a:pPr algn="ctr">
                <a:lnSpc>
                  <a:spcPct val="108000"/>
                </a:lnSpc>
                <a:spcBef>
                  <a:spcPts val="0"/>
                </a:spcBef>
                <a:spcAft>
                  <a:spcPts val="0"/>
                </a:spcAft>
              </a:pPr>
              <a:r>
                <a:rPr sz="950" b="1">
                  <a:solidFill>
                    <a:srgbClr val="FFFFFF"/>
                  </a:solidFill>
                  <a:latin typeface="Noto Sans"/>
                </a:rPr>
                <a:t>Node4</a:t>
              </a:r>
            </a:p>
          </p:txBody>
        </p:sp>
        <p:sp>
          <p:nvSpPr>
            <p:cNvPr id="35" name="Freeform 34"/>
            <p:cNvSpPr/>
            <p:nvPr/>
          </p:nvSpPr>
          <p:spPr>
            <a:xfrm>
              <a:off x="6745224" y="1810512"/>
              <a:ext cx="899770" cy="475488"/>
            </a:xfrm>
            <a:custGeom>
              <a:avLst/>
              <a:gdLst/>
              <a:ahLst/>
              <a:cxnLst/>
              <a:rect l="l" t="t" r="r" b="b"/>
              <a:pathLst>
                <a:path w="984" h="520">
                  <a:moveTo>
                    <a:pt x="0" y="0"/>
                  </a:moveTo>
                  <a:lnTo>
                    <a:pt x="917" y="0"/>
                  </a:lnTo>
                  <a:lnTo>
                    <a:pt x="917" y="218"/>
                  </a:lnTo>
                  <a:lnTo>
                    <a:pt x="932" y="227"/>
                  </a:lnTo>
                  <a:lnTo>
                    <a:pt x="946" y="235"/>
                  </a:lnTo>
                  <a:lnTo>
                    <a:pt x="959" y="243"/>
                  </a:lnTo>
                  <a:lnTo>
                    <a:pt x="970" y="251"/>
                  </a:lnTo>
                  <a:lnTo>
                    <a:pt x="978" y="259"/>
                  </a:lnTo>
                  <a:lnTo>
                    <a:pt x="983" y="267"/>
                  </a:lnTo>
                  <a:lnTo>
                    <a:pt x="984" y="276"/>
                  </a:lnTo>
                  <a:lnTo>
                    <a:pt x="983" y="284"/>
                  </a:lnTo>
                  <a:lnTo>
                    <a:pt x="978" y="292"/>
                  </a:lnTo>
                  <a:lnTo>
                    <a:pt x="970" y="300"/>
                  </a:lnTo>
                  <a:lnTo>
                    <a:pt x="959" y="308"/>
                  </a:lnTo>
                  <a:lnTo>
                    <a:pt x="946" y="316"/>
                  </a:lnTo>
                  <a:lnTo>
                    <a:pt x="932" y="325"/>
                  </a:lnTo>
                  <a:lnTo>
                    <a:pt x="917" y="333"/>
                  </a:lnTo>
                  <a:lnTo>
                    <a:pt x="917" y="520"/>
                  </a:lnTo>
                  <a:lnTo>
                    <a:pt x="0" y="520"/>
                  </a:lnTo>
                  <a:lnTo>
                    <a:pt x="0" y="333"/>
                  </a:lnTo>
                  <a:lnTo>
                    <a:pt x="15" y="325"/>
                  </a:lnTo>
                  <a:lnTo>
                    <a:pt x="29" y="316"/>
                  </a:lnTo>
                  <a:lnTo>
                    <a:pt x="42" y="308"/>
                  </a:lnTo>
                  <a:lnTo>
                    <a:pt x="53" y="300"/>
                  </a:lnTo>
                  <a:lnTo>
                    <a:pt x="61" y="292"/>
                  </a:lnTo>
                  <a:lnTo>
                    <a:pt x="66" y="284"/>
                  </a:lnTo>
                  <a:lnTo>
                    <a:pt x="68" y="276"/>
                  </a:lnTo>
                  <a:lnTo>
                    <a:pt x="66" y="267"/>
                  </a:lnTo>
                  <a:lnTo>
                    <a:pt x="61" y="259"/>
                  </a:lnTo>
                  <a:lnTo>
                    <a:pt x="53" y="251"/>
                  </a:lnTo>
                  <a:lnTo>
                    <a:pt x="42" y="243"/>
                  </a:lnTo>
                  <a:lnTo>
                    <a:pt x="29" y="235"/>
                  </a:lnTo>
                  <a:lnTo>
                    <a:pt x="15" y="227"/>
                  </a:lnTo>
                  <a:lnTo>
                    <a:pt x="0" y="218"/>
                  </a:lnTo>
                  <a:lnTo>
                    <a:pt x="0" y="0"/>
                  </a:lnTo>
                  <a:close/>
                </a:path>
              </a:pathLst>
            </a:custGeom>
            <a:solidFill>
              <a:srgbClr val="00878C"/>
            </a:solidFill>
            <a:ln w="1651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6827520" y="1851660"/>
              <a:ext cx="710184" cy="123626"/>
            </a:xfrm>
            <a:prstGeom prst="rect">
              <a:avLst/>
            </a:prstGeom>
            <a:noFill/>
          </p:spPr>
          <p:txBody>
            <a:bodyPr wrap="square" lIns="22860" tIns="0" rIns="22860" bIns="0" anchor="ctr">
              <a:noAutofit/>
            </a:bodyPr>
            <a:lstStyle/>
            <a:p>
              <a:pPr algn="ctr">
                <a:lnSpc>
                  <a:spcPct val="108000"/>
                </a:lnSpc>
                <a:spcBef>
                  <a:spcPts val="0"/>
                </a:spcBef>
                <a:spcAft>
                  <a:spcPts val="0"/>
                </a:spcAft>
              </a:pPr>
              <a:r>
                <a:rPr sz="1050" b="1">
                  <a:solidFill>
                    <a:srgbClr val="FFFFFF"/>
                  </a:solidFill>
                  <a:latin typeface="Noto Sans"/>
                </a:rPr>
                <a:t>T5</a:t>
              </a:r>
            </a:p>
          </p:txBody>
        </p:sp>
        <p:sp>
          <p:nvSpPr>
            <p:cNvPr id="37" name="TextBox 36"/>
            <p:cNvSpPr txBox="1"/>
            <p:nvPr/>
          </p:nvSpPr>
          <p:spPr>
            <a:xfrm>
              <a:off x="6786372" y="1972177"/>
              <a:ext cx="769620" cy="209214"/>
            </a:xfrm>
            <a:prstGeom prst="rect">
              <a:avLst/>
            </a:prstGeom>
            <a:noFill/>
          </p:spPr>
          <p:txBody>
            <a:bodyPr wrap="square" lIns="22860" tIns="0" rIns="22860" bIns="0" anchor="ctr">
              <a:noAutofit/>
            </a:bodyPr>
            <a:lstStyle/>
            <a:p>
              <a:pPr algn="ctr">
                <a:lnSpc>
                  <a:spcPct val="108000"/>
                </a:lnSpc>
                <a:spcBef>
                  <a:spcPts val="0"/>
                </a:spcBef>
                <a:spcAft>
                  <a:spcPts val="0"/>
                </a:spcAft>
              </a:pPr>
              <a:r>
                <a:rPr sz="950" b="1">
                  <a:solidFill>
                    <a:srgbClr val="FFFFFF"/>
                  </a:solidFill>
                  <a:latin typeface="Noto Sans"/>
                </a:rPr>
                <a:t>Align</a:t>
              </a:r>
            </a:p>
          </p:txBody>
        </p:sp>
        <p:sp>
          <p:nvSpPr>
            <p:cNvPr id="38" name="Freeform 37"/>
            <p:cNvSpPr/>
            <p:nvPr/>
          </p:nvSpPr>
          <p:spPr>
            <a:xfrm>
              <a:off x="7583424" y="1810512"/>
              <a:ext cx="838505" cy="475488"/>
            </a:xfrm>
            <a:custGeom>
              <a:avLst/>
              <a:gdLst/>
              <a:ahLst/>
              <a:cxnLst/>
              <a:rect l="l" t="t" r="r" b="b"/>
              <a:pathLst>
                <a:path w="917" h="520">
                  <a:moveTo>
                    <a:pt x="0" y="0"/>
                  </a:moveTo>
                  <a:lnTo>
                    <a:pt x="917" y="0"/>
                  </a:lnTo>
                  <a:lnTo>
                    <a:pt x="917" y="218"/>
                  </a:lnTo>
                  <a:lnTo>
                    <a:pt x="917" y="520"/>
                  </a:lnTo>
                  <a:lnTo>
                    <a:pt x="0" y="520"/>
                  </a:lnTo>
                  <a:lnTo>
                    <a:pt x="0" y="333"/>
                  </a:lnTo>
                  <a:lnTo>
                    <a:pt x="15" y="325"/>
                  </a:lnTo>
                  <a:lnTo>
                    <a:pt x="29" y="316"/>
                  </a:lnTo>
                  <a:lnTo>
                    <a:pt x="42" y="308"/>
                  </a:lnTo>
                  <a:lnTo>
                    <a:pt x="53" y="300"/>
                  </a:lnTo>
                  <a:lnTo>
                    <a:pt x="61" y="292"/>
                  </a:lnTo>
                  <a:lnTo>
                    <a:pt x="66" y="284"/>
                  </a:lnTo>
                  <a:lnTo>
                    <a:pt x="68" y="276"/>
                  </a:lnTo>
                  <a:lnTo>
                    <a:pt x="66" y="267"/>
                  </a:lnTo>
                  <a:lnTo>
                    <a:pt x="61" y="259"/>
                  </a:lnTo>
                  <a:lnTo>
                    <a:pt x="53" y="251"/>
                  </a:lnTo>
                  <a:lnTo>
                    <a:pt x="42" y="243"/>
                  </a:lnTo>
                  <a:lnTo>
                    <a:pt x="29" y="235"/>
                  </a:lnTo>
                  <a:lnTo>
                    <a:pt x="15" y="227"/>
                  </a:lnTo>
                  <a:lnTo>
                    <a:pt x="0" y="218"/>
                  </a:lnTo>
                  <a:lnTo>
                    <a:pt x="0" y="0"/>
                  </a:lnTo>
                  <a:close/>
                </a:path>
              </a:pathLst>
            </a:custGeom>
            <a:solidFill>
              <a:srgbClr val="AD731A"/>
            </a:solidFill>
            <a:ln w="1651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7665720" y="1851660"/>
              <a:ext cx="710184" cy="123626"/>
            </a:xfrm>
            <a:prstGeom prst="rect">
              <a:avLst/>
            </a:prstGeom>
            <a:noFill/>
          </p:spPr>
          <p:txBody>
            <a:bodyPr wrap="square" lIns="22860" tIns="0" rIns="22860" bIns="0" anchor="ctr">
              <a:noAutofit/>
            </a:bodyPr>
            <a:lstStyle/>
            <a:p>
              <a:pPr algn="ctr">
                <a:lnSpc>
                  <a:spcPct val="108000"/>
                </a:lnSpc>
                <a:spcBef>
                  <a:spcPts val="0"/>
                </a:spcBef>
                <a:spcAft>
                  <a:spcPts val="0"/>
                </a:spcAft>
              </a:pPr>
              <a:r>
                <a:rPr sz="1050" b="1">
                  <a:solidFill>
                    <a:srgbClr val="FFFFFF"/>
                  </a:solidFill>
                  <a:latin typeface="Noto Sans"/>
                </a:rPr>
                <a:t>T6</a:t>
              </a:r>
            </a:p>
          </p:txBody>
        </p:sp>
        <p:sp>
          <p:nvSpPr>
            <p:cNvPr id="40" name="TextBox 39"/>
            <p:cNvSpPr txBox="1"/>
            <p:nvPr/>
          </p:nvSpPr>
          <p:spPr>
            <a:xfrm>
              <a:off x="7624572" y="1972177"/>
              <a:ext cx="769620" cy="209214"/>
            </a:xfrm>
            <a:prstGeom prst="rect">
              <a:avLst/>
            </a:prstGeom>
            <a:noFill/>
          </p:spPr>
          <p:txBody>
            <a:bodyPr wrap="square" lIns="22860" tIns="0" rIns="22860" bIns="0" anchor="ctr">
              <a:noAutofit/>
            </a:bodyPr>
            <a:lstStyle/>
            <a:p>
              <a:pPr algn="ctr">
                <a:lnSpc>
                  <a:spcPct val="108000"/>
                </a:lnSpc>
                <a:spcBef>
                  <a:spcPts val="0"/>
                </a:spcBef>
                <a:spcAft>
                  <a:spcPts val="0"/>
                </a:spcAft>
              </a:pPr>
              <a:r>
                <a:rPr sz="950" b="1">
                  <a:solidFill>
                    <a:srgbClr val="FFFFFF"/>
                  </a:solidFill>
                  <a:latin typeface="Noto Sans"/>
                </a:rPr>
                <a:t>Alloc.</a:t>
              </a:r>
            </a:p>
          </p:txBody>
        </p:sp>
        <p:cxnSp>
          <p:nvCxnSpPr>
            <p:cNvPr id="41" name="Connector 40"/>
            <p:cNvCxnSpPr/>
            <p:nvPr/>
          </p:nvCxnSpPr>
          <p:spPr>
            <a:xfrm>
              <a:off x="5330952" y="1993392"/>
              <a:ext cx="283464" cy="0"/>
            </a:xfrm>
            <a:prstGeom prst="line">
              <a:avLst/>
            </a:prstGeom>
            <a:ln w="21590">
              <a:solidFill>
                <a:srgbClr val="041447"/>
              </a:solidFill>
              <a:tailEnd type="triangle" w="sm" len="sm"/>
            </a:ln>
          </p:spPr>
          <p:style>
            <a:lnRef idx="2">
              <a:schemeClr val="accent1"/>
            </a:lnRef>
            <a:fillRef idx="0">
              <a:schemeClr val="accent1"/>
            </a:fillRef>
            <a:effectRef idx="1">
              <a:schemeClr val="accent1"/>
            </a:effectRef>
            <a:fontRef idx="minor">
              <a:schemeClr val="tx1"/>
            </a:fontRef>
          </p:style>
        </p:cxnSp>
      </p:grpSp>
      <p:grpSp>
        <p:nvGrpSpPr>
          <p:cNvPr id="54" name="MATERIALISE: the wired composition becomes a candidate binary"/>
          <p:cNvGrpSpPr/>
          <p:nvPr/>
        </p:nvGrpSpPr>
        <p:grpSpPr>
          <a:xfrm>
            <a:off x="5650992" y="2496312"/>
            <a:ext cx="3044952" cy="1335024"/>
            <a:chOff x="5650992" y="2496312"/>
            <a:chExt cx="3044952" cy="1335024"/>
          </a:xfrm>
        </p:grpSpPr>
        <p:cxnSp>
          <p:nvCxnSpPr>
            <p:cNvPr id="43" name="Connector 42"/>
            <p:cNvCxnSpPr/>
            <p:nvPr/>
          </p:nvCxnSpPr>
          <p:spPr>
            <a:xfrm>
              <a:off x="7168896" y="2496312"/>
              <a:ext cx="0" cy="228600"/>
            </a:xfrm>
            <a:prstGeom prst="line">
              <a:avLst/>
            </a:prstGeom>
            <a:ln w="19050">
              <a:solidFill>
                <a:srgbClr val="041447"/>
              </a:solidFill>
              <a:tailEnd type="triangle" w="sm" len="sm"/>
            </a:ln>
          </p:spPr>
          <p:style>
            <a:lnRef idx="2">
              <a:schemeClr val="accent1"/>
            </a:lnRef>
            <a:fillRef idx="0">
              <a:schemeClr val="accent1"/>
            </a:fillRef>
            <a:effectRef idx="1">
              <a:schemeClr val="accent1"/>
            </a:effectRef>
            <a:fontRef idx="minor">
              <a:schemeClr val="tx1"/>
            </a:fontRef>
          </p:style>
        </p:cxnSp>
        <p:sp>
          <p:nvSpPr>
            <p:cNvPr id="44" name="Rounded Rectangle 43"/>
            <p:cNvSpPr/>
            <p:nvPr/>
          </p:nvSpPr>
          <p:spPr>
            <a:xfrm>
              <a:off x="5650992" y="2779776"/>
              <a:ext cx="3044952" cy="1051560"/>
            </a:xfrm>
            <a:prstGeom prst="roundRect">
              <a:avLst>
                <a:gd name="adj" fmla="val 6000"/>
              </a:avLst>
            </a:prstGeom>
            <a:solidFill>
              <a:srgbClr val="FFFFFF"/>
            </a:solidFill>
            <a:ln w="16510">
              <a:solidFill>
                <a:srgbClr val="04144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5751576" y="2852928"/>
              <a:ext cx="2834640" cy="246888"/>
            </a:xfrm>
            <a:prstGeom prst="rect">
              <a:avLst/>
            </a:prstGeom>
            <a:noFill/>
          </p:spPr>
          <p:txBody>
            <a:bodyPr wrap="square" lIns="22860" tIns="0" rIns="22860" bIns="0" anchor="ctr">
              <a:noAutofit/>
            </a:bodyPr>
            <a:lstStyle/>
            <a:p>
              <a:pPr algn="ctr">
                <a:lnSpc>
                  <a:spcPct val="108000"/>
                </a:lnSpc>
                <a:spcBef>
                  <a:spcPts val="0"/>
                </a:spcBef>
                <a:spcAft>
                  <a:spcPts val="0"/>
                </a:spcAft>
              </a:pPr>
              <a:r>
                <a:rPr sz="1400" b="1">
                  <a:solidFill>
                    <a:srgbClr val="041447"/>
                  </a:solidFill>
                  <a:latin typeface="Noto Sans"/>
                </a:rPr>
                <a:t>One compiled candidate</a:t>
              </a:r>
            </a:p>
          </p:txBody>
        </p:sp>
        <p:sp>
          <p:nvSpPr>
            <p:cNvPr id="46" name="Rounded Rectangle 45"/>
            <p:cNvSpPr/>
            <p:nvPr/>
          </p:nvSpPr>
          <p:spPr>
            <a:xfrm>
              <a:off x="5824728" y="3236976"/>
              <a:ext cx="713232" cy="310896"/>
            </a:xfrm>
            <a:prstGeom prst="roundRect">
              <a:avLst>
                <a:gd name="adj" fmla="val 6000"/>
              </a:avLst>
            </a:prstGeom>
            <a:solidFill>
              <a:srgbClr val="F0EDF7"/>
            </a:solidFill>
            <a:ln w="15240">
              <a:solidFill>
                <a:srgbClr val="6A57A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5847588" y="3241548"/>
              <a:ext cx="667512" cy="301752"/>
            </a:xfrm>
            <a:prstGeom prst="rect">
              <a:avLst/>
            </a:prstGeom>
            <a:noFill/>
          </p:spPr>
          <p:txBody>
            <a:bodyPr wrap="square" lIns="22860" tIns="0" rIns="22860" bIns="0" anchor="ctr">
              <a:noAutofit/>
            </a:bodyPr>
            <a:lstStyle/>
            <a:p>
              <a:pPr algn="ctr">
                <a:lnSpc>
                  <a:spcPct val="108000"/>
                </a:lnSpc>
                <a:spcBef>
                  <a:spcPts val="0"/>
                </a:spcBef>
                <a:spcAft>
                  <a:spcPts val="0"/>
                </a:spcAft>
              </a:pPr>
              <a:r>
                <a:rPr sz="1040" b="1">
                  <a:solidFill>
                    <a:srgbClr val="6A57A1"/>
                  </a:solidFill>
                  <a:latin typeface="Noto Sans"/>
                </a:rPr>
                <a:t>Search</a:t>
              </a:r>
            </a:p>
          </p:txBody>
        </p:sp>
        <p:sp>
          <p:nvSpPr>
            <p:cNvPr id="48" name="Rounded Rectangle 47"/>
            <p:cNvSpPr/>
            <p:nvPr/>
          </p:nvSpPr>
          <p:spPr>
            <a:xfrm>
              <a:off x="6620256" y="3236976"/>
              <a:ext cx="932688" cy="310896"/>
            </a:xfrm>
            <a:prstGeom prst="roundRect">
              <a:avLst>
                <a:gd name="adj" fmla="val 6000"/>
              </a:avLst>
            </a:prstGeom>
            <a:solidFill>
              <a:srgbClr val="F1F5F8"/>
            </a:solidFill>
            <a:ln w="15240">
              <a:solidFill>
                <a:srgbClr val="04144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6643116" y="3241548"/>
              <a:ext cx="886968" cy="301752"/>
            </a:xfrm>
            <a:prstGeom prst="rect">
              <a:avLst/>
            </a:prstGeom>
            <a:noFill/>
          </p:spPr>
          <p:txBody>
            <a:bodyPr wrap="square" lIns="22860" tIns="0" rIns="22860" bIns="0" anchor="ctr">
              <a:noAutofit/>
            </a:bodyPr>
            <a:lstStyle/>
            <a:p>
              <a:pPr algn="ctr">
                <a:lnSpc>
                  <a:spcPct val="108000"/>
                </a:lnSpc>
                <a:spcBef>
                  <a:spcPts val="0"/>
                </a:spcBef>
                <a:spcAft>
                  <a:spcPts val="0"/>
                </a:spcAft>
              </a:pPr>
              <a:r>
                <a:rPr sz="1040" b="1">
                  <a:solidFill>
                    <a:srgbClr val="041447"/>
                  </a:solidFill>
                  <a:latin typeface="Noto Sans"/>
                </a:rPr>
                <a:t>Storage</a:t>
              </a:r>
            </a:p>
          </p:txBody>
        </p:sp>
        <p:sp>
          <p:nvSpPr>
            <p:cNvPr id="50" name="Rounded Rectangle 49"/>
            <p:cNvSpPr/>
            <p:nvPr/>
          </p:nvSpPr>
          <p:spPr>
            <a:xfrm>
              <a:off x="7635240" y="3236976"/>
              <a:ext cx="832104" cy="310896"/>
            </a:xfrm>
            <a:prstGeom prst="roundRect">
              <a:avLst>
                <a:gd name="adj" fmla="val 6000"/>
              </a:avLst>
            </a:prstGeom>
            <a:solidFill>
              <a:srgbClr val="EFF7F2"/>
            </a:solidFill>
            <a:ln w="15240">
              <a:solidFill>
                <a:srgbClr val="2F745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7658100" y="3241548"/>
              <a:ext cx="786384" cy="301752"/>
            </a:xfrm>
            <a:prstGeom prst="rect">
              <a:avLst/>
            </a:prstGeom>
            <a:noFill/>
          </p:spPr>
          <p:txBody>
            <a:bodyPr wrap="square" lIns="22860" tIns="0" rIns="22860" bIns="0" anchor="ctr">
              <a:noAutofit/>
            </a:bodyPr>
            <a:lstStyle/>
            <a:p>
              <a:pPr algn="ctr">
                <a:lnSpc>
                  <a:spcPct val="108000"/>
                </a:lnSpc>
                <a:spcBef>
                  <a:spcPts val="0"/>
                </a:spcBef>
                <a:spcAft>
                  <a:spcPts val="0"/>
                </a:spcAft>
              </a:pPr>
              <a:r>
                <a:rPr sz="1040" b="1">
                  <a:solidFill>
                    <a:srgbClr val="2F7458"/>
                  </a:solidFill>
                  <a:latin typeface="Noto Sans"/>
                </a:rPr>
                <a:t>Values</a:t>
              </a:r>
            </a:p>
          </p:txBody>
        </p:sp>
        <p:cxnSp>
          <p:nvCxnSpPr>
            <p:cNvPr id="52" name="Connector 51"/>
            <p:cNvCxnSpPr/>
            <p:nvPr/>
          </p:nvCxnSpPr>
          <p:spPr>
            <a:xfrm>
              <a:off x="6537960" y="3392424"/>
              <a:ext cx="82296" cy="0"/>
            </a:xfrm>
            <a:prstGeom prst="line">
              <a:avLst/>
            </a:prstGeom>
            <a:ln w="12700">
              <a:solidFill>
                <a:srgbClr val="041447"/>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a:off x="7552944" y="3392424"/>
              <a:ext cx="82296" cy="0"/>
            </a:xfrm>
            <a:prstGeom prst="line">
              <a:avLst/>
            </a:prstGeom>
            <a:ln w="12700">
              <a:solidFill>
                <a:srgbClr val="041447"/>
              </a:solidFill>
              <a:tailEnd type="triangle" w="sm" len="sm"/>
            </a:ln>
          </p:spPr>
          <p:style>
            <a:lnRef idx="2">
              <a:schemeClr val="accent1"/>
            </a:lnRef>
            <a:fillRef idx="0">
              <a:schemeClr val="accent1"/>
            </a:fillRef>
            <a:effectRef idx="1">
              <a:schemeClr val="accent1"/>
            </a:effectRef>
            <a:fontRef idx="minor">
              <a:schemeClr val="tx1"/>
            </a:fontRef>
          </p:style>
        </p:cxnSp>
      </p:grpSp>
      <p:sp>
        <p:nvSpPr>
          <p:cNvPr id="55" name="Rectangle 54"/>
          <p:cNvSpPr/>
          <p:nvPr/>
        </p:nvSpPr>
        <p:spPr>
          <a:xfrm>
            <a:off x="329184" y="4096512"/>
            <a:ext cx="8458200" cy="356616"/>
          </a:xfrm>
          <a:prstGeom prst="rect">
            <a:avLst/>
          </a:prstGeom>
          <a:solidFill>
            <a:srgbClr val="EAF0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438912" y="4114800"/>
            <a:ext cx="8211312" cy="310896"/>
          </a:xfrm>
          <a:prstGeom prst="rect">
            <a:avLst/>
          </a:prstGeom>
          <a:noFill/>
        </p:spPr>
        <p:txBody>
          <a:bodyPr wrap="square" lIns="22860" tIns="0" rIns="22860" bIns="0" anchor="ctr">
            <a:noAutofit/>
          </a:bodyPr>
          <a:lstStyle/>
          <a:p>
            <a:pPr algn="l">
              <a:lnSpc>
                <a:spcPct val="108000"/>
              </a:lnSpc>
              <a:spcBef>
                <a:spcPts val="0"/>
              </a:spcBef>
              <a:spcAft>
                <a:spcPts val="0"/>
              </a:spcAft>
            </a:pPr>
            <a:r>
              <a:rPr sz="1300" b="1">
                <a:solidFill>
                  <a:srgbClr val="041447"/>
                </a:solidFill>
                <a:latin typeface="Noto Sans"/>
              </a:rPr>
              <a:t>XML selects the pieces; composition and interface wiring produce the algorithm.</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presetID="1" presetClass="entr" presetSubtype="0" fill="hold" nodeType="clickEffect">
                            <p:stCondLst>
                              <p:cond delay="0"/>
                            </p:stCondLst>
                            <p:childTnLst>
                              <p:set>
                                <p:cBhvr>
                                  <p:cTn id="5" dur="1" fill="hold">
                                    <p:stCondLst>
                                      <p:cond delay="0"/>
                                    </p:stCondLst>
                                  </p:cTn>
                                  <p:tgtEl>
                                    <p:spTgt spid="42"/>
                                  </p:tgtEl>
                                  <p:attrNameLst>
                                    <p:attrName>style.visibility</p:attrName>
                                  </p:attrNameLst>
                                </p:cBhvr>
                                <p:to>
                                  <p:strVal val="visible"/>
                                </p:to>
                              </p:set>
                            </p:childTnLst>
                          </p:cTn>
                        </p:par>
                      </p:childTnLst>
                    </p:cTn>
                  </p:par>
                  <p:par>
                    <p:cTn id="6" fill="hold">
                      <p:stCondLst>
                        <p:cond delay="indefinite"/>
                      </p:stCondLst>
                      <p:childTnLst>
                        <p:par>
                          <p:cTn id="7" presetID="1" presetClass="entr" presetSubtype="0" fill="hold" nodeType="clickEffect">
                            <p:stCondLst>
                              <p:cond delay="0"/>
                            </p:stCondLst>
                            <p:childTnLst>
                              <p:set>
                                <p:cBhvr>
                                  <p:cTn id="8" dur="1" fill="hold">
                                    <p:stCondLst>
                                      <p:cond delay="0"/>
                                    </p:stCondLst>
                                  </p:cTn>
                                  <p:tgtEl>
                                    <p:spTgt spid="54"/>
                                  </p:tgtEl>
                                  <p:attrNameLst>
                                    <p:attrName>style.visibility</p:attrName>
                                  </p:attrNameLst>
                                </p:cBhvr>
                                <p:to>
                                  <p:strVal val="visible"/>
                                </p:to>
                              </p:se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83464" y="182880"/>
            <a:ext cx="7360920" cy="438912"/>
          </a:xfrm>
          <a:prstGeom prst="rect">
            <a:avLst/>
          </a:prstGeom>
          <a:noFill/>
        </p:spPr>
        <p:txBody>
          <a:bodyPr wrap="square" lIns="9144" tIns="0" rIns="9144" bIns="0" anchor="ctr">
            <a:spAutoFit/>
          </a:bodyPr>
          <a:lstStyle/>
          <a:p>
            <a:pPr algn="l">
              <a:spcBef>
                <a:spcPts val="0"/>
              </a:spcBef>
              <a:spcAft>
                <a:spcPts val="0"/>
              </a:spcAft>
              <a:defRPr sz="2400" b="1">
                <a:solidFill>
                  <a:srgbClr val="041447"/>
                </a:solidFill>
                <a:latin typeface="Noto Sans"/>
              </a:defRPr>
            </a:pPr>
            <a:r>
              <a:t>Build and measure the assembled algorithm</a:t>
            </a:r>
          </a:p>
        </p:txBody>
      </p:sp>
      <p:sp>
        <p:nvSpPr>
          <p:cNvPr id="3" name="Rectangle 2"/>
          <p:cNvSpPr/>
          <p:nvPr/>
        </p:nvSpPr>
        <p:spPr>
          <a:xfrm>
            <a:off x="310896" y="786384"/>
            <a:ext cx="1197864" cy="45720"/>
          </a:xfrm>
          <a:prstGeom prst="rect">
            <a:avLst/>
          </a:prstGeom>
          <a:solidFill>
            <a:srgbClr val="D2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10896" y="621792"/>
            <a:ext cx="1197864" cy="164592"/>
          </a:xfrm>
          <a:prstGeom prst="rect">
            <a:avLst/>
          </a:prstGeom>
          <a:noFill/>
        </p:spPr>
        <p:txBody>
          <a:bodyPr wrap="square" lIns="9144" tIns="0" rIns="9144" bIns="0" anchor="ctr">
            <a:spAutoFit/>
          </a:bodyPr>
          <a:lstStyle/>
          <a:p>
            <a:pPr algn="l">
              <a:spcBef>
                <a:spcPts val="0"/>
              </a:spcBef>
              <a:spcAft>
                <a:spcPts val="0"/>
              </a:spcAft>
              <a:defRPr sz="850" b="0">
                <a:solidFill>
                  <a:srgbClr val="607080"/>
                </a:solidFill>
                <a:latin typeface="Noto Sans"/>
              </a:defRPr>
            </a:pPr>
            <a:r>
              <a:t>1 Introduction</a:t>
            </a:r>
          </a:p>
        </p:txBody>
      </p:sp>
      <p:sp>
        <p:nvSpPr>
          <p:cNvPr id="5" name="Rectangle 4"/>
          <p:cNvSpPr/>
          <p:nvPr/>
        </p:nvSpPr>
        <p:spPr>
          <a:xfrm>
            <a:off x="1545336" y="786384"/>
            <a:ext cx="1243584" cy="45720"/>
          </a:xfrm>
          <a:prstGeom prst="rect">
            <a:avLst/>
          </a:prstGeom>
          <a:solidFill>
            <a:srgbClr val="D2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545336" y="621792"/>
            <a:ext cx="1243584" cy="164592"/>
          </a:xfrm>
          <a:prstGeom prst="rect">
            <a:avLst/>
          </a:prstGeom>
          <a:noFill/>
        </p:spPr>
        <p:txBody>
          <a:bodyPr wrap="square" lIns="9144" tIns="0" rIns="9144" bIns="0" anchor="ctr">
            <a:spAutoFit/>
          </a:bodyPr>
          <a:lstStyle/>
          <a:p>
            <a:pPr algn="l">
              <a:spcBef>
                <a:spcPts val="0"/>
              </a:spcBef>
              <a:spcAft>
                <a:spcPts val="0"/>
              </a:spcAft>
              <a:defRPr sz="850" b="0">
                <a:solidFill>
                  <a:srgbClr val="607080"/>
                </a:solidFill>
                <a:latin typeface="Noto Sans"/>
              </a:defRPr>
            </a:pPr>
            <a:r>
              <a:t>2 Background</a:t>
            </a:r>
          </a:p>
        </p:txBody>
      </p:sp>
      <p:sp>
        <p:nvSpPr>
          <p:cNvPr id="7" name="Rectangle 6"/>
          <p:cNvSpPr/>
          <p:nvPr/>
        </p:nvSpPr>
        <p:spPr>
          <a:xfrm>
            <a:off x="2825496" y="786384"/>
            <a:ext cx="1078992" cy="45720"/>
          </a:xfrm>
          <a:prstGeom prst="rect">
            <a:avLst/>
          </a:prstGeom>
          <a:solidFill>
            <a:srgbClr val="D2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2825496" y="621792"/>
            <a:ext cx="1078992" cy="164592"/>
          </a:xfrm>
          <a:prstGeom prst="rect">
            <a:avLst/>
          </a:prstGeom>
          <a:noFill/>
        </p:spPr>
        <p:txBody>
          <a:bodyPr wrap="square" lIns="9144" tIns="0" rIns="9144" bIns="0" anchor="ctr">
            <a:spAutoFit/>
          </a:bodyPr>
          <a:lstStyle/>
          <a:p>
            <a:pPr algn="l">
              <a:spcBef>
                <a:spcPts val="0"/>
              </a:spcBef>
              <a:spcAft>
                <a:spcPts val="0"/>
              </a:spcAft>
              <a:defRPr sz="850" b="0">
                <a:solidFill>
                  <a:srgbClr val="607080"/>
                </a:solidFill>
                <a:latin typeface="Noto Sans"/>
              </a:defRPr>
            </a:pPr>
            <a:r>
              <a:t>3 Concept</a:t>
            </a:r>
          </a:p>
        </p:txBody>
      </p:sp>
      <p:sp>
        <p:nvSpPr>
          <p:cNvPr id="9" name="Rectangle 8"/>
          <p:cNvSpPr/>
          <p:nvPr/>
        </p:nvSpPr>
        <p:spPr>
          <a:xfrm>
            <a:off x="3941063" y="786384"/>
            <a:ext cx="1645920" cy="45720"/>
          </a:xfrm>
          <a:prstGeom prst="rect">
            <a:avLst/>
          </a:prstGeom>
          <a:solidFill>
            <a:srgbClr val="008A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941063" y="621792"/>
            <a:ext cx="1645920" cy="164592"/>
          </a:xfrm>
          <a:prstGeom prst="rect">
            <a:avLst/>
          </a:prstGeom>
          <a:noFill/>
        </p:spPr>
        <p:txBody>
          <a:bodyPr wrap="square" lIns="9144" tIns="0" rIns="9144" bIns="0" anchor="ctr">
            <a:spAutoFit/>
          </a:bodyPr>
          <a:lstStyle/>
          <a:p>
            <a:pPr algn="l">
              <a:spcBef>
                <a:spcPts val="0"/>
              </a:spcBef>
              <a:spcAft>
                <a:spcPts val="0"/>
              </a:spcAft>
              <a:defRPr sz="850" b="1">
                <a:solidFill>
                  <a:srgbClr val="008A96"/>
                </a:solidFill>
                <a:latin typeface="Noto Sans"/>
              </a:defRPr>
            </a:pPr>
            <a:r>
              <a:t>4 Implementation</a:t>
            </a:r>
          </a:p>
        </p:txBody>
      </p:sp>
      <p:sp>
        <p:nvSpPr>
          <p:cNvPr id="11" name="Rectangle 10"/>
          <p:cNvSpPr/>
          <p:nvPr/>
        </p:nvSpPr>
        <p:spPr>
          <a:xfrm>
            <a:off x="5623559" y="786384"/>
            <a:ext cx="1252728" cy="45720"/>
          </a:xfrm>
          <a:prstGeom prst="rect">
            <a:avLst/>
          </a:prstGeom>
          <a:solidFill>
            <a:srgbClr val="D2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623559" y="621792"/>
            <a:ext cx="1252728" cy="164592"/>
          </a:xfrm>
          <a:prstGeom prst="rect">
            <a:avLst/>
          </a:prstGeom>
          <a:noFill/>
        </p:spPr>
        <p:txBody>
          <a:bodyPr wrap="square" lIns="9144" tIns="0" rIns="9144" bIns="0" anchor="ctr">
            <a:spAutoFit/>
          </a:bodyPr>
          <a:lstStyle/>
          <a:p>
            <a:pPr algn="l">
              <a:spcBef>
                <a:spcPts val="0"/>
              </a:spcBef>
              <a:spcAft>
                <a:spcPts val="0"/>
              </a:spcAft>
              <a:defRPr sz="850" b="0">
                <a:solidFill>
                  <a:srgbClr val="607080"/>
                </a:solidFill>
                <a:latin typeface="Noto Sans"/>
              </a:defRPr>
            </a:pPr>
            <a:r>
              <a:t>5 Evaluation</a:t>
            </a:r>
          </a:p>
        </p:txBody>
      </p:sp>
      <p:sp>
        <p:nvSpPr>
          <p:cNvPr id="13" name="Rectangle 12"/>
          <p:cNvSpPr/>
          <p:nvPr/>
        </p:nvSpPr>
        <p:spPr>
          <a:xfrm>
            <a:off x="6912864" y="786384"/>
            <a:ext cx="1216152" cy="45720"/>
          </a:xfrm>
          <a:prstGeom prst="rect">
            <a:avLst/>
          </a:prstGeom>
          <a:solidFill>
            <a:srgbClr val="D2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912864" y="621792"/>
            <a:ext cx="1216152" cy="164592"/>
          </a:xfrm>
          <a:prstGeom prst="rect">
            <a:avLst/>
          </a:prstGeom>
          <a:noFill/>
        </p:spPr>
        <p:txBody>
          <a:bodyPr wrap="square" lIns="9144" tIns="0" rIns="9144" bIns="0" anchor="ctr">
            <a:spAutoFit/>
          </a:bodyPr>
          <a:lstStyle/>
          <a:p>
            <a:pPr algn="l">
              <a:spcBef>
                <a:spcPts val="0"/>
              </a:spcBef>
              <a:spcAft>
                <a:spcPts val="0"/>
              </a:spcAft>
              <a:defRPr sz="850" b="0">
                <a:solidFill>
                  <a:srgbClr val="607080"/>
                </a:solidFill>
                <a:latin typeface="Noto Sans"/>
              </a:defRPr>
            </a:pPr>
            <a:r>
              <a:t>6 Conclusion</a:t>
            </a:r>
          </a:p>
        </p:txBody>
      </p:sp>
      <p:sp>
        <p:nvSpPr>
          <p:cNvPr id="15" name="TextBox 14"/>
          <p:cNvSpPr txBox="1"/>
          <p:nvPr/>
        </p:nvSpPr>
        <p:spPr>
          <a:xfrm>
            <a:off x="320040" y="4572000"/>
            <a:ext cx="8321040" cy="182880"/>
          </a:xfrm>
          <a:prstGeom prst="rect">
            <a:avLst/>
          </a:prstGeom>
          <a:noFill/>
        </p:spPr>
        <p:txBody>
          <a:bodyPr wrap="square" lIns="9144" tIns="0" rIns="9144" bIns="0" anchor="ctr">
            <a:spAutoFit/>
          </a:bodyPr>
          <a:lstStyle/>
          <a:p>
            <a:pPr algn="l">
              <a:spcBef>
                <a:spcPts val="0"/>
              </a:spcBef>
              <a:spcAft>
                <a:spcPts val="0"/>
              </a:spcAft>
              <a:defRPr sz="810" b="0">
                <a:solidFill>
                  <a:srgbClr val="607080"/>
                </a:solidFill>
                <a:latin typeface="Noto Sans"/>
              </a:defRPr>
            </a:pPr>
            <a:r>
              <a:t>Thesis §§3.4–4.3  |  The construction step is part of the experiment, not a separate story</a:t>
            </a:r>
          </a:p>
        </p:txBody>
      </p:sp>
      <p:sp>
        <p:nvSpPr>
          <p:cNvPr id="16" name="TextBox 15"/>
          <p:cNvSpPr txBox="1"/>
          <p:nvPr/>
        </p:nvSpPr>
        <p:spPr>
          <a:xfrm>
            <a:off x="1234440" y="4873752"/>
            <a:ext cx="6766560" cy="164592"/>
          </a:xfrm>
          <a:prstGeom prst="rect">
            <a:avLst/>
          </a:prstGeom>
          <a:noFill/>
        </p:spPr>
        <p:txBody>
          <a:bodyPr wrap="square" lIns="9144" tIns="0" rIns="9144" bIns="0" anchor="ctr">
            <a:spAutoFit/>
          </a:bodyPr>
          <a:lstStyle/>
          <a:p>
            <a:pPr algn="l">
              <a:spcBef>
                <a:spcPts val="0"/>
              </a:spcBef>
              <a:spcAft>
                <a:spcPts val="0"/>
              </a:spcAft>
              <a:defRPr sz="830" b="0">
                <a:solidFill>
                  <a:srgbClr val="041447"/>
                </a:solidFill>
                <a:latin typeface="Noto Sans"/>
              </a:defRPr>
            </a:pPr>
            <a:r>
              <a:t>Benjamin-Elias Probst  |  Diploma thesis defense  |  28 September 2026</a:t>
            </a:r>
          </a:p>
        </p:txBody>
      </p:sp>
      <p:sp>
        <p:nvSpPr>
          <p:cNvPr id="17" name="TextBox 16"/>
          <p:cNvSpPr txBox="1"/>
          <p:nvPr/>
        </p:nvSpPr>
        <p:spPr>
          <a:xfrm>
            <a:off x="8412480" y="4864608"/>
            <a:ext cx="393192" cy="192024"/>
          </a:xfrm>
          <a:prstGeom prst="rect">
            <a:avLst/>
          </a:prstGeom>
          <a:noFill/>
        </p:spPr>
        <p:txBody>
          <a:bodyPr wrap="square" lIns="9144" tIns="0" rIns="9144" bIns="0" anchor="ctr">
            <a:spAutoFit/>
          </a:bodyPr>
          <a:lstStyle/>
          <a:p>
            <a:pPr algn="r">
              <a:spcBef>
                <a:spcPts val="0"/>
              </a:spcBef>
              <a:spcAft>
                <a:spcPts val="0"/>
              </a:spcAft>
              <a:defRPr sz="900" b="1">
                <a:solidFill>
                  <a:srgbClr val="041447"/>
                </a:solidFill>
                <a:latin typeface="Noto Sans"/>
              </a:defRPr>
            </a:pPr>
            <a:r>
              <a:t>12</a:t>
            </a:r>
          </a:p>
        </p:txBody>
      </p:sp>
      <p:sp>
        <p:nvSpPr>
          <p:cNvPr id="18" name="Rounded Rectangle 17"/>
          <p:cNvSpPr/>
          <p:nvPr/>
        </p:nvSpPr>
        <p:spPr>
          <a:xfrm>
            <a:off x="393192" y="1280160"/>
            <a:ext cx="1188720" cy="1033271"/>
          </a:xfrm>
          <a:prstGeom prst="roundRect">
            <a:avLst>
              <a:gd name="adj" fmla="val 6000"/>
            </a:avLst>
          </a:prstGeom>
          <a:solidFill>
            <a:srgbClr val="F1F5F8"/>
          </a:solidFill>
          <a:ln w="11430">
            <a:solidFill>
              <a:srgbClr val="04144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57200" y="1380744"/>
            <a:ext cx="1060704" cy="292608"/>
          </a:xfrm>
          <a:prstGeom prst="rect">
            <a:avLst/>
          </a:prstGeom>
          <a:noFill/>
        </p:spPr>
        <p:txBody>
          <a:bodyPr wrap="square" lIns="22860" tIns="0" rIns="22860" bIns="0" anchor="ctr">
            <a:noAutofit/>
          </a:bodyPr>
          <a:lstStyle/>
          <a:p>
            <a:pPr algn="ctr">
              <a:lnSpc>
                <a:spcPct val="108000"/>
              </a:lnSpc>
              <a:spcBef>
                <a:spcPts val="0"/>
              </a:spcBef>
              <a:spcAft>
                <a:spcPts val="0"/>
              </a:spcAft>
            </a:pPr>
            <a:r>
              <a:rPr sz="1600" b="1">
                <a:solidFill>
                  <a:srgbClr val="041447"/>
                </a:solidFill>
                <a:latin typeface="Noto Sans"/>
              </a:rPr>
              <a:t>XML</a:t>
            </a:r>
          </a:p>
        </p:txBody>
      </p:sp>
      <p:sp>
        <p:nvSpPr>
          <p:cNvPr id="20" name="TextBox 19"/>
          <p:cNvSpPr txBox="1"/>
          <p:nvPr/>
        </p:nvSpPr>
        <p:spPr>
          <a:xfrm>
            <a:off x="438912" y="1755648"/>
            <a:ext cx="1097280" cy="393192"/>
          </a:xfrm>
          <a:prstGeom prst="rect">
            <a:avLst/>
          </a:prstGeom>
          <a:noFill/>
        </p:spPr>
        <p:txBody>
          <a:bodyPr wrap="square" lIns="22860" tIns="0" rIns="22860" bIns="0" anchor="ctr">
            <a:noAutofit/>
          </a:bodyPr>
          <a:lstStyle/>
          <a:p>
            <a:pPr algn="ctr">
              <a:lnSpc>
                <a:spcPct val="108000"/>
              </a:lnSpc>
              <a:spcBef>
                <a:spcPts val="0"/>
              </a:spcBef>
              <a:spcAft>
                <a:spcPts val="0"/>
              </a:spcAft>
            </a:pPr>
            <a:r>
              <a:rPr sz="1120" b="0">
                <a:solidFill>
                  <a:srgbClr val="23364B"/>
                </a:solidFill>
                <a:latin typeface="Noto Sans"/>
              </a:rPr>
              <a:t>experiment</a:t>
            </a:r>
          </a:p>
        </p:txBody>
      </p:sp>
      <p:sp>
        <p:nvSpPr>
          <p:cNvPr id="21" name="Rounded Rectangle 20"/>
          <p:cNvSpPr/>
          <p:nvPr/>
        </p:nvSpPr>
        <p:spPr>
          <a:xfrm>
            <a:off x="1901952" y="1280160"/>
            <a:ext cx="1554480" cy="1033271"/>
          </a:xfrm>
          <a:prstGeom prst="roundRect">
            <a:avLst>
              <a:gd name="adj" fmla="val 6000"/>
            </a:avLst>
          </a:prstGeom>
          <a:solidFill>
            <a:srgbClr val="F1F5F8"/>
          </a:solidFill>
          <a:ln w="11430">
            <a:solidFill>
              <a:srgbClr val="3468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1965960" y="1380744"/>
            <a:ext cx="1426464" cy="292608"/>
          </a:xfrm>
          <a:prstGeom prst="rect">
            <a:avLst/>
          </a:prstGeom>
          <a:noFill/>
        </p:spPr>
        <p:txBody>
          <a:bodyPr wrap="square" lIns="22860" tIns="0" rIns="22860" bIns="0" anchor="ctr">
            <a:noAutofit/>
          </a:bodyPr>
          <a:lstStyle/>
          <a:p>
            <a:pPr algn="ctr">
              <a:lnSpc>
                <a:spcPct val="108000"/>
              </a:lnSpc>
              <a:spcBef>
                <a:spcPts val="0"/>
              </a:spcBef>
              <a:spcAft>
                <a:spcPts val="0"/>
              </a:spcAft>
            </a:pPr>
            <a:r>
              <a:rPr sz="1600" b="1">
                <a:solidFill>
                  <a:srgbClr val="3468AA"/>
                </a:solidFill>
                <a:latin typeface="Noto Sans"/>
              </a:rPr>
              <a:t>Planner</a:t>
            </a:r>
          </a:p>
        </p:txBody>
      </p:sp>
      <p:sp>
        <p:nvSpPr>
          <p:cNvPr id="23" name="TextBox 22"/>
          <p:cNvSpPr txBox="1"/>
          <p:nvPr/>
        </p:nvSpPr>
        <p:spPr>
          <a:xfrm>
            <a:off x="1947672" y="1755648"/>
            <a:ext cx="1463039" cy="393192"/>
          </a:xfrm>
          <a:prstGeom prst="rect">
            <a:avLst/>
          </a:prstGeom>
          <a:noFill/>
        </p:spPr>
        <p:txBody>
          <a:bodyPr wrap="square" lIns="22860" tIns="0" rIns="22860" bIns="0" anchor="ctr">
            <a:noAutofit/>
          </a:bodyPr>
          <a:lstStyle/>
          <a:p>
            <a:pPr algn="ctr">
              <a:lnSpc>
                <a:spcPct val="108000"/>
              </a:lnSpc>
              <a:spcBef>
                <a:spcPts val="0"/>
              </a:spcBef>
              <a:spcAft>
                <a:spcPts val="0"/>
              </a:spcAft>
            </a:pPr>
            <a:r>
              <a:rPr sz="1120" b="0">
                <a:solidFill>
                  <a:srgbClr val="23364B"/>
                </a:solidFill>
                <a:latin typeface="Noto Sans"/>
              </a:rPr>
              <a:t>validate + plan</a:t>
            </a:r>
          </a:p>
        </p:txBody>
      </p:sp>
      <p:sp>
        <p:nvSpPr>
          <p:cNvPr id="24" name="Rounded Rectangle 23"/>
          <p:cNvSpPr/>
          <p:nvPr/>
        </p:nvSpPr>
        <p:spPr>
          <a:xfrm>
            <a:off x="3813048" y="1280160"/>
            <a:ext cx="1554480" cy="1033271"/>
          </a:xfrm>
          <a:prstGeom prst="roundRect">
            <a:avLst>
              <a:gd name="adj" fmla="val 6000"/>
            </a:avLst>
          </a:prstGeom>
          <a:solidFill>
            <a:srgbClr val="F1F5F8"/>
          </a:solidFill>
          <a:ln w="11430">
            <a:solidFill>
              <a:srgbClr val="6A57A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3877056" y="1380744"/>
            <a:ext cx="1426464" cy="292608"/>
          </a:xfrm>
          <a:prstGeom prst="rect">
            <a:avLst/>
          </a:prstGeom>
          <a:noFill/>
        </p:spPr>
        <p:txBody>
          <a:bodyPr wrap="square" lIns="22860" tIns="0" rIns="22860" bIns="0" anchor="ctr">
            <a:noAutofit/>
          </a:bodyPr>
          <a:lstStyle/>
          <a:p>
            <a:pPr algn="ctr">
              <a:lnSpc>
                <a:spcPct val="108000"/>
              </a:lnSpc>
              <a:spcBef>
                <a:spcPts val="0"/>
              </a:spcBef>
              <a:spcAft>
                <a:spcPts val="0"/>
              </a:spcAft>
            </a:pPr>
            <a:r>
              <a:rPr sz="1600" b="1">
                <a:solidFill>
                  <a:srgbClr val="6A57A1"/>
                </a:solidFill>
                <a:latin typeface="Noto Sans"/>
              </a:rPr>
              <a:t>CEB</a:t>
            </a:r>
          </a:p>
        </p:txBody>
      </p:sp>
      <p:sp>
        <p:nvSpPr>
          <p:cNvPr id="26" name="TextBox 25"/>
          <p:cNvSpPr txBox="1"/>
          <p:nvPr/>
        </p:nvSpPr>
        <p:spPr>
          <a:xfrm>
            <a:off x="3858768" y="1755648"/>
            <a:ext cx="1463039" cy="393192"/>
          </a:xfrm>
          <a:prstGeom prst="rect">
            <a:avLst/>
          </a:prstGeom>
          <a:noFill/>
        </p:spPr>
        <p:txBody>
          <a:bodyPr wrap="square" lIns="22860" tIns="0" rIns="22860" bIns="0" anchor="ctr">
            <a:noAutofit/>
          </a:bodyPr>
          <a:lstStyle/>
          <a:p>
            <a:pPr algn="ctr">
              <a:lnSpc>
                <a:spcPct val="108000"/>
              </a:lnSpc>
              <a:spcBef>
                <a:spcPts val="0"/>
              </a:spcBef>
              <a:spcAft>
                <a:spcPts val="0"/>
              </a:spcAft>
            </a:pPr>
            <a:r>
              <a:rPr sz="1120" b="0">
                <a:solidFill>
                  <a:srgbClr val="23364B"/>
                </a:solidFill>
                <a:latin typeface="Noto Sans"/>
              </a:rPr>
              <a:t>compose + build</a:t>
            </a:r>
          </a:p>
        </p:txBody>
      </p:sp>
      <p:cxnSp>
        <p:nvCxnSpPr>
          <p:cNvPr id="27" name="Connector 26"/>
          <p:cNvCxnSpPr/>
          <p:nvPr/>
        </p:nvCxnSpPr>
        <p:spPr>
          <a:xfrm>
            <a:off x="1609344" y="1801368"/>
            <a:ext cx="265175" cy="0"/>
          </a:xfrm>
          <a:prstGeom prst="line">
            <a:avLst/>
          </a:prstGeom>
          <a:ln w="19050">
            <a:solidFill>
              <a:srgbClr val="041447"/>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3493008" y="1801368"/>
            <a:ext cx="283464" cy="0"/>
          </a:xfrm>
          <a:prstGeom prst="line">
            <a:avLst/>
          </a:prstGeom>
          <a:ln w="19050">
            <a:solidFill>
              <a:srgbClr val="041447"/>
            </a:solidFill>
            <a:tailEnd type="triangle" w="sm" len="sm"/>
          </a:ln>
        </p:spPr>
        <p:style>
          <a:lnRef idx="2">
            <a:schemeClr val="accent1"/>
          </a:lnRef>
          <a:fillRef idx="0">
            <a:schemeClr val="accent1"/>
          </a:fillRef>
          <a:effectRef idx="1">
            <a:schemeClr val="accent1"/>
          </a:effectRef>
          <a:fontRef idx="minor">
            <a:schemeClr val="tx1"/>
          </a:fontRef>
        </p:style>
      </p:cxnSp>
      <p:sp>
        <p:nvSpPr>
          <p:cNvPr id="29" name="Rounded Rectangle 28"/>
          <p:cNvSpPr/>
          <p:nvPr/>
        </p:nvSpPr>
        <p:spPr>
          <a:xfrm>
            <a:off x="5733288" y="1115568"/>
            <a:ext cx="2980944" cy="1554480"/>
          </a:xfrm>
          <a:prstGeom prst="roundRect">
            <a:avLst>
              <a:gd name="adj" fmla="val 6000"/>
            </a:avLst>
          </a:prstGeom>
          <a:solidFill>
            <a:srgbClr val="FFFFFF"/>
          </a:solidFill>
          <a:ln w="17780">
            <a:solidFill>
              <a:srgbClr val="04144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5861304" y="1197864"/>
            <a:ext cx="2724912" cy="274320"/>
          </a:xfrm>
          <a:prstGeom prst="rect">
            <a:avLst/>
          </a:prstGeom>
          <a:noFill/>
        </p:spPr>
        <p:txBody>
          <a:bodyPr wrap="square" lIns="22860" tIns="0" rIns="22860" bIns="0" anchor="ctr">
            <a:noAutofit/>
          </a:bodyPr>
          <a:lstStyle/>
          <a:p>
            <a:pPr algn="ctr">
              <a:lnSpc>
                <a:spcPct val="108000"/>
              </a:lnSpc>
              <a:spcBef>
                <a:spcPts val="0"/>
              </a:spcBef>
              <a:spcAft>
                <a:spcPts val="0"/>
              </a:spcAft>
            </a:pPr>
            <a:r>
              <a:rPr sz="1600" b="1">
                <a:solidFill>
                  <a:srgbClr val="041447"/>
                </a:solidFill>
                <a:latin typeface="Noto Sans"/>
              </a:rPr>
              <a:t>TIER BINARY</a:t>
            </a:r>
          </a:p>
        </p:txBody>
      </p:sp>
      <p:sp>
        <p:nvSpPr>
          <p:cNvPr id="31" name="Rounded Rectangle 30"/>
          <p:cNvSpPr/>
          <p:nvPr/>
        </p:nvSpPr>
        <p:spPr>
          <a:xfrm>
            <a:off x="5907024" y="1737360"/>
            <a:ext cx="640080" cy="457200"/>
          </a:xfrm>
          <a:prstGeom prst="roundRect">
            <a:avLst>
              <a:gd name="adj" fmla="val 6000"/>
            </a:avLst>
          </a:prstGeom>
          <a:solidFill>
            <a:srgbClr val="F0EDF7"/>
          </a:solidFill>
          <a:ln w="15240">
            <a:solidFill>
              <a:srgbClr val="6A57A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5929884" y="1741931"/>
            <a:ext cx="594359" cy="448056"/>
          </a:xfrm>
          <a:prstGeom prst="rect">
            <a:avLst/>
          </a:prstGeom>
          <a:noFill/>
        </p:spPr>
        <p:txBody>
          <a:bodyPr wrap="square" lIns="22860" tIns="0" rIns="22860" bIns="0" anchor="ctr">
            <a:noAutofit/>
          </a:bodyPr>
          <a:lstStyle/>
          <a:p>
            <a:pPr algn="ctr">
              <a:lnSpc>
                <a:spcPct val="108000"/>
              </a:lnSpc>
              <a:spcBef>
                <a:spcPts val="0"/>
              </a:spcBef>
              <a:spcAft>
                <a:spcPts val="0"/>
              </a:spcAft>
            </a:pPr>
            <a:r>
              <a:rPr sz="1300" b="1">
                <a:solidFill>
                  <a:srgbClr val="6A57A1"/>
                </a:solidFill>
                <a:latin typeface="Noto Sans"/>
              </a:rPr>
              <a:t>T0</a:t>
            </a:r>
          </a:p>
        </p:txBody>
      </p:sp>
      <p:sp>
        <p:nvSpPr>
          <p:cNvPr id="33" name="Freeform 32"/>
          <p:cNvSpPr/>
          <p:nvPr/>
        </p:nvSpPr>
        <p:spPr>
          <a:xfrm>
            <a:off x="6720840" y="1728216"/>
            <a:ext cx="619963" cy="475488"/>
          </a:xfrm>
          <a:custGeom>
            <a:avLst/>
            <a:gdLst/>
            <a:ahLst/>
            <a:cxnLst/>
            <a:rect l="l" t="t" r="r" b="b"/>
            <a:pathLst>
              <a:path w="678" h="520">
                <a:moveTo>
                  <a:pt x="0" y="0"/>
                </a:moveTo>
                <a:lnTo>
                  <a:pt x="610" y="0"/>
                </a:lnTo>
                <a:lnTo>
                  <a:pt x="610" y="218"/>
                </a:lnTo>
                <a:lnTo>
                  <a:pt x="625" y="227"/>
                </a:lnTo>
                <a:lnTo>
                  <a:pt x="639" y="235"/>
                </a:lnTo>
                <a:lnTo>
                  <a:pt x="652" y="243"/>
                </a:lnTo>
                <a:lnTo>
                  <a:pt x="663" y="251"/>
                </a:lnTo>
                <a:lnTo>
                  <a:pt x="671" y="259"/>
                </a:lnTo>
                <a:lnTo>
                  <a:pt x="676" y="267"/>
                </a:lnTo>
                <a:lnTo>
                  <a:pt x="678" y="276"/>
                </a:lnTo>
                <a:lnTo>
                  <a:pt x="676" y="284"/>
                </a:lnTo>
                <a:lnTo>
                  <a:pt x="671" y="292"/>
                </a:lnTo>
                <a:lnTo>
                  <a:pt x="663" y="300"/>
                </a:lnTo>
                <a:lnTo>
                  <a:pt x="652" y="308"/>
                </a:lnTo>
                <a:lnTo>
                  <a:pt x="639" y="316"/>
                </a:lnTo>
                <a:lnTo>
                  <a:pt x="625" y="325"/>
                </a:lnTo>
                <a:lnTo>
                  <a:pt x="610" y="333"/>
                </a:lnTo>
                <a:lnTo>
                  <a:pt x="610" y="520"/>
                </a:lnTo>
                <a:lnTo>
                  <a:pt x="0" y="520"/>
                </a:lnTo>
                <a:lnTo>
                  <a:pt x="0" y="333"/>
                </a:lnTo>
                <a:lnTo>
                  <a:pt x="0" y="0"/>
                </a:lnTo>
                <a:close/>
              </a:path>
            </a:pathLst>
          </a:custGeom>
          <a:solidFill>
            <a:srgbClr val="3468AA"/>
          </a:solidFill>
          <a:ln w="1651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6803136" y="1769363"/>
            <a:ext cx="429768" cy="123626"/>
          </a:xfrm>
          <a:prstGeom prst="rect">
            <a:avLst/>
          </a:prstGeom>
          <a:noFill/>
        </p:spPr>
        <p:txBody>
          <a:bodyPr wrap="square" lIns="22860" tIns="0" rIns="22860" bIns="0" anchor="ctr">
            <a:noAutofit/>
          </a:bodyPr>
          <a:lstStyle/>
          <a:p>
            <a:pPr algn="ctr">
              <a:lnSpc>
                <a:spcPct val="108000"/>
              </a:lnSpc>
              <a:spcBef>
                <a:spcPts val="0"/>
              </a:spcBef>
              <a:spcAft>
                <a:spcPts val="0"/>
              </a:spcAft>
            </a:pPr>
            <a:r>
              <a:rPr sz="1050" b="1">
                <a:solidFill>
                  <a:srgbClr val="FFFFFF"/>
                </a:solidFill>
                <a:latin typeface="Noto Sans"/>
              </a:rPr>
              <a:t>T4</a:t>
            </a:r>
          </a:p>
        </p:txBody>
      </p:sp>
      <p:sp>
        <p:nvSpPr>
          <p:cNvPr id="35" name="TextBox 34"/>
          <p:cNvSpPr txBox="1"/>
          <p:nvPr/>
        </p:nvSpPr>
        <p:spPr>
          <a:xfrm>
            <a:off x="6761988" y="1889881"/>
            <a:ext cx="489204" cy="209214"/>
          </a:xfrm>
          <a:prstGeom prst="rect">
            <a:avLst/>
          </a:prstGeom>
          <a:noFill/>
        </p:spPr>
        <p:txBody>
          <a:bodyPr wrap="square" lIns="22860" tIns="0" rIns="22860" bIns="0" anchor="ctr">
            <a:noAutofit/>
          </a:bodyPr>
          <a:lstStyle/>
          <a:p>
            <a:pPr algn="ctr">
              <a:lnSpc>
                <a:spcPct val="108000"/>
              </a:lnSpc>
              <a:spcBef>
                <a:spcPts val="0"/>
              </a:spcBef>
              <a:spcAft>
                <a:spcPts val="0"/>
              </a:spcAft>
            </a:pPr>
            <a:r>
              <a:rPr sz="950" b="1">
                <a:solidFill>
                  <a:srgbClr val="FFFFFF"/>
                </a:solidFill>
                <a:latin typeface="Noto Sans"/>
              </a:rPr>
              <a:t>Node4</a:t>
            </a:r>
          </a:p>
        </p:txBody>
      </p:sp>
      <p:sp>
        <p:nvSpPr>
          <p:cNvPr id="36" name="Freeform 35"/>
          <p:cNvSpPr/>
          <p:nvPr/>
        </p:nvSpPr>
        <p:spPr>
          <a:xfrm>
            <a:off x="7278624" y="1728216"/>
            <a:ext cx="619963" cy="475488"/>
          </a:xfrm>
          <a:custGeom>
            <a:avLst/>
            <a:gdLst/>
            <a:ahLst/>
            <a:cxnLst/>
            <a:rect l="l" t="t" r="r" b="b"/>
            <a:pathLst>
              <a:path w="678" h="520">
                <a:moveTo>
                  <a:pt x="0" y="0"/>
                </a:moveTo>
                <a:lnTo>
                  <a:pt x="610" y="0"/>
                </a:lnTo>
                <a:lnTo>
                  <a:pt x="610" y="218"/>
                </a:lnTo>
                <a:lnTo>
                  <a:pt x="625" y="227"/>
                </a:lnTo>
                <a:lnTo>
                  <a:pt x="639" y="235"/>
                </a:lnTo>
                <a:lnTo>
                  <a:pt x="652" y="243"/>
                </a:lnTo>
                <a:lnTo>
                  <a:pt x="663" y="251"/>
                </a:lnTo>
                <a:lnTo>
                  <a:pt x="671" y="259"/>
                </a:lnTo>
                <a:lnTo>
                  <a:pt x="676" y="267"/>
                </a:lnTo>
                <a:lnTo>
                  <a:pt x="678" y="276"/>
                </a:lnTo>
                <a:lnTo>
                  <a:pt x="676" y="284"/>
                </a:lnTo>
                <a:lnTo>
                  <a:pt x="671" y="292"/>
                </a:lnTo>
                <a:lnTo>
                  <a:pt x="663" y="300"/>
                </a:lnTo>
                <a:lnTo>
                  <a:pt x="652" y="308"/>
                </a:lnTo>
                <a:lnTo>
                  <a:pt x="639" y="316"/>
                </a:lnTo>
                <a:lnTo>
                  <a:pt x="625" y="325"/>
                </a:lnTo>
                <a:lnTo>
                  <a:pt x="610" y="333"/>
                </a:lnTo>
                <a:lnTo>
                  <a:pt x="610" y="520"/>
                </a:lnTo>
                <a:lnTo>
                  <a:pt x="0" y="520"/>
                </a:lnTo>
                <a:lnTo>
                  <a:pt x="0" y="333"/>
                </a:lnTo>
                <a:lnTo>
                  <a:pt x="15" y="325"/>
                </a:lnTo>
                <a:lnTo>
                  <a:pt x="29" y="316"/>
                </a:lnTo>
                <a:lnTo>
                  <a:pt x="42" y="308"/>
                </a:lnTo>
                <a:lnTo>
                  <a:pt x="53" y="300"/>
                </a:lnTo>
                <a:lnTo>
                  <a:pt x="61" y="292"/>
                </a:lnTo>
                <a:lnTo>
                  <a:pt x="66" y="284"/>
                </a:lnTo>
                <a:lnTo>
                  <a:pt x="68" y="276"/>
                </a:lnTo>
                <a:lnTo>
                  <a:pt x="66" y="267"/>
                </a:lnTo>
                <a:lnTo>
                  <a:pt x="61" y="259"/>
                </a:lnTo>
                <a:lnTo>
                  <a:pt x="53" y="251"/>
                </a:lnTo>
                <a:lnTo>
                  <a:pt x="42" y="243"/>
                </a:lnTo>
                <a:lnTo>
                  <a:pt x="29" y="235"/>
                </a:lnTo>
                <a:lnTo>
                  <a:pt x="15" y="227"/>
                </a:lnTo>
                <a:lnTo>
                  <a:pt x="0" y="218"/>
                </a:lnTo>
                <a:lnTo>
                  <a:pt x="0" y="0"/>
                </a:lnTo>
                <a:close/>
              </a:path>
            </a:pathLst>
          </a:custGeom>
          <a:solidFill>
            <a:srgbClr val="00878C"/>
          </a:solidFill>
          <a:ln w="1651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7360920" y="1769363"/>
            <a:ext cx="429768" cy="123626"/>
          </a:xfrm>
          <a:prstGeom prst="rect">
            <a:avLst/>
          </a:prstGeom>
          <a:noFill/>
        </p:spPr>
        <p:txBody>
          <a:bodyPr wrap="square" lIns="22860" tIns="0" rIns="22860" bIns="0" anchor="ctr">
            <a:noAutofit/>
          </a:bodyPr>
          <a:lstStyle/>
          <a:p>
            <a:pPr algn="ctr">
              <a:lnSpc>
                <a:spcPct val="108000"/>
              </a:lnSpc>
              <a:spcBef>
                <a:spcPts val="0"/>
              </a:spcBef>
              <a:spcAft>
                <a:spcPts val="0"/>
              </a:spcAft>
            </a:pPr>
            <a:r>
              <a:rPr sz="1050" b="1">
                <a:solidFill>
                  <a:srgbClr val="FFFFFF"/>
                </a:solidFill>
                <a:latin typeface="Noto Sans"/>
              </a:rPr>
              <a:t>T5</a:t>
            </a:r>
          </a:p>
        </p:txBody>
      </p:sp>
      <p:sp>
        <p:nvSpPr>
          <p:cNvPr id="38" name="TextBox 37"/>
          <p:cNvSpPr txBox="1"/>
          <p:nvPr/>
        </p:nvSpPr>
        <p:spPr>
          <a:xfrm>
            <a:off x="7319772" y="1889881"/>
            <a:ext cx="489204" cy="209214"/>
          </a:xfrm>
          <a:prstGeom prst="rect">
            <a:avLst/>
          </a:prstGeom>
          <a:noFill/>
        </p:spPr>
        <p:txBody>
          <a:bodyPr wrap="square" lIns="22860" tIns="0" rIns="22860" bIns="0" anchor="ctr">
            <a:noAutofit/>
          </a:bodyPr>
          <a:lstStyle/>
          <a:p>
            <a:pPr algn="ctr">
              <a:lnSpc>
                <a:spcPct val="108000"/>
              </a:lnSpc>
              <a:spcBef>
                <a:spcPts val="0"/>
              </a:spcBef>
              <a:spcAft>
                <a:spcPts val="0"/>
              </a:spcAft>
            </a:pPr>
            <a:r>
              <a:rPr sz="950" b="1">
                <a:solidFill>
                  <a:srgbClr val="FFFFFF"/>
                </a:solidFill>
                <a:latin typeface="Noto Sans"/>
              </a:rPr>
              <a:t>Align</a:t>
            </a:r>
          </a:p>
        </p:txBody>
      </p:sp>
      <p:sp>
        <p:nvSpPr>
          <p:cNvPr id="39" name="Freeform 38"/>
          <p:cNvSpPr/>
          <p:nvPr/>
        </p:nvSpPr>
        <p:spPr>
          <a:xfrm>
            <a:off x="7836408" y="1728216"/>
            <a:ext cx="557784" cy="475488"/>
          </a:xfrm>
          <a:custGeom>
            <a:avLst/>
            <a:gdLst/>
            <a:ahLst/>
            <a:cxnLst/>
            <a:rect l="l" t="t" r="r" b="b"/>
            <a:pathLst>
              <a:path w="610" h="520">
                <a:moveTo>
                  <a:pt x="0" y="0"/>
                </a:moveTo>
                <a:lnTo>
                  <a:pt x="610" y="0"/>
                </a:lnTo>
                <a:lnTo>
                  <a:pt x="610" y="218"/>
                </a:lnTo>
                <a:lnTo>
                  <a:pt x="610" y="520"/>
                </a:lnTo>
                <a:lnTo>
                  <a:pt x="0" y="520"/>
                </a:lnTo>
                <a:lnTo>
                  <a:pt x="0" y="333"/>
                </a:lnTo>
                <a:lnTo>
                  <a:pt x="15" y="325"/>
                </a:lnTo>
                <a:lnTo>
                  <a:pt x="29" y="316"/>
                </a:lnTo>
                <a:lnTo>
                  <a:pt x="42" y="308"/>
                </a:lnTo>
                <a:lnTo>
                  <a:pt x="53" y="300"/>
                </a:lnTo>
                <a:lnTo>
                  <a:pt x="61" y="292"/>
                </a:lnTo>
                <a:lnTo>
                  <a:pt x="66" y="284"/>
                </a:lnTo>
                <a:lnTo>
                  <a:pt x="68" y="276"/>
                </a:lnTo>
                <a:lnTo>
                  <a:pt x="66" y="267"/>
                </a:lnTo>
                <a:lnTo>
                  <a:pt x="61" y="259"/>
                </a:lnTo>
                <a:lnTo>
                  <a:pt x="53" y="251"/>
                </a:lnTo>
                <a:lnTo>
                  <a:pt x="42" y="243"/>
                </a:lnTo>
                <a:lnTo>
                  <a:pt x="29" y="235"/>
                </a:lnTo>
                <a:lnTo>
                  <a:pt x="15" y="227"/>
                </a:lnTo>
                <a:lnTo>
                  <a:pt x="0" y="218"/>
                </a:lnTo>
                <a:lnTo>
                  <a:pt x="0" y="0"/>
                </a:lnTo>
                <a:close/>
              </a:path>
            </a:pathLst>
          </a:custGeom>
          <a:solidFill>
            <a:srgbClr val="AD731A"/>
          </a:solidFill>
          <a:ln w="1651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7918704" y="1769363"/>
            <a:ext cx="429768" cy="123626"/>
          </a:xfrm>
          <a:prstGeom prst="rect">
            <a:avLst/>
          </a:prstGeom>
          <a:noFill/>
        </p:spPr>
        <p:txBody>
          <a:bodyPr wrap="square" lIns="22860" tIns="0" rIns="22860" bIns="0" anchor="ctr">
            <a:noAutofit/>
          </a:bodyPr>
          <a:lstStyle/>
          <a:p>
            <a:pPr algn="ctr">
              <a:lnSpc>
                <a:spcPct val="108000"/>
              </a:lnSpc>
              <a:spcBef>
                <a:spcPts val="0"/>
              </a:spcBef>
              <a:spcAft>
                <a:spcPts val="0"/>
              </a:spcAft>
            </a:pPr>
            <a:r>
              <a:rPr sz="1050" b="1">
                <a:solidFill>
                  <a:srgbClr val="FFFFFF"/>
                </a:solidFill>
                <a:latin typeface="Noto Sans"/>
              </a:rPr>
              <a:t>T6</a:t>
            </a:r>
          </a:p>
        </p:txBody>
      </p:sp>
      <p:sp>
        <p:nvSpPr>
          <p:cNvPr id="41" name="TextBox 40"/>
          <p:cNvSpPr txBox="1"/>
          <p:nvPr/>
        </p:nvSpPr>
        <p:spPr>
          <a:xfrm>
            <a:off x="7877556" y="1889881"/>
            <a:ext cx="489204" cy="209214"/>
          </a:xfrm>
          <a:prstGeom prst="rect">
            <a:avLst/>
          </a:prstGeom>
          <a:noFill/>
        </p:spPr>
        <p:txBody>
          <a:bodyPr wrap="square" lIns="22860" tIns="0" rIns="22860" bIns="0" anchor="ctr">
            <a:noAutofit/>
          </a:bodyPr>
          <a:lstStyle/>
          <a:p>
            <a:pPr algn="ctr">
              <a:lnSpc>
                <a:spcPct val="108000"/>
              </a:lnSpc>
              <a:spcBef>
                <a:spcPts val="0"/>
              </a:spcBef>
              <a:spcAft>
                <a:spcPts val="0"/>
              </a:spcAft>
            </a:pPr>
            <a:r>
              <a:rPr sz="950" b="1">
                <a:solidFill>
                  <a:srgbClr val="FFFFFF"/>
                </a:solidFill>
                <a:latin typeface="Noto Sans"/>
              </a:rPr>
              <a:t>Alloc.</a:t>
            </a:r>
          </a:p>
        </p:txBody>
      </p:sp>
      <p:cxnSp>
        <p:nvCxnSpPr>
          <p:cNvPr id="42" name="Connector 41"/>
          <p:cNvCxnSpPr/>
          <p:nvPr/>
        </p:nvCxnSpPr>
        <p:spPr>
          <a:xfrm>
            <a:off x="6565392" y="1956816"/>
            <a:ext cx="146304" cy="0"/>
          </a:xfrm>
          <a:prstGeom prst="line">
            <a:avLst/>
          </a:prstGeom>
          <a:ln w="19050">
            <a:solidFill>
              <a:srgbClr val="6A57A1"/>
            </a:solidFill>
            <a:tailEnd type="triangle" w="sm" len="sm"/>
          </a:ln>
        </p:spPr>
        <p:style>
          <a:lnRef idx="2">
            <a:schemeClr val="accent1"/>
          </a:lnRef>
          <a:fillRef idx="0">
            <a:schemeClr val="accent1"/>
          </a:fillRef>
          <a:effectRef idx="1">
            <a:schemeClr val="accent1"/>
          </a:effectRef>
          <a:fontRef idx="minor">
            <a:schemeClr val="tx1"/>
          </a:fontRef>
        </p:style>
      </p:cxnSp>
      <p:sp>
        <p:nvSpPr>
          <p:cNvPr id="43" name="TextBox 42"/>
          <p:cNvSpPr txBox="1"/>
          <p:nvPr/>
        </p:nvSpPr>
        <p:spPr>
          <a:xfrm>
            <a:off x="5925312" y="2322576"/>
            <a:ext cx="2569464" cy="201168"/>
          </a:xfrm>
          <a:prstGeom prst="rect">
            <a:avLst/>
          </a:prstGeom>
          <a:noFill/>
        </p:spPr>
        <p:txBody>
          <a:bodyPr wrap="square" lIns="22860" tIns="0" rIns="22860" bIns="0" anchor="ctr">
            <a:noAutofit/>
          </a:bodyPr>
          <a:lstStyle/>
          <a:p>
            <a:pPr algn="ctr">
              <a:lnSpc>
                <a:spcPct val="108000"/>
              </a:lnSpc>
              <a:spcBef>
                <a:spcPts val="0"/>
              </a:spcBef>
              <a:spcAft>
                <a:spcPts val="0"/>
              </a:spcAft>
            </a:pPr>
            <a:r>
              <a:rPr sz="1050" b="0">
                <a:solidFill>
                  <a:srgbClr val="657487"/>
                </a:solidFill>
                <a:latin typeface="Noto Sans"/>
              </a:rPr>
              <a:t>One body; all strategy slots bound.</a:t>
            </a:r>
          </a:p>
        </p:txBody>
      </p:sp>
      <p:cxnSp>
        <p:nvCxnSpPr>
          <p:cNvPr id="44" name="Connector 43"/>
          <p:cNvCxnSpPr/>
          <p:nvPr/>
        </p:nvCxnSpPr>
        <p:spPr>
          <a:xfrm>
            <a:off x="5394960" y="1801368"/>
            <a:ext cx="301752" cy="0"/>
          </a:xfrm>
          <a:prstGeom prst="line">
            <a:avLst/>
          </a:prstGeom>
          <a:ln w="19050">
            <a:solidFill>
              <a:srgbClr val="041447"/>
            </a:solidFill>
            <a:tailEnd type="triangle" w="sm" len="sm"/>
          </a:ln>
        </p:spPr>
        <p:style>
          <a:lnRef idx="2">
            <a:schemeClr val="accent1"/>
          </a:lnRef>
          <a:fillRef idx="0">
            <a:schemeClr val="accent1"/>
          </a:fillRef>
          <a:effectRef idx="1">
            <a:schemeClr val="accent1"/>
          </a:effectRef>
          <a:fontRef idx="minor">
            <a:schemeClr val="tx1"/>
          </a:fontRef>
        </p:style>
      </p:cxnSp>
      <p:sp>
        <p:nvSpPr>
          <p:cNvPr id="45" name="Rounded Rectangle 44"/>
          <p:cNvSpPr/>
          <p:nvPr/>
        </p:nvSpPr>
        <p:spPr>
          <a:xfrm>
            <a:off x="3401568" y="2596896"/>
            <a:ext cx="2286000" cy="320040"/>
          </a:xfrm>
          <a:prstGeom prst="roundRect">
            <a:avLst>
              <a:gd name="adj" fmla="val 6000"/>
            </a:avLst>
          </a:prstGeom>
          <a:solidFill>
            <a:srgbClr val="FFFFFF"/>
          </a:solidFill>
          <a:ln w="15240">
            <a:solidFill>
              <a:srgbClr val="65748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3424428" y="2601468"/>
            <a:ext cx="2240280" cy="310896"/>
          </a:xfrm>
          <a:prstGeom prst="rect">
            <a:avLst/>
          </a:prstGeom>
          <a:noFill/>
        </p:spPr>
        <p:txBody>
          <a:bodyPr wrap="square" lIns="22860" tIns="0" rIns="22860" bIns="0" anchor="ctr">
            <a:noAutofit/>
          </a:bodyPr>
          <a:lstStyle/>
          <a:p>
            <a:pPr algn="ctr">
              <a:lnSpc>
                <a:spcPct val="108000"/>
              </a:lnSpc>
              <a:spcBef>
                <a:spcPts val="0"/>
              </a:spcBef>
              <a:spcAft>
                <a:spcPts val="0"/>
              </a:spcAft>
            </a:pPr>
            <a:r>
              <a:rPr sz="1060" b="0">
                <a:solidFill>
                  <a:srgbClr val="657487"/>
                </a:solidFill>
                <a:latin typeface="Noto Sans"/>
              </a:rPr>
              <a:t>Component library + plugin</a:t>
            </a:r>
          </a:p>
        </p:txBody>
      </p:sp>
      <p:cxnSp>
        <p:nvCxnSpPr>
          <p:cNvPr id="47" name="Connector 46"/>
          <p:cNvCxnSpPr/>
          <p:nvPr/>
        </p:nvCxnSpPr>
        <p:spPr>
          <a:xfrm flipV="1">
            <a:off x="4581144" y="2340864"/>
            <a:ext cx="0" cy="256032"/>
          </a:xfrm>
          <a:prstGeom prst="line">
            <a:avLst/>
          </a:prstGeom>
          <a:ln w="13335">
            <a:solidFill>
              <a:srgbClr val="657487"/>
            </a:solidFill>
            <a:tailEnd type="triangle" w="sm" len="sm"/>
          </a:ln>
        </p:spPr>
        <p:style>
          <a:lnRef idx="2">
            <a:schemeClr val="accent1"/>
          </a:lnRef>
          <a:fillRef idx="0">
            <a:schemeClr val="accent1"/>
          </a:fillRef>
          <a:effectRef idx="1">
            <a:schemeClr val="accent1"/>
          </a:effectRef>
          <a:fontRef idx="minor">
            <a:schemeClr val="tx1"/>
          </a:fontRef>
        </p:style>
      </p:cxnSp>
      <p:grpSp>
        <p:nvGrpSpPr>
          <p:cNvPr id="56" name="MEASURE: check and exercise the complete candidate"/>
          <p:cNvGrpSpPr/>
          <p:nvPr/>
        </p:nvGrpSpPr>
        <p:grpSpPr>
          <a:xfrm>
            <a:off x="3593592" y="2688336"/>
            <a:ext cx="5120640" cy="1152144"/>
            <a:chOff x="3593592" y="2688336"/>
            <a:chExt cx="5120640" cy="1152144"/>
          </a:xfrm>
        </p:grpSpPr>
        <p:cxnSp>
          <p:nvCxnSpPr>
            <p:cNvPr id="48" name="Connector 47"/>
            <p:cNvCxnSpPr/>
            <p:nvPr/>
          </p:nvCxnSpPr>
          <p:spPr>
            <a:xfrm>
              <a:off x="7223760" y="2688336"/>
              <a:ext cx="0" cy="347472"/>
            </a:xfrm>
            <a:prstGeom prst="line">
              <a:avLst/>
            </a:prstGeom>
            <a:ln w="19050">
              <a:solidFill>
                <a:srgbClr val="041447"/>
              </a:solidFill>
              <a:tailEnd type="triangle" w="sm" len="sm"/>
            </a:ln>
          </p:spPr>
          <p:style>
            <a:lnRef idx="2">
              <a:schemeClr val="accent1"/>
            </a:lnRef>
            <a:fillRef idx="0">
              <a:schemeClr val="accent1"/>
            </a:fillRef>
            <a:effectRef idx="1">
              <a:schemeClr val="accent1"/>
            </a:effectRef>
            <a:fontRef idx="minor">
              <a:schemeClr val="tx1"/>
            </a:fontRef>
          </p:style>
        </p:cxnSp>
        <p:sp>
          <p:nvSpPr>
            <p:cNvPr id="49" name="Rounded Rectangle 48"/>
            <p:cNvSpPr/>
            <p:nvPr/>
          </p:nvSpPr>
          <p:spPr>
            <a:xfrm>
              <a:off x="5961888" y="3072384"/>
              <a:ext cx="2752344" cy="768096"/>
            </a:xfrm>
            <a:prstGeom prst="roundRect">
              <a:avLst>
                <a:gd name="adj" fmla="val 6000"/>
              </a:avLst>
            </a:prstGeom>
            <a:solidFill>
              <a:srgbClr val="EFF7F2"/>
            </a:solidFill>
            <a:ln w="11430">
              <a:solidFill>
                <a:srgbClr val="2F745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6053328" y="3136392"/>
              <a:ext cx="2569464" cy="283464"/>
            </a:xfrm>
            <a:prstGeom prst="rect">
              <a:avLst/>
            </a:prstGeom>
            <a:noFill/>
          </p:spPr>
          <p:txBody>
            <a:bodyPr wrap="square" lIns="22860" tIns="0" rIns="22860" bIns="0" anchor="ctr">
              <a:noAutofit/>
            </a:bodyPr>
            <a:lstStyle/>
            <a:p>
              <a:pPr algn="ctr">
                <a:lnSpc>
                  <a:spcPct val="108000"/>
                </a:lnSpc>
                <a:spcBef>
                  <a:spcPts val="0"/>
                </a:spcBef>
                <a:spcAft>
                  <a:spcPts val="0"/>
                </a:spcAft>
              </a:pPr>
              <a:r>
                <a:rPr sz="1300" b="1">
                  <a:solidFill>
                    <a:srgbClr val="2F7458"/>
                  </a:solidFill>
                  <a:latin typeface="Noto Sans"/>
                </a:rPr>
                <a:t>Conform → drive → observe</a:t>
              </a:r>
            </a:p>
          </p:txBody>
        </p:sp>
        <p:sp>
          <p:nvSpPr>
            <p:cNvPr id="51" name="TextBox 50"/>
            <p:cNvSpPr txBox="1"/>
            <p:nvPr/>
          </p:nvSpPr>
          <p:spPr>
            <a:xfrm>
              <a:off x="6053328" y="3502152"/>
              <a:ext cx="2569464" cy="210312"/>
            </a:xfrm>
            <a:prstGeom prst="rect">
              <a:avLst/>
            </a:prstGeom>
            <a:noFill/>
          </p:spPr>
          <p:txBody>
            <a:bodyPr wrap="square" lIns="22860" tIns="0" rIns="22860" bIns="0" anchor="ctr">
              <a:noAutofit/>
            </a:bodyPr>
            <a:lstStyle/>
            <a:p>
              <a:pPr algn="ctr">
                <a:lnSpc>
                  <a:spcPct val="108000"/>
                </a:lnSpc>
                <a:spcBef>
                  <a:spcPts val="0"/>
                </a:spcBef>
                <a:spcAft>
                  <a:spcPts val="0"/>
                </a:spcAft>
              </a:pPr>
              <a:r>
                <a:rPr sz="1070" b="0">
                  <a:solidFill>
                    <a:srgbClr val="23364B"/>
                  </a:solidFill>
                  <a:latin typeface="Noto Sans"/>
                </a:rPr>
                <a:t>same inputs · checked result</a:t>
              </a:r>
            </a:p>
          </p:txBody>
        </p:sp>
        <p:sp>
          <p:nvSpPr>
            <p:cNvPr id="52" name="Rounded Rectangle 51"/>
            <p:cNvSpPr/>
            <p:nvPr/>
          </p:nvSpPr>
          <p:spPr>
            <a:xfrm>
              <a:off x="3593592" y="3072384"/>
              <a:ext cx="2039112" cy="768096"/>
            </a:xfrm>
            <a:prstGeom prst="roundRect">
              <a:avLst>
                <a:gd name="adj" fmla="val 6000"/>
              </a:avLst>
            </a:prstGeom>
            <a:solidFill>
              <a:srgbClr val="F1F5F8"/>
            </a:solidFill>
            <a:ln w="11430">
              <a:solidFill>
                <a:srgbClr val="04144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3666744" y="3145536"/>
              <a:ext cx="1892807" cy="265176"/>
            </a:xfrm>
            <a:prstGeom prst="rect">
              <a:avLst/>
            </a:prstGeom>
            <a:noFill/>
          </p:spPr>
          <p:txBody>
            <a:bodyPr wrap="square" lIns="22860" tIns="0" rIns="22860" bIns="0" anchor="ctr">
              <a:noAutofit/>
            </a:bodyPr>
            <a:lstStyle/>
            <a:p>
              <a:pPr algn="ctr">
                <a:lnSpc>
                  <a:spcPct val="108000"/>
                </a:lnSpc>
                <a:spcBef>
                  <a:spcPts val="0"/>
                </a:spcBef>
                <a:spcAft>
                  <a:spcPts val="0"/>
                </a:spcAft>
              </a:pPr>
              <a:r>
                <a:rPr sz="1250" b="1">
                  <a:solidFill>
                    <a:srgbClr val="041447"/>
                  </a:solidFill>
                  <a:latin typeface="Noto Sans"/>
                </a:rPr>
                <a:t>Valid measurement</a:t>
              </a:r>
            </a:p>
          </p:txBody>
        </p:sp>
        <p:sp>
          <p:nvSpPr>
            <p:cNvPr id="54" name="TextBox 53"/>
            <p:cNvSpPr txBox="1"/>
            <p:nvPr/>
          </p:nvSpPr>
          <p:spPr>
            <a:xfrm>
              <a:off x="3666744" y="3511296"/>
              <a:ext cx="1892807" cy="201168"/>
            </a:xfrm>
            <a:prstGeom prst="rect">
              <a:avLst/>
            </a:prstGeom>
            <a:noFill/>
          </p:spPr>
          <p:txBody>
            <a:bodyPr wrap="square" lIns="22860" tIns="0" rIns="22860" bIns="0" anchor="ctr">
              <a:noAutofit/>
            </a:bodyPr>
            <a:lstStyle/>
            <a:p>
              <a:pPr algn="ctr">
                <a:lnSpc>
                  <a:spcPct val="108000"/>
                </a:lnSpc>
                <a:spcBef>
                  <a:spcPts val="0"/>
                </a:spcBef>
                <a:spcAft>
                  <a:spcPts val="0"/>
                </a:spcAft>
              </a:pPr>
              <a:r>
                <a:rPr sz="1019" b="0">
                  <a:solidFill>
                    <a:srgbClr val="23364B"/>
                  </a:solidFill>
                  <a:latin typeface="Noto Sans"/>
                </a:rPr>
                <a:t>identity + settings + cost</a:t>
              </a:r>
            </a:p>
          </p:txBody>
        </p:sp>
        <p:cxnSp>
          <p:nvCxnSpPr>
            <p:cNvPr id="55" name="Connector 54"/>
            <p:cNvCxnSpPr/>
            <p:nvPr/>
          </p:nvCxnSpPr>
          <p:spPr>
            <a:xfrm flipH="1">
              <a:off x="5660136" y="3456432"/>
              <a:ext cx="274320" cy="0"/>
            </a:xfrm>
            <a:prstGeom prst="line">
              <a:avLst/>
            </a:prstGeom>
            <a:ln w="19050">
              <a:solidFill>
                <a:srgbClr val="2F7458"/>
              </a:solidFill>
              <a:tailEnd type="triangle" w="sm" len="sm"/>
            </a:ln>
          </p:spPr>
          <p:style>
            <a:lnRef idx="2">
              <a:schemeClr val="accent1"/>
            </a:lnRef>
            <a:fillRef idx="0">
              <a:schemeClr val="accent1"/>
            </a:fillRef>
            <a:effectRef idx="1">
              <a:schemeClr val="accent1"/>
            </a:effectRef>
            <a:fontRef idx="minor">
              <a:schemeClr val="tx1"/>
            </a:fontRef>
          </p:style>
        </p:cxnSp>
      </p:grpSp>
      <p:grpSp>
        <p:nvGrpSpPr>
          <p:cNvPr id="61" name="EVALUATE: compare assembled candidates, not disconnected micro-kernels"/>
          <p:cNvGrpSpPr/>
          <p:nvPr/>
        </p:nvGrpSpPr>
        <p:grpSpPr>
          <a:xfrm>
            <a:off x="393192" y="3072384"/>
            <a:ext cx="3172968" cy="768096"/>
            <a:chOff x="393192" y="3072384"/>
            <a:chExt cx="3172968" cy="768096"/>
          </a:xfrm>
        </p:grpSpPr>
        <p:sp>
          <p:nvSpPr>
            <p:cNvPr id="57" name="Rounded Rectangle 56"/>
            <p:cNvSpPr/>
            <p:nvPr/>
          </p:nvSpPr>
          <p:spPr>
            <a:xfrm>
              <a:off x="393192" y="3072384"/>
              <a:ext cx="2852928" cy="768096"/>
            </a:xfrm>
            <a:prstGeom prst="roundRect">
              <a:avLst>
                <a:gd name="adj" fmla="val 6000"/>
              </a:avLst>
            </a:prstGeom>
            <a:solidFill>
              <a:srgbClr val="F0EDF7"/>
            </a:solidFill>
            <a:ln w="11430">
              <a:solidFill>
                <a:srgbClr val="6A57A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TextBox 57"/>
            <p:cNvSpPr txBox="1"/>
            <p:nvPr/>
          </p:nvSpPr>
          <p:spPr>
            <a:xfrm>
              <a:off x="493776" y="3145536"/>
              <a:ext cx="2651760" cy="274320"/>
            </a:xfrm>
            <a:prstGeom prst="rect">
              <a:avLst/>
            </a:prstGeom>
            <a:noFill/>
          </p:spPr>
          <p:txBody>
            <a:bodyPr wrap="square" lIns="22860" tIns="0" rIns="22860" bIns="0" anchor="ctr">
              <a:noAutofit/>
            </a:bodyPr>
            <a:lstStyle/>
            <a:p>
              <a:pPr algn="ctr">
                <a:lnSpc>
                  <a:spcPct val="108000"/>
                </a:lnSpc>
                <a:spcBef>
                  <a:spcPts val="0"/>
                </a:spcBef>
                <a:spcAft>
                  <a:spcPts val="0"/>
                </a:spcAft>
              </a:pPr>
              <a:r>
                <a:rPr sz="1400" b="1">
                  <a:solidFill>
                    <a:srgbClr val="6A57A1"/>
                  </a:solidFill>
                  <a:latin typeface="Noto Sans"/>
                </a:rPr>
                <a:t>Compare / select</a:t>
              </a:r>
            </a:p>
          </p:txBody>
        </p:sp>
        <p:sp>
          <p:nvSpPr>
            <p:cNvPr id="59" name="TextBox 58"/>
            <p:cNvSpPr txBox="1"/>
            <p:nvPr/>
          </p:nvSpPr>
          <p:spPr>
            <a:xfrm>
              <a:off x="493776" y="3502152"/>
              <a:ext cx="2651760" cy="201168"/>
            </a:xfrm>
            <a:prstGeom prst="rect">
              <a:avLst/>
            </a:prstGeom>
            <a:noFill/>
          </p:spPr>
          <p:txBody>
            <a:bodyPr wrap="square" lIns="22860" tIns="0" rIns="22860" bIns="0" anchor="ctr">
              <a:noAutofit/>
            </a:bodyPr>
            <a:lstStyle/>
            <a:p>
              <a:pPr algn="ctr">
                <a:lnSpc>
                  <a:spcPct val="108000"/>
                </a:lnSpc>
                <a:spcBef>
                  <a:spcPts val="0"/>
                </a:spcBef>
                <a:spcAft>
                  <a:spcPts val="0"/>
                </a:spcAft>
              </a:pPr>
              <a:r>
                <a:rPr sz="1050" b="0">
                  <a:solidFill>
                    <a:srgbClr val="23364B"/>
                  </a:solidFill>
                  <a:latin typeface="Noto Sans"/>
                </a:rPr>
                <a:t>which composition fits the workload?</a:t>
              </a:r>
            </a:p>
          </p:txBody>
        </p:sp>
        <p:cxnSp>
          <p:nvCxnSpPr>
            <p:cNvPr id="60" name="Connector 59"/>
            <p:cNvCxnSpPr/>
            <p:nvPr/>
          </p:nvCxnSpPr>
          <p:spPr>
            <a:xfrm flipH="1">
              <a:off x="3273552" y="3456432"/>
              <a:ext cx="292608" cy="0"/>
            </a:xfrm>
            <a:prstGeom prst="line">
              <a:avLst/>
            </a:prstGeom>
            <a:ln w="19050">
              <a:solidFill>
                <a:srgbClr val="6A57A1"/>
              </a:solidFill>
              <a:tailEnd type="triangle" w="sm" len="sm"/>
            </a:ln>
          </p:spPr>
          <p:style>
            <a:lnRef idx="2">
              <a:schemeClr val="accent1"/>
            </a:lnRef>
            <a:fillRef idx="0">
              <a:schemeClr val="accent1"/>
            </a:fillRef>
            <a:effectRef idx="1">
              <a:schemeClr val="accent1"/>
            </a:effectRef>
            <a:fontRef idx="minor">
              <a:schemeClr val="tx1"/>
            </a:fontRef>
          </p:style>
        </p:cxnSp>
      </p:grpSp>
      <p:sp>
        <p:nvSpPr>
          <p:cNvPr id="62" name="Rectangle 61"/>
          <p:cNvSpPr/>
          <p:nvPr/>
        </p:nvSpPr>
        <p:spPr>
          <a:xfrm>
            <a:off x="329184" y="4096512"/>
            <a:ext cx="8458200" cy="356616"/>
          </a:xfrm>
          <a:prstGeom prst="rect">
            <a:avLst/>
          </a:prstGeom>
          <a:solidFill>
            <a:srgbClr val="EAF0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p:cNvSpPr txBox="1"/>
          <p:nvPr/>
        </p:nvSpPr>
        <p:spPr>
          <a:xfrm>
            <a:off x="438912" y="4114800"/>
            <a:ext cx="8211312" cy="310896"/>
          </a:xfrm>
          <a:prstGeom prst="rect">
            <a:avLst/>
          </a:prstGeom>
          <a:noFill/>
        </p:spPr>
        <p:txBody>
          <a:bodyPr wrap="square" lIns="22860" tIns="0" rIns="22860" bIns="0" anchor="ctr">
            <a:noAutofit/>
          </a:bodyPr>
          <a:lstStyle/>
          <a:p>
            <a:pPr algn="l">
              <a:lnSpc>
                <a:spcPct val="108000"/>
              </a:lnSpc>
              <a:spcBef>
                <a:spcPts val="0"/>
              </a:spcBef>
              <a:spcAft>
                <a:spcPts val="0"/>
              </a:spcAft>
            </a:pPr>
            <a:r>
              <a:rPr sz="1300" b="1">
                <a:solidFill>
                  <a:srgbClr val="041447"/>
                </a:solidFill>
                <a:latin typeface="Noto Sans"/>
              </a:rPr>
              <a:t>Each candidate differs by a declared choice; its entire wired algorithm is measured.</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presetID="1" presetClass="entr" presetSubtype="0" fill="hold" nodeType="clickEffect">
                            <p:stCondLst>
                              <p:cond delay="0"/>
                            </p:stCondLst>
                            <p:childTnLst>
                              <p:set>
                                <p:cBhvr>
                                  <p:cTn id="5" dur="1" fill="hold">
                                    <p:stCondLst>
                                      <p:cond delay="0"/>
                                    </p:stCondLst>
                                  </p:cTn>
                                  <p:tgtEl>
                                    <p:spTgt spid="56"/>
                                  </p:tgtEl>
                                  <p:attrNameLst>
                                    <p:attrName>style.visibility</p:attrName>
                                  </p:attrNameLst>
                                </p:cBhvr>
                                <p:to>
                                  <p:strVal val="visible"/>
                                </p:to>
                              </p:set>
                            </p:childTnLst>
                          </p:cTn>
                        </p:par>
                      </p:childTnLst>
                    </p:cTn>
                  </p:par>
                  <p:par>
                    <p:cTn id="6" fill="hold">
                      <p:stCondLst>
                        <p:cond delay="indefinite"/>
                      </p:stCondLst>
                      <p:childTnLst>
                        <p:par>
                          <p:cTn id="7" presetID="1" presetClass="entr" presetSubtype="0" fill="hold" nodeType="clickEffect">
                            <p:stCondLst>
                              <p:cond delay="0"/>
                            </p:stCondLst>
                            <p:childTnLst>
                              <p:set>
                                <p:cBhvr>
                                  <p:cTn id="8" dur="1" fill="hold">
                                    <p:stCondLst>
                                      <p:cond delay="0"/>
                                    </p:stCondLst>
                                  </p:cTn>
                                  <p:tgtEl>
                                    <p:spTgt spid="61"/>
                                  </p:tgtEl>
                                  <p:attrNameLst>
                                    <p:attrName>style.visibility</p:attrName>
                                  </p:attrNameLst>
                                </p:cBhvr>
                                <p:to>
                                  <p:strVal val="visible"/>
                                </p:to>
                              </p:se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Box 1"/>
          <p:cNvSpPr txBox="1"/>
          <p:nvPr/>
        </p:nvSpPr>
        <p:spPr>
          <a:xfrm>
            <a:off x="283464" y="182880"/>
            <a:ext cx="7360920" cy="438912"/>
          </a:xfrm>
          <a:prstGeom prst="rect">
            <a:avLst/>
          </a:prstGeom>
          <a:noFill/>
        </p:spPr>
        <p:txBody>
          <a:bodyPr wrap="square" lIns="9144" tIns="0" rIns="9144" bIns="0" anchor="ctr">
            <a:spAutoFit/>
          </a:bodyPr>
          <a:lstStyle/>
          <a:p>
            <a:pPr algn="l">
              <a:spcBef>
                <a:spcPts val="0"/>
              </a:spcBef>
              <a:spcAft>
                <a:spcPts val="0"/>
              </a:spcAft>
              <a:defRPr sz="2400" b="1">
                <a:solidFill>
                  <a:srgbClr val="041447"/>
                </a:solidFill>
                <a:latin typeface="Noto Sans"/>
              </a:defRPr>
            </a:pPr>
            <a:r>
              <a:t>Measure the algorithm and its organs</a:t>
            </a:r>
          </a:p>
        </p:txBody>
      </p:sp>
      <p:sp>
        <p:nvSpPr>
          <p:cNvPr id="3" name="Rectangle 2"/>
          <p:cNvSpPr/>
          <p:nvPr/>
        </p:nvSpPr>
        <p:spPr>
          <a:xfrm>
            <a:off x="310896" y="786384"/>
            <a:ext cx="1197864" cy="45720"/>
          </a:xfrm>
          <a:prstGeom prst="rect">
            <a:avLst/>
          </a:prstGeom>
          <a:solidFill>
            <a:srgbClr val="D2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10896" y="621792"/>
            <a:ext cx="1197864" cy="164592"/>
          </a:xfrm>
          <a:prstGeom prst="rect">
            <a:avLst/>
          </a:prstGeom>
          <a:noFill/>
        </p:spPr>
        <p:txBody>
          <a:bodyPr wrap="square" lIns="9144" tIns="0" rIns="9144" bIns="0" anchor="ctr">
            <a:spAutoFit/>
          </a:bodyPr>
          <a:lstStyle/>
          <a:p>
            <a:pPr algn="l">
              <a:spcBef>
                <a:spcPts val="0"/>
              </a:spcBef>
              <a:spcAft>
                <a:spcPts val="0"/>
              </a:spcAft>
              <a:defRPr sz="850" b="0">
                <a:solidFill>
                  <a:srgbClr val="607080"/>
                </a:solidFill>
                <a:latin typeface="Noto Sans"/>
              </a:defRPr>
            </a:pPr>
            <a:r>
              <a:t>1 Introduction</a:t>
            </a:r>
          </a:p>
        </p:txBody>
      </p:sp>
      <p:sp>
        <p:nvSpPr>
          <p:cNvPr id="5" name="Rectangle 4"/>
          <p:cNvSpPr/>
          <p:nvPr/>
        </p:nvSpPr>
        <p:spPr>
          <a:xfrm>
            <a:off x="1545336" y="786384"/>
            <a:ext cx="1243584" cy="45720"/>
          </a:xfrm>
          <a:prstGeom prst="rect">
            <a:avLst/>
          </a:prstGeom>
          <a:solidFill>
            <a:srgbClr val="D2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545336" y="621792"/>
            <a:ext cx="1243584" cy="164592"/>
          </a:xfrm>
          <a:prstGeom prst="rect">
            <a:avLst/>
          </a:prstGeom>
          <a:noFill/>
        </p:spPr>
        <p:txBody>
          <a:bodyPr wrap="square" lIns="9144" tIns="0" rIns="9144" bIns="0" anchor="ctr">
            <a:spAutoFit/>
          </a:bodyPr>
          <a:lstStyle/>
          <a:p>
            <a:pPr algn="l">
              <a:spcBef>
                <a:spcPts val="0"/>
              </a:spcBef>
              <a:spcAft>
                <a:spcPts val="0"/>
              </a:spcAft>
              <a:defRPr sz="850" b="0">
                <a:solidFill>
                  <a:srgbClr val="607080"/>
                </a:solidFill>
                <a:latin typeface="Noto Sans"/>
              </a:defRPr>
            </a:pPr>
            <a:r>
              <a:t>2 Background</a:t>
            </a:r>
          </a:p>
        </p:txBody>
      </p:sp>
      <p:sp>
        <p:nvSpPr>
          <p:cNvPr id="7" name="Rectangle 6"/>
          <p:cNvSpPr/>
          <p:nvPr/>
        </p:nvSpPr>
        <p:spPr>
          <a:xfrm>
            <a:off x="2825496" y="786384"/>
            <a:ext cx="1078992" cy="45720"/>
          </a:xfrm>
          <a:prstGeom prst="rect">
            <a:avLst/>
          </a:prstGeom>
          <a:solidFill>
            <a:srgbClr val="D2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2825496" y="621792"/>
            <a:ext cx="1078992" cy="164592"/>
          </a:xfrm>
          <a:prstGeom prst="rect">
            <a:avLst/>
          </a:prstGeom>
          <a:noFill/>
        </p:spPr>
        <p:txBody>
          <a:bodyPr wrap="square" lIns="9144" tIns="0" rIns="9144" bIns="0" anchor="ctr">
            <a:spAutoFit/>
          </a:bodyPr>
          <a:lstStyle/>
          <a:p>
            <a:pPr algn="l">
              <a:spcBef>
                <a:spcPts val="0"/>
              </a:spcBef>
              <a:spcAft>
                <a:spcPts val="0"/>
              </a:spcAft>
              <a:defRPr sz="850" b="0">
                <a:solidFill>
                  <a:srgbClr val="607080"/>
                </a:solidFill>
                <a:latin typeface="Noto Sans"/>
              </a:defRPr>
            </a:pPr>
            <a:r>
              <a:t>3 Concept</a:t>
            </a:r>
          </a:p>
        </p:txBody>
      </p:sp>
      <p:sp>
        <p:nvSpPr>
          <p:cNvPr id="9" name="Rectangle 8"/>
          <p:cNvSpPr/>
          <p:nvPr/>
        </p:nvSpPr>
        <p:spPr>
          <a:xfrm>
            <a:off x="3941063" y="786384"/>
            <a:ext cx="1645920" cy="45720"/>
          </a:xfrm>
          <a:prstGeom prst="rect">
            <a:avLst/>
          </a:prstGeom>
          <a:solidFill>
            <a:srgbClr val="008A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941063" y="621792"/>
            <a:ext cx="1645920" cy="164592"/>
          </a:xfrm>
          <a:prstGeom prst="rect">
            <a:avLst/>
          </a:prstGeom>
          <a:noFill/>
        </p:spPr>
        <p:txBody>
          <a:bodyPr wrap="square" lIns="9144" tIns="0" rIns="9144" bIns="0" anchor="ctr">
            <a:spAutoFit/>
          </a:bodyPr>
          <a:lstStyle/>
          <a:p>
            <a:pPr algn="l">
              <a:spcBef>
                <a:spcPts val="0"/>
              </a:spcBef>
              <a:spcAft>
                <a:spcPts val="0"/>
              </a:spcAft>
              <a:defRPr sz="850" b="1">
                <a:solidFill>
                  <a:srgbClr val="008A96"/>
                </a:solidFill>
                <a:latin typeface="Noto Sans"/>
              </a:defRPr>
            </a:pPr>
            <a:r>
              <a:t>4 Implementation</a:t>
            </a:r>
          </a:p>
        </p:txBody>
      </p:sp>
      <p:sp>
        <p:nvSpPr>
          <p:cNvPr id="11" name="Rectangle 10"/>
          <p:cNvSpPr/>
          <p:nvPr/>
        </p:nvSpPr>
        <p:spPr>
          <a:xfrm>
            <a:off x="5623559" y="786384"/>
            <a:ext cx="1252728" cy="45720"/>
          </a:xfrm>
          <a:prstGeom prst="rect">
            <a:avLst/>
          </a:prstGeom>
          <a:solidFill>
            <a:srgbClr val="D2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623559" y="621792"/>
            <a:ext cx="1252728" cy="164592"/>
          </a:xfrm>
          <a:prstGeom prst="rect">
            <a:avLst/>
          </a:prstGeom>
          <a:noFill/>
        </p:spPr>
        <p:txBody>
          <a:bodyPr wrap="square" lIns="9144" tIns="0" rIns="9144" bIns="0" anchor="ctr">
            <a:spAutoFit/>
          </a:bodyPr>
          <a:lstStyle/>
          <a:p>
            <a:pPr algn="l">
              <a:spcBef>
                <a:spcPts val="0"/>
              </a:spcBef>
              <a:spcAft>
                <a:spcPts val="0"/>
              </a:spcAft>
              <a:defRPr sz="850" b="0">
                <a:solidFill>
                  <a:srgbClr val="607080"/>
                </a:solidFill>
                <a:latin typeface="Noto Sans"/>
              </a:defRPr>
            </a:pPr>
            <a:r>
              <a:t>5 Evaluation</a:t>
            </a:r>
          </a:p>
        </p:txBody>
      </p:sp>
      <p:sp>
        <p:nvSpPr>
          <p:cNvPr id="13" name="Rectangle 12"/>
          <p:cNvSpPr/>
          <p:nvPr/>
        </p:nvSpPr>
        <p:spPr>
          <a:xfrm>
            <a:off x="6912864" y="786384"/>
            <a:ext cx="1216152" cy="45720"/>
          </a:xfrm>
          <a:prstGeom prst="rect">
            <a:avLst/>
          </a:prstGeom>
          <a:solidFill>
            <a:srgbClr val="D2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912864" y="621792"/>
            <a:ext cx="1216152" cy="164592"/>
          </a:xfrm>
          <a:prstGeom prst="rect">
            <a:avLst/>
          </a:prstGeom>
          <a:noFill/>
        </p:spPr>
        <p:txBody>
          <a:bodyPr wrap="square" lIns="9144" tIns="0" rIns="9144" bIns="0" anchor="ctr">
            <a:spAutoFit/>
          </a:bodyPr>
          <a:lstStyle/>
          <a:p>
            <a:pPr algn="l">
              <a:spcBef>
                <a:spcPts val="0"/>
              </a:spcBef>
              <a:spcAft>
                <a:spcPts val="0"/>
              </a:spcAft>
              <a:defRPr sz="850" b="0">
                <a:solidFill>
                  <a:srgbClr val="607080"/>
                </a:solidFill>
                <a:latin typeface="Noto Sans"/>
              </a:defRPr>
            </a:pPr>
            <a:r>
              <a:t>6 Conclusion</a:t>
            </a:r>
          </a:p>
        </p:txBody>
      </p:sp>
      <p:sp>
        <p:nvSpPr>
          <p:cNvPr id="15" name="TextBox 14"/>
          <p:cNvSpPr txBox="1"/>
          <p:nvPr/>
        </p:nvSpPr>
        <p:spPr>
          <a:xfrm>
            <a:off x="320040" y="4572000"/>
            <a:ext cx="8321040" cy="182880"/>
          </a:xfrm>
          <a:prstGeom prst="rect">
            <a:avLst/>
          </a:prstGeom>
          <a:noFill/>
        </p:spPr>
        <p:txBody>
          <a:bodyPr wrap="square" lIns="9144" tIns="0" rIns="9144" bIns="0" anchor="ctr">
            <a:spAutoFit/>
          </a:bodyPr>
          <a:lstStyle/>
          <a:p>
            <a:pPr algn="l">
              <a:spcBef>
                <a:spcPts val="0"/>
              </a:spcBef>
              <a:spcAft>
                <a:spcPts val="0"/>
              </a:spcAft>
              <a:defRPr sz="810" b="0">
                <a:solidFill>
                  <a:srgbClr val="607080"/>
                </a:solidFill>
                <a:latin typeface="Noto Sans"/>
              </a:defRPr>
            </a:pPr>
            <a:r>
              <a:t>Thesis §§3.3.1, 3.4 and 4.3–4.4  |  The same storage organ reappears at each scale</a:t>
            </a:r>
          </a:p>
        </p:txBody>
      </p:sp>
      <p:sp>
        <p:nvSpPr>
          <p:cNvPr id="16" name="TextBox 15"/>
          <p:cNvSpPr txBox="1"/>
          <p:nvPr/>
        </p:nvSpPr>
        <p:spPr>
          <a:xfrm>
            <a:off x="1234440" y="4873752"/>
            <a:ext cx="6766560" cy="164592"/>
          </a:xfrm>
          <a:prstGeom prst="rect">
            <a:avLst/>
          </a:prstGeom>
          <a:noFill/>
        </p:spPr>
        <p:txBody>
          <a:bodyPr wrap="square" lIns="9144" tIns="0" rIns="9144" bIns="0" anchor="ctr">
            <a:spAutoFit/>
          </a:bodyPr>
          <a:lstStyle/>
          <a:p>
            <a:pPr algn="l">
              <a:spcBef>
                <a:spcPts val="0"/>
              </a:spcBef>
              <a:spcAft>
                <a:spcPts val="0"/>
              </a:spcAft>
              <a:defRPr sz="830" b="0">
                <a:solidFill>
                  <a:srgbClr val="041447"/>
                </a:solidFill>
                <a:latin typeface="Noto Sans"/>
              </a:defRPr>
            </a:pPr>
            <a:r>
              <a:t>Benjamin-Elias Probst  |  Diploma thesis defense  |  28 September 2026</a:t>
            </a:r>
          </a:p>
        </p:txBody>
      </p:sp>
      <p:sp>
        <p:nvSpPr>
          <p:cNvPr id="17" name="TextBox 16"/>
          <p:cNvSpPr txBox="1"/>
          <p:nvPr/>
        </p:nvSpPr>
        <p:spPr>
          <a:xfrm>
            <a:off x="8412480" y="4864608"/>
            <a:ext cx="393192" cy="192024"/>
          </a:xfrm>
          <a:prstGeom prst="rect">
            <a:avLst/>
          </a:prstGeom>
          <a:noFill/>
        </p:spPr>
        <p:txBody>
          <a:bodyPr wrap="square" lIns="9144" tIns="0" rIns="9144" bIns="0" anchor="ctr">
            <a:spAutoFit/>
          </a:bodyPr>
          <a:lstStyle/>
          <a:p>
            <a:pPr algn="r">
              <a:spcBef>
                <a:spcPts val="0"/>
              </a:spcBef>
              <a:spcAft>
                <a:spcPts val="0"/>
              </a:spcAft>
              <a:defRPr sz="900" b="1">
                <a:solidFill>
                  <a:srgbClr val="041447"/>
                </a:solidFill>
                <a:latin typeface="Noto Sans"/>
              </a:defRPr>
            </a:pPr>
            <a:r>
              <a:t>X1</a:t>
            </a:r>
          </a:p>
        </p:txBody>
      </p:sp>
      <p:sp>
        <p:nvSpPr>
          <p:cNvPr id="18" name="Rounded Rectangle 17"/>
          <p:cNvSpPr/>
          <p:nvPr/>
        </p:nvSpPr>
        <p:spPr>
          <a:xfrm>
            <a:off x="429768" y="1115568"/>
            <a:ext cx="5852160" cy="2807208"/>
          </a:xfrm>
          <a:prstGeom prst="roundRect">
            <a:avLst>
              <a:gd name="adj" fmla="val 6000"/>
            </a:avLst>
          </a:prstGeom>
          <a:solidFill>
            <a:srgbClr val="F7F9FC"/>
          </a:solidFill>
          <a:ln w="16510">
            <a:solidFill>
              <a:srgbClr val="04144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03504" y="1216152"/>
            <a:ext cx="5422392" cy="274320"/>
          </a:xfrm>
          <a:prstGeom prst="rect">
            <a:avLst/>
          </a:prstGeom>
          <a:noFill/>
        </p:spPr>
        <p:txBody>
          <a:bodyPr wrap="square" lIns="22860" tIns="0" rIns="22860" bIns="0" anchor="ctr">
            <a:noAutofit/>
          </a:bodyPr>
          <a:lstStyle/>
          <a:p>
            <a:pPr algn="l">
              <a:lnSpc>
                <a:spcPct val="108000"/>
              </a:lnSpc>
              <a:spcBef>
                <a:spcPts val="0"/>
              </a:spcBef>
              <a:spcAft>
                <a:spcPts val="0"/>
              </a:spcAft>
            </a:pPr>
            <a:r>
              <a:rPr sz="1600" b="1">
                <a:solidFill>
                  <a:srgbClr val="041447"/>
                </a:solidFill>
                <a:latin typeface="Noto Sans"/>
              </a:rPr>
              <a:t>Whole workload  ·  request sequence</a:t>
            </a:r>
          </a:p>
        </p:txBody>
      </p:sp>
      <p:sp>
        <p:nvSpPr>
          <p:cNvPr id="20" name="Rounded Rectangle 19"/>
          <p:cNvSpPr/>
          <p:nvPr/>
        </p:nvSpPr>
        <p:spPr>
          <a:xfrm>
            <a:off x="740664" y="1792224"/>
            <a:ext cx="5230368" cy="1892807"/>
          </a:xfrm>
          <a:prstGeom prst="roundRect">
            <a:avLst>
              <a:gd name="adj" fmla="val 6000"/>
            </a:avLst>
          </a:prstGeom>
          <a:solidFill>
            <a:srgbClr val="FFFFFF"/>
          </a:solidFill>
          <a:ln w="13970">
            <a:solidFill>
              <a:srgbClr val="3468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914400" y="1883664"/>
            <a:ext cx="4791456" cy="274320"/>
          </a:xfrm>
          <a:prstGeom prst="rect">
            <a:avLst/>
          </a:prstGeom>
          <a:noFill/>
        </p:spPr>
        <p:txBody>
          <a:bodyPr wrap="square" lIns="22860" tIns="0" rIns="22860" bIns="0" anchor="ctr">
            <a:noAutofit/>
          </a:bodyPr>
          <a:lstStyle/>
          <a:p>
            <a:pPr algn="l">
              <a:lnSpc>
                <a:spcPct val="108000"/>
              </a:lnSpc>
              <a:spcBef>
                <a:spcPts val="0"/>
              </a:spcBef>
              <a:spcAft>
                <a:spcPts val="0"/>
              </a:spcAft>
            </a:pPr>
            <a:r>
              <a:rPr sz="1400" b="1">
                <a:solidFill>
                  <a:srgbClr val="3468AA"/>
                </a:solidFill>
                <a:latin typeface="Noto Sans"/>
              </a:rPr>
              <a:t>Interface operation  ·  find("cat")</a:t>
            </a:r>
          </a:p>
        </p:txBody>
      </p:sp>
      <p:sp>
        <p:nvSpPr>
          <p:cNvPr id="22" name="Rounded Rectangle 21"/>
          <p:cNvSpPr/>
          <p:nvPr/>
        </p:nvSpPr>
        <p:spPr>
          <a:xfrm>
            <a:off x="941832" y="2633472"/>
            <a:ext cx="1152144" cy="676656"/>
          </a:xfrm>
          <a:prstGeom prst="roundRect">
            <a:avLst>
              <a:gd name="adj" fmla="val 6000"/>
            </a:avLst>
          </a:prstGeom>
          <a:solidFill>
            <a:srgbClr val="F0EDF7"/>
          </a:solidFill>
          <a:ln w="15240">
            <a:solidFill>
              <a:srgbClr val="6A57A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964692" y="2638044"/>
            <a:ext cx="1106424" cy="667512"/>
          </a:xfrm>
          <a:prstGeom prst="rect">
            <a:avLst/>
          </a:prstGeom>
          <a:noFill/>
        </p:spPr>
        <p:txBody>
          <a:bodyPr wrap="square" lIns="22860" tIns="0" rIns="22860" bIns="0" anchor="ctr">
            <a:noAutofit/>
          </a:bodyPr>
          <a:lstStyle/>
          <a:p>
            <a:pPr algn="ctr">
              <a:lnSpc>
                <a:spcPct val="108000"/>
              </a:lnSpc>
              <a:spcBef>
                <a:spcPts val="0"/>
              </a:spcBef>
              <a:spcAft>
                <a:spcPts val="0"/>
              </a:spcAft>
            </a:pPr>
            <a:r>
              <a:rPr sz="1300" b="1">
                <a:solidFill>
                  <a:srgbClr val="6A57A1"/>
                </a:solidFill>
                <a:latin typeface="Noto Sans"/>
              </a:rPr>
              <a:t>Search</a:t>
            </a:r>
          </a:p>
          <a:p>
            <a:pPr algn="ctr">
              <a:lnSpc>
                <a:spcPct val="108000"/>
              </a:lnSpc>
              <a:spcBef>
                <a:spcPts val="0"/>
              </a:spcBef>
              <a:spcAft>
                <a:spcPts val="0"/>
              </a:spcAft>
            </a:pPr>
            <a:r>
              <a:rPr sz="1300" b="1">
                <a:solidFill>
                  <a:srgbClr val="6A57A1"/>
                </a:solidFill>
                <a:latin typeface="Noto Sans"/>
              </a:rPr>
              <a:t>T0</a:t>
            </a:r>
          </a:p>
        </p:txBody>
      </p:sp>
      <p:sp>
        <p:nvSpPr>
          <p:cNvPr id="24" name="Rounded Rectangle 23"/>
          <p:cNvSpPr/>
          <p:nvPr/>
        </p:nvSpPr>
        <p:spPr>
          <a:xfrm>
            <a:off x="2542032" y="2377440"/>
            <a:ext cx="3035808" cy="1069848"/>
          </a:xfrm>
          <a:prstGeom prst="roundRect">
            <a:avLst>
              <a:gd name="adj" fmla="val 6000"/>
            </a:avLst>
          </a:prstGeom>
          <a:solidFill>
            <a:srgbClr val="F1F5F8"/>
          </a:solidFill>
          <a:ln w="15240">
            <a:solidFill>
              <a:srgbClr val="04144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2660904" y="2450592"/>
            <a:ext cx="2807208" cy="210312"/>
          </a:xfrm>
          <a:prstGeom prst="rect">
            <a:avLst/>
          </a:prstGeom>
          <a:noFill/>
        </p:spPr>
        <p:txBody>
          <a:bodyPr wrap="square" lIns="22860" tIns="0" rIns="22860" bIns="0" anchor="ctr">
            <a:noAutofit/>
          </a:bodyPr>
          <a:lstStyle/>
          <a:p>
            <a:pPr algn="ctr">
              <a:lnSpc>
                <a:spcPct val="108000"/>
              </a:lnSpc>
              <a:spcBef>
                <a:spcPts val="0"/>
              </a:spcBef>
              <a:spcAft>
                <a:spcPts val="0"/>
              </a:spcAft>
            </a:pPr>
            <a:r>
              <a:rPr sz="1320" b="1">
                <a:solidFill>
                  <a:srgbClr val="041447"/>
                </a:solidFill>
                <a:latin typeface="Noto Sans"/>
              </a:rPr>
              <a:t>Storage organ</a:t>
            </a:r>
          </a:p>
        </p:txBody>
      </p:sp>
      <p:sp>
        <p:nvSpPr>
          <p:cNvPr id="26" name="Freeform 25"/>
          <p:cNvSpPr/>
          <p:nvPr/>
        </p:nvSpPr>
        <p:spPr>
          <a:xfrm>
            <a:off x="2761488" y="2816352"/>
            <a:ext cx="920801" cy="448056"/>
          </a:xfrm>
          <a:custGeom>
            <a:avLst/>
            <a:gdLst/>
            <a:ahLst/>
            <a:cxnLst/>
            <a:rect l="l" t="t" r="r" b="b"/>
            <a:pathLst>
              <a:path w="1007" h="490">
                <a:moveTo>
                  <a:pt x="0" y="0"/>
                </a:moveTo>
                <a:lnTo>
                  <a:pt x="943" y="0"/>
                </a:lnTo>
                <a:lnTo>
                  <a:pt x="943" y="206"/>
                </a:lnTo>
                <a:lnTo>
                  <a:pt x="958" y="214"/>
                </a:lnTo>
                <a:lnTo>
                  <a:pt x="971" y="221"/>
                </a:lnTo>
                <a:lnTo>
                  <a:pt x="983" y="229"/>
                </a:lnTo>
                <a:lnTo>
                  <a:pt x="993" y="237"/>
                </a:lnTo>
                <a:lnTo>
                  <a:pt x="1001" y="244"/>
                </a:lnTo>
                <a:lnTo>
                  <a:pt x="1005" y="252"/>
                </a:lnTo>
                <a:lnTo>
                  <a:pt x="1007" y="260"/>
                </a:lnTo>
                <a:lnTo>
                  <a:pt x="1005" y="267"/>
                </a:lnTo>
                <a:lnTo>
                  <a:pt x="1001" y="275"/>
                </a:lnTo>
                <a:lnTo>
                  <a:pt x="993" y="283"/>
                </a:lnTo>
                <a:lnTo>
                  <a:pt x="983" y="290"/>
                </a:lnTo>
                <a:lnTo>
                  <a:pt x="971" y="298"/>
                </a:lnTo>
                <a:lnTo>
                  <a:pt x="958" y="306"/>
                </a:lnTo>
                <a:lnTo>
                  <a:pt x="943" y="314"/>
                </a:lnTo>
                <a:lnTo>
                  <a:pt x="943" y="490"/>
                </a:lnTo>
                <a:lnTo>
                  <a:pt x="0" y="490"/>
                </a:lnTo>
                <a:lnTo>
                  <a:pt x="0" y="314"/>
                </a:lnTo>
                <a:lnTo>
                  <a:pt x="0" y="0"/>
                </a:lnTo>
                <a:close/>
              </a:path>
            </a:pathLst>
          </a:custGeom>
          <a:solidFill>
            <a:srgbClr val="3468AA"/>
          </a:solidFill>
          <a:ln w="1651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2843784" y="2857500"/>
            <a:ext cx="734568" cy="116494"/>
          </a:xfrm>
          <a:prstGeom prst="rect">
            <a:avLst/>
          </a:prstGeom>
          <a:noFill/>
        </p:spPr>
        <p:txBody>
          <a:bodyPr wrap="square" lIns="22860" tIns="0" rIns="22860" bIns="0" anchor="ctr">
            <a:noAutofit/>
          </a:bodyPr>
          <a:lstStyle/>
          <a:p>
            <a:pPr algn="ctr">
              <a:lnSpc>
                <a:spcPct val="108000"/>
              </a:lnSpc>
              <a:spcBef>
                <a:spcPts val="0"/>
              </a:spcBef>
              <a:spcAft>
                <a:spcPts val="0"/>
              </a:spcAft>
            </a:pPr>
            <a:r>
              <a:rPr sz="1050" b="1">
                <a:solidFill>
                  <a:srgbClr val="FFFFFF"/>
                </a:solidFill>
                <a:latin typeface="Noto Sans"/>
              </a:rPr>
              <a:t>T4</a:t>
            </a:r>
          </a:p>
        </p:txBody>
      </p:sp>
      <p:sp>
        <p:nvSpPr>
          <p:cNvPr id="28" name="TextBox 27"/>
          <p:cNvSpPr txBox="1"/>
          <p:nvPr/>
        </p:nvSpPr>
        <p:spPr>
          <a:xfrm>
            <a:off x="2802636" y="2968691"/>
            <a:ext cx="794004" cy="197144"/>
          </a:xfrm>
          <a:prstGeom prst="rect">
            <a:avLst/>
          </a:prstGeom>
          <a:noFill/>
        </p:spPr>
        <p:txBody>
          <a:bodyPr wrap="square" lIns="22860" tIns="0" rIns="22860" bIns="0" anchor="ctr">
            <a:noAutofit/>
          </a:bodyPr>
          <a:lstStyle/>
          <a:p>
            <a:pPr algn="ctr">
              <a:lnSpc>
                <a:spcPct val="108000"/>
              </a:lnSpc>
              <a:spcBef>
                <a:spcPts val="0"/>
              </a:spcBef>
              <a:spcAft>
                <a:spcPts val="0"/>
              </a:spcAft>
            </a:pPr>
            <a:r>
              <a:rPr sz="950" b="1">
                <a:solidFill>
                  <a:srgbClr val="FFFFFF"/>
                </a:solidFill>
                <a:latin typeface="Noto Sans"/>
              </a:rPr>
              <a:t>Node4</a:t>
            </a:r>
          </a:p>
        </p:txBody>
      </p:sp>
      <p:sp>
        <p:nvSpPr>
          <p:cNvPr id="29" name="Freeform 28"/>
          <p:cNvSpPr/>
          <p:nvPr/>
        </p:nvSpPr>
        <p:spPr>
          <a:xfrm>
            <a:off x="3624072" y="2816352"/>
            <a:ext cx="920801" cy="448056"/>
          </a:xfrm>
          <a:custGeom>
            <a:avLst/>
            <a:gdLst/>
            <a:ahLst/>
            <a:cxnLst/>
            <a:rect l="l" t="t" r="r" b="b"/>
            <a:pathLst>
              <a:path w="1007" h="490">
                <a:moveTo>
                  <a:pt x="0" y="0"/>
                </a:moveTo>
                <a:lnTo>
                  <a:pt x="943" y="0"/>
                </a:lnTo>
                <a:lnTo>
                  <a:pt x="943" y="206"/>
                </a:lnTo>
                <a:lnTo>
                  <a:pt x="958" y="214"/>
                </a:lnTo>
                <a:lnTo>
                  <a:pt x="971" y="221"/>
                </a:lnTo>
                <a:lnTo>
                  <a:pt x="983" y="229"/>
                </a:lnTo>
                <a:lnTo>
                  <a:pt x="993" y="237"/>
                </a:lnTo>
                <a:lnTo>
                  <a:pt x="1001" y="244"/>
                </a:lnTo>
                <a:lnTo>
                  <a:pt x="1005" y="252"/>
                </a:lnTo>
                <a:lnTo>
                  <a:pt x="1007" y="260"/>
                </a:lnTo>
                <a:lnTo>
                  <a:pt x="1005" y="267"/>
                </a:lnTo>
                <a:lnTo>
                  <a:pt x="1001" y="275"/>
                </a:lnTo>
                <a:lnTo>
                  <a:pt x="993" y="283"/>
                </a:lnTo>
                <a:lnTo>
                  <a:pt x="983" y="290"/>
                </a:lnTo>
                <a:lnTo>
                  <a:pt x="971" y="298"/>
                </a:lnTo>
                <a:lnTo>
                  <a:pt x="958" y="306"/>
                </a:lnTo>
                <a:lnTo>
                  <a:pt x="943" y="314"/>
                </a:lnTo>
                <a:lnTo>
                  <a:pt x="943" y="490"/>
                </a:lnTo>
                <a:lnTo>
                  <a:pt x="0" y="490"/>
                </a:lnTo>
                <a:lnTo>
                  <a:pt x="0" y="314"/>
                </a:lnTo>
                <a:lnTo>
                  <a:pt x="14" y="306"/>
                </a:lnTo>
                <a:lnTo>
                  <a:pt x="28" y="298"/>
                </a:lnTo>
                <a:lnTo>
                  <a:pt x="40" y="290"/>
                </a:lnTo>
                <a:lnTo>
                  <a:pt x="50" y="283"/>
                </a:lnTo>
                <a:lnTo>
                  <a:pt x="57" y="275"/>
                </a:lnTo>
                <a:lnTo>
                  <a:pt x="62" y="267"/>
                </a:lnTo>
                <a:lnTo>
                  <a:pt x="64" y="260"/>
                </a:lnTo>
                <a:lnTo>
                  <a:pt x="62" y="252"/>
                </a:lnTo>
                <a:lnTo>
                  <a:pt x="57" y="244"/>
                </a:lnTo>
                <a:lnTo>
                  <a:pt x="50" y="237"/>
                </a:lnTo>
                <a:lnTo>
                  <a:pt x="40" y="229"/>
                </a:lnTo>
                <a:lnTo>
                  <a:pt x="28" y="221"/>
                </a:lnTo>
                <a:lnTo>
                  <a:pt x="14" y="213"/>
                </a:lnTo>
                <a:lnTo>
                  <a:pt x="0" y="206"/>
                </a:lnTo>
                <a:lnTo>
                  <a:pt x="0" y="0"/>
                </a:lnTo>
                <a:close/>
              </a:path>
            </a:pathLst>
          </a:custGeom>
          <a:solidFill>
            <a:srgbClr val="00878C"/>
          </a:solidFill>
          <a:ln w="1651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3706368" y="2857500"/>
            <a:ext cx="734568" cy="116494"/>
          </a:xfrm>
          <a:prstGeom prst="rect">
            <a:avLst/>
          </a:prstGeom>
          <a:noFill/>
        </p:spPr>
        <p:txBody>
          <a:bodyPr wrap="square" lIns="22860" tIns="0" rIns="22860" bIns="0" anchor="ctr">
            <a:noAutofit/>
          </a:bodyPr>
          <a:lstStyle/>
          <a:p>
            <a:pPr algn="ctr">
              <a:lnSpc>
                <a:spcPct val="108000"/>
              </a:lnSpc>
              <a:spcBef>
                <a:spcPts val="0"/>
              </a:spcBef>
              <a:spcAft>
                <a:spcPts val="0"/>
              </a:spcAft>
            </a:pPr>
            <a:r>
              <a:rPr sz="1050" b="1">
                <a:solidFill>
                  <a:srgbClr val="FFFFFF"/>
                </a:solidFill>
                <a:latin typeface="Noto Sans"/>
              </a:rPr>
              <a:t>T5</a:t>
            </a:r>
          </a:p>
        </p:txBody>
      </p:sp>
      <p:sp>
        <p:nvSpPr>
          <p:cNvPr id="31" name="TextBox 30"/>
          <p:cNvSpPr txBox="1"/>
          <p:nvPr/>
        </p:nvSpPr>
        <p:spPr>
          <a:xfrm>
            <a:off x="3665220" y="2968691"/>
            <a:ext cx="794004" cy="197144"/>
          </a:xfrm>
          <a:prstGeom prst="rect">
            <a:avLst/>
          </a:prstGeom>
          <a:noFill/>
        </p:spPr>
        <p:txBody>
          <a:bodyPr wrap="square" lIns="22860" tIns="0" rIns="22860" bIns="0" anchor="ctr">
            <a:noAutofit/>
          </a:bodyPr>
          <a:lstStyle/>
          <a:p>
            <a:pPr algn="ctr">
              <a:lnSpc>
                <a:spcPct val="108000"/>
              </a:lnSpc>
              <a:spcBef>
                <a:spcPts val="0"/>
              </a:spcBef>
              <a:spcAft>
                <a:spcPts val="0"/>
              </a:spcAft>
            </a:pPr>
            <a:r>
              <a:rPr sz="950" b="1">
                <a:solidFill>
                  <a:srgbClr val="FFFFFF"/>
                </a:solidFill>
                <a:latin typeface="Noto Sans"/>
              </a:rPr>
              <a:t>Align</a:t>
            </a:r>
          </a:p>
        </p:txBody>
      </p:sp>
      <p:sp>
        <p:nvSpPr>
          <p:cNvPr id="32" name="Freeform 31"/>
          <p:cNvSpPr/>
          <p:nvPr/>
        </p:nvSpPr>
        <p:spPr>
          <a:xfrm>
            <a:off x="4486656" y="2816352"/>
            <a:ext cx="862279" cy="448056"/>
          </a:xfrm>
          <a:custGeom>
            <a:avLst/>
            <a:gdLst/>
            <a:ahLst/>
            <a:cxnLst/>
            <a:rect l="l" t="t" r="r" b="b"/>
            <a:pathLst>
              <a:path w="943" h="490">
                <a:moveTo>
                  <a:pt x="0" y="0"/>
                </a:moveTo>
                <a:lnTo>
                  <a:pt x="943" y="0"/>
                </a:lnTo>
                <a:lnTo>
                  <a:pt x="943" y="206"/>
                </a:lnTo>
                <a:lnTo>
                  <a:pt x="943" y="490"/>
                </a:lnTo>
                <a:lnTo>
                  <a:pt x="0" y="490"/>
                </a:lnTo>
                <a:lnTo>
                  <a:pt x="0" y="314"/>
                </a:lnTo>
                <a:lnTo>
                  <a:pt x="14" y="306"/>
                </a:lnTo>
                <a:lnTo>
                  <a:pt x="28" y="298"/>
                </a:lnTo>
                <a:lnTo>
                  <a:pt x="40" y="290"/>
                </a:lnTo>
                <a:lnTo>
                  <a:pt x="50" y="283"/>
                </a:lnTo>
                <a:lnTo>
                  <a:pt x="57" y="275"/>
                </a:lnTo>
                <a:lnTo>
                  <a:pt x="62" y="267"/>
                </a:lnTo>
                <a:lnTo>
                  <a:pt x="64" y="260"/>
                </a:lnTo>
                <a:lnTo>
                  <a:pt x="62" y="252"/>
                </a:lnTo>
                <a:lnTo>
                  <a:pt x="57" y="244"/>
                </a:lnTo>
                <a:lnTo>
                  <a:pt x="50" y="237"/>
                </a:lnTo>
                <a:lnTo>
                  <a:pt x="40" y="229"/>
                </a:lnTo>
                <a:lnTo>
                  <a:pt x="28" y="221"/>
                </a:lnTo>
                <a:lnTo>
                  <a:pt x="14" y="213"/>
                </a:lnTo>
                <a:lnTo>
                  <a:pt x="0" y="206"/>
                </a:lnTo>
                <a:lnTo>
                  <a:pt x="0" y="0"/>
                </a:lnTo>
                <a:close/>
              </a:path>
            </a:pathLst>
          </a:custGeom>
          <a:solidFill>
            <a:srgbClr val="AD731A"/>
          </a:solidFill>
          <a:ln w="1651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4568951" y="2857500"/>
            <a:ext cx="734568" cy="116494"/>
          </a:xfrm>
          <a:prstGeom prst="rect">
            <a:avLst/>
          </a:prstGeom>
          <a:noFill/>
        </p:spPr>
        <p:txBody>
          <a:bodyPr wrap="square" lIns="22860" tIns="0" rIns="22860" bIns="0" anchor="ctr">
            <a:noAutofit/>
          </a:bodyPr>
          <a:lstStyle/>
          <a:p>
            <a:pPr algn="ctr">
              <a:lnSpc>
                <a:spcPct val="108000"/>
              </a:lnSpc>
              <a:spcBef>
                <a:spcPts val="0"/>
              </a:spcBef>
              <a:spcAft>
                <a:spcPts val="0"/>
              </a:spcAft>
            </a:pPr>
            <a:r>
              <a:rPr sz="1050" b="1">
                <a:solidFill>
                  <a:srgbClr val="FFFFFF"/>
                </a:solidFill>
                <a:latin typeface="Noto Sans"/>
              </a:rPr>
              <a:t>T6</a:t>
            </a:r>
          </a:p>
        </p:txBody>
      </p:sp>
      <p:sp>
        <p:nvSpPr>
          <p:cNvPr id="34" name="TextBox 33"/>
          <p:cNvSpPr txBox="1"/>
          <p:nvPr/>
        </p:nvSpPr>
        <p:spPr>
          <a:xfrm>
            <a:off x="4527804" y="2968691"/>
            <a:ext cx="794004" cy="197144"/>
          </a:xfrm>
          <a:prstGeom prst="rect">
            <a:avLst/>
          </a:prstGeom>
          <a:noFill/>
        </p:spPr>
        <p:txBody>
          <a:bodyPr wrap="square" lIns="22860" tIns="0" rIns="22860" bIns="0" anchor="ctr">
            <a:noAutofit/>
          </a:bodyPr>
          <a:lstStyle/>
          <a:p>
            <a:pPr algn="ctr">
              <a:lnSpc>
                <a:spcPct val="108000"/>
              </a:lnSpc>
              <a:spcBef>
                <a:spcPts val="0"/>
              </a:spcBef>
              <a:spcAft>
                <a:spcPts val="0"/>
              </a:spcAft>
            </a:pPr>
            <a:r>
              <a:rPr sz="950" b="1">
                <a:solidFill>
                  <a:srgbClr val="FFFFFF"/>
                </a:solidFill>
                <a:latin typeface="Noto Sans"/>
              </a:rPr>
              <a:t>Alloc.</a:t>
            </a:r>
          </a:p>
        </p:txBody>
      </p:sp>
      <p:cxnSp>
        <p:nvCxnSpPr>
          <p:cNvPr id="35" name="Connector 34"/>
          <p:cNvCxnSpPr/>
          <p:nvPr/>
        </p:nvCxnSpPr>
        <p:spPr>
          <a:xfrm>
            <a:off x="2112264" y="2962656"/>
            <a:ext cx="402336" cy="0"/>
          </a:xfrm>
          <a:prstGeom prst="line">
            <a:avLst/>
          </a:prstGeom>
          <a:ln w="21590">
            <a:solidFill>
              <a:srgbClr val="6A57A1"/>
            </a:solidFill>
            <a:tailEnd type="triangle" w="sm" len="sm"/>
          </a:ln>
        </p:spPr>
        <p:style>
          <a:lnRef idx="2">
            <a:schemeClr val="accent1"/>
          </a:lnRef>
          <a:fillRef idx="0">
            <a:schemeClr val="accent1"/>
          </a:fillRef>
          <a:effectRef idx="1">
            <a:schemeClr val="accent1"/>
          </a:effectRef>
          <a:fontRef idx="minor">
            <a:schemeClr val="tx1"/>
          </a:fontRef>
        </p:style>
      </p:cxnSp>
      <p:sp>
        <p:nvSpPr>
          <p:cNvPr id="36" name="Rounded Rectangle 35"/>
          <p:cNvSpPr/>
          <p:nvPr/>
        </p:nvSpPr>
        <p:spPr>
          <a:xfrm>
            <a:off x="6647688" y="1307592"/>
            <a:ext cx="2066543" cy="950976"/>
          </a:xfrm>
          <a:prstGeom prst="roundRect">
            <a:avLst>
              <a:gd name="adj" fmla="val 6000"/>
            </a:avLst>
          </a:prstGeom>
          <a:solidFill>
            <a:srgbClr val="FFFFFF"/>
          </a:solidFill>
          <a:ln w="11430">
            <a:solidFill>
              <a:srgbClr val="2F745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6766560" y="1380744"/>
            <a:ext cx="1828800" cy="310896"/>
          </a:xfrm>
          <a:prstGeom prst="rect">
            <a:avLst/>
          </a:prstGeom>
          <a:noFill/>
        </p:spPr>
        <p:txBody>
          <a:bodyPr wrap="square" lIns="22860" tIns="0" rIns="22860" bIns="0" anchor="ctr">
            <a:noAutofit/>
          </a:bodyPr>
          <a:lstStyle/>
          <a:p>
            <a:pPr algn="ctr">
              <a:lnSpc>
                <a:spcPct val="108000"/>
              </a:lnSpc>
              <a:spcBef>
                <a:spcPts val="0"/>
              </a:spcBef>
              <a:spcAft>
                <a:spcPts val="0"/>
              </a:spcAft>
            </a:pPr>
            <a:r>
              <a:rPr sz="1400" b="1">
                <a:solidFill>
                  <a:srgbClr val="2F7458"/>
                </a:solidFill>
                <a:latin typeface="Noto Sans"/>
              </a:rPr>
              <a:t>Drive + observe</a:t>
            </a:r>
          </a:p>
        </p:txBody>
      </p:sp>
      <p:sp>
        <p:nvSpPr>
          <p:cNvPr id="38" name="TextBox 37"/>
          <p:cNvSpPr txBox="1"/>
          <p:nvPr/>
        </p:nvSpPr>
        <p:spPr>
          <a:xfrm>
            <a:off x="6766560" y="1783080"/>
            <a:ext cx="1828800" cy="310896"/>
          </a:xfrm>
          <a:prstGeom prst="rect">
            <a:avLst/>
          </a:prstGeom>
          <a:noFill/>
        </p:spPr>
        <p:txBody>
          <a:bodyPr wrap="square" lIns="22860" tIns="0" rIns="22860" bIns="0" anchor="ctr">
            <a:noAutofit/>
          </a:bodyPr>
          <a:lstStyle/>
          <a:p>
            <a:pPr algn="ctr">
              <a:lnSpc>
                <a:spcPct val="108000"/>
              </a:lnSpc>
              <a:spcBef>
                <a:spcPts val="0"/>
              </a:spcBef>
              <a:spcAft>
                <a:spcPts val="0"/>
              </a:spcAft>
            </a:pPr>
            <a:r>
              <a:rPr sz="1120" b="0">
                <a:solidFill>
                  <a:srgbClr val="23364B"/>
                </a:solidFill>
                <a:latin typeface="Noto Sans"/>
              </a:rPr>
              <a:t>genus probe dock</a:t>
            </a:r>
          </a:p>
        </p:txBody>
      </p:sp>
      <p:cxnSp>
        <p:nvCxnSpPr>
          <p:cNvPr id="39" name="Connector 38"/>
          <p:cNvCxnSpPr/>
          <p:nvPr/>
        </p:nvCxnSpPr>
        <p:spPr>
          <a:xfrm>
            <a:off x="6309360" y="1773936"/>
            <a:ext cx="310896" cy="0"/>
          </a:xfrm>
          <a:prstGeom prst="line">
            <a:avLst/>
          </a:prstGeom>
          <a:ln w="17780">
            <a:solidFill>
              <a:srgbClr val="2F7458"/>
            </a:solidFill>
            <a:tailEnd type="triangle" w="sm" len="sm"/>
          </a:ln>
        </p:spPr>
        <p:style>
          <a:lnRef idx="2">
            <a:schemeClr val="accent1"/>
          </a:lnRef>
          <a:fillRef idx="0">
            <a:schemeClr val="accent1"/>
          </a:fillRef>
          <a:effectRef idx="1">
            <a:schemeClr val="accent1"/>
          </a:effectRef>
          <a:fontRef idx="minor">
            <a:schemeClr val="tx1"/>
          </a:fontRef>
        </p:style>
      </p:cxnSp>
      <p:sp>
        <p:nvSpPr>
          <p:cNvPr id="40" name="Rounded Rectangle 39"/>
          <p:cNvSpPr/>
          <p:nvPr/>
        </p:nvSpPr>
        <p:spPr>
          <a:xfrm>
            <a:off x="6647688" y="2706624"/>
            <a:ext cx="2066543" cy="960120"/>
          </a:xfrm>
          <a:prstGeom prst="roundRect">
            <a:avLst>
              <a:gd name="adj" fmla="val 6000"/>
            </a:avLst>
          </a:prstGeom>
          <a:solidFill>
            <a:srgbClr val="FFFFFF"/>
          </a:solidFill>
          <a:ln w="11430">
            <a:solidFill>
              <a:srgbClr val="04144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6748272" y="2788920"/>
            <a:ext cx="1865376" cy="310896"/>
          </a:xfrm>
          <a:prstGeom prst="rect">
            <a:avLst/>
          </a:prstGeom>
          <a:noFill/>
        </p:spPr>
        <p:txBody>
          <a:bodyPr wrap="square" lIns="22860" tIns="0" rIns="22860" bIns="0" anchor="ctr">
            <a:noAutofit/>
          </a:bodyPr>
          <a:lstStyle/>
          <a:p>
            <a:pPr algn="ctr">
              <a:lnSpc>
                <a:spcPct val="108000"/>
              </a:lnSpc>
              <a:spcBef>
                <a:spcPts val="0"/>
              </a:spcBef>
              <a:spcAft>
                <a:spcPts val="0"/>
              </a:spcAft>
            </a:pPr>
            <a:r>
              <a:rPr sz="1280" b="1">
                <a:solidFill>
                  <a:srgbClr val="041447"/>
                </a:solidFill>
                <a:latin typeface="Noto Sans"/>
              </a:rPr>
              <a:t>Interpret together</a:t>
            </a:r>
          </a:p>
        </p:txBody>
      </p:sp>
      <p:sp>
        <p:nvSpPr>
          <p:cNvPr id="42" name="TextBox 41"/>
          <p:cNvSpPr txBox="1"/>
          <p:nvPr/>
        </p:nvSpPr>
        <p:spPr>
          <a:xfrm>
            <a:off x="6748272" y="3200400"/>
            <a:ext cx="1865376" cy="292608"/>
          </a:xfrm>
          <a:prstGeom prst="rect">
            <a:avLst/>
          </a:prstGeom>
          <a:noFill/>
        </p:spPr>
        <p:txBody>
          <a:bodyPr wrap="square" lIns="22860" tIns="0" rIns="22860" bIns="0" anchor="ctr">
            <a:noAutofit/>
          </a:bodyPr>
          <a:lstStyle/>
          <a:p>
            <a:pPr algn="ctr">
              <a:lnSpc>
                <a:spcPct val="108000"/>
              </a:lnSpc>
              <a:spcBef>
                <a:spcPts val="0"/>
              </a:spcBef>
              <a:spcAft>
                <a:spcPts val="0"/>
              </a:spcAft>
            </a:pPr>
            <a:r>
              <a:rPr sz="1080" b="0">
                <a:solidFill>
                  <a:srgbClr val="23364B"/>
                </a:solidFill>
                <a:latin typeface="Noto Sans"/>
              </a:rPr>
              <a:t>component cost ≠</a:t>
            </a:r>
          </a:p>
          <a:p>
            <a:pPr algn="ctr">
              <a:lnSpc>
                <a:spcPct val="108000"/>
              </a:lnSpc>
              <a:spcBef>
                <a:spcPts val="0"/>
              </a:spcBef>
              <a:spcAft>
                <a:spcPts val="0"/>
              </a:spcAft>
            </a:pPr>
            <a:r>
              <a:rPr sz="1080" b="0">
                <a:solidFill>
                  <a:srgbClr val="23364B"/>
                </a:solidFill>
                <a:latin typeface="Noto Sans"/>
              </a:rPr>
              <a:t>whole-workload cost</a:t>
            </a:r>
          </a:p>
        </p:txBody>
      </p:sp>
      <p:sp>
        <p:nvSpPr>
          <p:cNvPr id="43" name="Rectangle 42"/>
          <p:cNvSpPr/>
          <p:nvPr/>
        </p:nvSpPr>
        <p:spPr>
          <a:xfrm>
            <a:off x="329184" y="4096512"/>
            <a:ext cx="8458200" cy="356616"/>
          </a:xfrm>
          <a:prstGeom prst="rect">
            <a:avLst/>
          </a:prstGeom>
          <a:solidFill>
            <a:srgbClr val="EAF0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438912" y="4114800"/>
            <a:ext cx="8211312" cy="310896"/>
          </a:xfrm>
          <a:prstGeom prst="rect">
            <a:avLst/>
          </a:prstGeom>
          <a:noFill/>
        </p:spPr>
        <p:txBody>
          <a:bodyPr wrap="square" lIns="22860" tIns="0" rIns="22860" bIns="0" anchor="ctr">
            <a:noAutofit/>
          </a:bodyPr>
          <a:lstStyle/>
          <a:p>
            <a:pPr algn="l">
              <a:lnSpc>
                <a:spcPct val="108000"/>
              </a:lnSpc>
              <a:spcBef>
                <a:spcPts val="0"/>
              </a:spcBef>
              <a:spcAft>
                <a:spcPts val="0"/>
              </a:spcAft>
            </a:pPr>
            <a:r>
              <a:rPr sz="1300" b="1">
                <a:solidFill>
                  <a:srgbClr val="041447"/>
                </a:solidFill>
                <a:latin typeface="Noto Sans"/>
              </a:rPr>
              <a:t>Measure the assembled candidate; explain costs through its internal composition.</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83464" y="182880"/>
            <a:ext cx="7360920" cy="438912"/>
          </a:xfrm>
          <a:prstGeom prst="rect">
            <a:avLst/>
          </a:prstGeom>
          <a:noFill/>
        </p:spPr>
        <p:txBody>
          <a:bodyPr wrap="square" lIns="9144" tIns="0" rIns="9144" bIns="0" anchor="ctr">
            <a:spAutoFit/>
          </a:bodyPr>
          <a:lstStyle/>
          <a:p>
            <a:pPr algn="l">
              <a:spcBef>
                <a:spcPts val="0"/>
              </a:spcBef>
              <a:spcAft>
                <a:spcPts val="0"/>
              </a:spcAft>
              <a:defRPr sz="2400" b="1">
                <a:solidFill>
                  <a:srgbClr val="041447"/>
                </a:solidFill>
                <a:latin typeface="Noto Sans"/>
              </a:defRPr>
            </a:pPr>
            <a:r>
              <a:t>Evaluation: define the comparison first</a:t>
            </a:r>
          </a:p>
        </p:txBody>
      </p:sp>
      <p:sp>
        <p:nvSpPr>
          <p:cNvPr id="3" name="Rectangle 2"/>
          <p:cNvSpPr/>
          <p:nvPr/>
        </p:nvSpPr>
        <p:spPr>
          <a:xfrm>
            <a:off x="310896" y="786384"/>
            <a:ext cx="1197864" cy="45720"/>
          </a:xfrm>
          <a:prstGeom prst="rect">
            <a:avLst/>
          </a:prstGeom>
          <a:solidFill>
            <a:srgbClr val="D2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10896" y="621792"/>
            <a:ext cx="1197864" cy="164592"/>
          </a:xfrm>
          <a:prstGeom prst="rect">
            <a:avLst/>
          </a:prstGeom>
          <a:noFill/>
        </p:spPr>
        <p:txBody>
          <a:bodyPr wrap="square" lIns="9144" tIns="0" rIns="9144" bIns="0" anchor="ctr">
            <a:spAutoFit/>
          </a:bodyPr>
          <a:lstStyle/>
          <a:p>
            <a:pPr algn="l">
              <a:spcBef>
                <a:spcPts val="0"/>
              </a:spcBef>
              <a:spcAft>
                <a:spcPts val="0"/>
              </a:spcAft>
              <a:defRPr sz="850" b="0">
                <a:solidFill>
                  <a:srgbClr val="607080"/>
                </a:solidFill>
                <a:latin typeface="Noto Sans"/>
              </a:defRPr>
            </a:pPr>
            <a:r>
              <a:t>1 Introduction</a:t>
            </a:r>
          </a:p>
        </p:txBody>
      </p:sp>
      <p:sp>
        <p:nvSpPr>
          <p:cNvPr id="5" name="Rectangle 4"/>
          <p:cNvSpPr/>
          <p:nvPr/>
        </p:nvSpPr>
        <p:spPr>
          <a:xfrm>
            <a:off x="1545336" y="786384"/>
            <a:ext cx="1243584" cy="45720"/>
          </a:xfrm>
          <a:prstGeom prst="rect">
            <a:avLst/>
          </a:prstGeom>
          <a:solidFill>
            <a:srgbClr val="D2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545336" y="621792"/>
            <a:ext cx="1243584" cy="164592"/>
          </a:xfrm>
          <a:prstGeom prst="rect">
            <a:avLst/>
          </a:prstGeom>
          <a:noFill/>
        </p:spPr>
        <p:txBody>
          <a:bodyPr wrap="square" lIns="9144" tIns="0" rIns="9144" bIns="0" anchor="ctr">
            <a:spAutoFit/>
          </a:bodyPr>
          <a:lstStyle/>
          <a:p>
            <a:pPr algn="l">
              <a:spcBef>
                <a:spcPts val="0"/>
              </a:spcBef>
              <a:spcAft>
                <a:spcPts val="0"/>
              </a:spcAft>
              <a:defRPr sz="850" b="0">
                <a:solidFill>
                  <a:srgbClr val="607080"/>
                </a:solidFill>
                <a:latin typeface="Noto Sans"/>
              </a:defRPr>
            </a:pPr>
            <a:r>
              <a:t>2 Background</a:t>
            </a:r>
          </a:p>
        </p:txBody>
      </p:sp>
      <p:sp>
        <p:nvSpPr>
          <p:cNvPr id="7" name="Rectangle 6"/>
          <p:cNvSpPr/>
          <p:nvPr/>
        </p:nvSpPr>
        <p:spPr>
          <a:xfrm>
            <a:off x="2825496" y="786384"/>
            <a:ext cx="1078992" cy="45720"/>
          </a:xfrm>
          <a:prstGeom prst="rect">
            <a:avLst/>
          </a:prstGeom>
          <a:solidFill>
            <a:srgbClr val="D2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2825496" y="621792"/>
            <a:ext cx="1078992" cy="164592"/>
          </a:xfrm>
          <a:prstGeom prst="rect">
            <a:avLst/>
          </a:prstGeom>
          <a:noFill/>
        </p:spPr>
        <p:txBody>
          <a:bodyPr wrap="square" lIns="9144" tIns="0" rIns="9144" bIns="0" anchor="ctr">
            <a:spAutoFit/>
          </a:bodyPr>
          <a:lstStyle/>
          <a:p>
            <a:pPr algn="l">
              <a:spcBef>
                <a:spcPts val="0"/>
              </a:spcBef>
              <a:spcAft>
                <a:spcPts val="0"/>
              </a:spcAft>
              <a:defRPr sz="850" b="0">
                <a:solidFill>
                  <a:srgbClr val="607080"/>
                </a:solidFill>
                <a:latin typeface="Noto Sans"/>
              </a:defRPr>
            </a:pPr>
            <a:r>
              <a:t>3 Concept</a:t>
            </a:r>
          </a:p>
        </p:txBody>
      </p:sp>
      <p:sp>
        <p:nvSpPr>
          <p:cNvPr id="9" name="Rectangle 8"/>
          <p:cNvSpPr/>
          <p:nvPr/>
        </p:nvSpPr>
        <p:spPr>
          <a:xfrm>
            <a:off x="3941063" y="786384"/>
            <a:ext cx="1645920" cy="45720"/>
          </a:xfrm>
          <a:prstGeom prst="rect">
            <a:avLst/>
          </a:prstGeom>
          <a:solidFill>
            <a:srgbClr val="D2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941063" y="621792"/>
            <a:ext cx="1645920" cy="164592"/>
          </a:xfrm>
          <a:prstGeom prst="rect">
            <a:avLst/>
          </a:prstGeom>
          <a:noFill/>
        </p:spPr>
        <p:txBody>
          <a:bodyPr wrap="square" lIns="9144" tIns="0" rIns="9144" bIns="0" anchor="ctr">
            <a:spAutoFit/>
          </a:bodyPr>
          <a:lstStyle/>
          <a:p>
            <a:pPr algn="l">
              <a:spcBef>
                <a:spcPts val="0"/>
              </a:spcBef>
              <a:spcAft>
                <a:spcPts val="0"/>
              </a:spcAft>
              <a:defRPr sz="850" b="0">
                <a:solidFill>
                  <a:srgbClr val="607080"/>
                </a:solidFill>
                <a:latin typeface="Noto Sans"/>
              </a:defRPr>
            </a:pPr>
            <a:r>
              <a:t>4 Implementation</a:t>
            </a:r>
          </a:p>
        </p:txBody>
      </p:sp>
      <p:sp>
        <p:nvSpPr>
          <p:cNvPr id="11" name="Rectangle 10"/>
          <p:cNvSpPr/>
          <p:nvPr/>
        </p:nvSpPr>
        <p:spPr>
          <a:xfrm>
            <a:off x="5623559" y="786384"/>
            <a:ext cx="1252728" cy="45720"/>
          </a:xfrm>
          <a:prstGeom prst="rect">
            <a:avLst/>
          </a:prstGeom>
          <a:solidFill>
            <a:srgbClr val="008A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623559" y="621792"/>
            <a:ext cx="1252728" cy="164592"/>
          </a:xfrm>
          <a:prstGeom prst="rect">
            <a:avLst/>
          </a:prstGeom>
          <a:noFill/>
        </p:spPr>
        <p:txBody>
          <a:bodyPr wrap="square" lIns="9144" tIns="0" rIns="9144" bIns="0" anchor="ctr">
            <a:spAutoFit/>
          </a:bodyPr>
          <a:lstStyle/>
          <a:p>
            <a:pPr algn="l">
              <a:spcBef>
                <a:spcPts val="0"/>
              </a:spcBef>
              <a:spcAft>
                <a:spcPts val="0"/>
              </a:spcAft>
              <a:defRPr sz="850" b="1">
                <a:solidFill>
                  <a:srgbClr val="008A96"/>
                </a:solidFill>
                <a:latin typeface="Noto Sans"/>
              </a:defRPr>
            </a:pPr>
            <a:r>
              <a:t>5 Evaluation</a:t>
            </a:r>
          </a:p>
        </p:txBody>
      </p:sp>
      <p:sp>
        <p:nvSpPr>
          <p:cNvPr id="13" name="Rectangle 12"/>
          <p:cNvSpPr/>
          <p:nvPr/>
        </p:nvSpPr>
        <p:spPr>
          <a:xfrm>
            <a:off x="6912864" y="786384"/>
            <a:ext cx="1216152" cy="45720"/>
          </a:xfrm>
          <a:prstGeom prst="rect">
            <a:avLst/>
          </a:prstGeom>
          <a:solidFill>
            <a:srgbClr val="D2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912864" y="621792"/>
            <a:ext cx="1216152" cy="164592"/>
          </a:xfrm>
          <a:prstGeom prst="rect">
            <a:avLst/>
          </a:prstGeom>
          <a:noFill/>
        </p:spPr>
        <p:txBody>
          <a:bodyPr wrap="square" lIns="9144" tIns="0" rIns="9144" bIns="0" anchor="ctr">
            <a:spAutoFit/>
          </a:bodyPr>
          <a:lstStyle/>
          <a:p>
            <a:pPr algn="l">
              <a:spcBef>
                <a:spcPts val="0"/>
              </a:spcBef>
              <a:spcAft>
                <a:spcPts val="0"/>
              </a:spcAft>
              <a:defRPr sz="850" b="0">
                <a:solidFill>
                  <a:srgbClr val="607080"/>
                </a:solidFill>
                <a:latin typeface="Noto Sans"/>
              </a:defRPr>
            </a:pPr>
            <a:r>
              <a:t>6 Conclusion</a:t>
            </a:r>
          </a:p>
        </p:txBody>
      </p:sp>
      <p:sp>
        <p:nvSpPr>
          <p:cNvPr id="15" name="TextBox 14"/>
          <p:cNvSpPr txBox="1"/>
          <p:nvPr/>
        </p:nvSpPr>
        <p:spPr>
          <a:xfrm>
            <a:off x="320040" y="4572000"/>
            <a:ext cx="8321040" cy="182880"/>
          </a:xfrm>
          <a:prstGeom prst="rect">
            <a:avLst/>
          </a:prstGeom>
          <a:noFill/>
        </p:spPr>
        <p:txBody>
          <a:bodyPr wrap="square" lIns="9144" tIns="0" rIns="9144" bIns="0" anchor="ctr">
            <a:spAutoFit/>
          </a:bodyPr>
          <a:lstStyle/>
          <a:p>
            <a:pPr algn="l">
              <a:spcBef>
                <a:spcPts val="0"/>
              </a:spcBef>
              <a:spcAft>
                <a:spcPts val="0"/>
              </a:spcAft>
              <a:defRPr sz="810" b="0">
                <a:solidFill>
                  <a:srgbClr val="607080"/>
                </a:solidFill>
                <a:latin typeface="Noto Sans"/>
              </a:defRPr>
            </a:pPr>
            <a:r>
              <a:t>THESIS MEASUREMENT 2026-09-24  |  Thesis series A/B: rebuilt with the thesis toolchain; series C: not collected</a:t>
            </a:r>
          </a:p>
        </p:txBody>
      </p:sp>
      <p:sp>
        <p:nvSpPr>
          <p:cNvPr id="16" name="TextBox 15"/>
          <p:cNvSpPr txBox="1"/>
          <p:nvPr/>
        </p:nvSpPr>
        <p:spPr>
          <a:xfrm>
            <a:off x="1234440" y="4873752"/>
            <a:ext cx="6766560" cy="164592"/>
          </a:xfrm>
          <a:prstGeom prst="rect">
            <a:avLst/>
          </a:prstGeom>
          <a:noFill/>
        </p:spPr>
        <p:txBody>
          <a:bodyPr wrap="square" lIns="9144" tIns="0" rIns="9144" bIns="0" anchor="ctr">
            <a:spAutoFit/>
          </a:bodyPr>
          <a:lstStyle/>
          <a:p>
            <a:pPr algn="l">
              <a:spcBef>
                <a:spcPts val="0"/>
              </a:spcBef>
              <a:spcAft>
                <a:spcPts val="0"/>
              </a:spcAft>
              <a:defRPr sz="830" b="0">
                <a:solidFill>
                  <a:srgbClr val="041447"/>
                </a:solidFill>
                <a:latin typeface="Noto Sans"/>
              </a:defRPr>
            </a:pPr>
            <a:r>
              <a:t>Benjamin-Elias Probst  |  Diploma thesis defense  |  28 September 2026</a:t>
            </a:r>
          </a:p>
        </p:txBody>
      </p:sp>
      <p:sp>
        <p:nvSpPr>
          <p:cNvPr id="17" name="TextBox 16"/>
          <p:cNvSpPr txBox="1"/>
          <p:nvPr/>
        </p:nvSpPr>
        <p:spPr>
          <a:xfrm>
            <a:off x="8412480" y="4864608"/>
            <a:ext cx="393192" cy="192024"/>
          </a:xfrm>
          <a:prstGeom prst="rect">
            <a:avLst/>
          </a:prstGeom>
          <a:noFill/>
        </p:spPr>
        <p:txBody>
          <a:bodyPr wrap="square" lIns="9144" tIns="0" rIns="9144" bIns="0" anchor="ctr">
            <a:spAutoFit/>
          </a:bodyPr>
          <a:lstStyle/>
          <a:p>
            <a:pPr algn="r">
              <a:spcBef>
                <a:spcPts val="0"/>
              </a:spcBef>
              <a:spcAft>
                <a:spcPts val="0"/>
              </a:spcAft>
              <a:defRPr sz="900" b="1">
                <a:solidFill>
                  <a:srgbClr val="041447"/>
                </a:solidFill>
                <a:latin typeface="Noto Sans"/>
              </a:defRPr>
            </a:pPr>
            <a:r>
              <a:t>13</a:t>
            </a:r>
          </a:p>
        </p:txBody>
      </p:sp>
      <p:sp>
        <p:nvSpPr>
          <p:cNvPr id="18" name="TextBox 17"/>
          <p:cNvSpPr txBox="1"/>
          <p:nvPr/>
        </p:nvSpPr>
        <p:spPr>
          <a:xfrm>
            <a:off x="466344" y="1124712"/>
            <a:ext cx="2432304" cy="576072"/>
          </a:xfrm>
          <a:prstGeom prst="rect">
            <a:avLst/>
          </a:prstGeom>
          <a:noFill/>
        </p:spPr>
        <p:txBody>
          <a:bodyPr wrap="square" lIns="9144" tIns="0" rIns="9144" bIns="0" anchor="ctr">
            <a:spAutoFit/>
          </a:bodyPr>
          <a:lstStyle/>
          <a:p>
            <a:pPr algn="ctr">
              <a:spcBef>
                <a:spcPts val="0"/>
              </a:spcBef>
              <a:spcAft>
                <a:spcPts val="0"/>
              </a:spcAft>
              <a:defRPr sz="3300" b="1">
                <a:solidFill>
                  <a:srgbClr val="008A96"/>
                </a:solidFill>
                <a:latin typeface="Noto Sans"/>
              </a:defRPr>
            </a:pPr>
            <a:r>
              <a:t>320</a:t>
            </a:r>
          </a:p>
        </p:txBody>
      </p:sp>
      <p:sp>
        <p:nvSpPr>
          <p:cNvPr id="19" name="TextBox 18"/>
          <p:cNvSpPr txBox="1"/>
          <p:nvPr/>
        </p:nvSpPr>
        <p:spPr>
          <a:xfrm>
            <a:off x="466344" y="1719072"/>
            <a:ext cx="2432304" cy="301752"/>
          </a:xfrm>
          <a:prstGeom prst="rect">
            <a:avLst/>
          </a:prstGeom>
          <a:noFill/>
        </p:spPr>
        <p:txBody>
          <a:bodyPr wrap="square" lIns="9144" tIns="0" rIns="9144" bIns="0" anchor="ctr">
            <a:spAutoFit/>
          </a:bodyPr>
          <a:lstStyle/>
          <a:p>
            <a:pPr algn="ctr">
              <a:spcBef>
                <a:spcPts val="0"/>
              </a:spcBef>
              <a:spcAft>
                <a:spcPts val="0"/>
              </a:spcAft>
              <a:defRPr sz="1320" b="0">
                <a:solidFill>
                  <a:srgbClr val="192B43"/>
                </a:solidFill>
                <a:latin typeface="Noto Sans"/>
              </a:defRPr>
            </a:pPr>
            <a:r>
              <a:t>candidate binaries</a:t>
            </a:r>
          </a:p>
        </p:txBody>
      </p:sp>
      <p:sp>
        <p:nvSpPr>
          <p:cNvPr id="20" name="TextBox 19"/>
          <p:cNvSpPr txBox="1"/>
          <p:nvPr/>
        </p:nvSpPr>
        <p:spPr>
          <a:xfrm>
            <a:off x="3337560" y="1124712"/>
            <a:ext cx="2432304" cy="576072"/>
          </a:xfrm>
          <a:prstGeom prst="rect">
            <a:avLst/>
          </a:prstGeom>
          <a:noFill/>
        </p:spPr>
        <p:txBody>
          <a:bodyPr wrap="square" lIns="9144" tIns="0" rIns="9144" bIns="0" anchor="ctr">
            <a:spAutoFit/>
          </a:bodyPr>
          <a:lstStyle/>
          <a:p>
            <a:pPr algn="ctr">
              <a:spcBef>
                <a:spcPts val="0"/>
              </a:spcBef>
              <a:spcAft>
                <a:spcPts val="0"/>
              </a:spcAft>
              <a:defRPr sz="3300" b="1">
                <a:solidFill>
                  <a:srgbClr val="008A96"/>
                </a:solidFill>
                <a:latin typeface="Noto Sans"/>
              </a:defRPr>
            </a:pPr>
            <a:r>
              <a:t>3</a:t>
            </a:r>
          </a:p>
        </p:txBody>
      </p:sp>
      <p:sp>
        <p:nvSpPr>
          <p:cNvPr id="21" name="TextBox 20"/>
          <p:cNvSpPr txBox="1"/>
          <p:nvPr/>
        </p:nvSpPr>
        <p:spPr>
          <a:xfrm>
            <a:off x="3337560" y="1719072"/>
            <a:ext cx="2432304" cy="301752"/>
          </a:xfrm>
          <a:prstGeom prst="rect">
            <a:avLst/>
          </a:prstGeom>
          <a:noFill/>
        </p:spPr>
        <p:txBody>
          <a:bodyPr wrap="square" lIns="9144" tIns="0" rIns="9144" bIns="0" anchor="ctr">
            <a:spAutoFit/>
          </a:bodyPr>
          <a:lstStyle/>
          <a:p>
            <a:pPr algn="ctr">
              <a:spcBef>
                <a:spcPts val="0"/>
              </a:spcBef>
              <a:spcAft>
                <a:spcPts val="0"/>
              </a:spcAft>
              <a:defRPr sz="1320" b="0">
                <a:solidFill>
                  <a:srgbClr val="192B43"/>
                </a:solidFill>
                <a:latin typeface="Noto Sans"/>
              </a:defRPr>
            </a:pPr>
            <a:r>
              <a:t>separate repetitions</a:t>
            </a:r>
          </a:p>
        </p:txBody>
      </p:sp>
      <p:sp>
        <p:nvSpPr>
          <p:cNvPr id="22" name="TextBox 21"/>
          <p:cNvSpPr txBox="1"/>
          <p:nvPr/>
        </p:nvSpPr>
        <p:spPr>
          <a:xfrm>
            <a:off x="6208776" y="1124712"/>
            <a:ext cx="2432304" cy="576072"/>
          </a:xfrm>
          <a:prstGeom prst="rect">
            <a:avLst/>
          </a:prstGeom>
          <a:noFill/>
        </p:spPr>
        <p:txBody>
          <a:bodyPr wrap="square" lIns="9144" tIns="0" rIns="9144" bIns="0" anchor="ctr">
            <a:spAutoFit/>
          </a:bodyPr>
          <a:lstStyle/>
          <a:p>
            <a:pPr algn="ctr">
              <a:spcBef>
                <a:spcPts val="0"/>
              </a:spcBef>
              <a:spcAft>
                <a:spcPts val="0"/>
              </a:spcAft>
              <a:defRPr sz="3300" b="1">
                <a:solidFill>
                  <a:srgbClr val="008A96"/>
                </a:solidFill>
                <a:latin typeface="Noto Sans"/>
              </a:defRPr>
            </a:pPr>
            <a:r>
              <a:t>3</a:t>
            </a:r>
          </a:p>
        </p:txBody>
      </p:sp>
      <p:sp>
        <p:nvSpPr>
          <p:cNvPr id="23" name="TextBox 22"/>
          <p:cNvSpPr txBox="1"/>
          <p:nvPr/>
        </p:nvSpPr>
        <p:spPr>
          <a:xfrm>
            <a:off x="6208776" y="1719072"/>
            <a:ext cx="2432304" cy="301752"/>
          </a:xfrm>
          <a:prstGeom prst="rect">
            <a:avLst/>
          </a:prstGeom>
          <a:noFill/>
        </p:spPr>
        <p:txBody>
          <a:bodyPr wrap="square" lIns="9144" tIns="0" rIns="9144" bIns="0" anchor="ctr">
            <a:spAutoFit/>
          </a:bodyPr>
          <a:lstStyle/>
          <a:p>
            <a:pPr algn="ctr">
              <a:spcBef>
                <a:spcPts val="0"/>
              </a:spcBef>
              <a:spcAft>
                <a:spcPts val="0"/>
              </a:spcAft>
              <a:defRPr sz="1320" b="0">
                <a:solidFill>
                  <a:srgbClr val="192B43"/>
                </a:solidFill>
                <a:latin typeface="Noto Sans"/>
              </a:defRPr>
            </a:pPr>
            <a:r>
              <a:t>representative contrasts</a:t>
            </a:r>
          </a:p>
        </p:txBody>
      </p:sp>
      <p:sp>
        <p:nvSpPr>
          <p:cNvPr id="24" name="Rectangle 23"/>
          <p:cNvSpPr/>
          <p:nvPr/>
        </p:nvSpPr>
        <p:spPr>
          <a:xfrm>
            <a:off x="475488" y="2350008"/>
            <a:ext cx="1060704" cy="265176"/>
          </a:xfrm>
          <a:prstGeom prst="rect">
            <a:avLst/>
          </a:prstGeom>
          <a:solidFill>
            <a:srgbClr val="0414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512064" y="2363724"/>
            <a:ext cx="987551" cy="228600"/>
          </a:xfrm>
          <a:prstGeom prst="rect">
            <a:avLst/>
          </a:prstGeom>
          <a:noFill/>
        </p:spPr>
        <p:txBody>
          <a:bodyPr wrap="square" lIns="9144" tIns="0" rIns="9144" bIns="0" anchor="ctr">
            <a:spAutoFit/>
          </a:bodyPr>
          <a:lstStyle/>
          <a:p>
            <a:pPr algn="l">
              <a:spcBef>
                <a:spcPts val="0"/>
              </a:spcBef>
              <a:spcAft>
                <a:spcPts val="0"/>
              </a:spcAft>
              <a:defRPr sz="1100" b="1">
                <a:solidFill>
                  <a:srgbClr val="FFFFFF"/>
                </a:solidFill>
                <a:latin typeface="Noto Sans"/>
              </a:defRPr>
            </a:pPr>
            <a:r>
              <a:t>MATCH</a:t>
            </a:r>
          </a:p>
        </p:txBody>
      </p:sp>
      <p:sp>
        <p:nvSpPr>
          <p:cNvPr id="26" name="TextBox 25"/>
          <p:cNvSpPr txBox="1"/>
          <p:nvPr/>
        </p:nvSpPr>
        <p:spPr>
          <a:xfrm>
            <a:off x="1746504" y="2350008"/>
            <a:ext cx="6885432" cy="274320"/>
          </a:xfrm>
          <a:prstGeom prst="rect">
            <a:avLst/>
          </a:prstGeom>
          <a:noFill/>
        </p:spPr>
        <p:txBody>
          <a:bodyPr wrap="square" lIns="9144" tIns="0" rIns="9144" bIns="0" anchor="ctr">
            <a:spAutoFit/>
          </a:bodyPr>
          <a:lstStyle/>
          <a:p>
            <a:pPr algn="l">
              <a:spcBef>
                <a:spcPts val="0"/>
              </a:spcBef>
              <a:spcAft>
                <a:spcPts val="0"/>
              </a:spcAft>
              <a:defRPr sz="1300" b="0">
                <a:solidFill>
                  <a:srgbClr val="192B43"/>
                </a:solidFill>
                <a:latin typeface="Noto Sans"/>
              </a:defRPr>
            </a:pPr>
            <a:r>
              <a:t>other axes + settings + workload + repetition</a:t>
            </a:r>
          </a:p>
        </p:txBody>
      </p:sp>
      <p:sp>
        <p:nvSpPr>
          <p:cNvPr id="27" name="Rectangle 26"/>
          <p:cNvSpPr/>
          <p:nvPr/>
        </p:nvSpPr>
        <p:spPr>
          <a:xfrm>
            <a:off x="475488" y="2807208"/>
            <a:ext cx="1060704" cy="265176"/>
          </a:xfrm>
          <a:prstGeom prst="rect">
            <a:avLst/>
          </a:prstGeom>
          <a:solidFill>
            <a:srgbClr val="0414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512064" y="2820924"/>
            <a:ext cx="987551" cy="228600"/>
          </a:xfrm>
          <a:prstGeom prst="rect">
            <a:avLst/>
          </a:prstGeom>
          <a:noFill/>
        </p:spPr>
        <p:txBody>
          <a:bodyPr wrap="square" lIns="9144" tIns="0" rIns="9144" bIns="0" anchor="ctr">
            <a:spAutoFit/>
          </a:bodyPr>
          <a:lstStyle/>
          <a:p>
            <a:pPr algn="l">
              <a:spcBef>
                <a:spcPts val="0"/>
              </a:spcBef>
              <a:spcAft>
                <a:spcPts val="0"/>
              </a:spcAft>
              <a:defRPr sz="1100" b="1">
                <a:solidFill>
                  <a:srgbClr val="FFFFFF"/>
                </a:solidFill>
                <a:latin typeface="Noto Sans"/>
              </a:defRPr>
            </a:pPr>
            <a:r>
              <a:t>VARY</a:t>
            </a:r>
          </a:p>
        </p:txBody>
      </p:sp>
      <p:sp>
        <p:nvSpPr>
          <p:cNvPr id="29" name="TextBox 28"/>
          <p:cNvSpPr txBox="1"/>
          <p:nvPr/>
        </p:nvSpPr>
        <p:spPr>
          <a:xfrm>
            <a:off x="1746504" y="2807208"/>
            <a:ext cx="6885432" cy="274320"/>
          </a:xfrm>
          <a:prstGeom prst="rect">
            <a:avLst/>
          </a:prstGeom>
          <a:noFill/>
        </p:spPr>
        <p:txBody>
          <a:bodyPr wrap="square" lIns="9144" tIns="0" rIns="9144" bIns="0" anchor="ctr">
            <a:spAutoFit/>
          </a:bodyPr>
          <a:lstStyle/>
          <a:p>
            <a:pPr algn="l">
              <a:spcBef>
                <a:spcPts val="0"/>
              </a:spcBef>
              <a:spcAft>
                <a:spcPts val="0"/>
              </a:spcAft>
              <a:defRPr sz="1300" b="0">
                <a:solidFill>
                  <a:srgbClr val="192B43"/>
                </a:solidFill>
                <a:latin typeface="Noto Sans"/>
              </a:defRPr>
            </a:pPr>
            <a:r>
              <a:t>one selected component decision</a:t>
            </a:r>
          </a:p>
        </p:txBody>
      </p:sp>
      <p:sp>
        <p:nvSpPr>
          <p:cNvPr id="30" name="Rectangle 29"/>
          <p:cNvSpPr/>
          <p:nvPr/>
        </p:nvSpPr>
        <p:spPr>
          <a:xfrm>
            <a:off x="475488" y="3264408"/>
            <a:ext cx="1060704" cy="265176"/>
          </a:xfrm>
          <a:prstGeom prst="rect">
            <a:avLst/>
          </a:prstGeom>
          <a:solidFill>
            <a:srgbClr val="0414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512064" y="3278124"/>
            <a:ext cx="987551" cy="228600"/>
          </a:xfrm>
          <a:prstGeom prst="rect">
            <a:avLst/>
          </a:prstGeom>
          <a:noFill/>
        </p:spPr>
        <p:txBody>
          <a:bodyPr wrap="square" lIns="9144" tIns="0" rIns="9144" bIns="0" anchor="ctr">
            <a:spAutoFit/>
          </a:bodyPr>
          <a:lstStyle/>
          <a:p>
            <a:pPr algn="l">
              <a:spcBef>
                <a:spcPts val="0"/>
              </a:spcBef>
              <a:spcAft>
                <a:spcPts val="0"/>
              </a:spcAft>
              <a:defRPr sz="1100" b="1">
                <a:solidFill>
                  <a:srgbClr val="FFFFFF"/>
                </a:solidFill>
                <a:latin typeface="Noto Sans"/>
              </a:defRPr>
            </a:pPr>
            <a:r>
              <a:t>REPORT</a:t>
            </a:r>
          </a:p>
        </p:txBody>
      </p:sp>
      <p:sp>
        <p:nvSpPr>
          <p:cNvPr id="32" name="TextBox 31"/>
          <p:cNvSpPr txBox="1"/>
          <p:nvPr/>
        </p:nvSpPr>
        <p:spPr>
          <a:xfrm>
            <a:off x="1746504" y="3264408"/>
            <a:ext cx="6885432" cy="274320"/>
          </a:xfrm>
          <a:prstGeom prst="rect">
            <a:avLst/>
          </a:prstGeom>
          <a:noFill/>
        </p:spPr>
        <p:txBody>
          <a:bodyPr wrap="square" lIns="9144" tIns="0" rIns="9144" bIns="0" anchor="ctr">
            <a:spAutoFit/>
          </a:bodyPr>
          <a:lstStyle/>
          <a:p>
            <a:pPr algn="l">
              <a:spcBef>
                <a:spcPts val="0"/>
              </a:spcBef>
              <a:spcAft>
                <a:spcPts val="0"/>
              </a:spcAft>
              <a:defRPr sz="1300" b="0">
                <a:solidFill>
                  <a:srgbClr val="192B43"/>
                </a:solidFill>
                <a:latin typeface="Noto Sans"/>
              </a:defRPr>
            </a:pPr>
            <a:r>
              <a:t>one paired median per repetition; no confidence interval</a:t>
            </a:r>
          </a:p>
        </p:txBody>
      </p:sp>
      <p:sp>
        <p:nvSpPr>
          <p:cNvPr id="33" name="Rectangle 32"/>
          <p:cNvSpPr/>
          <p:nvPr/>
        </p:nvSpPr>
        <p:spPr>
          <a:xfrm>
            <a:off x="329184" y="4096512"/>
            <a:ext cx="8458200" cy="356616"/>
          </a:xfrm>
          <a:prstGeom prst="rect">
            <a:avLst/>
          </a:prstGeom>
          <a:solidFill>
            <a:srgbClr val="A4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438912" y="4123944"/>
            <a:ext cx="8211312" cy="292608"/>
          </a:xfrm>
          <a:prstGeom prst="rect">
            <a:avLst/>
          </a:prstGeom>
          <a:noFill/>
        </p:spPr>
        <p:txBody>
          <a:bodyPr wrap="square" lIns="9144" tIns="0" rIns="9144" bIns="0" anchor="ctr">
            <a:spAutoFit/>
          </a:bodyPr>
          <a:lstStyle/>
          <a:p>
            <a:pPr algn="l">
              <a:spcBef>
                <a:spcPts val="0"/>
              </a:spcBef>
              <a:spcAft>
                <a:spcPts val="0"/>
              </a:spcAft>
              <a:defRPr sz="1300" b="1">
                <a:solidFill>
                  <a:srgbClr val="FFFFFF"/>
                </a:solidFill>
                <a:latin typeface="Noto Sans"/>
              </a:defRPr>
            </a:pPr>
            <a:r>
              <a:t>Thesis measurement of 24 Sep 2026, not in the submitted text. Timing differences ≠ a cache-causal proof.</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83464" y="182880"/>
            <a:ext cx="7360920" cy="438912"/>
          </a:xfrm>
          <a:prstGeom prst="rect">
            <a:avLst/>
          </a:prstGeom>
          <a:noFill/>
        </p:spPr>
        <p:txBody>
          <a:bodyPr wrap="square" lIns="9144" tIns="0" rIns="9144" bIns="0" anchor="ctr">
            <a:spAutoFit/>
          </a:bodyPr>
          <a:lstStyle/>
          <a:p>
            <a:pPr algn="l">
              <a:spcBef>
                <a:spcPts val="0"/>
              </a:spcBef>
              <a:spcAft>
                <a:spcPts val="0"/>
              </a:spcAft>
              <a:defRPr sz="2400" b="1">
                <a:solidFill>
                  <a:srgbClr val="041447"/>
                </a:solidFill>
                <a:latin typeface="Noto Sans"/>
              </a:defRPr>
            </a:pPr>
            <a:r>
              <a:t>Experiment 1: node capacity</a:t>
            </a:r>
          </a:p>
        </p:txBody>
      </p:sp>
      <p:sp>
        <p:nvSpPr>
          <p:cNvPr id="3" name="Rectangle 2"/>
          <p:cNvSpPr/>
          <p:nvPr/>
        </p:nvSpPr>
        <p:spPr>
          <a:xfrm>
            <a:off x="310896" y="786384"/>
            <a:ext cx="1197864" cy="45720"/>
          </a:xfrm>
          <a:prstGeom prst="rect">
            <a:avLst/>
          </a:prstGeom>
          <a:solidFill>
            <a:srgbClr val="D2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10896" y="621792"/>
            <a:ext cx="1197864" cy="164592"/>
          </a:xfrm>
          <a:prstGeom prst="rect">
            <a:avLst/>
          </a:prstGeom>
          <a:noFill/>
        </p:spPr>
        <p:txBody>
          <a:bodyPr wrap="square" lIns="9144" tIns="0" rIns="9144" bIns="0" anchor="ctr">
            <a:spAutoFit/>
          </a:bodyPr>
          <a:lstStyle/>
          <a:p>
            <a:pPr algn="l">
              <a:spcBef>
                <a:spcPts val="0"/>
              </a:spcBef>
              <a:spcAft>
                <a:spcPts val="0"/>
              </a:spcAft>
              <a:defRPr sz="850" b="0">
                <a:solidFill>
                  <a:srgbClr val="607080"/>
                </a:solidFill>
                <a:latin typeface="Noto Sans"/>
              </a:defRPr>
            </a:pPr>
            <a:r>
              <a:t>1 Introduction</a:t>
            </a:r>
          </a:p>
        </p:txBody>
      </p:sp>
      <p:sp>
        <p:nvSpPr>
          <p:cNvPr id="5" name="Rectangle 4"/>
          <p:cNvSpPr/>
          <p:nvPr/>
        </p:nvSpPr>
        <p:spPr>
          <a:xfrm>
            <a:off x="1545336" y="786384"/>
            <a:ext cx="1243584" cy="45720"/>
          </a:xfrm>
          <a:prstGeom prst="rect">
            <a:avLst/>
          </a:prstGeom>
          <a:solidFill>
            <a:srgbClr val="D2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545336" y="621792"/>
            <a:ext cx="1243584" cy="164592"/>
          </a:xfrm>
          <a:prstGeom prst="rect">
            <a:avLst/>
          </a:prstGeom>
          <a:noFill/>
        </p:spPr>
        <p:txBody>
          <a:bodyPr wrap="square" lIns="9144" tIns="0" rIns="9144" bIns="0" anchor="ctr">
            <a:spAutoFit/>
          </a:bodyPr>
          <a:lstStyle/>
          <a:p>
            <a:pPr algn="l">
              <a:spcBef>
                <a:spcPts val="0"/>
              </a:spcBef>
              <a:spcAft>
                <a:spcPts val="0"/>
              </a:spcAft>
              <a:defRPr sz="850" b="0">
                <a:solidFill>
                  <a:srgbClr val="607080"/>
                </a:solidFill>
                <a:latin typeface="Noto Sans"/>
              </a:defRPr>
            </a:pPr>
            <a:r>
              <a:t>2 Background</a:t>
            </a:r>
          </a:p>
        </p:txBody>
      </p:sp>
      <p:sp>
        <p:nvSpPr>
          <p:cNvPr id="7" name="Rectangle 6"/>
          <p:cNvSpPr/>
          <p:nvPr/>
        </p:nvSpPr>
        <p:spPr>
          <a:xfrm>
            <a:off x="2825496" y="786384"/>
            <a:ext cx="1078992" cy="45720"/>
          </a:xfrm>
          <a:prstGeom prst="rect">
            <a:avLst/>
          </a:prstGeom>
          <a:solidFill>
            <a:srgbClr val="D2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2825496" y="621792"/>
            <a:ext cx="1078992" cy="164592"/>
          </a:xfrm>
          <a:prstGeom prst="rect">
            <a:avLst/>
          </a:prstGeom>
          <a:noFill/>
        </p:spPr>
        <p:txBody>
          <a:bodyPr wrap="square" lIns="9144" tIns="0" rIns="9144" bIns="0" anchor="ctr">
            <a:spAutoFit/>
          </a:bodyPr>
          <a:lstStyle/>
          <a:p>
            <a:pPr algn="l">
              <a:spcBef>
                <a:spcPts val="0"/>
              </a:spcBef>
              <a:spcAft>
                <a:spcPts val="0"/>
              </a:spcAft>
              <a:defRPr sz="850" b="0">
                <a:solidFill>
                  <a:srgbClr val="607080"/>
                </a:solidFill>
                <a:latin typeface="Noto Sans"/>
              </a:defRPr>
            </a:pPr>
            <a:r>
              <a:t>3 Concept</a:t>
            </a:r>
          </a:p>
        </p:txBody>
      </p:sp>
      <p:sp>
        <p:nvSpPr>
          <p:cNvPr id="9" name="Rectangle 8"/>
          <p:cNvSpPr/>
          <p:nvPr/>
        </p:nvSpPr>
        <p:spPr>
          <a:xfrm>
            <a:off x="3941063" y="786384"/>
            <a:ext cx="1645920" cy="45720"/>
          </a:xfrm>
          <a:prstGeom prst="rect">
            <a:avLst/>
          </a:prstGeom>
          <a:solidFill>
            <a:srgbClr val="D2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941063" y="621792"/>
            <a:ext cx="1645920" cy="164592"/>
          </a:xfrm>
          <a:prstGeom prst="rect">
            <a:avLst/>
          </a:prstGeom>
          <a:noFill/>
        </p:spPr>
        <p:txBody>
          <a:bodyPr wrap="square" lIns="9144" tIns="0" rIns="9144" bIns="0" anchor="ctr">
            <a:spAutoFit/>
          </a:bodyPr>
          <a:lstStyle/>
          <a:p>
            <a:pPr algn="l">
              <a:spcBef>
                <a:spcPts val="0"/>
              </a:spcBef>
              <a:spcAft>
                <a:spcPts val="0"/>
              </a:spcAft>
              <a:defRPr sz="850" b="0">
                <a:solidFill>
                  <a:srgbClr val="607080"/>
                </a:solidFill>
                <a:latin typeface="Noto Sans"/>
              </a:defRPr>
            </a:pPr>
            <a:r>
              <a:t>4 Implementation</a:t>
            </a:r>
          </a:p>
        </p:txBody>
      </p:sp>
      <p:sp>
        <p:nvSpPr>
          <p:cNvPr id="11" name="Rectangle 10"/>
          <p:cNvSpPr/>
          <p:nvPr/>
        </p:nvSpPr>
        <p:spPr>
          <a:xfrm>
            <a:off x="5623559" y="786384"/>
            <a:ext cx="1252728" cy="45720"/>
          </a:xfrm>
          <a:prstGeom prst="rect">
            <a:avLst/>
          </a:prstGeom>
          <a:solidFill>
            <a:srgbClr val="008A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623559" y="621792"/>
            <a:ext cx="1252728" cy="164592"/>
          </a:xfrm>
          <a:prstGeom prst="rect">
            <a:avLst/>
          </a:prstGeom>
          <a:noFill/>
        </p:spPr>
        <p:txBody>
          <a:bodyPr wrap="square" lIns="9144" tIns="0" rIns="9144" bIns="0" anchor="ctr">
            <a:spAutoFit/>
          </a:bodyPr>
          <a:lstStyle/>
          <a:p>
            <a:pPr algn="l">
              <a:spcBef>
                <a:spcPts val="0"/>
              </a:spcBef>
              <a:spcAft>
                <a:spcPts val="0"/>
              </a:spcAft>
              <a:defRPr sz="850" b="1">
                <a:solidFill>
                  <a:srgbClr val="008A96"/>
                </a:solidFill>
                <a:latin typeface="Noto Sans"/>
              </a:defRPr>
            </a:pPr>
            <a:r>
              <a:t>5 Evaluation</a:t>
            </a:r>
          </a:p>
        </p:txBody>
      </p:sp>
      <p:sp>
        <p:nvSpPr>
          <p:cNvPr id="13" name="Rectangle 12"/>
          <p:cNvSpPr/>
          <p:nvPr/>
        </p:nvSpPr>
        <p:spPr>
          <a:xfrm>
            <a:off x="6912864" y="786384"/>
            <a:ext cx="1216152" cy="45720"/>
          </a:xfrm>
          <a:prstGeom prst="rect">
            <a:avLst/>
          </a:prstGeom>
          <a:solidFill>
            <a:srgbClr val="D2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912864" y="621792"/>
            <a:ext cx="1216152" cy="164592"/>
          </a:xfrm>
          <a:prstGeom prst="rect">
            <a:avLst/>
          </a:prstGeom>
          <a:noFill/>
        </p:spPr>
        <p:txBody>
          <a:bodyPr wrap="square" lIns="9144" tIns="0" rIns="9144" bIns="0" anchor="ctr">
            <a:spAutoFit/>
          </a:bodyPr>
          <a:lstStyle/>
          <a:p>
            <a:pPr algn="l">
              <a:spcBef>
                <a:spcPts val="0"/>
              </a:spcBef>
              <a:spcAft>
                <a:spcPts val="0"/>
              </a:spcAft>
              <a:defRPr sz="850" b="0">
                <a:solidFill>
                  <a:srgbClr val="607080"/>
                </a:solidFill>
                <a:latin typeface="Noto Sans"/>
              </a:defRPr>
            </a:pPr>
            <a:r>
              <a:t>6 Conclusion</a:t>
            </a:r>
          </a:p>
        </p:txBody>
      </p:sp>
      <p:sp>
        <p:nvSpPr>
          <p:cNvPr id="15" name="TextBox 14"/>
          <p:cNvSpPr txBox="1"/>
          <p:nvPr/>
        </p:nvSpPr>
        <p:spPr>
          <a:xfrm>
            <a:off x="320040" y="4572000"/>
            <a:ext cx="8321040" cy="182880"/>
          </a:xfrm>
          <a:prstGeom prst="rect">
            <a:avLst/>
          </a:prstGeom>
          <a:noFill/>
        </p:spPr>
        <p:txBody>
          <a:bodyPr wrap="square" lIns="9144" tIns="0" rIns="9144" bIns="0" anchor="ctr">
            <a:spAutoFit/>
          </a:bodyPr>
          <a:lstStyle/>
          <a:p>
            <a:pPr algn="l">
              <a:spcBef>
                <a:spcPts val="0"/>
              </a:spcBef>
              <a:spcAft>
                <a:spcPts val="0"/>
              </a:spcAft>
              <a:defRPr sz="810" b="0">
                <a:solidFill>
                  <a:srgbClr val="607080"/>
                </a:solidFill>
                <a:latin typeface="Noto Sans"/>
              </a:defRPr>
            </a:pPr>
            <a:r>
              <a:t>THESIS MEASUREMENT 2026-09-24  |  320 binaries x 4 workloads x 3 repetitions  |  80 matched pairs per run / variant  |  No causal cache attribution</a:t>
            </a:r>
          </a:p>
        </p:txBody>
      </p:sp>
      <p:sp>
        <p:nvSpPr>
          <p:cNvPr id="16" name="TextBox 15"/>
          <p:cNvSpPr txBox="1"/>
          <p:nvPr/>
        </p:nvSpPr>
        <p:spPr>
          <a:xfrm>
            <a:off x="1234440" y="4873752"/>
            <a:ext cx="6766560" cy="164592"/>
          </a:xfrm>
          <a:prstGeom prst="rect">
            <a:avLst/>
          </a:prstGeom>
          <a:noFill/>
        </p:spPr>
        <p:txBody>
          <a:bodyPr wrap="square" lIns="9144" tIns="0" rIns="9144" bIns="0" anchor="ctr">
            <a:spAutoFit/>
          </a:bodyPr>
          <a:lstStyle/>
          <a:p>
            <a:pPr algn="l">
              <a:spcBef>
                <a:spcPts val="0"/>
              </a:spcBef>
              <a:spcAft>
                <a:spcPts val="0"/>
              </a:spcAft>
              <a:defRPr sz="830" b="0">
                <a:solidFill>
                  <a:srgbClr val="041447"/>
                </a:solidFill>
                <a:latin typeface="Noto Sans"/>
              </a:defRPr>
            </a:pPr>
            <a:r>
              <a:t>Benjamin-Elias Probst  |  Diploma thesis defense  |  28 September 2026</a:t>
            </a:r>
          </a:p>
        </p:txBody>
      </p:sp>
      <p:sp>
        <p:nvSpPr>
          <p:cNvPr id="17" name="TextBox 16"/>
          <p:cNvSpPr txBox="1"/>
          <p:nvPr/>
        </p:nvSpPr>
        <p:spPr>
          <a:xfrm>
            <a:off x="8412480" y="4864608"/>
            <a:ext cx="393192" cy="192024"/>
          </a:xfrm>
          <a:prstGeom prst="rect">
            <a:avLst/>
          </a:prstGeom>
          <a:noFill/>
        </p:spPr>
        <p:txBody>
          <a:bodyPr wrap="square" lIns="9144" tIns="0" rIns="9144" bIns="0" anchor="ctr">
            <a:spAutoFit/>
          </a:bodyPr>
          <a:lstStyle/>
          <a:p>
            <a:pPr algn="r">
              <a:spcBef>
                <a:spcPts val="0"/>
              </a:spcBef>
              <a:spcAft>
                <a:spcPts val="0"/>
              </a:spcAft>
              <a:defRPr sz="900" b="1">
                <a:solidFill>
                  <a:srgbClr val="041447"/>
                </a:solidFill>
                <a:latin typeface="Noto Sans"/>
              </a:defRPr>
            </a:pPr>
            <a:r>
              <a:t>14</a:t>
            </a:r>
          </a:p>
        </p:txBody>
      </p:sp>
      <p:sp>
        <p:nvSpPr>
          <p:cNvPr id="18" name="TextBox 17"/>
          <p:cNvSpPr txBox="1"/>
          <p:nvPr/>
        </p:nvSpPr>
        <p:spPr>
          <a:xfrm>
            <a:off x="457200" y="1060704"/>
            <a:ext cx="6492240" cy="292608"/>
          </a:xfrm>
          <a:prstGeom prst="rect">
            <a:avLst/>
          </a:prstGeom>
          <a:noFill/>
        </p:spPr>
        <p:txBody>
          <a:bodyPr wrap="square" lIns="9144" tIns="0" rIns="9144" bIns="0" anchor="ctr">
            <a:spAutoFit/>
          </a:bodyPr>
          <a:lstStyle/>
          <a:p>
            <a:pPr algn="l">
              <a:spcBef>
                <a:spcPts val="0"/>
              </a:spcBef>
              <a:spcAft>
                <a:spcPts val="0"/>
              </a:spcAft>
              <a:defRPr sz="1350" b="1">
                <a:solidFill>
                  <a:srgbClr val="041447"/>
                </a:solidFill>
                <a:latin typeface="Noto Sans"/>
              </a:defRPr>
            </a:pPr>
            <a:r>
              <a:t>YCSB-C label · ns_per_op · reference: Node4</a:t>
            </a:r>
          </a:p>
        </p:txBody>
      </p:sp>
      <p:sp>
        <p:nvSpPr>
          <p:cNvPr id="19" name="Oval 18"/>
          <p:cNvSpPr/>
          <p:nvPr/>
        </p:nvSpPr>
        <p:spPr>
          <a:xfrm>
            <a:off x="7040880" y="1097280"/>
            <a:ext cx="82296" cy="82296"/>
          </a:xfrm>
          <a:prstGeom prst="ellipse">
            <a:avLst/>
          </a:prstGeom>
          <a:solidFill>
            <a:srgbClr val="0414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150608" y="1060704"/>
            <a:ext cx="310896" cy="256032"/>
          </a:xfrm>
          <a:prstGeom prst="rect">
            <a:avLst/>
          </a:prstGeom>
          <a:noFill/>
        </p:spPr>
        <p:txBody>
          <a:bodyPr wrap="square" lIns="9144" tIns="0" rIns="9144" bIns="0" anchor="ctr">
            <a:spAutoFit/>
          </a:bodyPr>
          <a:lstStyle/>
          <a:p>
            <a:pPr algn="l">
              <a:spcBef>
                <a:spcPts val="0"/>
              </a:spcBef>
              <a:spcAft>
                <a:spcPts val="0"/>
              </a:spcAft>
              <a:defRPr sz="950" b="0">
                <a:solidFill>
                  <a:srgbClr val="607080"/>
                </a:solidFill>
                <a:latin typeface="Noto Sans"/>
              </a:defRPr>
            </a:pPr>
            <a:r>
              <a:t>1</a:t>
            </a:r>
          </a:p>
        </p:txBody>
      </p:sp>
      <p:sp>
        <p:nvSpPr>
          <p:cNvPr id="21" name="Diamond 20"/>
          <p:cNvSpPr/>
          <p:nvPr/>
        </p:nvSpPr>
        <p:spPr>
          <a:xfrm>
            <a:off x="7543800" y="1097280"/>
            <a:ext cx="82296" cy="82296"/>
          </a:xfrm>
          <a:prstGeom prst="diamond">
            <a:avLst/>
          </a:prstGeom>
          <a:solidFill>
            <a:srgbClr val="3178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7653527" y="1060704"/>
            <a:ext cx="310896" cy="256032"/>
          </a:xfrm>
          <a:prstGeom prst="rect">
            <a:avLst/>
          </a:prstGeom>
          <a:noFill/>
        </p:spPr>
        <p:txBody>
          <a:bodyPr wrap="square" lIns="9144" tIns="0" rIns="9144" bIns="0" anchor="ctr">
            <a:spAutoFit/>
          </a:bodyPr>
          <a:lstStyle/>
          <a:p>
            <a:pPr algn="l">
              <a:spcBef>
                <a:spcPts val="0"/>
              </a:spcBef>
              <a:spcAft>
                <a:spcPts val="0"/>
              </a:spcAft>
              <a:defRPr sz="950" b="0">
                <a:solidFill>
                  <a:srgbClr val="607080"/>
                </a:solidFill>
                <a:latin typeface="Noto Sans"/>
              </a:defRPr>
            </a:pPr>
            <a:r>
              <a:t>2</a:t>
            </a:r>
          </a:p>
        </p:txBody>
      </p:sp>
      <p:sp>
        <p:nvSpPr>
          <p:cNvPr id="23" name="Isosceles Triangle 22"/>
          <p:cNvSpPr/>
          <p:nvPr/>
        </p:nvSpPr>
        <p:spPr>
          <a:xfrm>
            <a:off x="8046720" y="1097280"/>
            <a:ext cx="82296" cy="82296"/>
          </a:xfrm>
          <a:prstGeom prst="triangle">
            <a:avLst/>
          </a:prstGeom>
          <a:solidFill>
            <a:srgbClr val="008A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8156448" y="1060704"/>
            <a:ext cx="310896" cy="256032"/>
          </a:xfrm>
          <a:prstGeom prst="rect">
            <a:avLst/>
          </a:prstGeom>
          <a:noFill/>
        </p:spPr>
        <p:txBody>
          <a:bodyPr wrap="square" lIns="9144" tIns="0" rIns="9144" bIns="0" anchor="ctr">
            <a:spAutoFit/>
          </a:bodyPr>
          <a:lstStyle/>
          <a:p>
            <a:pPr algn="l">
              <a:spcBef>
                <a:spcPts val="0"/>
              </a:spcBef>
              <a:spcAft>
                <a:spcPts val="0"/>
              </a:spcAft>
              <a:defRPr sz="950" b="0">
                <a:solidFill>
                  <a:srgbClr val="607080"/>
                </a:solidFill>
                <a:latin typeface="Noto Sans"/>
              </a:defRPr>
            </a:pPr>
            <a:r>
              <a:t>3</a:t>
            </a:r>
          </a:p>
        </p:txBody>
      </p:sp>
      <p:sp>
        <p:nvSpPr>
          <p:cNvPr id="25" name="TextBox 24"/>
          <p:cNvSpPr txBox="1"/>
          <p:nvPr/>
        </p:nvSpPr>
        <p:spPr>
          <a:xfrm>
            <a:off x="6601968" y="1060704"/>
            <a:ext cx="393192" cy="256032"/>
          </a:xfrm>
          <a:prstGeom prst="rect">
            <a:avLst/>
          </a:prstGeom>
          <a:noFill/>
        </p:spPr>
        <p:txBody>
          <a:bodyPr wrap="square" lIns="9144" tIns="0" rIns="9144" bIns="0" anchor="ctr">
            <a:spAutoFit/>
          </a:bodyPr>
          <a:lstStyle/>
          <a:p>
            <a:pPr algn="l">
              <a:spcBef>
                <a:spcPts val="0"/>
              </a:spcBef>
              <a:spcAft>
                <a:spcPts val="0"/>
              </a:spcAft>
              <a:defRPr sz="950" b="0">
                <a:solidFill>
                  <a:srgbClr val="607080"/>
                </a:solidFill>
                <a:latin typeface="Noto Sans"/>
              </a:defRPr>
            </a:pPr>
            <a:r>
              <a:t>Run</a:t>
            </a:r>
          </a:p>
        </p:txBody>
      </p:sp>
      <p:cxnSp>
        <p:nvCxnSpPr>
          <p:cNvPr id="26" name="Connector 25"/>
          <p:cNvCxnSpPr/>
          <p:nvPr/>
        </p:nvCxnSpPr>
        <p:spPr>
          <a:xfrm>
            <a:off x="2487168" y="1618488"/>
            <a:ext cx="0" cy="1572768"/>
          </a:xfrm>
          <a:prstGeom prst="line">
            <a:avLst/>
          </a:prstGeom>
          <a:ln w="6985">
            <a:solidFill>
              <a:srgbClr val="D2DCE5"/>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2276856" y="3209544"/>
            <a:ext cx="438912" cy="265176"/>
          </a:xfrm>
          <a:prstGeom prst="rect">
            <a:avLst/>
          </a:prstGeom>
          <a:noFill/>
        </p:spPr>
        <p:txBody>
          <a:bodyPr wrap="square" lIns="9144" tIns="0" rIns="9144" bIns="0" anchor="ctr">
            <a:spAutoFit/>
          </a:bodyPr>
          <a:lstStyle/>
          <a:p>
            <a:pPr algn="ctr">
              <a:spcBef>
                <a:spcPts val="0"/>
              </a:spcBef>
              <a:spcAft>
                <a:spcPts val="0"/>
              </a:spcAft>
              <a:defRPr sz="1000" b="0">
                <a:solidFill>
                  <a:srgbClr val="607080"/>
                </a:solidFill>
                <a:latin typeface="Noto Sans"/>
              </a:defRPr>
            </a:pPr>
            <a:r>
              <a:t>-3</a:t>
            </a:r>
          </a:p>
        </p:txBody>
      </p:sp>
      <p:cxnSp>
        <p:nvCxnSpPr>
          <p:cNvPr id="28" name="Connector 27"/>
          <p:cNvCxnSpPr/>
          <p:nvPr/>
        </p:nvCxnSpPr>
        <p:spPr>
          <a:xfrm>
            <a:off x="3633825" y="1618488"/>
            <a:ext cx="0" cy="1572768"/>
          </a:xfrm>
          <a:prstGeom prst="line">
            <a:avLst/>
          </a:prstGeom>
          <a:ln w="6985">
            <a:solidFill>
              <a:srgbClr val="D2DCE5"/>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3423513" y="3209544"/>
            <a:ext cx="438912" cy="265176"/>
          </a:xfrm>
          <a:prstGeom prst="rect">
            <a:avLst/>
          </a:prstGeom>
          <a:noFill/>
        </p:spPr>
        <p:txBody>
          <a:bodyPr wrap="square" lIns="9144" tIns="0" rIns="9144" bIns="0" anchor="ctr">
            <a:spAutoFit/>
          </a:bodyPr>
          <a:lstStyle/>
          <a:p>
            <a:pPr algn="ctr">
              <a:spcBef>
                <a:spcPts val="0"/>
              </a:spcBef>
              <a:spcAft>
                <a:spcPts val="0"/>
              </a:spcAft>
              <a:defRPr sz="1000" b="0">
                <a:solidFill>
                  <a:srgbClr val="607080"/>
                </a:solidFill>
                <a:latin typeface="Noto Sans"/>
              </a:defRPr>
            </a:pPr>
            <a:r>
              <a:t>-2</a:t>
            </a:r>
          </a:p>
        </p:txBody>
      </p:sp>
      <p:cxnSp>
        <p:nvCxnSpPr>
          <p:cNvPr id="30" name="Connector 29"/>
          <p:cNvCxnSpPr/>
          <p:nvPr/>
        </p:nvCxnSpPr>
        <p:spPr>
          <a:xfrm>
            <a:off x="4780483" y="1618488"/>
            <a:ext cx="0" cy="1572768"/>
          </a:xfrm>
          <a:prstGeom prst="line">
            <a:avLst/>
          </a:prstGeom>
          <a:ln w="6985">
            <a:solidFill>
              <a:srgbClr val="D2DCE5"/>
            </a:solidFill>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4570171" y="3209544"/>
            <a:ext cx="438912" cy="265176"/>
          </a:xfrm>
          <a:prstGeom prst="rect">
            <a:avLst/>
          </a:prstGeom>
          <a:noFill/>
        </p:spPr>
        <p:txBody>
          <a:bodyPr wrap="square" lIns="9144" tIns="0" rIns="9144" bIns="0" anchor="ctr">
            <a:spAutoFit/>
          </a:bodyPr>
          <a:lstStyle/>
          <a:p>
            <a:pPr algn="ctr">
              <a:spcBef>
                <a:spcPts val="0"/>
              </a:spcBef>
              <a:spcAft>
                <a:spcPts val="0"/>
              </a:spcAft>
              <a:defRPr sz="1000" b="0">
                <a:solidFill>
                  <a:srgbClr val="607080"/>
                </a:solidFill>
                <a:latin typeface="Noto Sans"/>
              </a:defRPr>
            </a:pPr>
            <a:r>
              <a:t>-1</a:t>
            </a:r>
          </a:p>
        </p:txBody>
      </p:sp>
      <p:cxnSp>
        <p:nvCxnSpPr>
          <p:cNvPr id="32" name="Connector 31"/>
          <p:cNvCxnSpPr/>
          <p:nvPr/>
        </p:nvCxnSpPr>
        <p:spPr>
          <a:xfrm>
            <a:off x="5927140" y="1618488"/>
            <a:ext cx="0" cy="1572768"/>
          </a:xfrm>
          <a:prstGeom prst="line">
            <a:avLst/>
          </a:prstGeom>
          <a:ln w="12065">
            <a:solidFill>
              <a:srgbClr val="008A96"/>
            </a:solidFill>
            <a:prstDash val="dash"/>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5716828" y="3209544"/>
            <a:ext cx="438912" cy="265176"/>
          </a:xfrm>
          <a:prstGeom prst="rect">
            <a:avLst/>
          </a:prstGeom>
          <a:noFill/>
        </p:spPr>
        <p:txBody>
          <a:bodyPr wrap="square" lIns="9144" tIns="0" rIns="9144" bIns="0" anchor="ctr">
            <a:spAutoFit/>
          </a:bodyPr>
          <a:lstStyle/>
          <a:p>
            <a:pPr algn="ctr">
              <a:spcBef>
                <a:spcPts val="0"/>
              </a:spcBef>
              <a:spcAft>
                <a:spcPts val="0"/>
              </a:spcAft>
              <a:defRPr sz="1000" b="0">
                <a:solidFill>
                  <a:srgbClr val="607080"/>
                </a:solidFill>
                <a:latin typeface="Noto Sans"/>
              </a:defRPr>
            </a:pPr>
            <a:r>
              <a:t>0</a:t>
            </a:r>
          </a:p>
        </p:txBody>
      </p:sp>
      <p:cxnSp>
        <p:nvCxnSpPr>
          <p:cNvPr id="34" name="Connector 33"/>
          <p:cNvCxnSpPr/>
          <p:nvPr/>
        </p:nvCxnSpPr>
        <p:spPr>
          <a:xfrm>
            <a:off x="7073798" y="1618488"/>
            <a:ext cx="0" cy="1572768"/>
          </a:xfrm>
          <a:prstGeom prst="line">
            <a:avLst/>
          </a:prstGeom>
          <a:ln w="6985">
            <a:solidFill>
              <a:srgbClr val="D2DCE5"/>
            </a:solidFill>
          </a:ln>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6863486" y="3209544"/>
            <a:ext cx="438912" cy="265176"/>
          </a:xfrm>
          <a:prstGeom prst="rect">
            <a:avLst/>
          </a:prstGeom>
          <a:noFill/>
        </p:spPr>
        <p:txBody>
          <a:bodyPr wrap="square" lIns="9144" tIns="0" rIns="9144" bIns="0" anchor="ctr">
            <a:spAutoFit/>
          </a:bodyPr>
          <a:lstStyle/>
          <a:p>
            <a:pPr algn="ctr">
              <a:spcBef>
                <a:spcPts val="0"/>
              </a:spcBef>
              <a:spcAft>
                <a:spcPts val="0"/>
              </a:spcAft>
              <a:defRPr sz="1000" b="0">
                <a:solidFill>
                  <a:srgbClr val="607080"/>
                </a:solidFill>
                <a:latin typeface="Noto Sans"/>
              </a:defRPr>
            </a:pPr>
            <a:r>
              <a:t>1</a:t>
            </a:r>
          </a:p>
        </p:txBody>
      </p:sp>
      <p:cxnSp>
        <p:nvCxnSpPr>
          <p:cNvPr id="36" name="Connector 35"/>
          <p:cNvCxnSpPr/>
          <p:nvPr/>
        </p:nvCxnSpPr>
        <p:spPr>
          <a:xfrm>
            <a:off x="8220456" y="1618488"/>
            <a:ext cx="0" cy="1572768"/>
          </a:xfrm>
          <a:prstGeom prst="line">
            <a:avLst/>
          </a:prstGeom>
          <a:ln w="6985">
            <a:solidFill>
              <a:srgbClr val="D2DCE5"/>
            </a:solidFill>
          </a:ln>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a:off x="8010144" y="3209544"/>
            <a:ext cx="438912" cy="265176"/>
          </a:xfrm>
          <a:prstGeom prst="rect">
            <a:avLst/>
          </a:prstGeom>
          <a:noFill/>
        </p:spPr>
        <p:txBody>
          <a:bodyPr wrap="square" lIns="9144" tIns="0" rIns="9144" bIns="0" anchor="ctr">
            <a:spAutoFit/>
          </a:bodyPr>
          <a:lstStyle/>
          <a:p>
            <a:pPr algn="ctr">
              <a:spcBef>
                <a:spcPts val="0"/>
              </a:spcBef>
              <a:spcAft>
                <a:spcPts val="0"/>
              </a:spcAft>
              <a:defRPr sz="1000" b="0">
                <a:solidFill>
                  <a:srgbClr val="607080"/>
                </a:solidFill>
                <a:latin typeface="Noto Sans"/>
              </a:defRPr>
            </a:pPr>
            <a:r>
              <a:t>2</a:t>
            </a:r>
          </a:p>
        </p:txBody>
      </p:sp>
      <p:sp>
        <p:nvSpPr>
          <p:cNvPr id="38" name="TextBox 37"/>
          <p:cNvSpPr txBox="1"/>
          <p:nvPr/>
        </p:nvSpPr>
        <p:spPr>
          <a:xfrm>
            <a:off x="438912" y="1655064"/>
            <a:ext cx="1883664" cy="329184"/>
          </a:xfrm>
          <a:prstGeom prst="rect">
            <a:avLst/>
          </a:prstGeom>
          <a:noFill/>
        </p:spPr>
        <p:txBody>
          <a:bodyPr wrap="square" lIns="9144" tIns="0" rIns="9144" bIns="0" anchor="ctr">
            <a:spAutoFit/>
          </a:bodyPr>
          <a:lstStyle/>
          <a:p>
            <a:pPr algn="l">
              <a:spcBef>
                <a:spcPts val="0"/>
              </a:spcBef>
              <a:spcAft>
                <a:spcPts val="0"/>
              </a:spcAft>
              <a:defRPr sz="1250" b="1">
                <a:solidFill>
                  <a:srgbClr val="041447"/>
                </a:solidFill>
                <a:latin typeface="Noto Sans"/>
              </a:defRPr>
            </a:pPr>
            <a:r>
              <a:t>Node16</a:t>
            </a:r>
          </a:p>
        </p:txBody>
      </p:sp>
      <p:sp>
        <p:nvSpPr>
          <p:cNvPr id="39" name="TextBox 38"/>
          <p:cNvSpPr txBox="1"/>
          <p:nvPr/>
        </p:nvSpPr>
        <p:spPr>
          <a:xfrm>
            <a:off x="438912" y="2203704"/>
            <a:ext cx="1883664" cy="329184"/>
          </a:xfrm>
          <a:prstGeom prst="rect">
            <a:avLst/>
          </a:prstGeom>
          <a:noFill/>
        </p:spPr>
        <p:txBody>
          <a:bodyPr wrap="square" lIns="9144" tIns="0" rIns="9144" bIns="0" anchor="ctr">
            <a:spAutoFit/>
          </a:bodyPr>
          <a:lstStyle/>
          <a:p>
            <a:pPr algn="l">
              <a:spcBef>
                <a:spcPts val="0"/>
              </a:spcBef>
              <a:spcAft>
                <a:spcPts val="0"/>
              </a:spcAft>
              <a:defRPr sz="1250" b="1">
                <a:solidFill>
                  <a:srgbClr val="041447"/>
                </a:solidFill>
                <a:latin typeface="Noto Sans"/>
              </a:defRPr>
            </a:pPr>
            <a:r>
              <a:t>Node48</a:t>
            </a:r>
          </a:p>
        </p:txBody>
      </p:sp>
      <p:sp>
        <p:nvSpPr>
          <p:cNvPr id="40" name="TextBox 39"/>
          <p:cNvSpPr txBox="1"/>
          <p:nvPr/>
        </p:nvSpPr>
        <p:spPr>
          <a:xfrm>
            <a:off x="438912" y="2752344"/>
            <a:ext cx="1883664" cy="329184"/>
          </a:xfrm>
          <a:prstGeom prst="rect">
            <a:avLst/>
          </a:prstGeom>
          <a:noFill/>
        </p:spPr>
        <p:txBody>
          <a:bodyPr wrap="square" lIns="9144" tIns="0" rIns="9144" bIns="0" anchor="ctr">
            <a:spAutoFit/>
          </a:bodyPr>
          <a:lstStyle/>
          <a:p>
            <a:pPr algn="l">
              <a:spcBef>
                <a:spcPts val="0"/>
              </a:spcBef>
              <a:spcAft>
                <a:spcPts val="0"/>
              </a:spcAft>
              <a:defRPr sz="1250" b="1">
                <a:solidFill>
                  <a:srgbClr val="041447"/>
                </a:solidFill>
                <a:latin typeface="Noto Sans"/>
              </a:defRPr>
            </a:pPr>
            <a:r>
              <a:t>Node256</a:t>
            </a:r>
          </a:p>
        </p:txBody>
      </p:sp>
      <p:sp>
        <p:nvSpPr>
          <p:cNvPr id="41" name="TextBox 40"/>
          <p:cNvSpPr txBox="1"/>
          <p:nvPr/>
        </p:nvSpPr>
        <p:spPr>
          <a:xfrm>
            <a:off x="2487168" y="3511296"/>
            <a:ext cx="5733288" cy="246888"/>
          </a:xfrm>
          <a:prstGeom prst="rect">
            <a:avLst/>
          </a:prstGeom>
          <a:noFill/>
        </p:spPr>
        <p:txBody>
          <a:bodyPr wrap="square" lIns="9144" tIns="0" rIns="9144" bIns="0" anchor="ctr">
            <a:spAutoFit/>
          </a:bodyPr>
          <a:lstStyle/>
          <a:p>
            <a:pPr algn="ctr">
              <a:spcBef>
                <a:spcPts val="0"/>
              </a:spcBef>
              <a:spcAft>
                <a:spcPts val="0"/>
              </a:spcAft>
              <a:defRPr sz="1100" b="0">
                <a:solidFill>
                  <a:srgbClr val="607080"/>
                </a:solidFill>
                <a:latin typeface="Noto Sans"/>
              </a:defRPr>
            </a:pPr>
            <a:r>
              <a:t>Change in total ns/op relative to Node4 (%)</a:t>
            </a:r>
          </a:p>
        </p:txBody>
      </p:sp>
      <p:cxnSp>
        <p:nvCxnSpPr>
          <p:cNvPr id="42" name="Connector 41"/>
          <p:cNvCxnSpPr/>
          <p:nvPr/>
        </p:nvCxnSpPr>
        <p:spPr>
          <a:xfrm>
            <a:off x="3848939" y="1828800"/>
            <a:ext cx="1557046" cy="0"/>
          </a:xfrm>
          <a:prstGeom prst="line">
            <a:avLst/>
          </a:prstGeom>
          <a:ln w="8890">
            <a:solidFill>
              <a:srgbClr val="607080"/>
            </a:solidFill>
          </a:ln>
        </p:spPr>
        <p:style>
          <a:lnRef idx="2">
            <a:schemeClr val="accent1"/>
          </a:lnRef>
          <a:fillRef idx="0">
            <a:schemeClr val="accent1"/>
          </a:fillRef>
          <a:effectRef idx="1">
            <a:schemeClr val="accent1"/>
          </a:effectRef>
          <a:fontRef idx="minor">
            <a:schemeClr val="tx1"/>
          </a:fontRef>
        </p:style>
      </p:cxnSp>
      <p:sp>
        <p:nvSpPr>
          <p:cNvPr id="43" name="Oval 42"/>
          <p:cNvSpPr/>
          <p:nvPr/>
        </p:nvSpPr>
        <p:spPr>
          <a:xfrm>
            <a:off x="3806877" y="1722729"/>
            <a:ext cx="84124" cy="84124"/>
          </a:xfrm>
          <a:prstGeom prst="ellipse">
            <a:avLst/>
          </a:prstGeom>
          <a:solidFill>
            <a:srgbClr val="0414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Diamond 43"/>
          <p:cNvSpPr/>
          <p:nvPr/>
        </p:nvSpPr>
        <p:spPr>
          <a:xfrm>
            <a:off x="5363923" y="1786737"/>
            <a:ext cx="84124" cy="84124"/>
          </a:xfrm>
          <a:prstGeom prst="diamond">
            <a:avLst/>
          </a:prstGeom>
          <a:solidFill>
            <a:srgbClr val="3178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Isosceles Triangle 44"/>
          <p:cNvSpPr/>
          <p:nvPr/>
        </p:nvSpPr>
        <p:spPr>
          <a:xfrm>
            <a:off x="5213711" y="1850745"/>
            <a:ext cx="84124" cy="84124"/>
          </a:xfrm>
          <a:prstGeom prst="triangle">
            <a:avLst/>
          </a:prstGeom>
          <a:solidFill>
            <a:srgbClr val="008A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46" name="Connector 45"/>
          <p:cNvCxnSpPr/>
          <p:nvPr/>
        </p:nvCxnSpPr>
        <p:spPr>
          <a:xfrm>
            <a:off x="6305996" y="2377440"/>
            <a:ext cx="1353629" cy="0"/>
          </a:xfrm>
          <a:prstGeom prst="line">
            <a:avLst/>
          </a:prstGeom>
          <a:ln w="8890">
            <a:solidFill>
              <a:srgbClr val="607080"/>
            </a:solidFill>
          </a:ln>
        </p:spPr>
        <p:style>
          <a:lnRef idx="2">
            <a:schemeClr val="accent1"/>
          </a:lnRef>
          <a:fillRef idx="0">
            <a:schemeClr val="accent1"/>
          </a:fillRef>
          <a:effectRef idx="1">
            <a:schemeClr val="accent1"/>
          </a:effectRef>
          <a:fontRef idx="minor">
            <a:schemeClr val="tx1"/>
          </a:fontRef>
        </p:style>
      </p:cxnSp>
      <p:sp>
        <p:nvSpPr>
          <p:cNvPr id="47" name="Oval 46"/>
          <p:cNvSpPr/>
          <p:nvPr/>
        </p:nvSpPr>
        <p:spPr>
          <a:xfrm>
            <a:off x="6263934" y="2271369"/>
            <a:ext cx="84124" cy="84124"/>
          </a:xfrm>
          <a:prstGeom prst="ellipse">
            <a:avLst/>
          </a:prstGeom>
          <a:solidFill>
            <a:srgbClr val="0414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Diamond 47"/>
          <p:cNvSpPr/>
          <p:nvPr/>
        </p:nvSpPr>
        <p:spPr>
          <a:xfrm>
            <a:off x="6902623" y="2335377"/>
            <a:ext cx="84124" cy="84124"/>
          </a:xfrm>
          <a:prstGeom prst="diamond">
            <a:avLst/>
          </a:prstGeom>
          <a:solidFill>
            <a:srgbClr val="3178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Isosceles Triangle 48"/>
          <p:cNvSpPr/>
          <p:nvPr/>
        </p:nvSpPr>
        <p:spPr>
          <a:xfrm>
            <a:off x="7617564" y="2399385"/>
            <a:ext cx="84124" cy="84124"/>
          </a:xfrm>
          <a:prstGeom prst="triangle">
            <a:avLst/>
          </a:prstGeom>
          <a:solidFill>
            <a:srgbClr val="008A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50" name="Connector 49"/>
          <p:cNvCxnSpPr/>
          <p:nvPr/>
        </p:nvCxnSpPr>
        <p:spPr>
          <a:xfrm>
            <a:off x="3937002" y="2926080"/>
            <a:ext cx="941865" cy="0"/>
          </a:xfrm>
          <a:prstGeom prst="line">
            <a:avLst/>
          </a:prstGeom>
          <a:ln w="8890">
            <a:solidFill>
              <a:srgbClr val="607080"/>
            </a:solidFill>
          </a:ln>
        </p:spPr>
        <p:style>
          <a:lnRef idx="2">
            <a:schemeClr val="accent1"/>
          </a:lnRef>
          <a:fillRef idx="0">
            <a:schemeClr val="accent1"/>
          </a:fillRef>
          <a:effectRef idx="1">
            <a:schemeClr val="accent1"/>
          </a:effectRef>
          <a:fontRef idx="minor">
            <a:schemeClr val="tx1"/>
          </a:fontRef>
        </p:style>
      </p:cxnSp>
      <p:sp>
        <p:nvSpPr>
          <p:cNvPr id="51" name="Oval 50"/>
          <p:cNvSpPr/>
          <p:nvPr/>
        </p:nvSpPr>
        <p:spPr>
          <a:xfrm>
            <a:off x="3894940" y="2820009"/>
            <a:ext cx="84124" cy="84124"/>
          </a:xfrm>
          <a:prstGeom prst="ellipse">
            <a:avLst/>
          </a:prstGeom>
          <a:solidFill>
            <a:srgbClr val="0414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Diamond 51"/>
          <p:cNvSpPr/>
          <p:nvPr/>
        </p:nvSpPr>
        <p:spPr>
          <a:xfrm>
            <a:off x="4836804" y="2884017"/>
            <a:ext cx="84124" cy="84124"/>
          </a:xfrm>
          <a:prstGeom prst="diamond">
            <a:avLst/>
          </a:prstGeom>
          <a:solidFill>
            <a:srgbClr val="3178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Isosceles Triangle 52"/>
          <p:cNvSpPr/>
          <p:nvPr/>
        </p:nvSpPr>
        <p:spPr>
          <a:xfrm>
            <a:off x="4341563" y="2948025"/>
            <a:ext cx="84124" cy="84124"/>
          </a:xfrm>
          <a:prstGeom prst="triangle">
            <a:avLst/>
          </a:prstGeom>
          <a:solidFill>
            <a:srgbClr val="008A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Rectangle 53"/>
          <p:cNvSpPr/>
          <p:nvPr/>
        </p:nvSpPr>
        <p:spPr>
          <a:xfrm>
            <a:off x="329184" y="4034820"/>
            <a:ext cx="8458200" cy="480000"/>
          </a:xfrm>
          <a:prstGeom prst="rect">
            <a:avLst/>
          </a:prstGeom>
          <a:solidFill>
            <a:srgbClr val="0414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438912" y="4060248"/>
            <a:ext cx="8211312" cy="420000"/>
          </a:xfrm>
          <a:prstGeom prst="rect">
            <a:avLst/>
          </a:prstGeom>
          <a:noFill/>
        </p:spPr>
        <p:txBody>
          <a:bodyPr wrap="square" lIns="9144" tIns="0" rIns="9144" bIns="0" anchor="ctr">
            <a:spAutoFit/>
          </a:bodyPr>
          <a:lstStyle/>
          <a:p>
            <a:pPr algn="l">
              <a:spcBef>
                <a:spcPts val="0"/>
              </a:spcBef>
              <a:spcAft>
                <a:spcPts val="0"/>
              </a:spcAft>
              <a:defRPr sz="1300" b="1">
                <a:solidFill>
                  <a:srgbClr val="FFFFFF"/>
                </a:solidFill>
                <a:latin typeface="Noto Sans"/>
              </a:defRPr>
            </a:pPr>
            <a:r>
              <a:t>Observation: all three capacity variants stay within ±2 % of Node4 under YCSB-C; the pilot's medium-capacity advantage does not reproduce.</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83464" y="182880"/>
            <a:ext cx="7360920" cy="438912"/>
          </a:xfrm>
          <a:prstGeom prst="rect">
            <a:avLst/>
          </a:prstGeom>
          <a:noFill/>
        </p:spPr>
        <p:txBody>
          <a:bodyPr wrap="square" lIns="9144" tIns="0" rIns="9144" bIns="0" anchor="ctr">
            <a:spAutoFit/>
          </a:bodyPr>
          <a:lstStyle/>
          <a:p>
            <a:pPr algn="l">
              <a:spcBef>
                <a:spcPts val="0"/>
              </a:spcBef>
              <a:spcAft>
                <a:spcPts val="0"/>
              </a:spcAft>
              <a:defRPr sz="2400" b="1">
                <a:solidFill>
                  <a:srgbClr val="041447"/>
                </a:solidFill>
                <a:latin typeface="Noto Sans"/>
              </a:defRPr>
            </a:pPr>
            <a:r>
              <a:t>Experiment 2: workload changes the ranking</a:t>
            </a:r>
          </a:p>
        </p:txBody>
      </p:sp>
      <p:sp>
        <p:nvSpPr>
          <p:cNvPr id="3" name="Rectangle 2"/>
          <p:cNvSpPr/>
          <p:nvPr/>
        </p:nvSpPr>
        <p:spPr>
          <a:xfrm>
            <a:off x="310896" y="786384"/>
            <a:ext cx="1197864" cy="45720"/>
          </a:xfrm>
          <a:prstGeom prst="rect">
            <a:avLst/>
          </a:prstGeom>
          <a:solidFill>
            <a:srgbClr val="D2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10896" y="621792"/>
            <a:ext cx="1197864" cy="164592"/>
          </a:xfrm>
          <a:prstGeom prst="rect">
            <a:avLst/>
          </a:prstGeom>
          <a:noFill/>
        </p:spPr>
        <p:txBody>
          <a:bodyPr wrap="square" lIns="9144" tIns="0" rIns="9144" bIns="0" anchor="ctr">
            <a:spAutoFit/>
          </a:bodyPr>
          <a:lstStyle/>
          <a:p>
            <a:pPr algn="l">
              <a:spcBef>
                <a:spcPts val="0"/>
              </a:spcBef>
              <a:spcAft>
                <a:spcPts val="0"/>
              </a:spcAft>
              <a:defRPr sz="850" b="0">
                <a:solidFill>
                  <a:srgbClr val="607080"/>
                </a:solidFill>
                <a:latin typeface="Noto Sans"/>
              </a:defRPr>
            </a:pPr>
            <a:r>
              <a:t>1 Introduction</a:t>
            </a:r>
          </a:p>
        </p:txBody>
      </p:sp>
      <p:sp>
        <p:nvSpPr>
          <p:cNvPr id="5" name="Rectangle 4"/>
          <p:cNvSpPr/>
          <p:nvPr/>
        </p:nvSpPr>
        <p:spPr>
          <a:xfrm>
            <a:off x="1545336" y="786384"/>
            <a:ext cx="1243584" cy="45720"/>
          </a:xfrm>
          <a:prstGeom prst="rect">
            <a:avLst/>
          </a:prstGeom>
          <a:solidFill>
            <a:srgbClr val="D2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545336" y="621792"/>
            <a:ext cx="1243584" cy="164592"/>
          </a:xfrm>
          <a:prstGeom prst="rect">
            <a:avLst/>
          </a:prstGeom>
          <a:noFill/>
        </p:spPr>
        <p:txBody>
          <a:bodyPr wrap="square" lIns="9144" tIns="0" rIns="9144" bIns="0" anchor="ctr">
            <a:spAutoFit/>
          </a:bodyPr>
          <a:lstStyle/>
          <a:p>
            <a:pPr algn="l">
              <a:spcBef>
                <a:spcPts val="0"/>
              </a:spcBef>
              <a:spcAft>
                <a:spcPts val="0"/>
              </a:spcAft>
              <a:defRPr sz="850" b="0">
                <a:solidFill>
                  <a:srgbClr val="607080"/>
                </a:solidFill>
                <a:latin typeface="Noto Sans"/>
              </a:defRPr>
            </a:pPr>
            <a:r>
              <a:t>2 Background</a:t>
            </a:r>
          </a:p>
        </p:txBody>
      </p:sp>
      <p:sp>
        <p:nvSpPr>
          <p:cNvPr id="7" name="Rectangle 6"/>
          <p:cNvSpPr/>
          <p:nvPr/>
        </p:nvSpPr>
        <p:spPr>
          <a:xfrm>
            <a:off x="2825496" y="786384"/>
            <a:ext cx="1078992" cy="45720"/>
          </a:xfrm>
          <a:prstGeom prst="rect">
            <a:avLst/>
          </a:prstGeom>
          <a:solidFill>
            <a:srgbClr val="D2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2825496" y="621792"/>
            <a:ext cx="1078992" cy="164592"/>
          </a:xfrm>
          <a:prstGeom prst="rect">
            <a:avLst/>
          </a:prstGeom>
          <a:noFill/>
        </p:spPr>
        <p:txBody>
          <a:bodyPr wrap="square" lIns="9144" tIns="0" rIns="9144" bIns="0" anchor="ctr">
            <a:spAutoFit/>
          </a:bodyPr>
          <a:lstStyle/>
          <a:p>
            <a:pPr algn="l">
              <a:spcBef>
                <a:spcPts val="0"/>
              </a:spcBef>
              <a:spcAft>
                <a:spcPts val="0"/>
              </a:spcAft>
              <a:defRPr sz="850" b="0">
                <a:solidFill>
                  <a:srgbClr val="607080"/>
                </a:solidFill>
                <a:latin typeface="Noto Sans"/>
              </a:defRPr>
            </a:pPr>
            <a:r>
              <a:t>3 Concept</a:t>
            </a:r>
          </a:p>
        </p:txBody>
      </p:sp>
      <p:sp>
        <p:nvSpPr>
          <p:cNvPr id="9" name="Rectangle 8"/>
          <p:cNvSpPr/>
          <p:nvPr/>
        </p:nvSpPr>
        <p:spPr>
          <a:xfrm>
            <a:off x="3941063" y="786384"/>
            <a:ext cx="1645920" cy="45720"/>
          </a:xfrm>
          <a:prstGeom prst="rect">
            <a:avLst/>
          </a:prstGeom>
          <a:solidFill>
            <a:srgbClr val="D2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941063" y="621792"/>
            <a:ext cx="1645920" cy="164592"/>
          </a:xfrm>
          <a:prstGeom prst="rect">
            <a:avLst/>
          </a:prstGeom>
          <a:noFill/>
        </p:spPr>
        <p:txBody>
          <a:bodyPr wrap="square" lIns="9144" tIns="0" rIns="9144" bIns="0" anchor="ctr">
            <a:spAutoFit/>
          </a:bodyPr>
          <a:lstStyle/>
          <a:p>
            <a:pPr algn="l">
              <a:spcBef>
                <a:spcPts val="0"/>
              </a:spcBef>
              <a:spcAft>
                <a:spcPts val="0"/>
              </a:spcAft>
              <a:defRPr sz="850" b="0">
                <a:solidFill>
                  <a:srgbClr val="607080"/>
                </a:solidFill>
                <a:latin typeface="Noto Sans"/>
              </a:defRPr>
            </a:pPr>
            <a:r>
              <a:t>4 Implementation</a:t>
            </a:r>
          </a:p>
        </p:txBody>
      </p:sp>
      <p:sp>
        <p:nvSpPr>
          <p:cNvPr id="11" name="Rectangle 10"/>
          <p:cNvSpPr/>
          <p:nvPr/>
        </p:nvSpPr>
        <p:spPr>
          <a:xfrm>
            <a:off x="5623559" y="786384"/>
            <a:ext cx="1252728" cy="45720"/>
          </a:xfrm>
          <a:prstGeom prst="rect">
            <a:avLst/>
          </a:prstGeom>
          <a:solidFill>
            <a:srgbClr val="008A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623559" y="621792"/>
            <a:ext cx="1252728" cy="164592"/>
          </a:xfrm>
          <a:prstGeom prst="rect">
            <a:avLst/>
          </a:prstGeom>
          <a:noFill/>
        </p:spPr>
        <p:txBody>
          <a:bodyPr wrap="square" lIns="9144" tIns="0" rIns="9144" bIns="0" anchor="ctr">
            <a:spAutoFit/>
          </a:bodyPr>
          <a:lstStyle/>
          <a:p>
            <a:pPr algn="l">
              <a:spcBef>
                <a:spcPts val="0"/>
              </a:spcBef>
              <a:spcAft>
                <a:spcPts val="0"/>
              </a:spcAft>
              <a:defRPr sz="850" b="1">
                <a:solidFill>
                  <a:srgbClr val="008A96"/>
                </a:solidFill>
                <a:latin typeface="Noto Sans"/>
              </a:defRPr>
            </a:pPr>
            <a:r>
              <a:t>5 Evaluation</a:t>
            </a:r>
          </a:p>
        </p:txBody>
      </p:sp>
      <p:sp>
        <p:nvSpPr>
          <p:cNvPr id="13" name="Rectangle 12"/>
          <p:cNvSpPr/>
          <p:nvPr/>
        </p:nvSpPr>
        <p:spPr>
          <a:xfrm>
            <a:off x="6912864" y="786384"/>
            <a:ext cx="1216152" cy="45720"/>
          </a:xfrm>
          <a:prstGeom prst="rect">
            <a:avLst/>
          </a:prstGeom>
          <a:solidFill>
            <a:srgbClr val="D2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912864" y="621792"/>
            <a:ext cx="1216152" cy="164592"/>
          </a:xfrm>
          <a:prstGeom prst="rect">
            <a:avLst/>
          </a:prstGeom>
          <a:noFill/>
        </p:spPr>
        <p:txBody>
          <a:bodyPr wrap="square" lIns="9144" tIns="0" rIns="9144" bIns="0" anchor="ctr">
            <a:spAutoFit/>
          </a:bodyPr>
          <a:lstStyle/>
          <a:p>
            <a:pPr algn="l">
              <a:spcBef>
                <a:spcPts val="0"/>
              </a:spcBef>
              <a:spcAft>
                <a:spcPts val="0"/>
              </a:spcAft>
              <a:defRPr sz="850" b="0">
                <a:solidFill>
                  <a:srgbClr val="607080"/>
                </a:solidFill>
                <a:latin typeface="Noto Sans"/>
              </a:defRPr>
            </a:pPr>
            <a:r>
              <a:t>6 Conclusion</a:t>
            </a:r>
          </a:p>
        </p:txBody>
      </p:sp>
      <p:sp>
        <p:nvSpPr>
          <p:cNvPr id="15" name="TextBox 14"/>
          <p:cNvSpPr txBox="1"/>
          <p:nvPr/>
        </p:nvSpPr>
        <p:spPr>
          <a:xfrm>
            <a:off x="320040" y="4572000"/>
            <a:ext cx="8321040" cy="182880"/>
          </a:xfrm>
          <a:prstGeom prst="rect">
            <a:avLst/>
          </a:prstGeom>
          <a:noFill/>
        </p:spPr>
        <p:txBody>
          <a:bodyPr wrap="square" lIns="9144" tIns="0" rIns="9144" bIns="0" anchor="ctr">
            <a:spAutoFit/>
          </a:bodyPr>
          <a:lstStyle/>
          <a:p>
            <a:pPr algn="l">
              <a:spcBef>
                <a:spcPts val="0"/>
              </a:spcBef>
              <a:spcAft>
                <a:spcPts val="0"/>
              </a:spcAft>
              <a:defRPr sz="810" b="0">
                <a:solidFill>
                  <a:srgbClr val="607080"/>
                </a:solidFill>
                <a:latin typeface="Noto Sans"/>
              </a:defRPr>
            </a:pPr>
            <a:r>
              <a:t>THESIS MEASUREMENT 2026-09-24  |  320 binaries x 4 workloads x 3 repetitions  |  80 matched pairs per run / workload / variant</a:t>
            </a:r>
          </a:p>
        </p:txBody>
      </p:sp>
      <p:sp>
        <p:nvSpPr>
          <p:cNvPr id="16" name="TextBox 15"/>
          <p:cNvSpPr txBox="1"/>
          <p:nvPr/>
        </p:nvSpPr>
        <p:spPr>
          <a:xfrm>
            <a:off x="1234440" y="4873752"/>
            <a:ext cx="6766560" cy="164592"/>
          </a:xfrm>
          <a:prstGeom prst="rect">
            <a:avLst/>
          </a:prstGeom>
          <a:noFill/>
        </p:spPr>
        <p:txBody>
          <a:bodyPr wrap="square" lIns="9144" tIns="0" rIns="9144" bIns="0" anchor="ctr">
            <a:spAutoFit/>
          </a:bodyPr>
          <a:lstStyle/>
          <a:p>
            <a:pPr algn="l">
              <a:spcBef>
                <a:spcPts val="0"/>
              </a:spcBef>
              <a:spcAft>
                <a:spcPts val="0"/>
              </a:spcAft>
              <a:defRPr sz="830" b="0">
                <a:solidFill>
                  <a:srgbClr val="041447"/>
                </a:solidFill>
                <a:latin typeface="Noto Sans"/>
              </a:defRPr>
            </a:pPr>
            <a:r>
              <a:t>Benjamin-Elias Probst  |  Diploma thesis defense  |  28 September 2026</a:t>
            </a:r>
          </a:p>
        </p:txBody>
      </p:sp>
      <p:sp>
        <p:nvSpPr>
          <p:cNvPr id="17" name="TextBox 16"/>
          <p:cNvSpPr txBox="1"/>
          <p:nvPr/>
        </p:nvSpPr>
        <p:spPr>
          <a:xfrm>
            <a:off x="8412480" y="4864608"/>
            <a:ext cx="393192" cy="192024"/>
          </a:xfrm>
          <a:prstGeom prst="rect">
            <a:avLst/>
          </a:prstGeom>
          <a:noFill/>
        </p:spPr>
        <p:txBody>
          <a:bodyPr wrap="square" lIns="9144" tIns="0" rIns="9144" bIns="0" anchor="ctr">
            <a:spAutoFit/>
          </a:bodyPr>
          <a:lstStyle/>
          <a:p>
            <a:pPr algn="r">
              <a:spcBef>
                <a:spcPts val="0"/>
              </a:spcBef>
              <a:spcAft>
                <a:spcPts val="0"/>
              </a:spcAft>
              <a:defRPr sz="900" b="1">
                <a:solidFill>
                  <a:srgbClr val="041447"/>
                </a:solidFill>
                <a:latin typeface="Noto Sans"/>
              </a:defRPr>
            </a:pPr>
            <a:r>
              <a:t>15</a:t>
            </a:r>
          </a:p>
        </p:txBody>
      </p:sp>
      <p:sp>
        <p:nvSpPr>
          <p:cNvPr id="18" name="TextBox 17"/>
          <p:cNvSpPr txBox="1"/>
          <p:nvPr/>
        </p:nvSpPr>
        <p:spPr>
          <a:xfrm>
            <a:off x="457200" y="1060704"/>
            <a:ext cx="6492240" cy="292608"/>
          </a:xfrm>
          <a:prstGeom prst="rect">
            <a:avLst/>
          </a:prstGeom>
          <a:noFill/>
        </p:spPr>
        <p:txBody>
          <a:bodyPr wrap="square" lIns="9144" tIns="0" rIns="9144" bIns="0" anchor="ctr">
            <a:spAutoFit/>
          </a:bodyPr>
          <a:lstStyle/>
          <a:p>
            <a:pPr algn="l">
              <a:spcBef>
                <a:spcPts val="0"/>
              </a:spcBef>
              <a:spcAft>
                <a:spcPts val="0"/>
              </a:spcAft>
              <a:defRPr sz="1350" b="1">
                <a:solidFill>
                  <a:srgbClr val="041447"/>
                </a:solidFill>
                <a:latin typeface="Noto Sans"/>
              </a:defRPr>
            </a:pPr>
            <a:r>
              <a:t>YCSB-C and YCSB-A labels · reference: linear scan</a:t>
            </a:r>
          </a:p>
        </p:txBody>
      </p:sp>
      <p:sp>
        <p:nvSpPr>
          <p:cNvPr id="19" name="Oval 18"/>
          <p:cNvSpPr/>
          <p:nvPr/>
        </p:nvSpPr>
        <p:spPr>
          <a:xfrm>
            <a:off x="7040880" y="1097280"/>
            <a:ext cx="82296" cy="82296"/>
          </a:xfrm>
          <a:prstGeom prst="ellipse">
            <a:avLst/>
          </a:prstGeom>
          <a:solidFill>
            <a:srgbClr val="0414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150608" y="1060704"/>
            <a:ext cx="310896" cy="256032"/>
          </a:xfrm>
          <a:prstGeom prst="rect">
            <a:avLst/>
          </a:prstGeom>
          <a:noFill/>
        </p:spPr>
        <p:txBody>
          <a:bodyPr wrap="square" lIns="9144" tIns="0" rIns="9144" bIns="0" anchor="ctr">
            <a:spAutoFit/>
          </a:bodyPr>
          <a:lstStyle/>
          <a:p>
            <a:pPr algn="l">
              <a:spcBef>
                <a:spcPts val="0"/>
              </a:spcBef>
              <a:spcAft>
                <a:spcPts val="0"/>
              </a:spcAft>
              <a:defRPr sz="950" b="0">
                <a:solidFill>
                  <a:srgbClr val="607080"/>
                </a:solidFill>
                <a:latin typeface="Noto Sans"/>
              </a:defRPr>
            </a:pPr>
            <a:r>
              <a:t>1</a:t>
            </a:r>
          </a:p>
        </p:txBody>
      </p:sp>
      <p:sp>
        <p:nvSpPr>
          <p:cNvPr id="21" name="Diamond 20"/>
          <p:cNvSpPr/>
          <p:nvPr/>
        </p:nvSpPr>
        <p:spPr>
          <a:xfrm>
            <a:off x="7543800" y="1097280"/>
            <a:ext cx="82296" cy="82296"/>
          </a:xfrm>
          <a:prstGeom prst="diamond">
            <a:avLst/>
          </a:prstGeom>
          <a:solidFill>
            <a:srgbClr val="3178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7653527" y="1060704"/>
            <a:ext cx="310896" cy="256032"/>
          </a:xfrm>
          <a:prstGeom prst="rect">
            <a:avLst/>
          </a:prstGeom>
          <a:noFill/>
        </p:spPr>
        <p:txBody>
          <a:bodyPr wrap="square" lIns="9144" tIns="0" rIns="9144" bIns="0" anchor="ctr">
            <a:spAutoFit/>
          </a:bodyPr>
          <a:lstStyle/>
          <a:p>
            <a:pPr algn="l">
              <a:spcBef>
                <a:spcPts val="0"/>
              </a:spcBef>
              <a:spcAft>
                <a:spcPts val="0"/>
              </a:spcAft>
              <a:defRPr sz="950" b="0">
                <a:solidFill>
                  <a:srgbClr val="607080"/>
                </a:solidFill>
                <a:latin typeface="Noto Sans"/>
              </a:defRPr>
            </a:pPr>
            <a:r>
              <a:t>2</a:t>
            </a:r>
          </a:p>
        </p:txBody>
      </p:sp>
      <p:sp>
        <p:nvSpPr>
          <p:cNvPr id="23" name="Isosceles Triangle 22"/>
          <p:cNvSpPr/>
          <p:nvPr/>
        </p:nvSpPr>
        <p:spPr>
          <a:xfrm>
            <a:off x="8046720" y="1097280"/>
            <a:ext cx="82296" cy="82296"/>
          </a:xfrm>
          <a:prstGeom prst="triangle">
            <a:avLst/>
          </a:prstGeom>
          <a:solidFill>
            <a:srgbClr val="008A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8156448" y="1060704"/>
            <a:ext cx="310896" cy="256032"/>
          </a:xfrm>
          <a:prstGeom prst="rect">
            <a:avLst/>
          </a:prstGeom>
          <a:noFill/>
        </p:spPr>
        <p:txBody>
          <a:bodyPr wrap="square" lIns="9144" tIns="0" rIns="9144" bIns="0" anchor="ctr">
            <a:spAutoFit/>
          </a:bodyPr>
          <a:lstStyle/>
          <a:p>
            <a:pPr algn="l">
              <a:spcBef>
                <a:spcPts val="0"/>
              </a:spcBef>
              <a:spcAft>
                <a:spcPts val="0"/>
              </a:spcAft>
              <a:defRPr sz="950" b="0">
                <a:solidFill>
                  <a:srgbClr val="607080"/>
                </a:solidFill>
                <a:latin typeface="Noto Sans"/>
              </a:defRPr>
            </a:pPr>
            <a:r>
              <a:t>3</a:t>
            </a:r>
          </a:p>
        </p:txBody>
      </p:sp>
      <p:sp>
        <p:nvSpPr>
          <p:cNvPr id="25" name="TextBox 24"/>
          <p:cNvSpPr txBox="1"/>
          <p:nvPr/>
        </p:nvSpPr>
        <p:spPr>
          <a:xfrm>
            <a:off x="6601968" y="1060704"/>
            <a:ext cx="393192" cy="256032"/>
          </a:xfrm>
          <a:prstGeom prst="rect">
            <a:avLst/>
          </a:prstGeom>
          <a:noFill/>
        </p:spPr>
        <p:txBody>
          <a:bodyPr wrap="square" lIns="9144" tIns="0" rIns="9144" bIns="0" anchor="ctr">
            <a:spAutoFit/>
          </a:bodyPr>
          <a:lstStyle/>
          <a:p>
            <a:pPr algn="l">
              <a:spcBef>
                <a:spcPts val="0"/>
              </a:spcBef>
              <a:spcAft>
                <a:spcPts val="0"/>
              </a:spcAft>
              <a:defRPr sz="950" b="0">
                <a:solidFill>
                  <a:srgbClr val="607080"/>
                </a:solidFill>
                <a:latin typeface="Noto Sans"/>
              </a:defRPr>
            </a:pPr>
            <a:r>
              <a:t>Run</a:t>
            </a:r>
          </a:p>
        </p:txBody>
      </p:sp>
      <p:cxnSp>
        <p:nvCxnSpPr>
          <p:cNvPr id="26" name="Connector 25"/>
          <p:cNvCxnSpPr/>
          <p:nvPr/>
        </p:nvCxnSpPr>
        <p:spPr>
          <a:xfrm>
            <a:off x="2487168" y="1463040"/>
            <a:ext cx="0" cy="1938528"/>
          </a:xfrm>
          <a:prstGeom prst="line">
            <a:avLst/>
          </a:prstGeom>
          <a:ln w="6985">
            <a:solidFill>
              <a:srgbClr val="D2DCE5"/>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2276856" y="3419856"/>
            <a:ext cx="438912" cy="265176"/>
          </a:xfrm>
          <a:prstGeom prst="rect">
            <a:avLst/>
          </a:prstGeom>
          <a:noFill/>
        </p:spPr>
        <p:txBody>
          <a:bodyPr wrap="square" lIns="9144" tIns="0" rIns="9144" bIns="0" anchor="ctr">
            <a:spAutoFit/>
          </a:bodyPr>
          <a:lstStyle/>
          <a:p>
            <a:pPr algn="ctr">
              <a:spcBef>
                <a:spcPts val="0"/>
              </a:spcBef>
              <a:spcAft>
                <a:spcPts val="0"/>
              </a:spcAft>
              <a:defRPr sz="1000" b="0">
                <a:solidFill>
                  <a:srgbClr val="607080"/>
                </a:solidFill>
                <a:latin typeface="Noto Sans"/>
              </a:defRPr>
            </a:pPr>
            <a:r>
              <a:t>-100</a:t>
            </a:r>
          </a:p>
        </p:txBody>
      </p:sp>
      <p:cxnSp>
        <p:nvCxnSpPr>
          <p:cNvPr id="28" name="Connector 27"/>
          <p:cNvCxnSpPr/>
          <p:nvPr/>
        </p:nvCxnSpPr>
        <p:spPr>
          <a:xfrm>
            <a:off x="3920489" y="1463040"/>
            <a:ext cx="0" cy="1938528"/>
          </a:xfrm>
          <a:prstGeom prst="line">
            <a:avLst/>
          </a:prstGeom>
          <a:ln w="12065">
            <a:solidFill>
              <a:srgbClr val="008A96"/>
            </a:solidFill>
            <a:prstDash val="dash"/>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3710177" y="3419856"/>
            <a:ext cx="438912" cy="265176"/>
          </a:xfrm>
          <a:prstGeom prst="rect">
            <a:avLst/>
          </a:prstGeom>
          <a:noFill/>
        </p:spPr>
        <p:txBody>
          <a:bodyPr wrap="square" lIns="9144" tIns="0" rIns="9144" bIns="0" anchor="ctr">
            <a:spAutoFit/>
          </a:bodyPr>
          <a:lstStyle/>
          <a:p>
            <a:pPr algn="ctr">
              <a:spcBef>
                <a:spcPts val="0"/>
              </a:spcBef>
              <a:spcAft>
                <a:spcPts val="0"/>
              </a:spcAft>
              <a:defRPr sz="1000" b="0">
                <a:solidFill>
                  <a:srgbClr val="607080"/>
                </a:solidFill>
                <a:latin typeface="Noto Sans"/>
              </a:defRPr>
            </a:pPr>
            <a:r>
              <a:t>0</a:t>
            </a:r>
          </a:p>
        </p:txBody>
      </p:sp>
      <p:cxnSp>
        <p:nvCxnSpPr>
          <p:cNvPr id="30" name="Connector 29"/>
          <p:cNvCxnSpPr/>
          <p:nvPr/>
        </p:nvCxnSpPr>
        <p:spPr>
          <a:xfrm>
            <a:off x="5353812" y="1463040"/>
            <a:ext cx="0" cy="1938528"/>
          </a:xfrm>
          <a:prstGeom prst="line">
            <a:avLst/>
          </a:prstGeom>
          <a:ln w="6985">
            <a:solidFill>
              <a:srgbClr val="D2DCE5"/>
            </a:solidFill>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5143500" y="3419856"/>
            <a:ext cx="438912" cy="265176"/>
          </a:xfrm>
          <a:prstGeom prst="rect">
            <a:avLst/>
          </a:prstGeom>
          <a:noFill/>
        </p:spPr>
        <p:txBody>
          <a:bodyPr wrap="square" lIns="9144" tIns="0" rIns="9144" bIns="0" anchor="ctr">
            <a:spAutoFit/>
          </a:bodyPr>
          <a:lstStyle/>
          <a:p>
            <a:pPr algn="ctr">
              <a:spcBef>
                <a:spcPts val="0"/>
              </a:spcBef>
              <a:spcAft>
                <a:spcPts val="0"/>
              </a:spcAft>
              <a:defRPr sz="1000" b="0">
                <a:solidFill>
                  <a:srgbClr val="607080"/>
                </a:solidFill>
                <a:latin typeface="Noto Sans"/>
              </a:defRPr>
            </a:pPr>
            <a:r>
              <a:t>100</a:t>
            </a:r>
          </a:p>
        </p:txBody>
      </p:sp>
      <p:cxnSp>
        <p:nvCxnSpPr>
          <p:cNvPr id="32" name="Connector 31"/>
          <p:cNvCxnSpPr/>
          <p:nvPr/>
        </p:nvCxnSpPr>
        <p:spPr>
          <a:xfrm>
            <a:off x="6787133" y="1463040"/>
            <a:ext cx="0" cy="1938528"/>
          </a:xfrm>
          <a:prstGeom prst="line">
            <a:avLst/>
          </a:prstGeom>
          <a:ln w="6985">
            <a:solidFill>
              <a:srgbClr val="D2DCE5"/>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6576821" y="3419856"/>
            <a:ext cx="438912" cy="265176"/>
          </a:xfrm>
          <a:prstGeom prst="rect">
            <a:avLst/>
          </a:prstGeom>
          <a:noFill/>
        </p:spPr>
        <p:txBody>
          <a:bodyPr wrap="square" lIns="9144" tIns="0" rIns="9144" bIns="0" anchor="ctr">
            <a:spAutoFit/>
          </a:bodyPr>
          <a:lstStyle/>
          <a:p>
            <a:pPr algn="ctr">
              <a:spcBef>
                <a:spcPts val="0"/>
              </a:spcBef>
              <a:spcAft>
                <a:spcPts val="0"/>
              </a:spcAft>
              <a:defRPr sz="1000" b="0">
                <a:solidFill>
                  <a:srgbClr val="607080"/>
                </a:solidFill>
                <a:latin typeface="Noto Sans"/>
              </a:defRPr>
            </a:pPr>
            <a:r>
              <a:t>200</a:t>
            </a:r>
          </a:p>
        </p:txBody>
      </p:sp>
      <p:cxnSp>
        <p:nvCxnSpPr>
          <p:cNvPr id="34" name="Connector 33"/>
          <p:cNvCxnSpPr/>
          <p:nvPr/>
        </p:nvCxnSpPr>
        <p:spPr>
          <a:xfrm>
            <a:off x="8220456" y="1463040"/>
            <a:ext cx="0" cy="1938528"/>
          </a:xfrm>
          <a:prstGeom prst="line">
            <a:avLst/>
          </a:prstGeom>
          <a:ln w="6985">
            <a:solidFill>
              <a:srgbClr val="D2DCE5"/>
            </a:solidFill>
          </a:ln>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8010144" y="3419856"/>
            <a:ext cx="438912" cy="265176"/>
          </a:xfrm>
          <a:prstGeom prst="rect">
            <a:avLst/>
          </a:prstGeom>
          <a:noFill/>
        </p:spPr>
        <p:txBody>
          <a:bodyPr wrap="square" lIns="9144" tIns="0" rIns="9144" bIns="0" anchor="ctr">
            <a:spAutoFit/>
          </a:bodyPr>
          <a:lstStyle/>
          <a:p>
            <a:pPr algn="ctr">
              <a:spcBef>
                <a:spcPts val="0"/>
              </a:spcBef>
              <a:spcAft>
                <a:spcPts val="0"/>
              </a:spcAft>
              <a:defRPr sz="1000" b="0">
                <a:solidFill>
                  <a:srgbClr val="607080"/>
                </a:solidFill>
                <a:latin typeface="Noto Sans"/>
              </a:defRPr>
            </a:pPr>
            <a:r>
              <a:t>300</a:t>
            </a:r>
          </a:p>
        </p:txBody>
      </p:sp>
      <p:sp>
        <p:nvSpPr>
          <p:cNvPr id="36" name="TextBox 35"/>
          <p:cNvSpPr txBox="1"/>
          <p:nvPr/>
        </p:nvSpPr>
        <p:spPr>
          <a:xfrm>
            <a:off x="438912" y="1499616"/>
            <a:ext cx="1883664" cy="329184"/>
          </a:xfrm>
          <a:prstGeom prst="rect">
            <a:avLst/>
          </a:prstGeom>
          <a:noFill/>
        </p:spPr>
        <p:txBody>
          <a:bodyPr wrap="square" lIns="9144" tIns="0" rIns="9144" bIns="0" anchor="ctr">
            <a:spAutoFit/>
          </a:bodyPr>
          <a:lstStyle/>
          <a:p>
            <a:pPr algn="l">
              <a:spcBef>
                <a:spcPts val="0"/>
              </a:spcBef>
              <a:spcAft>
                <a:spcPts val="0"/>
              </a:spcAft>
              <a:defRPr sz="1250" b="1">
                <a:solidFill>
                  <a:srgbClr val="041447"/>
                </a:solidFill>
                <a:latin typeface="Noto Sans"/>
              </a:defRPr>
            </a:pPr>
            <a:r>
              <a:t>Eytzinger · C</a:t>
            </a:r>
          </a:p>
        </p:txBody>
      </p:sp>
      <p:sp>
        <p:nvSpPr>
          <p:cNvPr id="37" name="TextBox 36"/>
          <p:cNvSpPr txBox="1"/>
          <p:nvPr/>
        </p:nvSpPr>
        <p:spPr>
          <a:xfrm>
            <a:off x="438912" y="1792224"/>
            <a:ext cx="1883664" cy="329184"/>
          </a:xfrm>
          <a:prstGeom prst="rect">
            <a:avLst/>
          </a:prstGeom>
          <a:noFill/>
        </p:spPr>
        <p:txBody>
          <a:bodyPr wrap="square" lIns="9144" tIns="0" rIns="9144" bIns="0" anchor="ctr">
            <a:spAutoFit/>
          </a:bodyPr>
          <a:lstStyle/>
          <a:p>
            <a:pPr algn="l">
              <a:spcBef>
                <a:spcPts val="0"/>
              </a:spcBef>
              <a:spcAft>
                <a:spcPts val="0"/>
              </a:spcAft>
              <a:defRPr sz="1250" b="1">
                <a:solidFill>
                  <a:srgbClr val="041447"/>
                </a:solidFill>
                <a:latin typeface="Noto Sans"/>
              </a:defRPr>
            </a:pPr>
            <a:r>
              <a:t>Interpolation · C</a:t>
            </a:r>
          </a:p>
        </p:txBody>
      </p:sp>
      <p:sp>
        <p:nvSpPr>
          <p:cNvPr id="38" name="TextBox 37"/>
          <p:cNvSpPr txBox="1"/>
          <p:nvPr/>
        </p:nvSpPr>
        <p:spPr>
          <a:xfrm>
            <a:off x="438912" y="2084832"/>
            <a:ext cx="1883664" cy="329184"/>
          </a:xfrm>
          <a:prstGeom prst="rect">
            <a:avLst/>
          </a:prstGeom>
          <a:noFill/>
        </p:spPr>
        <p:txBody>
          <a:bodyPr wrap="square" lIns="9144" tIns="0" rIns="9144" bIns="0" anchor="ctr">
            <a:spAutoFit/>
          </a:bodyPr>
          <a:lstStyle/>
          <a:p>
            <a:pPr algn="l">
              <a:spcBef>
                <a:spcPts val="0"/>
              </a:spcBef>
              <a:spcAft>
                <a:spcPts val="0"/>
              </a:spcAft>
              <a:defRPr sz="1250" b="1">
                <a:solidFill>
                  <a:srgbClr val="041447"/>
                </a:solidFill>
                <a:latin typeface="Noto Sans"/>
              </a:defRPr>
            </a:pPr>
            <a:r>
              <a:t>k-ary · C</a:t>
            </a:r>
          </a:p>
        </p:txBody>
      </p:sp>
      <p:sp>
        <p:nvSpPr>
          <p:cNvPr id="39" name="TextBox 38"/>
          <p:cNvSpPr txBox="1"/>
          <p:nvPr/>
        </p:nvSpPr>
        <p:spPr>
          <a:xfrm>
            <a:off x="438912" y="2377440"/>
            <a:ext cx="1883664" cy="329184"/>
          </a:xfrm>
          <a:prstGeom prst="rect">
            <a:avLst/>
          </a:prstGeom>
          <a:noFill/>
        </p:spPr>
        <p:txBody>
          <a:bodyPr wrap="square" lIns="9144" tIns="0" rIns="9144" bIns="0" anchor="ctr">
            <a:spAutoFit/>
          </a:bodyPr>
          <a:lstStyle/>
          <a:p>
            <a:pPr algn="l">
              <a:spcBef>
                <a:spcPts val="0"/>
              </a:spcBef>
              <a:spcAft>
                <a:spcPts val="0"/>
              </a:spcAft>
              <a:defRPr sz="1250" b="1">
                <a:solidFill>
                  <a:srgbClr val="041447"/>
                </a:solidFill>
                <a:latin typeface="Noto Sans"/>
              </a:defRPr>
            </a:pPr>
            <a:r>
              <a:t>Eytzinger · A</a:t>
            </a:r>
          </a:p>
        </p:txBody>
      </p:sp>
      <p:sp>
        <p:nvSpPr>
          <p:cNvPr id="40" name="TextBox 39"/>
          <p:cNvSpPr txBox="1"/>
          <p:nvPr/>
        </p:nvSpPr>
        <p:spPr>
          <a:xfrm>
            <a:off x="438912" y="2670048"/>
            <a:ext cx="1883664" cy="329184"/>
          </a:xfrm>
          <a:prstGeom prst="rect">
            <a:avLst/>
          </a:prstGeom>
          <a:noFill/>
        </p:spPr>
        <p:txBody>
          <a:bodyPr wrap="square" lIns="9144" tIns="0" rIns="9144" bIns="0" anchor="ctr">
            <a:spAutoFit/>
          </a:bodyPr>
          <a:lstStyle/>
          <a:p>
            <a:pPr algn="l">
              <a:spcBef>
                <a:spcPts val="0"/>
              </a:spcBef>
              <a:spcAft>
                <a:spcPts val="0"/>
              </a:spcAft>
              <a:defRPr sz="1250" b="1">
                <a:solidFill>
                  <a:srgbClr val="041447"/>
                </a:solidFill>
                <a:latin typeface="Noto Sans"/>
              </a:defRPr>
            </a:pPr>
            <a:r>
              <a:t>Interpolation · A</a:t>
            </a:r>
          </a:p>
        </p:txBody>
      </p:sp>
      <p:sp>
        <p:nvSpPr>
          <p:cNvPr id="41" name="TextBox 40"/>
          <p:cNvSpPr txBox="1"/>
          <p:nvPr/>
        </p:nvSpPr>
        <p:spPr>
          <a:xfrm>
            <a:off x="438912" y="2962656"/>
            <a:ext cx="1883664" cy="329184"/>
          </a:xfrm>
          <a:prstGeom prst="rect">
            <a:avLst/>
          </a:prstGeom>
          <a:noFill/>
        </p:spPr>
        <p:txBody>
          <a:bodyPr wrap="square" lIns="9144" tIns="0" rIns="9144" bIns="0" anchor="ctr">
            <a:spAutoFit/>
          </a:bodyPr>
          <a:lstStyle/>
          <a:p>
            <a:pPr algn="l">
              <a:spcBef>
                <a:spcPts val="0"/>
              </a:spcBef>
              <a:spcAft>
                <a:spcPts val="0"/>
              </a:spcAft>
              <a:defRPr sz="1250" b="1">
                <a:solidFill>
                  <a:srgbClr val="041447"/>
                </a:solidFill>
                <a:latin typeface="Noto Sans"/>
              </a:defRPr>
            </a:pPr>
            <a:r>
              <a:t>k-ary · A</a:t>
            </a:r>
          </a:p>
        </p:txBody>
      </p:sp>
      <p:sp>
        <p:nvSpPr>
          <p:cNvPr id="42" name="TextBox 41"/>
          <p:cNvSpPr txBox="1"/>
          <p:nvPr/>
        </p:nvSpPr>
        <p:spPr>
          <a:xfrm>
            <a:off x="2487168" y="3721608"/>
            <a:ext cx="5733288" cy="246888"/>
          </a:xfrm>
          <a:prstGeom prst="rect">
            <a:avLst/>
          </a:prstGeom>
          <a:noFill/>
        </p:spPr>
        <p:txBody>
          <a:bodyPr wrap="square" lIns="9144" tIns="0" rIns="9144" bIns="0" anchor="ctr">
            <a:spAutoFit/>
          </a:bodyPr>
          <a:lstStyle/>
          <a:p>
            <a:pPr algn="ctr">
              <a:spcBef>
                <a:spcPts val="0"/>
              </a:spcBef>
              <a:spcAft>
                <a:spcPts val="0"/>
              </a:spcAft>
              <a:defRPr sz="1100" b="0">
                <a:solidFill>
                  <a:srgbClr val="607080"/>
                </a:solidFill>
                <a:latin typeface="Noto Sans"/>
              </a:defRPr>
            </a:pPr>
            <a:r>
              <a:t>Change in total ns/op relative to linear scan (%)</a:t>
            </a:r>
          </a:p>
        </p:txBody>
      </p:sp>
      <p:cxnSp>
        <p:nvCxnSpPr>
          <p:cNvPr id="43" name="Connector 42"/>
          <p:cNvCxnSpPr/>
          <p:nvPr/>
        </p:nvCxnSpPr>
        <p:spPr>
          <a:xfrm>
            <a:off x="3090546" y="1673352"/>
            <a:ext cx="10779" cy="0"/>
          </a:xfrm>
          <a:prstGeom prst="line">
            <a:avLst/>
          </a:prstGeom>
          <a:ln w="8890">
            <a:solidFill>
              <a:srgbClr val="607080"/>
            </a:solidFill>
          </a:ln>
        </p:spPr>
        <p:style>
          <a:lnRef idx="2">
            <a:schemeClr val="accent1"/>
          </a:lnRef>
          <a:fillRef idx="0">
            <a:schemeClr val="accent1"/>
          </a:fillRef>
          <a:effectRef idx="1">
            <a:schemeClr val="accent1"/>
          </a:effectRef>
          <a:fontRef idx="minor">
            <a:schemeClr val="tx1"/>
          </a:fontRef>
        </p:style>
      </p:cxnSp>
      <p:sp>
        <p:nvSpPr>
          <p:cNvPr id="44" name="Oval 43"/>
          <p:cNvSpPr/>
          <p:nvPr/>
        </p:nvSpPr>
        <p:spPr>
          <a:xfrm>
            <a:off x="3048484" y="1567281"/>
            <a:ext cx="84124" cy="84124"/>
          </a:xfrm>
          <a:prstGeom prst="ellipse">
            <a:avLst/>
          </a:prstGeom>
          <a:solidFill>
            <a:srgbClr val="0414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Diamond 44"/>
          <p:cNvSpPr/>
          <p:nvPr/>
        </p:nvSpPr>
        <p:spPr>
          <a:xfrm>
            <a:off x="3048841" y="1631289"/>
            <a:ext cx="84124" cy="84124"/>
          </a:xfrm>
          <a:prstGeom prst="diamond">
            <a:avLst/>
          </a:prstGeom>
          <a:solidFill>
            <a:srgbClr val="3178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Isosceles Triangle 45"/>
          <p:cNvSpPr/>
          <p:nvPr/>
        </p:nvSpPr>
        <p:spPr>
          <a:xfrm>
            <a:off x="3059263" y="1695297"/>
            <a:ext cx="84124" cy="84124"/>
          </a:xfrm>
          <a:prstGeom prst="triangle">
            <a:avLst/>
          </a:prstGeom>
          <a:solidFill>
            <a:srgbClr val="008A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47" name="Connector 46"/>
          <p:cNvCxnSpPr/>
          <p:nvPr/>
        </p:nvCxnSpPr>
        <p:spPr>
          <a:xfrm>
            <a:off x="3080173" y="1965960"/>
            <a:ext cx="7964" cy="0"/>
          </a:xfrm>
          <a:prstGeom prst="line">
            <a:avLst/>
          </a:prstGeom>
          <a:ln w="8890">
            <a:solidFill>
              <a:srgbClr val="607080"/>
            </a:solidFill>
          </a:ln>
        </p:spPr>
        <p:style>
          <a:lnRef idx="2">
            <a:schemeClr val="accent1"/>
          </a:lnRef>
          <a:fillRef idx="0">
            <a:schemeClr val="accent1"/>
          </a:fillRef>
          <a:effectRef idx="1">
            <a:schemeClr val="accent1"/>
          </a:effectRef>
          <a:fontRef idx="minor">
            <a:schemeClr val="tx1"/>
          </a:fontRef>
        </p:style>
      </p:cxnSp>
      <p:sp>
        <p:nvSpPr>
          <p:cNvPr id="48" name="Oval 47"/>
          <p:cNvSpPr/>
          <p:nvPr/>
        </p:nvSpPr>
        <p:spPr>
          <a:xfrm>
            <a:off x="3046075" y="1859889"/>
            <a:ext cx="84124" cy="84124"/>
          </a:xfrm>
          <a:prstGeom prst="ellipse">
            <a:avLst/>
          </a:prstGeom>
          <a:solidFill>
            <a:srgbClr val="0414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Diamond 48"/>
          <p:cNvSpPr/>
          <p:nvPr/>
        </p:nvSpPr>
        <p:spPr>
          <a:xfrm>
            <a:off x="3044612" y="1923897"/>
            <a:ext cx="84124" cy="84124"/>
          </a:xfrm>
          <a:prstGeom prst="diamond">
            <a:avLst/>
          </a:prstGeom>
          <a:solidFill>
            <a:srgbClr val="3178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Isosceles Triangle 49"/>
          <p:cNvSpPr/>
          <p:nvPr/>
        </p:nvSpPr>
        <p:spPr>
          <a:xfrm>
            <a:off x="3038111" y="1987905"/>
            <a:ext cx="84124" cy="84124"/>
          </a:xfrm>
          <a:prstGeom prst="triangle">
            <a:avLst/>
          </a:prstGeom>
          <a:solidFill>
            <a:srgbClr val="008A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51" name="Connector 50"/>
          <p:cNvCxnSpPr/>
          <p:nvPr/>
        </p:nvCxnSpPr>
        <p:spPr>
          <a:xfrm>
            <a:off x="3074740" y="2258568"/>
            <a:ext cx="10442" cy="0"/>
          </a:xfrm>
          <a:prstGeom prst="line">
            <a:avLst/>
          </a:prstGeom>
          <a:ln w="8890">
            <a:solidFill>
              <a:srgbClr val="607080"/>
            </a:solidFill>
          </a:ln>
        </p:spPr>
        <p:style>
          <a:lnRef idx="2">
            <a:schemeClr val="accent1"/>
          </a:lnRef>
          <a:fillRef idx="0">
            <a:schemeClr val="accent1"/>
          </a:fillRef>
          <a:effectRef idx="1">
            <a:schemeClr val="accent1"/>
          </a:effectRef>
          <a:fontRef idx="minor">
            <a:schemeClr val="tx1"/>
          </a:fontRef>
        </p:style>
      </p:cxnSp>
      <p:sp>
        <p:nvSpPr>
          <p:cNvPr id="52" name="Oval 51"/>
          <p:cNvSpPr/>
          <p:nvPr/>
        </p:nvSpPr>
        <p:spPr>
          <a:xfrm>
            <a:off x="3032678" y="2152497"/>
            <a:ext cx="84124" cy="84124"/>
          </a:xfrm>
          <a:prstGeom prst="ellipse">
            <a:avLst/>
          </a:prstGeom>
          <a:solidFill>
            <a:srgbClr val="0414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Diamond 52"/>
          <p:cNvSpPr/>
          <p:nvPr/>
        </p:nvSpPr>
        <p:spPr>
          <a:xfrm>
            <a:off x="3043119" y="2216505"/>
            <a:ext cx="84124" cy="84124"/>
          </a:xfrm>
          <a:prstGeom prst="diamond">
            <a:avLst/>
          </a:prstGeom>
          <a:solidFill>
            <a:srgbClr val="3178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Isosceles Triangle 53"/>
          <p:cNvSpPr/>
          <p:nvPr/>
        </p:nvSpPr>
        <p:spPr>
          <a:xfrm>
            <a:off x="3039697" y="2280513"/>
            <a:ext cx="84124" cy="84124"/>
          </a:xfrm>
          <a:prstGeom prst="triangle">
            <a:avLst/>
          </a:prstGeom>
          <a:solidFill>
            <a:srgbClr val="008A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55" name="Connector 54"/>
          <p:cNvCxnSpPr/>
          <p:nvPr/>
        </p:nvCxnSpPr>
        <p:spPr>
          <a:xfrm>
            <a:off x="3294937" y="2551176"/>
            <a:ext cx="20727" cy="0"/>
          </a:xfrm>
          <a:prstGeom prst="line">
            <a:avLst/>
          </a:prstGeom>
          <a:ln w="8890">
            <a:solidFill>
              <a:srgbClr val="607080"/>
            </a:solidFill>
          </a:ln>
        </p:spPr>
        <p:style>
          <a:lnRef idx="2">
            <a:schemeClr val="accent1"/>
          </a:lnRef>
          <a:fillRef idx="0">
            <a:schemeClr val="accent1"/>
          </a:fillRef>
          <a:effectRef idx="1">
            <a:schemeClr val="accent1"/>
          </a:effectRef>
          <a:fontRef idx="minor">
            <a:schemeClr val="tx1"/>
          </a:fontRef>
        </p:style>
      </p:cxnSp>
      <p:sp>
        <p:nvSpPr>
          <p:cNvPr id="56" name="Oval 55"/>
          <p:cNvSpPr/>
          <p:nvPr/>
        </p:nvSpPr>
        <p:spPr>
          <a:xfrm>
            <a:off x="3272558" y="2445105"/>
            <a:ext cx="84124" cy="84124"/>
          </a:xfrm>
          <a:prstGeom prst="ellipse">
            <a:avLst/>
          </a:prstGeom>
          <a:solidFill>
            <a:srgbClr val="0414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Diamond 56"/>
          <p:cNvSpPr/>
          <p:nvPr/>
        </p:nvSpPr>
        <p:spPr>
          <a:xfrm>
            <a:off x="3273602" y="2509113"/>
            <a:ext cx="84124" cy="84124"/>
          </a:xfrm>
          <a:prstGeom prst="diamond">
            <a:avLst/>
          </a:prstGeom>
          <a:solidFill>
            <a:srgbClr val="3178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Isosceles Triangle 57"/>
          <p:cNvSpPr/>
          <p:nvPr/>
        </p:nvSpPr>
        <p:spPr>
          <a:xfrm>
            <a:off x="3252875" y="2573121"/>
            <a:ext cx="84124" cy="84124"/>
          </a:xfrm>
          <a:prstGeom prst="triangle">
            <a:avLst/>
          </a:prstGeom>
          <a:solidFill>
            <a:srgbClr val="008A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59" name="Connector 58"/>
          <p:cNvCxnSpPr/>
          <p:nvPr/>
        </p:nvCxnSpPr>
        <p:spPr>
          <a:xfrm>
            <a:off x="6473457" y="2843784"/>
            <a:ext cx="57445" cy="0"/>
          </a:xfrm>
          <a:prstGeom prst="line">
            <a:avLst/>
          </a:prstGeom>
          <a:ln w="8890">
            <a:solidFill>
              <a:srgbClr val="607080"/>
            </a:solidFill>
          </a:ln>
        </p:spPr>
        <p:style>
          <a:lnRef idx="2">
            <a:schemeClr val="accent1"/>
          </a:lnRef>
          <a:fillRef idx="0">
            <a:schemeClr val="accent1"/>
          </a:fillRef>
          <a:effectRef idx="1">
            <a:schemeClr val="accent1"/>
          </a:effectRef>
          <a:fontRef idx="minor">
            <a:schemeClr val="tx1"/>
          </a:fontRef>
        </p:style>
      </p:cxnSp>
      <p:sp>
        <p:nvSpPr>
          <p:cNvPr id="60" name="Oval 59"/>
          <p:cNvSpPr/>
          <p:nvPr/>
        </p:nvSpPr>
        <p:spPr>
          <a:xfrm>
            <a:off x="6470538" y="2737713"/>
            <a:ext cx="84124" cy="84124"/>
          </a:xfrm>
          <a:prstGeom prst="ellipse">
            <a:avLst/>
          </a:prstGeom>
          <a:solidFill>
            <a:srgbClr val="0414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Diamond 60"/>
          <p:cNvSpPr/>
          <p:nvPr/>
        </p:nvSpPr>
        <p:spPr>
          <a:xfrm>
            <a:off x="6431395" y="2801721"/>
            <a:ext cx="84124" cy="84124"/>
          </a:xfrm>
          <a:prstGeom prst="diamond">
            <a:avLst/>
          </a:prstGeom>
          <a:solidFill>
            <a:srgbClr val="3178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Isosceles Triangle 61"/>
          <p:cNvSpPr/>
          <p:nvPr/>
        </p:nvSpPr>
        <p:spPr>
          <a:xfrm>
            <a:off x="6488840" y="2865729"/>
            <a:ext cx="84124" cy="84124"/>
          </a:xfrm>
          <a:prstGeom prst="triangle">
            <a:avLst/>
          </a:prstGeom>
          <a:solidFill>
            <a:srgbClr val="008A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63" name="Connector 62"/>
          <p:cNvCxnSpPr/>
          <p:nvPr/>
        </p:nvCxnSpPr>
        <p:spPr>
          <a:xfrm>
            <a:off x="6423959" y="3136392"/>
            <a:ext cx="72677" cy="0"/>
          </a:xfrm>
          <a:prstGeom prst="line">
            <a:avLst/>
          </a:prstGeom>
          <a:ln w="8890">
            <a:solidFill>
              <a:srgbClr val="607080"/>
            </a:solidFill>
          </a:ln>
        </p:spPr>
        <p:style>
          <a:lnRef idx="2">
            <a:schemeClr val="accent1"/>
          </a:lnRef>
          <a:fillRef idx="0">
            <a:schemeClr val="accent1"/>
          </a:fillRef>
          <a:effectRef idx="1">
            <a:schemeClr val="accent1"/>
          </a:effectRef>
          <a:fontRef idx="minor">
            <a:schemeClr val="tx1"/>
          </a:fontRef>
        </p:style>
      </p:cxnSp>
      <p:sp>
        <p:nvSpPr>
          <p:cNvPr id="64" name="Oval 63"/>
          <p:cNvSpPr/>
          <p:nvPr/>
        </p:nvSpPr>
        <p:spPr>
          <a:xfrm>
            <a:off x="6454573" y="3030321"/>
            <a:ext cx="84124" cy="84124"/>
          </a:xfrm>
          <a:prstGeom prst="ellipse">
            <a:avLst/>
          </a:prstGeom>
          <a:solidFill>
            <a:srgbClr val="0414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Diamond 64"/>
          <p:cNvSpPr/>
          <p:nvPr/>
        </p:nvSpPr>
        <p:spPr>
          <a:xfrm>
            <a:off x="6381897" y="3094329"/>
            <a:ext cx="84124" cy="84124"/>
          </a:xfrm>
          <a:prstGeom prst="diamond">
            <a:avLst/>
          </a:prstGeom>
          <a:solidFill>
            <a:srgbClr val="3178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Isosceles Triangle 65"/>
          <p:cNvSpPr/>
          <p:nvPr/>
        </p:nvSpPr>
        <p:spPr>
          <a:xfrm>
            <a:off x="6384305" y="3158337"/>
            <a:ext cx="84124" cy="84124"/>
          </a:xfrm>
          <a:prstGeom prst="triangle">
            <a:avLst/>
          </a:prstGeom>
          <a:solidFill>
            <a:srgbClr val="008A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Rectangle 66"/>
          <p:cNvSpPr/>
          <p:nvPr/>
        </p:nvSpPr>
        <p:spPr>
          <a:xfrm>
            <a:off x="329184" y="4034820"/>
            <a:ext cx="8458200" cy="480000"/>
          </a:xfrm>
          <a:prstGeom prst="rect">
            <a:avLst/>
          </a:prstGeom>
          <a:solidFill>
            <a:srgbClr val="0414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TextBox 67"/>
          <p:cNvSpPr txBox="1"/>
          <p:nvPr/>
        </p:nvSpPr>
        <p:spPr>
          <a:xfrm>
            <a:off x="438912" y="4060248"/>
            <a:ext cx="8211312" cy="420000"/>
          </a:xfrm>
          <a:prstGeom prst="rect">
            <a:avLst/>
          </a:prstGeom>
          <a:noFill/>
        </p:spPr>
        <p:txBody>
          <a:bodyPr wrap="square" lIns="9144" tIns="0" rIns="9144" bIns="0" anchor="ctr">
            <a:spAutoFit/>
          </a:bodyPr>
          <a:lstStyle/>
          <a:p>
            <a:pPr algn="l">
              <a:spcBef>
                <a:spcPts val="0"/>
              </a:spcBef>
              <a:spcAft>
                <a:spcPts val="0"/>
              </a:spcAft>
              <a:defRPr sz="1300" b="1">
                <a:solidFill>
                  <a:srgbClr val="FFFFFF"/>
                </a:solidFill>
                <a:latin typeface="Noto Sans"/>
              </a:defRPr>
            </a:pPr>
            <a:r>
              <a:t>Observation: for Interpolation and k-ary the read-label advantage reverses under the mixed label; Eytzinger stays ahead of linear scan under both labels.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83464" y="182880"/>
            <a:ext cx="7360920" cy="438912"/>
          </a:xfrm>
          <a:prstGeom prst="rect">
            <a:avLst/>
          </a:prstGeom>
          <a:noFill/>
        </p:spPr>
        <p:txBody>
          <a:bodyPr wrap="square" lIns="9144" tIns="0" rIns="9144" bIns="0" anchor="ctr">
            <a:spAutoFit/>
          </a:bodyPr>
          <a:lstStyle/>
          <a:p>
            <a:pPr algn="l">
              <a:spcBef>
                <a:spcPts val="0"/>
              </a:spcBef>
              <a:spcAft>
                <a:spcPts val="0"/>
              </a:spcAft>
              <a:defRPr sz="2400" b="1">
                <a:solidFill>
                  <a:srgbClr val="041447"/>
                </a:solidFill>
                <a:latin typeface="Noto Sans"/>
              </a:defRPr>
            </a:pPr>
            <a:r>
              <a:t>Experiment 3: alignment has a cost</a:t>
            </a:r>
          </a:p>
        </p:txBody>
      </p:sp>
      <p:sp>
        <p:nvSpPr>
          <p:cNvPr id="3" name="Rectangle 2"/>
          <p:cNvSpPr/>
          <p:nvPr/>
        </p:nvSpPr>
        <p:spPr>
          <a:xfrm>
            <a:off x="310896" y="786384"/>
            <a:ext cx="1197864" cy="45720"/>
          </a:xfrm>
          <a:prstGeom prst="rect">
            <a:avLst/>
          </a:prstGeom>
          <a:solidFill>
            <a:srgbClr val="D2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10896" y="621792"/>
            <a:ext cx="1197864" cy="164592"/>
          </a:xfrm>
          <a:prstGeom prst="rect">
            <a:avLst/>
          </a:prstGeom>
          <a:noFill/>
        </p:spPr>
        <p:txBody>
          <a:bodyPr wrap="square" lIns="9144" tIns="0" rIns="9144" bIns="0" anchor="ctr">
            <a:spAutoFit/>
          </a:bodyPr>
          <a:lstStyle/>
          <a:p>
            <a:pPr algn="l">
              <a:spcBef>
                <a:spcPts val="0"/>
              </a:spcBef>
              <a:spcAft>
                <a:spcPts val="0"/>
              </a:spcAft>
              <a:defRPr sz="850" b="0">
                <a:solidFill>
                  <a:srgbClr val="607080"/>
                </a:solidFill>
                <a:latin typeface="Noto Sans"/>
              </a:defRPr>
            </a:pPr>
            <a:r>
              <a:t>1 Introduction</a:t>
            </a:r>
          </a:p>
        </p:txBody>
      </p:sp>
      <p:sp>
        <p:nvSpPr>
          <p:cNvPr id="5" name="Rectangle 4"/>
          <p:cNvSpPr/>
          <p:nvPr/>
        </p:nvSpPr>
        <p:spPr>
          <a:xfrm>
            <a:off x="1545336" y="786384"/>
            <a:ext cx="1243584" cy="45720"/>
          </a:xfrm>
          <a:prstGeom prst="rect">
            <a:avLst/>
          </a:prstGeom>
          <a:solidFill>
            <a:srgbClr val="D2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545336" y="621792"/>
            <a:ext cx="1243584" cy="164592"/>
          </a:xfrm>
          <a:prstGeom prst="rect">
            <a:avLst/>
          </a:prstGeom>
          <a:noFill/>
        </p:spPr>
        <p:txBody>
          <a:bodyPr wrap="square" lIns="9144" tIns="0" rIns="9144" bIns="0" anchor="ctr">
            <a:spAutoFit/>
          </a:bodyPr>
          <a:lstStyle/>
          <a:p>
            <a:pPr algn="l">
              <a:spcBef>
                <a:spcPts val="0"/>
              </a:spcBef>
              <a:spcAft>
                <a:spcPts val="0"/>
              </a:spcAft>
              <a:defRPr sz="850" b="0">
                <a:solidFill>
                  <a:srgbClr val="607080"/>
                </a:solidFill>
                <a:latin typeface="Noto Sans"/>
              </a:defRPr>
            </a:pPr>
            <a:r>
              <a:t>2 Background</a:t>
            </a:r>
          </a:p>
        </p:txBody>
      </p:sp>
      <p:sp>
        <p:nvSpPr>
          <p:cNvPr id="7" name="Rectangle 6"/>
          <p:cNvSpPr/>
          <p:nvPr/>
        </p:nvSpPr>
        <p:spPr>
          <a:xfrm>
            <a:off x="2825496" y="786384"/>
            <a:ext cx="1078992" cy="45720"/>
          </a:xfrm>
          <a:prstGeom prst="rect">
            <a:avLst/>
          </a:prstGeom>
          <a:solidFill>
            <a:srgbClr val="D2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2825496" y="621792"/>
            <a:ext cx="1078992" cy="164592"/>
          </a:xfrm>
          <a:prstGeom prst="rect">
            <a:avLst/>
          </a:prstGeom>
          <a:noFill/>
        </p:spPr>
        <p:txBody>
          <a:bodyPr wrap="square" lIns="9144" tIns="0" rIns="9144" bIns="0" anchor="ctr">
            <a:spAutoFit/>
          </a:bodyPr>
          <a:lstStyle/>
          <a:p>
            <a:pPr algn="l">
              <a:spcBef>
                <a:spcPts val="0"/>
              </a:spcBef>
              <a:spcAft>
                <a:spcPts val="0"/>
              </a:spcAft>
              <a:defRPr sz="850" b="0">
                <a:solidFill>
                  <a:srgbClr val="607080"/>
                </a:solidFill>
                <a:latin typeface="Noto Sans"/>
              </a:defRPr>
            </a:pPr>
            <a:r>
              <a:t>3 Concept</a:t>
            </a:r>
          </a:p>
        </p:txBody>
      </p:sp>
      <p:sp>
        <p:nvSpPr>
          <p:cNvPr id="9" name="Rectangle 8"/>
          <p:cNvSpPr/>
          <p:nvPr/>
        </p:nvSpPr>
        <p:spPr>
          <a:xfrm>
            <a:off x="3941063" y="786384"/>
            <a:ext cx="1645920" cy="45720"/>
          </a:xfrm>
          <a:prstGeom prst="rect">
            <a:avLst/>
          </a:prstGeom>
          <a:solidFill>
            <a:srgbClr val="D2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941063" y="621792"/>
            <a:ext cx="1645920" cy="164592"/>
          </a:xfrm>
          <a:prstGeom prst="rect">
            <a:avLst/>
          </a:prstGeom>
          <a:noFill/>
        </p:spPr>
        <p:txBody>
          <a:bodyPr wrap="square" lIns="9144" tIns="0" rIns="9144" bIns="0" anchor="ctr">
            <a:spAutoFit/>
          </a:bodyPr>
          <a:lstStyle/>
          <a:p>
            <a:pPr algn="l">
              <a:spcBef>
                <a:spcPts val="0"/>
              </a:spcBef>
              <a:spcAft>
                <a:spcPts val="0"/>
              </a:spcAft>
              <a:defRPr sz="850" b="0">
                <a:solidFill>
                  <a:srgbClr val="607080"/>
                </a:solidFill>
                <a:latin typeface="Noto Sans"/>
              </a:defRPr>
            </a:pPr>
            <a:r>
              <a:t>4 Implementation</a:t>
            </a:r>
          </a:p>
        </p:txBody>
      </p:sp>
      <p:sp>
        <p:nvSpPr>
          <p:cNvPr id="11" name="Rectangle 10"/>
          <p:cNvSpPr/>
          <p:nvPr/>
        </p:nvSpPr>
        <p:spPr>
          <a:xfrm>
            <a:off x="5623559" y="786384"/>
            <a:ext cx="1252728" cy="45720"/>
          </a:xfrm>
          <a:prstGeom prst="rect">
            <a:avLst/>
          </a:prstGeom>
          <a:solidFill>
            <a:srgbClr val="008A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623559" y="621792"/>
            <a:ext cx="1252728" cy="164592"/>
          </a:xfrm>
          <a:prstGeom prst="rect">
            <a:avLst/>
          </a:prstGeom>
          <a:noFill/>
        </p:spPr>
        <p:txBody>
          <a:bodyPr wrap="square" lIns="9144" tIns="0" rIns="9144" bIns="0" anchor="ctr">
            <a:spAutoFit/>
          </a:bodyPr>
          <a:lstStyle/>
          <a:p>
            <a:pPr algn="l">
              <a:spcBef>
                <a:spcPts val="0"/>
              </a:spcBef>
              <a:spcAft>
                <a:spcPts val="0"/>
              </a:spcAft>
              <a:defRPr sz="850" b="1">
                <a:solidFill>
                  <a:srgbClr val="008A96"/>
                </a:solidFill>
                <a:latin typeface="Noto Sans"/>
              </a:defRPr>
            </a:pPr>
            <a:r>
              <a:t>5 Evaluation</a:t>
            </a:r>
          </a:p>
        </p:txBody>
      </p:sp>
      <p:sp>
        <p:nvSpPr>
          <p:cNvPr id="13" name="Rectangle 12"/>
          <p:cNvSpPr/>
          <p:nvPr/>
        </p:nvSpPr>
        <p:spPr>
          <a:xfrm>
            <a:off x="6912864" y="786384"/>
            <a:ext cx="1216152" cy="45720"/>
          </a:xfrm>
          <a:prstGeom prst="rect">
            <a:avLst/>
          </a:prstGeom>
          <a:solidFill>
            <a:srgbClr val="D2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912864" y="621792"/>
            <a:ext cx="1216152" cy="164592"/>
          </a:xfrm>
          <a:prstGeom prst="rect">
            <a:avLst/>
          </a:prstGeom>
          <a:noFill/>
        </p:spPr>
        <p:txBody>
          <a:bodyPr wrap="square" lIns="9144" tIns="0" rIns="9144" bIns="0" anchor="ctr">
            <a:spAutoFit/>
          </a:bodyPr>
          <a:lstStyle/>
          <a:p>
            <a:pPr algn="l">
              <a:spcBef>
                <a:spcPts val="0"/>
              </a:spcBef>
              <a:spcAft>
                <a:spcPts val="0"/>
              </a:spcAft>
              <a:defRPr sz="850" b="0">
                <a:solidFill>
                  <a:srgbClr val="607080"/>
                </a:solidFill>
                <a:latin typeface="Noto Sans"/>
              </a:defRPr>
            </a:pPr>
            <a:r>
              <a:t>6 Conclusion</a:t>
            </a:r>
          </a:p>
        </p:txBody>
      </p:sp>
      <p:sp>
        <p:nvSpPr>
          <p:cNvPr id="15" name="TextBox 14"/>
          <p:cNvSpPr txBox="1"/>
          <p:nvPr/>
        </p:nvSpPr>
        <p:spPr>
          <a:xfrm>
            <a:off x="320040" y="4572000"/>
            <a:ext cx="8321040" cy="182880"/>
          </a:xfrm>
          <a:prstGeom prst="rect">
            <a:avLst/>
          </a:prstGeom>
          <a:noFill/>
        </p:spPr>
        <p:txBody>
          <a:bodyPr wrap="square" lIns="9144" tIns="0" rIns="9144" bIns="0" anchor="ctr">
            <a:spAutoFit/>
          </a:bodyPr>
          <a:lstStyle/>
          <a:p>
            <a:pPr algn="l">
              <a:spcBef>
                <a:spcPts val="0"/>
              </a:spcBef>
              <a:spcAft>
                <a:spcPts val="0"/>
              </a:spcAft>
              <a:defRPr sz="810" b="0">
                <a:solidFill>
                  <a:srgbClr val="607080"/>
                </a:solidFill>
                <a:latin typeface="Noto Sans"/>
              </a:defRPr>
            </a:pPr>
            <a:r>
              <a:t>THESIS MEASUREMENT 2026-09-24  |  320 binaries x 4 workloads x 3 repetitions  |  64 matched pairs per run / workload / variant</a:t>
            </a:r>
          </a:p>
        </p:txBody>
      </p:sp>
      <p:sp>
        <p:nvSpPr>
          <p:cNvPr id="16" name="TextBox 15"/>
          <p:cNvSpPr txBox="1"/>
          <p:nvPr/>
        </p:nvSpPr>
        <p:spPr>
          <a:xfrm>
            <a:off x="1234440" y="4873752"/>
            <a:ext cx="6766560" cy="164592"/>
          </a:xfrm>
          <a:prstGeom prst="rect">
            <a:avLst/>
          </a:prstGeom>
          <a:noFill/>
        </p:spPr>
        <p:txBody>
          <a:bodyPr wrap="square" lIns="9144" tIns="0" rIns="9144" bIns="0" anchor="ctr">
            <a:spAutoFit/>
          </a:bodyPr>
          <a:lstStyle/>
          <a:p>
            <a:pPr algn="l">
              <a:spcBef>
                <a:spcPts val="0"/>
              </a:spcBef>
              <a:spcAft>
                <a:spcPts val="0"/>
              </a:spcAft>
              <a:defRPr sz="830" b="0">
                <a:solidFill>
                  <a:srgbClr val="041447"/>
                </a:solidFill>
                <a:latin typeface="Noto Sans"/>
              </a:defRPr>
            </a:pPr>
            <a:r>
              <a:t>Benjamin-Elias Probst  |  Diploma thesis defense  |  28 September 2026</a:t>
            </a:r>
          </a:p>
        </p:txBody>
      </p:sp>
      <p:sp>
        <p:nvSpPr>
          <p:cNvPr id="17" name="TextBox 16"/>
          <p:cNvSpPr txBox="1"/>
          <p:nvPr/>
        </p:nvSpPr>
        <p:spPr>
          <a:xfrm>
            <a:off x="8412480" y="4864608"/>
            <a:ext cx="393192" cy="192024"/>
          </a:xfrm>
          <a:prstGeom prst="rect">
            <a:avLst/>
          </a:prstGeom>
          <a:noFill/>
        </p:spPr>
        <p:txBody>
          <a:bodyPr wrap="square" lIns="9144" tIns="0" rIns="9144" bIns="0" anchor="ctr">
            <a:spAutoFit/>
          </a:bodyPr>
          <a:lstStyle/>
          <a:p>
            <a:pPr algn="r">
              <a:spcBef>
                <a:spcPts val="0"/>
              </a:spcBef>
              <a:spcAft>
                <a:spcPts val="0"/>
              </a:spcAft>
              <a:defRPr sz="900" b="1">
                <a:solidFill>
                  <a:srgbClr val="041447"/>
                </a:solidFill>
                <a:latin typeface="Noto Sans"/>
              </a:defRPr>
            </a:pPr>
            <a:r>
              <a:t>16</a:t>
            </a:r>
          </a:p>
        </p:txBody>
      </p:sp>
      <p:sp>
        <p:nvSpPr>
          <p:cNvPr id="18" name="TextBox 17"/>
          <p:cNvSpPr txBox="1"/>
          <p:nvPr/>
        </p:nvSpPr>
        <p:spPr>
          <a:xfrm>
            <a:off x="457200" y="1060704"/>
            <a:ext cx="6492240" cy="292608"/>
          </a:xfrm>
          <a:prstGeom prst="rect">
            <a:avLst/>
          </a:prstGeom>
          <a:noFill/>
        </p:spPr>
        <p:txBody>
          <a:bodyPr wrap="square" lIns="9144" tIns="0" rIns="9144" bIns="0" anchor="ctr">
            <a:spAutoFit/>
          </a:bodyPr>
          <a:lstStyle/>
          <a:p>
            <a:pPr algn="l">
              <a:spcBef>
                <a:spcPts val="0"/>
              </a:spcBef>
              <a:spcAft>
                <a:spcPts val="0"/>
              </a:spcAft>
              <a:defRPr sz="1350" b="1">
                <a:solidFill>
                  <a:srgbClr val="041447"/>
                </a:solidFill>
                <a:latin typeface="Noto Sans"/>
              </a:defRPr>
            </a:pPr>
            <a:r>
              <a:t>YCSB-C and YCSB-A labels · reference: AoSStrict</a:t>
            </a:r>
          </a:p>
        </p:txBody>
      </p:sp>
      <p:sp>
        <p:nvSpPr>
          <p:cNvPr id="19" name="Oval 18"/>
          <p:cNvSpPr/>
          <p:nvPr/>
        </p:nvSpPr>
        <p:spPr>
          <a:xfrm>
            <a:off x="7040880" y="1097280"/>
            <a:ext cx="82296" cy="82296"/>
          </a:xfrm>
          <a:prstGeom prst="ellipse">
            <a:avLst/>
          </a:prstGeom>
          <a:solidFill>
            <a:srgbClr val="0414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150608" y="1060704"/>
            <a:ext cx="310896" cy="256032"/>
          </a:xfrm>
          <a:prstGeom prst="rect">
            <a:avLst/>
          </a:prstGeom>
          <a:noFill/>
        </p:spPr>
        <p:txBody>
          <a:bodyPr wrap="square" lIns="9144" tIns="0" rIns="9144" bIns="0" anchor="ctr">
            <a:spAutoFit/>
          </a:bodyPr>
          <a:lstStyle/>
          <a:p>
            <a:pPr algn="l">
              <a:spcBef>
                <a:spcPts val="0"/>
              </a:spcBef>
              <a:spcAft>
                <a:spcPts val="0"/>
              </a:spcAft>
              <a:defRPr sz="950" b="0">
                <a:solidFill>
                  <a:srgbClr val="607080"/>
                </a:solidFill>
                <a:latin typeface="Noto Sans"/>
              </a:defRPr>
            </a:pPr>
            <a:r>
              <a:t>1</a:t>
            </a:r>
          </a:p>
        </p:txBody>
      </p:sp>
      <p:sp>
        <p:nvSpPr>
          <p:cNvPr id="21" name="Diamond 20"/>
          <p:cNvSpPr/>
          <p:nvPr/>
        </p:nvSpPr>
        <p:spPr>
          <a:xfrm>
            <a:off x="7543800" y="1097280"/>
            <a:ext cx="82296" cy="82296"/>
          </a:xfrm>
          <a:prstGeom prst="diamond">
            <a:avLst/>
          </a:prstGeom>
          <a:solidFill>
            <a:srgbClr val="3178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7653527" y="1060704"/>
            <a:ext cx="310896" cy="256032"/>
          </a:xfrm>
          <a:prstGeom prst="rect">
            <a:avLst/>
          </a:prstGeom>
          <a:noFill/>
        </p:spPr>
        <p:txBody>
          <a:bodyPr wrap="square" lIns="9144" tIns="0" rIns="9144" bIns="0" anchor="ctr">
            <a:spAutoFit/>
          </a:bodyPr>
          <a:lstStyle/>
          <a:p>
            <a:pPr algn="l">
              <a:spcBef>
                <a:spcPts val="0"/>
              </a:spcBef>
              <a:spcAft>
                <a:spcPts val="0"/>
              </a:spcAft>
              <a:defRPr sz="950" b="0">
                <a:solidFill>
                  <a:srgbClr val="607080"/>
                </a:solidFill>
                <a:latin typeface="Noto Sans"/>
              </a:defRPr>
            </a:pPr>
            <a:r>
              <a:t>2</a:t>
            </a:r>
          </a:p>
        </p:txBody>
      </p:sp>
      <p:sp>
        <p:nvSpPr>
          <p:cNvPr id="23" name="Isosceles Triangle 22"/>
          <p:cNvSpPr/>
          <p:nvPr/>
        </p:nvSpPr>
        <p:spPr>
          <a:xfrm>
            <a:off x="8046720" y="1097280"/>
            <a:ext cx="82296" cy="82296"/>
          </a:xfrm>
          <a:prstGeom prst="triangle">
            <a:avLst/>
          </a:prstGeom>
          <a:solidFill>
            <a:srgbClr val="008A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8156448" y="1060704"/>
            <a:ext cx="310896" cy="256032"/>
          </a:xfrm>
          <a:prstGeom prst="rect">
            <a:avLst/>
          </a:prstGeom>
          <a:noFill/>
        </p:spPr>
        <p:txBody>
          <a:bodyPr wrap="square" lIns="9144" tIns="0" rIns="9144" bIns="0" anchor="ctr">
            <a:spAutoFit/>
          </a:bodyPr>
          <a:lstStyle/>
          <a:p>
            <a:pPr algn="l">
              <a:spcBef>
                <a:spcPts val="0"/>
              </a:spcBef>
              <a:spcAft>
                <a:spcPts val="0"/>
              </a:spcAft>
              <a:defRPr sz="950" b="0">
                <a:solidFill>
                  <a:srgbClr val="607080"/>
                </a:solidFill>
                <a:latin typeface="Noto Sans"/>
              </a:defRPr>
            </a:pPr>
            <a:r>
              <a:t>3</a:t>
            </a:r>
          </a:p>
        </p:txBody>
      </p:sp>
      <p:sp>
        <p:nvSpPr>
          <p:cNvPr id="25" name="TextBox 24"/>
          <p:cNvSpPr txBox="1"/>
          <p:nvPr/>
        </p:nvSpPr>
        <p:spPr>
          <a:xfrm>
            <a:off x="6601968" y="1060704"/>
            <a:ext cx="393192" cy="256032"/>
          </a:xfrm>
          <a:prstGeom prst="rect">
            <a:avLst/>
          </a:prstGeom>
          <a:noFill/>
        </p:spPr>
        <p:txBody>
          <a:bodyPr wrap="square" lIns="9144" tIns="0" rIns="9144" bIns="0" anchor="ctr">
            <a:spAutoFit/>
          </a:bodyPr>
          <a:lstStyle/>
          <a:p>
            <a:pPr algn="l">
              <a:spcBef>
                <a:spcPts val="0"/>
              </a:spcBef>
              <a:spcAft>
                <a:spcPts val="0"/>
              </a:spcAft>
              <a:defRPr sz="950" b="0">
                <a:solidFill>
                  <a:srgbClr val="607080"/>
                </a:solidFill>
                <a:latin typeface="Noto Sans"/>
              </a:defRPr>
            </a:pPr>
            <a:r>
              <a:t>Run</a:t>
            </a:r>
          </a:p>
        </p:txBody>
      </p:sp>
      <p:cxnSp>
        <p:nvCxnSpPr>
          <p:cNvPr id="26" name="Connector 25"/>
          <p:cNvCxnSpPr/>
          <p:nvPr/>
        </p:nvCxnSpPr>
        <p:spPr>
          <a:xfrm>
            <a:off x="2487168" y="1554480"/>
            <a:ext cx="0" cy="1709928"/>
          </a:xfrm>
          <a:prstGeom prst="line">
            <a:avLst/>
          </a:prstGeom>
          <a:ln w="6985">
            <a:solidFill>
              <a:srgbClr val="D2DCE5"/>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2276856" y="3282696"/>
            <a:ext cx="438912" cy="265176"/>
          </a:xfrm>
          <a:prstGeom prst="rect">
            <a:avLst/>
          </a:prstGeom>
          <a:noFill/>
        </p:spPr>
        <p:txBody>
          <a:bodyPr wrap="square" lIns="9144" tIns="0" rIns="9144" bIns="0" anchor="ctr">
            <a:spAutoFit/>
          </a:bodyPr>
          <a:lstStyle/>
          <a:p>
            <a:pPr algn="ctr">
              <a:spcBef>
                <a:spcPts val="0"/>
              </a:spcBef>
              <a:spcAft>
                <a:spcPts val="0"/>
              </a:spcAft>
              <a:defRPr sz="1000" b="0">
                <a:solidFill>
                  <a:srgbClr val="607080"/>
                </a:solidFill>
                <a:latin typeface="Noto Sans"/>
              </a:defRPr>
            </a:pPr>
            <a:r>
              <a:t>-25</a:t>
            </a:r>
          </a:p>
        </p:txBody>
      </p:sp>
      <p:cxnSp>
        <p:nvCxnSpPr>
          <p:cNvPr id="28" name="Connector 27"/>
          <p:cNvCxnSpPr/>
          <p:nvPr/>
        </p:nvCxnSpPr>
        <p:spPr>
          <a:xfrm>
            <a:off x="3920489" y="1554480"/>
            <a:ext cx="0" cy="1709928"/>
          </a:xfrm>
          <a:prstGeom prst="line">
            <a:avLst/>
          </a:prstGeom>
          <a:ln w="12065">
            <a:solidFill>
              <a:srgbClr val="008A96"/>
            </a:solidFill>
            <a:prstDash val="dash"/>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3710177" y="3282696"/>
            <a:ext cx="438912" cy="265176"/>
          </a:xfrm>
          <a:prstGeom prst="rect">
            <a:avLst/>
          </a:prstGeom>
          <a:noFill/>
        </p:spPr>
        <p:txBody>
          <a:bodyPr wrap="square" lIns="9144" tIns="0" rIns="9144" bIns="0" anchor="ctr">
            <a:spAutoFit/>
          </a:bodyPr>
          <a:lstStyle/>
          <a:p>
            <a:pPr algn="ctr">
              <a:spcBef>
                <a:spcPts val="0"/>
              </a:spcBef>
              <a:spcAft>
                <a:spcPts val="0"/>
              </a:spcAft>
              <a:defRPr sz="1000" b="0">
                <a:solidFill>
                  <a:srgbClr val="607080"/>
                </a:solidFill>
                <a:latin typeface="Noto Sans"/>
              </a:defRPr>
            </a:pPr>
            <a:r>
              <a:t>0</a:t>
            </a:r>
          </a:p>
        </p:txBody>
      </p:sp>
      <p:cxnSp>
        <p:nvCxnSpPr>
          <p:cNvPr id="30" name="Connector 29"/>
          <p:cNvCxnSpPr/>
          <p:nvPr/>
        </p:nvCxnSpPr>
        <p:spPr>
          <a:xfrm>
            <a:off x="5353812" y="1554480"/>
            <a:ext cx="0" cy="1709928"/>
          </a:xfrm>
          <a:prstGeom prst="line">
            <a:avLst/>
          </a:prstGeom>
          <a:ln w="6985">
            <a:solidFill>
              <a:srgbClr val="D2DCE5"/>
            </a:solidFill>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5143500" y="3282696"/>
            <a:ext cx="438912" cy="265176"/>
          </a:xfrm>
          <a:prstGeom prst="rect">
            <a:avLst/>
          </a:prstGeom>
          <a:noFill/>
        </p:spPr>
        <p:txBody>
          <a:bodyPr wrap="square" lIns="9144" tIns="0" rIns="9144" bIns="0" anchor="ctr">
            <a:spAutoFit/>
          </a:bodyPr>
          <a:lstStyle/>
          <a:p>
            <a:pPr algn="ctr">
              <a:spcBef>
                <a:spcPts val="0"/>
              </a:spcBef>
              <a:spcAft>
                <a:spcPts val="0"/>
              </a:spcAft>
              <a:defRPr sz="1000" b="0">
                <a:solidFill>
                  <a:srgbClr val="607080"/>
                </a:solidFill>
                <a:latin typeface="Noto Sans"/>
              </a:defRPr>
            </a:pPr>
            <a:r>
              <a:t>25</a:t>
            </a:r>
          </a:p>
        </p:txBody>
      </p:sp>
      <p:cxnSp>
        <p:nvCxnSpPr>
          <p:cNvPr id="32" name="Connector 31"/>
          <p:cNvCxnSpPr/>
          <p:nvPr/>
        </p:nvCxnSpPr>
        <p:spPr>
          <a:xfrm>
            <a:off x="6787133" y="1554480"/>
            <a:ext cx="0" cy="1709928"/>
          </a:xfrm>
          <a:prstGeom prst="line">
            <a:avLst/>
          </a:prstGeom>
          <a:ln w="6985">
            <a:solidFill>
              <a:srgbClr val="D2DCE5"/>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6576821" y="3282696"/>
            <a:ext cx="438912" cy="265176"/>
          </a:xfrm>
          <a:prstGeom prst="rect">
            <a:avLst/>
          </a:prstGeom>
          <a:noFill/>
        </p:spPr>
        <p:txBody>
          <a:bodyPr wrap="square" lIns="9144" tIns="0" rIns="9144" bIns="0" anchor="ctr">
            <a:spAutoFit/>
          </a:bodyPr>
          <a:lstStyle/>
          <a:p>
            <a:pPr algn="ctr">
              <a:spcBef>
                <a:spcPts val="0"/>
              </a:spcBef>
              <a:spcAft>
                <a:spcPts val="0"/>
              </a:spcAft>
              <a:defRPr sz="1000" b="0">
                <a:solidFill>
                  <a:srgbClr val="607080"/>
                </a:solidFill>
                <a:latin typeface="Noto Sans"/>
              </a:defRPr>
            </a:pPr>
            <a:r>
              <a:t>50</a:t>
            </a:r>
          </a:p>
        </p:txBody>
      </p:sp>
      <p:cxnSp>
        <p:nvCxnSpPr>
          <p:cNvPr id="34" name="Connector 33"/>
          <p:cNvCxnSpPr/>
          <p:nvPr/>
        </p:nvCxnSpPr>
        <p:spPr>
          <a:xfrm>
            <a:off x="8220456" y="1554480"/>
            <a:ext cx="0" cy="1709928"/>
          </a:xfrm>
          <a:prstGeom prst="line">
            <a:avLst/>
          </a:prstGeom>
          <a:ln w="6985">
            <a:solidFill>
              <a:srgbClr val="D2DCE5"/>
            </a:solidFill>
          </a:ln>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8010144" y="3282696"/>
            <a:ext cx="438912" cy="265176"/>
          </a:xfrm>
          <a:prstGeom prst="rect">
            <a:avLst/>
          </a:prstGeom>
          <a:noFill/>
        </p:spPr>
        <p:txBody>
          <a:bodyPr wrap="square" lIns="9144" tIns="0" rIns="9144" bIns="0" anchor="ctr">
            <a:spAutoFit/>
          </a:bodyPr>
          <a:lstStyle/>
          <a:p>
            <a:pPr algn="ctr">
              <a:spcBef>
                <a:spcPts val="0"/>
              </a:spcBef>
              <a:spcAft>
                <a:spcPts val="0"/>
              </a:spcAft>
              <a:defRPr sz="1000" b="0">
                <a:solidFill>
                  <a:srgbClr val="607080"/>
                </a:solidFill>
                <a:latin typeface="Noto Sans"/>
              </a:defRPr>
            </a:pPr>
            <a:r>
              <a:t>75</a:t>
            </a:r>
          </a:p>
        </p:txBody>
      </p:sp>
      <p:sp>
        <p:nvSpPr>
          <p:cNvPr id="36" name="TextBox 35"/>
          <p:cNvSpPr txBox="1"/>
          <p:nvPr/>
        </p:nvSpPr>
        <p:spPr>
          <a:xfrm>
            <a:off x="438912" y="1591056"/>
            <a:ext cx="1883664" cy="329184"/>
          </a:xfrm>
          <a:prstGeom prst="rect">
            <a:avLst/>
          </a:prstGeom>
          <a:noFill/>
        </p:spPr>
        <p:txBody>
          <a:bodyPr wrap="square" lIns="9144" tIns="0" rIns="9144" bIns="0" anchor="ctr">
            <a:spAutoFit/>
          </a:bodyPr>
          <a:lstStyle/>
          <a:p>
            <a:pPr algn="l">
              <a:spcBef>
                <a:spcPts val="0"/>
              </a:spcBef>
              <a:spcAft>
                <a:spcPts val="0"/>
              </a:spcAft>
              <a:defRPr sz="1250" b="1">
                <a:solidFill>
                  <a:srgbClr val="041447"/>
                </a:solidFill>
                <a:latin typeface="Noto Sans"/>
              </a:defRPr>
            </a:pPr>
            <a:r>
              <a:t>Aligned · C</a:t>
            </a:r>
          </a:p>
        </p:txBody>
      </p:sp>
      <p:sp>
        <p:nvSpPr>
          <p:cNvPr id="37" name="TextBox 36"/>
          <p:cNvSpPr txBox="1"/>
          <p:nvPr/>
        </p:nvSpPr>
        <p:spPr>
          <a:xfrm>
            <a:off x="438912" y="2002536"/>
            <a:ext cx="1883664" cy="329184"/>
          </a:xfrm>
          <a:prstGeom prst="rect">
            <a:avLst/>
          </a:prstGeom>
          <a:noFill/>
        </p:spPr>
        <p:txBody>
          <a:bodyPr wrap="square" lIns="9144" tIns="0" rIns="9144" bIns="0" anchor="ctr">
            <a:spAutoFit/>
          </a:bodyPr>
          <a:lstStyle/>
          <a:p>
            <a:pPr algn="l">
              <a:spcBef>
                <a:spcPts val="0"/>
              </a:spcBef>
              <a:spcAft>
                <a:spcPts val="0"/>
              </a:spcAft>
              <a:defRPr sz="1250" b="1">
                <a:solidFill>
                  <a:srgbClr val="041447"/>
                </a:solidFill>
                <a:latin typeface="Noto Sans"/>
              </a:defRPr>
            </a:pPr>
            <a:r>
              <a:t>Aligned · A</a:t>
            </a:r>
          </a:p>
        </p:txBody>
      </p:sp>
      <p:sp>
        <p:nvSpPr>
          <p:cNvPr id="38" name="TextBox 37"/>
          <p:cNvSpPr txBox="1"/>
          <p:nvPr/>
        </p:nvSpPr>
        <p:spPr>
          <a:xfrm>
            <a:off x="438912" y="2414016"/>
            <a:ext cx="1883664" cy="329184"/>
          </a:xfrm>
          <a:prstGeom prst="rect">
            <a:avLst/>
          </a:prstGeom>
          <a:noFill/>
        </p:spPr>
        <p:txBody>
          <a:bodyPr wrap="square" lIns="9144" tIns="0" rIns="9144" bIns="0" anchor="ctr">
            <a:spAutoFit/>
          </a:bodyPr>
          <a:lstStyle/>
          <a:p>
            <a:pPr algn="l">
              <a:spcBef>
                <a:spcPts val="0"/>
              </a:spcBef>
              <a:spcAft>
                <a:spcPts val="0"/>
              </a:spcAft>
              <a:defRPr sz="1250" b="1">
                <a:solidFill>
                  <a:srgbClr val="041447"/>
                </a:solidFill>
                <a:latin typeface="Noto Sans"/>
              </a:defRPr>
            </a:pPr>
            <a:r>
              <a:t>PackedBitmap · C</a:t>
            </a:r>
          </a:p>
        </p:txBody>
      </p:sp>
      <p:sp>
        <p:nvSpPr>
          <p:cNvPr id="39" name="TextBox 38"/>
          <p:cNvSpPr txBox="1"/>
          <p:nvPr/>
        </p:nvSpPr>
        <p:spPr>
          <a:xfrm>
            <a:off x="438912" y="2825496"/>
            <a:ext cx="1883664" cy="329184"/>
          </a:xfrm>
          <a:prstGeom prst="rect">
            <a:avLst/>
          </a:prstGeom>
          <a:noFill/>
        </p:spPr>
        <p:txBody>
          <a:bodyPr wrap="square" lIns="9144" tIns="0" rIns="9144" bIns="0" anchor="ctr">
            <a:spAutoFit/>
          </a:bodyPr>
          <a:lstStyle/>
          <a:p>
            <a:pPr algn="l">
              <a:spcBef>
                <a:spcPts val="0"/>
              </a:spcBef>
              <a:spcAft>
                <a:spcPts val="0"/>
              </a:spcAft>
              <a:defRPr sz="1250" b="1">
                <a:solidFill>
                  <a:srgbClr val="041447"/>
                </a:solidFill>
                <a:latin typeface="Noto Sans"/>
              </a:defRPr>
            </a:pPr>
            <a:r>
              <a:t>PackedBitmap · A</a:t>
            </a:r>
          </a:p>
        </p:txBody>
      </p:sp>
      <p:sp>
        <p:nvSpPr>
          <p:cNvPr id="40" name="TextBox 39"/>
          <p:cNvSpPr txBox="1"/>
          <p:nvPr/>
        </p:nvSpPr>
        <p:spPr>
          <a:xfrm>
            <a:off x="2487168" y="3584448"/>
            <a:ext cx="5733288" cy="246888"/>
          </a:xfrm>
          <a:prstGeom prst="rect">
            <a:avLst/>
          </a:prstGeom>
          <a:noFill/>
        </p:spPr>
        <p:txBody>
          <a:bodyPr wrap="square" lIns="9144" tIns="0" rIns="9144" bIns="0" anchor="ctr">
            <a:spAutoFit/>
          </a:bodyPr>
          <a:lstStyle/>
          <a:p>
            <a:pPr algn="ctr">
              <a:spcBef>
                <a:spcPts val="0"/>
              </a:spcBef>
              <a:spcAft>
                <a:spcPts val="0"/>
              </a:spcAft>
              <a:defRPr sz="1100" b="0">
                <a:solidFill>
                  <a:srgbClr val="607080"/>
                </a:solidFill>
                <a:latin typeface="Noto Sans"/>
              </a:defRPr>
            </a:pPr>
            <a:r>
              <a:t>Change in total ns/op relative to AoSStrict (%)</a:t>
            </a:r>
          </a:p>
        </p:txBody>
      </p:sp>
      <p:cxnSp>
        <p:nvCxnSpPr>
          <p:cNvPr id="41" name="Connector 40"/>
          <p:cNvCxnSpPr/>
          <p:nvPr/>
        </p:nvCxnSpPr>
        <p:spPr>
          <a:xfrm>
            <a:off x="3931555" y="1764792"/>
            <a:ext cx="16351" cy="0"/>
          </a:xfrm>
          <a:prstGeom prst="line">
            <a:avLst/>
          </a:prstGeom>
          <a:ln w="8890">
            <a:solidFill>
              <a:srgbClr val="607080"/>
            </a:solidFill>
          </a:ln>
        </p:spPr>
        <p:style>
          <a:lnRef idx="2">
            <a:schemeClr val="accent1"/>
          </a:lnRef>
          <a:fillRef idx="0">
            <a:schemeClr val="accent1"/>
          </a:fillRef>
          <a:effectRef idx="1">
            <a:schemeClr val="accent1"/>
          </a:effectRef>
          <a:fontRef idx="minor">
            <a:schemeClr val="tx1"/>
          </a:fontRef>
        </p:style>
      </p:cxnSp>
      <p:sp>
        <p:nvSpPr>
          <p:cNvPr id="42" name="Oval 41"/>
          <p:cNvSpPr/>
          <p:nvPr/>
        </p:nvSpPr>
        <p:spPr>
          <a:xfrm>
            <a:off x="3889493" y="1658721"/>
            <a:ext cx="84124" cy="84124"/>
          </a:xfrm>
          <a:prstGeom prst="ellipse">
            <a:avLst/>
          </a:prstGeom>
          <a:solidFill>
            <a:srgbClr val="0414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Diamond 42"/>
          <p:cNvSpPr/>
          <p:nvPr/>
        </p:nvSpPr>
        <p:spPr>
          <a:xfrm>
            <a:off x="3904927" y="1722729"/>
            <a:ext cx="84124" cy="84124"/>
          </a:xfrm>
          <a:prstGeom prst="diamond">
            <a:avLst/>
          </a:prstGeom>
          <a:solidFill>
            <a:srgbClr val="3178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Isosceles Triangle 43"/>
          <p:cNvSpPr/>
          <p:nvPr/>
        </p:nvSpPr>
        <p:spPr>
          <a:xfrm>
            <a:off x="3905845" y="1786737"/>
            <a:ext cx="84124" cy="84124"/>
          </a:xfrm>
          <a:prstGeom prst="triangle">
            <a:avLst/>
          </a:prstGeom>
          <a:solidFill>
            <a:srgbClr val="008A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45" name="Connector 44"/>
          <p:cNvCxnSpPr/>
          <p:nvPr/>
        </p:nvCxnSpPr>
        <p:spPr>
          <a:xfrm>
            <a:off x="4371860" y="2176272"/>
            <a:ext cx="64826" cy="0"/>
          </a:xfrm>
          <a:prstGeom prst="line">
            <a:avLst/>
          </a:prstGeom>
          <a:ln w="8890">
            <a:solidFill>
              <a:srgbClr val="607080"/>
            </a:solidFill>
          </a:ln>
        </p:spPr>
        <p:style>
          <a:lnRef idx="2">
            <a:schemeClr val="accent1"/>
          </a:lnRef>
          <a:fillRef idx="0">
            <a:schemeClr val="accent1"/>
          </a:fillRef>
          <a:effectRef idx="1">
            <a:schemeClr val="accent1"/>
          </a:effectRef>
          <a:fontRef idx="minor">
            <a:schemeClr val="tx1"/>
          </a:fontRef>
        </p:style>
      </p:cxnSp>
      <p:sp>
        <p:nvSpPr>
          <p:cNvPr id="46" name="Oval 45"/>
          <p:cNvSpPr/>
          <p:nvPr/>
        </p:nvSpPr>
        <p:spPr>
          <a:xfrm>
            <a:off x="4329798" y="2070201"/>
            <a:ext cx="84124" cy="84124"/>
          </a:xfrm>
          <a:prstGeom prst="ellipse">
            <a:avLst/>
          </a:prstGeom>
          <a:solidFill>
            <a:srgbClr val="0414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Diamond 46"/>
          <p:cNvSpPr/>
          <p:nvPr/>
        </p:nvSpPr>
        <p:spPr>
          <a:xfrm>
            <a:off x="4370625" y="2134209"/>
            <a:ext cx="84124" cy="84124"/>
          </a:xfrm>
          <a:prstGeom prst="diamond">
            <a:avLst/>
          </a:prstGeom>
          <a:solidFill>
            <a:srgbClr val="3178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Isosceles Triangle 47"/>
          <p:cNvSpPr/>
          <p:nvPr/>
        </p:nvSpPr>
        <p:spPr>
          <a:xfrm>
            <a:off x="4394625" y="2198217"/>
            <a:ext cx="84124" cy="84124"/>
          </a:xfrm>
          <a:prstGeom prst="triangle">
            <a:avLst/>
          </a:prstGeom>
          <a:solidFill>
            <a:srgbClr val="008A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49" name="Connector 48"/>
          <p:cNvCxnSpPr/>
          <p:nvPr/>
        </p:nvCxnSpPr>
        <p:spPr>
          <a:xfrm>
            <a:off x="4480288" y="2587752"/>
            <a:ext cx="62017" cy="0"/>
          </a:xfrm>
          <a:prstGeom prst="line">
            <a:avLst/>
          </a:prstGeom>
          <a:ln w="8890">
            <a:solidFill>
              <a:srgbClr val="607080"/>
            </a:solidFill>
          </a:ln>
        </p:spPr>
        <p:style>
          <a:lnRef idx="2">
            <a:schemeClr val="accent1"/>
          </a:lnRef>
          <a:fillRef idx="0">
            <a:schemeClr val="accent1"/>
          </a:fillRef>
          <a:effectRef idx="1">
            <a:schemeClr val="accent1"/>
          </a:effectRef>
          <a:fontRef idx="minor">
            <a:schemeClr val="tx1"/>
          </a:fontRef>
        </p:style>
      </p:cxnSp>
      <p:sp>
        <p:nvSpPr>
          <p:cNvPr id="50" name="Oval 49"/>
          <p:cNvSpPr/>
          <p:nvPr/>
        </p:nvSpPr>
        <p:spPr>
          <a:xfrm>
            <a:off x="4444894" y="2481681"/>
            <a:ext cx="84124" cy="84124"/>
          </a:xfrm>
          <a:prstGeom prst="ellipse">
            <a:avLst/>
          </a:prstGeom>
          <a:solidFill>
            <a:srgbClr val="0414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Diamond 50"/>
          <p:cNvSpPr/>
          <p:nvPr/>
        </p:nvSpPr>
        <p:spPr>
          <a:xfrm>
            <a:off x="4500243" y="2545689"/>
            <a:ext cx="84124" cy="84124"/>
          </a:xfrm>
          <a:prstGeom prst="diamond">
            <a:avLst/>
          </a:prstGeom>
          <a:solidFill>
            <a:srgbClr val="3178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Isosceles Triangle 51"/>
          <p:cNvSpPr/>
          <p:nvPr/>
        </p:nvSpPr>
        <p:spPr>
          <a:xfrm>
            <a:off x="4438226" y="2609697"/>
            <a:ext cx="84124" cy="84124"/>
          </a:xfrm>
          <a:prstGeom prst="triangle">
            <a:avLst/>
          </a:prstGeom>
          <a:solidFill>
            <a:srgbClr val="008A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53" name="Connector 52"/>
          <p:cNvCxnSpPr/>
          <p:nvPr/>
        </p:nvCxnSpPr>
        <p:spPr>
          <a:xfrm>
            <a:off x="7832714" y="2999232"/>
            <a:ext cx="81963" cy="0"/>
          </a:xfrm>
          <a:prstGeom prst="line">
            <a:avLst/>
          </a:prstGeom>
          <a:ln w="8890">
            <a:solidFill>
              <a:srgbClr val="607080"/>
            </a:solidFill>
          </a:ln>
        </p:spPr>
        <p:style>
          <a:lnRef idx="2">
            <a:schemeClr val="accent1"/>
          </a:lnRef>
          <a:fillRef idx="0">
            <a:schemeClr val="accent1"/>
          </a:fillRef>
          <a:effectRef idx="1">
            <a:schemeClr val="accent1"/>
          </a:effectRef>
          <a:fontRef idx="minor">
            <a:schemeClr val="tx1"/>
          </a:fontRef>
        </p:style>
      </p:cxnSp>
      <p:sp>
        <p:nvSpPr>
          <p:cNvPr id="54" name="Oval 53"/>
          <p:cNvSpPr/>
          <p:nvPr/>
        </p:nvSpPr>
        <p:spPr>
          <a:xfrm>
            <a:off x="7872615" y="2893161"/>
            <a:ext cx="84124" cy="84124"/>
          </a:xfrm>
          <a:prstGeom prst="ellipse">
            <a:avLst/>
          </a:prstGeom>
          <a:solidFill>
            <a:srgbClr val="0414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Diamond 54"/>
          <p:cNvSpPr/>
          <p:nvPr/>
        </p:nvSpPr>
        <p:spPr>
          <a:xfrm>
            <a:off x="7853855" y="2957169"/>
            <a:ext cx="84124" cy="84124"/>
          </a:xfrm>
          <a:prstGeom prst="diamond">
            <a:avLst/>
          </a:prstGeom>
          <a:solidFill>
            <a:srgbClr val="3178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Isosceles Triangle 55"/>
          <p:cNvSpPr/>
          <p:nvPr/>
        </p:nvSpPr>
        <p:spPr>
          <a:xfrm>
            <a:off x="7790652" y="3021177"/>
            <a:ext cx="84124" cy="84124"/>
          </a:xfrm>
          <a:prstGeom prst="triangle">
            <a:avLst/>
          </a:prstGeom>
          <a:solidFill>
            <a:srgbClr val="008A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Rectangle 56"/>
          <p:cNvSpPr/>
          <p:nvPr/>
        </p:nvSpPr>
        <p:spPr>
          <a:xfrm>
            <a:off x="329184" y="4034820"/>
            <a:ext cx="8458200" cy="480000"/>
          </a:xfrm>
          <a:prstGeom prst="rect">
            <a:avLst/>
          </a:prstGeom>
          <a:solidFill>
            <a:srgbClr val="0414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TextBox 57"/>
          <p:cNvSpPr txBox="1"/>
          <p:nvPr/>
        </p:nvSpPr>
        <p:spPr>
          <a:xfrm>
            <a:off x="438912" y="4060248"/>
            <a:ext cx="8211312" cy="420000"/>
          </a:xfrm>
          <a:prstGeom prst="rect">
            <a:avLst/>
          </a:prstGeom>
          <a:noFill/>
        </p:spPr>
        <p:txBody>
          <a:bodyPr wrap="square" lIns="9144" tIns="0" rIns="9144" bIns="0" anchor="ctr">
            <a:spAutoFit/>
          </a:bodyPr>
          <a:lstStyle/>
          <a:p>
            <a:pPr algn="l">
              <a:spcBef>
                <a:spcPts val="0"/>
              </a:spcBef>
              <a:spcAft>
                <a:spcPts val="0"/>
              </a:spcAft>
              <a:defRPr sz="1300" b="1">
                <a:solidFill>
                  <a:srgbClr val="FFFFFF"/>
                </a:solidFill>
                <a:latin typeface="Noto Sans"/>
              </a:defRPr>
            </a:pPr>
            <a:r>
              <a:t>Observed: an “aligned” label alone does not predict the better configuration.</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83464" y="182880"/>
            <a:ext cx="7360920" cy="438912"/>
          </a:xfrm>
          <a:prstGeom prst="rect">
            <a:avLst/>
          </a:prstGeom>
          <a:noFill/>
        </p:spPr>
        <p:txBody>
          <a:bodyPr wrap="square" lIns="9144" tIns="0" rIns="9144" bIns="0" anchor="ctr">
            <a:spAutoFit/>
          </a:bodyPr>
          <a:lstStyle/>
          <a:p>
            <a:pPr algn="l">
              <a:spcBef>
                <a:spcPts val="0"/>
              </a:spcBef>
              <a:spcAft>
                <a:spcPts val="0"/>
              </a:spcAft>
              <a:defRPr sz="2300" b="1">
                <a:solidFill>
                  <a:srgbClr val="041447"/>
                </a:solidFill>
                <a:latin typeface="Noto Sans"/>
              </a:defRPr>
            </a:pPr>
            <a:r>
              <a:t>Conclusion: at its core, a white-box auto-tuner</a:t>
            </a:r>
          </a:p>
        </p:txBody>
      </p:sp>
      <p:sp>
        <p:nvSpPr>
          <p:cNvPr id="3" name="Rectangle 2"/>
          <p:cNvSpPr/>
          <p:nvPr/>
        </p:nvSpPr>
        <p:spPr>
          <a:xfrm>
            <a:off x="310896" y="786384"/>
            <a:ext cx="1197864" cy="45720"/>
          </a:xfrm>
          <a:prstGeom prst="rect">
            <a:avLst/>
          </a:prstGeom>
          <a:solidFill>
            <a:srgbClr val="D2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10896" y="621792"/>
            <a:ext cx="1197864" cy="164592"/>
          </a:xfrm>
          <a:prstGeom prst="rect">
            <a:avLst/>
          </a:prstGeom>
          <a:noFill/>
        </p:spPr>
        <p:txBody>
          <a:bodyPr wrap="square" lIns="9144" tIns="0" rIns="9144" bIns="0" anchor="ctr">
            <a:spAutoFit/>
          </a:bodyPr>
          <a:lstStyle/>
          <a:p>
            <a:pPr algn="l">
              <a:spcBef>
                <a:spcPts val="0"/>
              </a:spcBef>
              <a:spcAft>
                <a:spcPts val="0"/>
              </a:spcAft>
              <a:defRPr sz="850" b="0">
                <a:solidFill>
                  <a:srgbClr val="607080"/>
                </a:solidFill>
                <a:latin typeface="Noto Sans"/>
              </a:defRPr>
            </a:pPr>
            <a:r>
              <a:t>1 Introduction</a:t>
            </a:r>
          </a:p>
        </p:txBody>
      </p:sp>
      <p:sp>
        <p:nvSpPr>
          <p:cNvPr id="5" name="Rectangle 4"/>
          <p:cNvSpPr/>
          <p:nvPr/>
        </p:nvSpPr>
        <p:spPr>
          <a:xfrm>
            <a:off x="1545336" y="786384"/>
            <a:ext cx="1243584" cy="45720"/>
          </a:xfrm>
          <a:prstGeom prst="rect">
            <a:avLst/>
          </a:prstGeom>
          <a:solidFill>
            <a:srgbClr val="D2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545336" y="621792"/>
            <a:ext cx="1243584" cy="164592"/>
          </a:xfrm>
          <a:prstGeom prst="rect">
            <a:avLst/>
          </a:prstGeom>
          <a:noFill/>
        </p:spPr>
        <p:txBody>
          <a:bodyPr wrap="square" lIns="9144" tIns="0" rIns="9144" bIns="0" anchor="ctr">
            <a:spAutoFit/>
          </a:bodyPr>
          <a:lstStyle/>
          <a:p>
            <a:pPr algn="l">
              <a:spcBef>
                <a:spcPts val="0"/>
              </a:spcBef>
              <a:spcAft>
                <a:spcPts val="0"/>
              </a:spcAft>
              <a:defRPr sz="850" b="0">
                <a:solidFill>
                  <a:srgbClr val="607080"/>
                </a:solidFill>
                <a:latin typeface="Noto Sans"/>
              </a:defRPr>
            </a:pPr>
            <a:r>
              <a:t>2 Background</a:t>
            </a:r>
          </a:p>
        </p:txBody>
      </p:sp>
      <p:sp>
        <p:nvSpPr>
          <p:cNvPr id="7" name="Rectangle 6"/>
          <p:cNvSpPr/>
          <p:nvPr/>
        </p:nvSpPr>
        <p:spPr>
          <a:xfrm>
            <a:off x="2825496" y="786384"/>
            <a:ext cx="1078992" cy="45720"/>
          </a:xfrm>
          <a:prstGeom prst="rect">
            <a:avLst/>
          </a:prstGeom>
          <a:solidFill>
            <a:srgbClr val="D2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2825496" y="621792"/>
            <a:ext cx="1078992" cy="164592"/>
          </a:xfrm>
          <a:prstGeom prst="rect">
            <a:avLst/>
          </a:prstGeom>
          <a:noFill/>
        </p:spPr>
        <p:txBody>
          <a:bodyPr wrap="square" lIns="9144" tIns="0" rIns="9144" bIns="0" anchor="ctr">
            <a:spAutoFit/>
          </a:bodyPr>
          <a:lstStyle/>
          <a:p>
            <a:pPr algn="l">
              <a:spcBef>
                <a:spcPts val="0"/>
              </a:spcBef>
              <a:spcAft>
                <a:spcPts val="0"/>
              </a:spcAft>
              <a:defRPr sz="850" b="0">
                <a:solidFill>
                  <a:srgbClr val="607080"/>
                </a:solidFill>
                <a:latin typeface="Noto Sans"/>
              </a:defRPr>
            </a:pPr>
            <a:r>
              <a:t>3 Concept</a:t>
            </a:r>
          </a:p>
        </p:txBody>
      </p:sp>
      <p:sp>
        <p:nvSpPr>
          <p:cNvPr id="9" name="Rectangle 8"/>
          <p:cNvSpPr/>
          <p:nvPr/>
        </p:nvSpPr>
        <p:spPr>
          <a:xfrm>
            <a:off x="3941063" y="786384"/>
            <a:ext cx="1645920" cy="45720"/>
          </a:xfrm>
          <a:prstGeom prst="rect">
            <a:avLst/>
          </a:prstGeom>
          <a:solidFill>
            <a:srgbClr val="D2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941063" y="621792"/>
            <a:ext cx="1645920" cy="164592"/>
          </a:xfrm>
          <a:prstGeom prst="rect">
            <a:avLst/>
          </a:prstGeom>
          <a:noFill/>
        </p:spPr>
        <p:txBody>
          <a:bodyPr wrap="square" lIns="9144" tIns="0" rIns="9144" bIns="0" anchor="ctr">
            <a:spAutoFit/>
          </a:bodyPr>
          <a:lstStyle/>
          <a:p>
            <a:pPr algn="l">
              <a:spcBef>
                <a:spcPts val="0"/>
              </a:spcBef>
              <a:spcAft>
                <a:spcPts val="0"/>
              </a:spcAft>
              <a:defRPr sz="850" b="0">
                <a:solidFill>
                  <a:srgbClr val="607080"/>
                </a:solidFill>
                <a:latin typeface="Noto Sans"/>
              </a:defRPr>
            </a:pPr>
            <a:r>
              <a:t>4 Implementation</a:t>
            </a:r>
          </a:p>
        </p:txBody>
      </p:sp>
      <p:sp>
        <p:nvSpPr>
          <p:cNvPr id="11" name="Rectangle 10"/>
          <p:cNvSpPr/>
          <p:nvPr/>
        </p:nvSpPr>
        <p:spPr>
          <a:xfrm>
            <a:off x="5623559" y="786384"/>
            <a:ext cx="1252728" cy="45720"/>
          </a:xfrm>
          <a:prstGeom prst="rect">
            <a:avLst/>
          </a:prstGeom>
          <a:solidFill>
            <a:srgbClr val="D2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623559" y="621792"/>
            <a:ext cx="1252728" cy="164592"/>
          </a:xfrm>
          <a:prstGeom prst="rect">
            <a:avLst/>
          </a:prstGeom>
          <a:noFill/>
        </p:spPr>
        <p:txBody>
          <a:bodyPr wrap="square" lIns="9144" tIns="0" rIns="9144" bIns="0" anchor="ctr">
            <a:spAutoFit/>
          </a:bodyPr>
          <a:lstStyle/>
          <a:p>
            <a:pPr algn="l">
              <a:spcBef>
                <a:spcPts val="0"/>
              </a:spcBef>
              <a:spcAft>
                <a:spcPts val="0"/>
              </a:spcAft>
              <a:defRPr sz="850" b="0">
                <a:solidFill>
                  <a:srgbClr val="607080"/>
                </a:solidFill>
                <a:latin typeface="Noto Sans"/>
              </a:defRPr>
            </a:pPr>
            <a:r>
              <a:t>5 Evaluation</a:t>
            </a:r>
          </a:p>
        </p:txBody>
      </p:sp>
      <p:sp>
        <p:nvSpPr>
          <p:cNvPr id="13" name="Rectangle 12"/>
          <p:cNvSpPr/>
          <p:nvPr/>
        </p:nvSpPr>
        <p:spPr>
          <a:xfrm>
            <a:off x="6912864" y="786384"/>
            <a:ext cx="1216152" cy="45720"/>
          </a:xfrm>
          <a:prstGeom prst="rect">
            <a:avLst/>
          </a:prstGeom>
          <a:solidFill>
            <a:srgbClr val="008A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912864" y="621792"/>
            <a:ext cx="1216152" cy="164592"/>
          </a:xfrm>
          <a:prstGeom prst="rect">
            <a:avLst/>
          </a:prstGeom>
          <a:noFill/>
        </p:spPr>
        <p:txBody>
          <a:bodyPr wrap="square" lIns="9144" tIns="0" rIns="9144" bIns="0" anchor="ctr">
            <a:spAutoFit/>
          </a:bodyPr>
          <a:lstStyle/>
          <a:p>
            <a:pPr algn="l">
              <a:spcBef>
                <a:spcPts val="0"/>
              </a:spcBef>
              <a:spcAft>
                <a:spcPts val="0"/>
              </a:spcAft>
              <a:defRPr sz="850" b="1">
                <a:solidFill>
                  <a:srgbClr val="008A96"/>
                </a:solidFill>
                <a:latin typeface="Noto Sans"/>
              </a:defRPr>
            </a:pPr>
            <a:r>
              <a:t>6 Conclusion</a:t>
            </a:r>
          </a:p>
        </p:txBody>
      </p:sp>
      <p:sp>
        <p:nvSpPr>
          <p:cNvPr id="15" name="TextBox 14"/>
          <p:cNvSpPr txBox="1"/>
          <p:nvPr/>
        </p:nvSpPr>
        <p:spPr>
          <a:xfrm>
            <a:off x="320040" y="4572000"/>
            <a:ext cx="8321040" cy="182880"/>
          </a:xfrm>
          <a:prstGeom prst="rect">
            <a:avLst/>
          </a:prstGeom>
          <a:noFill/>
        </p:spPr>
        <p:txBody>
          <a:bodyPr wrap="square" lIns="9144" tIns="0" rIns="9144" bIns="0" anchor="ctr">
            <a:spAutoFit/>
          </a:bodyPr>
          <a:lstStyle/>
          <a:p>
            <a:pPr algn="l">
              <a:spcBef>
                <a:spcPts val="0"/>
              </a:spcBef>
              <a:spcAft>
                <a:spcPts val="0"/>
              </a:spcAft>
              <a:defRPr sz="810" b="0">
                <a:solidFill>
                  <a:srgbClr val="607080"/>
                </a:solidFill>
                <a:latin typeface="Noto Sans"/>
              </a:defRPr>
            </a:pPr>
            <a:r>
              <a:t>Thesis §§6.1–6.3  |  Framework evidence and performance evidence remain separate</a:t>
            </a:r>
          </a:p>
        </p:txBody>
      </p:sp>
      <p:sp>
        <p:nvSpPr>
          <p:cNvPr id="16" name="TextBox 15"/>
          <p:cNvSpPr txBox="1"/>
          <p:nvPr/>
        </p:nvSpPr>
        <p:spPr>
          <a:xfrm>
            <a:off x="1234440" y="4873752"/>
            <a:ext cx="6766560" cy="164592"/>
          </a:xfrm>
          <a:prstGeom prst="rect">
            <a:avLst/>
          </a:prstGeom>
          <a:noFill/>
        </p:spPr>
        <p:txBody>
          <a:bodyPr wrap="square" lIns="9144" tIns="0" rIns="9144" bIns="0" anchor="ctr">
            <a:spAutoFit/>
          </a:bodyPr>
          <a:lstStyle/>
          <a:p>
            <a:pPr algn="l">
              <a:spcBef>
                <a:spcPts val="0"/>
              </a:spcBef>
              <a:spcAft>
                <a:spcPts val="0"/>
              </a:spcAft>
              <a:defRPr sz="830" b="0">
                <a:solidFill>
                  <a:srgbClr val="041447"/>
                </a:solidFill>
                <a:latin typeface="Noto Sans"/>
              </a:defRPr>
            </a:pPr>
            <a:r>
              <a:t>Benjamin-Elias Probst  |  Diploma thesis defense  |  28 September 2026</a:t>
            </a:r>
          </a:p>
        </p:txBody>
      </p:sp>
      <p:sp>
        <p:nvSpPr>
          <p:cNvPr id="17" name="TextBox 16"/>
          <p:cNvSpPr txBox="1"/>
          <p:nvPr/>
        </p:nvSpPr>
        <p:spPr>
          <a:xfrm>
            <a:off x="8412480" y="4864608"/>
            <a:ext cx="393192" cy="192024"/>
          </a:xfrm>
          <a:prstGeom prst="rect">
            <a:avLst/>
          </a:prstGeom>
          <a:noFill/>
        </p:spPr>
        <p:txBody>
          <a:bodyPr wrap="square" lIns="9144" tIns="0" rIns="9144" bIns="0" anchor="ctr">
            <a:spAutoFit/>
          </a:bodyPr>
          <a:lstStyle/>
          <a:p>
            <a:pPr algn="r">
              <a:spcBef>
                <a:spcPts val="0"/>
              </a:spcBef>
              <a:spcAft>
                <a:spcPts val="0"/>
              </a:spcAft>
              <a:defRPr sz="900" b="1">
                <a:solidFill>
                  <a:srgbClr val="041447"/>
                </a:solidFill>
                <a:latin typeface="Noto Sans"/>
              </a:defRPr>
            </a:pPr>
            <a:r>
              <a:t>17</a:t>
            </a:r>
          </a:p>
        </p:txBody>
      </p:sp>
      <p:sp>
        <p:nvSpPr>
          <p:cNvPr id="18" name="Rounded Rectangle 17"/>
          <p:cNvSpPr/>
          <p:nvPr/>
        </p:nvSpPr>
        <p:spPr>
          <a:xfrm>
            <a:off x="457200" y="1170432"/>
            <a:ext cx="2441448" cy="1069848"/>
          </a:xfrm>
          <a:prstGeom prst="roundRect">
            <a:avLst>
              <a:gd name="adj" fmla="val 8000"/>
            </a:avLst>
          </a:prstGeom>
          <a:solidFill>
            <a:srgbClr val="EFF3F7"/>
          </a:solidFill>
          <a:ln w="10160">
            <a:solidFill>
              <a:srgbClr val="D2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457200" y="1170432"/>
            <a:ext cx="32004" cy="1069848"/>
          </a:xfrm>
          <a:prstGeom prst="rect">
            <a:avLst/>
          </a:prstGeom>
          <a:solidFill>
            <a:srgbClr val="008A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557784" y="1243584"/>
            <a:ext cx="2258568" cy="365760"/>
          </a:xfrm>
          <a:prstGeom prst="rect">
            <a:avLst/>
          </a:prstGeom>
          <a:noFill/>
        </p:spPr>
        <p:txBody>
          <a:bodyPr wrap="square" lIns="9144" tIns="0" rIns="9144" bIns="0" anchor="ctr">
            <a:spAutoFit/>
          </a:bodyPr>
          <a:lstStyle/>
          <a:p>
            <a:pPr algn="l">
              <a:spcBef>
                <a:spcPts val="0"/>
              </a:spcBef>
              <a:spcAft>
                <a:spcPts val="0"/>
              </a:spcAft>
              <a:defRPr sz="1800" b="1">
                <a:solidFill>
                  <a:srgbClr val="008A96"/>
                </a:solidFill>
                <a:latin typeface="Noto Sans"/>
              </a:defRPr>
            </a:pPr>
            <a:r>
              <a:t>COMPOSE</a:t>
            </a:r>
          </a:p>
        </p:txBody>
      </p:sp>
      <p:sp>
        <p:nvSpPr>
          <p:cNvPr id="21" name="TextBox 20"/>
          <p:cNvSpPr txBox="1"/>
          <p:nvPr/>
        </p:nvSpPr>
        <p:spPr>
          <a:xfrm>
            <a:off x="557784" y="1636776"/>
            <a:ext cx="2258568" cy="530352"/>
          </a:xfrm>
          <a:prstGeom prst="rect">
            <a:avLst/>
          </a:prstGeom>
          <a:noFill/>
        </p:spPr>
        <p:txBody>
          <a:bodyPr wrap="square" lIns="9144" tIns="0" rIns="9144" bIns="0" anchor="ctr">
            <a:spAutoFit/>
          </a:bodyPr>
          <a:lstStyle/>
          <a:p>
            <a:pPr algn="l">
              <a:spcBef>
                <a:spcPts val="0"/>
              </a:spcBef>
              <a:spcAft>
                <a:spcPts val="0"/>
              </a:spcAft>
              <a:defRPr sz="1200" b="0">
                <a:solidFill>
                  <a:srgbClr val="192B43"/>
                </a:solidFill>
                <a:latin typeface="Noto Sans"/>
              </a:defRPr>
            </a:pPr>
            <a:r>
              <a:t>axes → organs → algorithm</a:t>
            </a:r>
          </a:p>
        </p:txBody>
      </p:sp>
      <p:sp>
        <p:nvSpPr>
          <p:cNvPr id="22" name="Rounded Rectangle 21"/>
          <p:cNvSpPr/>
          <p:nvPr/>
        </p:nvSpPr>
        <p:spPr>
          <a:xfrm>
            <a:off x="3364992" y="1170432"/>
            <a:ext cx="2441448" cy="1069848"/>
          </a:xfrm>
          <a:prstGeom prst="roundRect">
            <a:avLst>
              <a:gd name="adj" fmla="val 8000"/>
            </a:avLst>
          </a:prstGeom>
          <a:solidFill>
            <a:srgbClr val="EFF3F7"/>
          </a:solidFill>
          <a:ln w="10160">
            <a:solidFill>
              <a:srgbClr val="D2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3364992" y="1170432"/>
            <a:ext cx="32004" cy="1069848"/>
          </a:xfrm>
          <a:prstGeom prst="rect">
            <a:avLst/>
          </a:prstGeom>
          <a:solidFill>
            <a:srgbClr val="3178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3465576" y="1243584"/>
            <a:ext cx="2258568" cy="365760"/>
          </a:xfrm>
          <a:prstGeom prst="rect">
            <a:avLst/>
          </a:prstGeom>
          <a:noFill/>
        </p:spPr>
        <p:txBody>
          <a:bodyPr wrap="square" lIns="9144" tIns="0" rIns="9144" bIns="0" anchor="ctr">
            <a:spAutoFit/>
          </a:bodyPr>
          <a:lstStyle/>
          <a:p>
            <a:pPr algn="l">
              <a:spcBef>
                <a:spcPts val="0"/>
              </a:spcBef>
              <a:spcAft>
                <a:spcPts val="0"/>
              </a:spcAft>
              <a:defRPr sz="1800" b="1">
                <a:solidFill>
                  <a:srgbClr val="3178B9"/>
                </a:solidFill>
                <a:latin typeface="Noto Sans"/>
              </a:defRPr>
            </a:pPr>
            <a:r>
              <a:t>COMPARE</a:t>
            </a:r>
          </a:p>
        </p:txBody>
      </p:sp>
      <p:sp>
        <p:nvSpPr>
          <p:cNvPr id="25" name="TextBox 24"/>
          <p:cNvSpPr txBox="1"/>
          <p:nvPr/>
        </p:nvSpPr>
        <p:spPr>
          <a:xfrm>
            <a:off x="3465576" y="1636776"/>
            <a:ext cx="2258568" cy="530352"/>
          </a:xfrm>
          <a:prstGeom prst="rect">
            <a:avLst/>
          </a:prstGeom>
          <a:noFill/>
        </p:spPr>
        <p:txBody>
          <a:bodyPr wrap="square" lIns="9144" tIns="0" rIns="9144" bIns="0" anchor="ctr">
            <a:spAutoFit/>
          </a:bodyPr>
          <a:lstStyle/>
          <a:p>
            <a:pPr algn="l">
              <a:spcBef>
                <a:spcPts val="0"/>
              </a:spcBef>
              <a:spcAft>
                <a:spcPts val="0"/>
              </a:spcAft>
              <a:defRPr sz="1200" b="0">
                <a:solidFill>
                  <a:srgbClr val="192B43"/>
                </a:solidFill>
                <a:latin typeface="Noto Sans"/>
              </a:defRPr>
            </a:pPr>
            <a:r>
              <a:t>controlled contexts</a:t>
            </a:r>
          </a:p>
        </p:txBody>
      </p:sp>
      <p:sp>
        <p:nvSpPr>
          <p:cNvPr id="26" name="Rounded Rectangle 25"/>
          <p:cNvSpPr/>
          <p:nvPr/>
        </p:nvSpPr>
        <p:spPr>
          <a:xfrm>
            <a:off x="6272784" y="1170432"/>
            <a:ext cx="2441448" cy="1069848"/>
          </a:xfrm>
          <a:prstGeom prst="roundRect">
            <a:avLst>
              <a:gd name="adj" fmla="val 8000"/>
            </a:avLst>
          </a:prstGeom>
          <a:solidFill>
            <a:srgbClr val="EFF3F7"/>
          </a:solidFill>
          <a:ln w="10160">
            <a:solidFill>
              <a:srgbClr val="D2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6272784" y="1170432"/>
            <a:ext cx="32004" cy="1069848"/>
          </a:xfrm>
          <a:prstGeom prst="rect">
            <a:avLst/>
          </a:prstGeom>
          <a:solidFill>
            <a:srgbClr val="7458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373368" y="1243584"/>
            <a:ext cx="2258568" cy="365760"/>
          </a:xfrm>
          <a:prstGeom prst="rect">
            <a:avLst/>
          </a:prstGeom>
          <a:noFill/>
        </p:spPr>
        <p:txBody>
          <a:bodyPr wrap="square" lIns="9144" tIns="0" rIns="9144" bIns="0" anchor="ctr">
            <a:spAutoFit/>
          </a:bodyPr>
          <a:lstStyle/>
          <a:p>
            <a:pPr algn="l">
              <a:spcBef>
                <a:spcPts val="0"/>
              </a:spcBef>
              <a:spcAft>
                <a:spcPts val="0"/>
              </a:spcAft>
              <a:defRPr sz="1800" b="1">
                <a:solidFill>
                  <a:srgbClr val="74589E"/>
                </a:solidFill>
                <a:latin typeface="Noto Sans"/>
              </a:defRPr>
            </a:pPr>
            <a:r>
              <a:t>SELECT</a:t>
            </a:r>
          </a:p>
        </p:txBody>
      </p:sp>
      <p:sp>
        <p:nvSpPr>
          <p:cNvPr id="29" name="TextBox 28"/>
          <p:cNvSpPr txBox="1"/>
          <p:nvPr/>
        </p:nvSpPr>
        <p:spPr>
          <a:xfrm>
            <a:off x="6373368" y="1636776"/>
            <a:ext cx="2258568" cy="530352"/>
          </a:xfrm>
          <a:prstGeom prst="rect">
            <a:avLst/>
          </a:prstGeom>
          <a:noFill/>
        </p:spPr>
        <p:txBody>
          <a:bodyPr wrap="square" lIns="9144" tIns="0" rIns="9144" bIns="0" anchor="ctr">
            <a:spAutoFit/>
          </a:bodyPr>
          <a:lstStyle/>
          <a:p>
            <a:pPr algn="l">
              <a:spcBef>
                <a:spcPts val="0"/>
              </a:spcBef>
              <a:spcAft>
                <a:spcPts val="0"/>
              </a:spcAft>
              <a:defRPr sz="1200" b="0">
                <a:solidFill>
                  <a:srgbClr val="192B43"/>
                </a:solidFill>
                <a:latin typeface="Noto Sans"/>
              </a:defRPr>
            </a:pPr>
            <a:r>
              <a:t>supported choices</a:t>
            </a:r>
          </a:p>
        </p:txBody>
      </p:sp>
      <p:cxnSp>
        <p:nvCxnSpPr>
          <p:cNvPr id="30" name="Connector 29"/>
          <p:cNvCxnSpPr/>
          <p:nvPr/>
        </p:nvCxnSpPr>
        <p:spPr>
          <a:xfrm>
            <a:off x="2926080" y="1700784"/>
            <a:ext cx="374904" cy="0"/>
          </a:xfrm>
          <a:prstGeom prst="line">
            <a:avLst/>
          </a:prstGeom>
          <a:ln w="15240">
            <a:solidFill>
              <a:srgbClr val="607080"/>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5833872" y="1700784"/>
            <a:ext cx="374904" cy="0"/>
          </a:xfrm>
          <a:prstGeom prst="line">
            <a:avLst/>
          </a:prstGeom>
          <a:ln w="15240">
            <a:solidFill>
              <a:srgbClr val="607080"/>
            </a:solidFill>
            <a:tailEnd type="triangle" w="sm" len="sm"/>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521207" y="2642616"/>
            <a:ext cx="8193024" cy="420624"/>
          </a:xfrm>
          <a:prstGeom prst="rect">
            <a:avLst/>
          </a:prstGeom>
          <a:noFill/>
        </p:spPr>
        <p:txBody>
          <a:bodyPr wrap="square" lIns="9144" tIns="0" rIns="9144" bIns="0" anchor="ctr">
            <a:spAutoFit/>
          </a:bodyPr>
          <a:lstStyle/>
          <a:p>
            <a:pPr algn="l">
              <a:spcBef>
                <a:spcPts val="0"/>
              </a:spcBef>
              <a:spcAft>
                <a:spcPts val="0"/>
              </a:spcAft>
              <a:defRPr sz="2000" b="1">
                <a:solidFill>
                  <a:srgbClr val="041447"/>
                </a:solidFill>
                <a:latin typeface="Noto Sans"/>
              </a:defRPr>
            </a:pPr>
            <a:r>
              <a:t>A white-box approach to autotuning index structures.</a:t>
            </a:r>
          </a:p>
        </p:txBody>
      </p:sp>
      <p:sp>
        <p:nvSpPr>
          <p:cNvPr id="33" name="Rounded Rectangle 32"/>
          <p:cNvSpPr/>
          <p:nvPr/>
        </p:nvSpPr>
        <p:spPr>
          <a:xfrm>
            <a:off x="521207" y="3282696"/>
            <a:ext cx="3849624" cy="603504"/>
          </a:xfrm>
          <a:prstGeom prst="roundRect">
            <a:avLst>
              <a:gd name="adj" fmla="val 8000"/>
            </a:avLst>
          </a:prstGeom>
          <a:solidFill>
            <a:srgbClr val="EFF3F7"/>
          </a:solidFill>
          <a:ln w="10160">
            <a:solidFill>
              <a:srgbClr val="D2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521207" y="3282696"/>
            <a:ext cx="32004" cy="603504"/>
          </a:xfrm>
          <a:prstGeom prst="rect">
            <a:avLst/>
          </a:prstGeom>
          <a:solidFill>
            <a:srgbClr val="008A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621792" y="3314700"/>
            <a:ext cx="3666744" cy="283464"/>
          </a:xfrm>
          <a:prstGeom prst="rect">
            <a:avLst/>
          </a:prstGeom>
          <a:noFill/>
        </p:spPr>
        <p:txBody>
          <a:bodyPr wrap="square" lIns="9144" tIns="0" rIns="9144" bIns="0" anchor="ctr">
            <a:spAutoFit/>
          </a:bodyPr>
          <a:lstStyle/>
          <a:p>
            <a:pPr algn="l">
              <a:spcBef>
                <a:spcPts val="0"/>
              </a:spcBef>
              <a:spcAft>
                <a:spcPts val="0"/>
              </a:spcAft>
              <a:defRPr sz="1300" b="1">
                <a:solidFill>
                  <a:srgbClr val="008A96"/>
                </a:solidFill>
                <a:latin typeface="Noto Sans"/>
              </a:defRPr>
            </a:pPr>
            <a:r>
              <a:t>Demonstrated</a:t>
            </a:r>
          </a:p>
        </p:txBody>
      </p:sp>
      <p:sp>
        <p:nvSpPr>
          <p:cNvPr id="36" name="TextBox 35"/>
          <p:cNvSpPr txBox="1"/>
          <p:nvPr/>
        </p:nvSpPr>
        <p:spPr>
          <a:xfrm>
            <a:off x="621792" y="3616452"/>
            <a:ext cx="3666744" cy="246888"/>
          </a:xfrm>
          <a:prstGeom prst="rect">
            <a:avLst/>
          </a:prstGeom>
          <a:noFill/>
        </p:spPr>
        <p:txBody>
          <a:bodyPr wrap="square" lIns="9144" tIns="0" rIns="9144" bIns="0" anchor="ctr">
            <a:spAutoFit/>
          </a:bodyPr>
          <a:lstStyle/>
          <a:p>
            <a:pPr algn="l">
              <a:spcBef>
                <a:spcPts val="0"/>
              </a:spcBef>
              <a:spcAft>
                <a:spcPts val="0"/>
              </a:spcAft>
              <a:defRPr sz="1120" b="0">
                <a:solidFill>
                  <a:srgbClr val="192B43"/>
                </a:solidFill>
                <a:latin typeface="Noto Sans"/>
              </a:defRPr>
            </a:pPr>
            <a:r>
              <a:t>apparatus + exploratory contrasts</a:t>
            </a:r>
          </a:p>
        </p:txBody>
      </p:sp>
      <p:sp>
        <p:nvSpPr>
          <p:cNvPr id="37" name="Rounded Rectangle 36"/>
          <p:cNvSpPr/>
          <p:nvPr/>
        </p:nvSpPr>
        <p:spPr>
          <a:xfrm>
            <a:off x="4636008" y="3282696"/>
            <a:ext cx="3931920" cy="603504"/>
          </a:xfrm>
          <a:prstGeom prst="roundRect">
            <a:avLst>
              <a:gd name="adj" fmla="val 8000"/>
            </a:avLst>
          </a:prstGeom>
          <a:solidFill>
            <a:srgbClr val="EFF3F7"/>
          </a:solidFill>
          <a:ln w="10160">
            <a:solidFill>
              <a:srgbClr val="D2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Rectangle 37"/>
          <p:cNvSpPr/>
          <p:nvPr/>
        </p:nvSpPr>
        <p:spPr>
          <a:xfrm>
            <a:off x="4636008" y="3282696"/>
            <a:ext cx="32004" cy="603504"/>
          </a:xfrm>
          <a:prstGeom prst="rect">
            <a:avLst/>
          </a:prstGeom>
          <a:solidFill>
            <a:srgbClr val="A4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4736592" y="3314700"/>
            <a:ext cx="3749039" cy="283464"/>
          </a:xfrm>
          <a:prstGeom prst="rect">
            <a:avLst/>
          </a:prstGeom>
          <a:noFill/>
        </p:spPr>
        <p:txBody>
          <a:bodyPr wrap="square" lIns="9144" tIns="0" rIns="9144" bIns="0" anchor="ctr">
            <a:spAutoFit/>
          </a:bodyPr>
          <a:lstStyle/>
          <a:p>
            <a:pPr algn="l">
              <a:spcBef>
                <a:spcPts val="0"/>
              </a:spcBef>
              <a:spcAft>
                <a:spcPts val="0"/>
              </a:spcAft>
              <a:defRPr sz="1300" b="1">
                <a:solidFill>
                  <a:srgbClr val="A44335"/>
                </a:solidFill>
                <a:latin typeface="Noto Sans"/>
              </a:defRPr>
            </a:pPr>
            <a:r>
              <a:t>Still to validate</a:t>
            </a:r>
          </a:p>
        </p:txBody>
      </p:sp>
      <p:sp>
        <p:nvSpPr>
          <p:cNvPr id="40" name="TextBox 39"/>
          <p:cNvSpPr txBox="1"/>
          <p:nvPr/>
        </p:nvSpPr>
        <p:spPr>
          <a:xfrm>
            <a:off x="4736592" y="3616452"/>
            <a:ext cx="3749039" cy="246888"/>
          </a:xfrm>
          <a:prstGeom prst="rect">
            <a:avLst/>
          </a:prstGeom>
          <a:noFill/>
        </p:spPr>
        <p:txBody>
          <a:bodyPr wrap="square" lIns="9144" tIns="0" rIns="9144" bIns="0" anchor="ctr">
            <a:spAutoFit/>
          </a:bodyPr>
          <a:lstStyle/>
          <a:p>
            <a:pPr algn="l">
              <a:spcBef>
                <a:spcPts val="0"/>
              </a:spcBef>
              <a:spcAft>
                <a:spcPts val="0"/>
              </a:spcAft>
              <a:defRPr sz="1120" b="0">
                <a:solidFill>
                  <a:srgbClr val="192B43"/>
                </a:solidFill>
                <a:latin typeface="Noto Sans"/>
              </a:defRPr>
            </a:pPr>
            <a:r>
              <a:t>rebuilt results + cache-causal evidence</a:t>
            </a:r>
          </a:p>
        </p:txBody>
      </p:sp>
      <p:sp>
        <p:nvSpPr>
          <p:cNvPr id="41" name="Rectangle 40"/>
          <p:cNvSpPr/>
          <p:nvPr/>
        </p:nvSpPr>
        <p:spPr>
          <a:xfrm>
            <a:off x="329184" y="4096512"/>
            <a:ext cx="8458200" cy="356616"/>
          </a:xfrm>
          <a:prstGeom prst="rect">
            <a:avLst/>
          </a:prstGeom>
          <a:solidFill>
            <a:srgbClr val="0414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438912" y="4123944"/>
            <a:ext cx="8211312" cy="292608"/>
          </a:xfrm>
          <a:prstGeom prst="rect">
            <a:avLst/>
          </a:prstGeom>
          <a:noFill/>
        </p:spPr>
        <p:txBody>
          <a:bodyPr wrap="square" lIns="9144" tIns="0" rIns="9144" bIns="0" anchor="ctr">
            <a:spAutoFit/>
          </a:bodyPr>
          <a:lstStyle/>
          <a:p>
            <a:pPr algn="l">
              <a:spcBef>
                <a:spcPts val="0"/>
              </a:spcBef>
              <a:spcAft>
                <a:spcPts val="0"/>
              </a:spcAft>
              <a:defRPr sz="1300" b="1">
                <a:solidFill>
                  <a:srgbClr val="FFFFFF"/>
                </a:solidFill>
                <a:latin typeface="Noto Sans"/>
              </a:defRPr>
            </a:pPr>
            <a:r>
              <a:t>Questions · approximately 5 minutes</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Box 1"/>
          <p:cNvSpPr txBox="1"/>
          <p:nvPr/>
        </p:nvSpPr>
        <p:spPr>
          <a:xfrm>
            <a:off x="283464" y="182880"/>
            <a:ext cx="7360920" cy="438912"/>
          </a:xfrm>
          <a:prstGeom prst="rect">
            <a:avLst/>
          </a:prstGeom>
          <a:noFill/>
        </p:spPr>
        <p:txBody>
          <a:bodyPr wrap="square" lIns="9144" tIns="0" rIns="9144" bIns="0" anchor="ctr">
            <a:spAutoFit/>
          </a:bodyPr>
          <a:lstStyle/>
          <a:p>
            <a:pPr algn="l">
              <a:spcBef>
                <a:spcPts val="0"/>
              </a:spcBef>
              <a:spcAft>
                <a:spcPts val="0"/>
              </a:spcAft>
              <a:defRPr sz="2400" b="1">
                <a:solidFill>
                  <a:srgbClr val="041447"/>
                </a:solidFill>
                <a:latin typeface="Noto Sans"/>
              </a:defRPr>
            </a:pPr>
            <a:r>
              <a:t>B1 · Three different kinds of comparison</a:t>
            </a:r>
          </a:p>
        </p:txBody>
      </p:sp>
      <p:sp>
        <p:nvSpPr>
          <p:cNvPr id="3" name="Rectangle 2"/>
          <p:cNvSpPr/>
          <p:nvPr/>
        </p:nvSpPr>
        <p:spPr>
          <a:xfrm>
            <a:off x="310896" y="786384"/>
            <a:ext cx="1197864" cy="45720"/>
          </a:xfrm>
          <a:prstGeom prst="rect">
            <a:avLst/>
          </a:prstGeom>
          <a:solidFill>
            <a:srgbClr val="D2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10896" y="621792"/>
            <a:ext cx="1197864" cy="164592"/>
          </a:xfrm>
          <a:prstGeom prst="rect">
            <a:avLst/>
          </a:prstGeom>
          <a:noFill/>
        </p:spPr>
        <p:txBody>
          <a:bodyPr wrap="square" lIns="9144" tIns="0" rIns="9144" bIns="0" anchor="ctr">
            <a:spAutoFit/>
          </a:bodyPr>
          <a:lstStyle/>
          <a:p>
            <a:pPr algn="l">
              <a:spcBef>
                <a:spcPts val="0"/>
              </a:spcBef>
              <a:spcAft>
                <a:spcPts val="0"/>
              </a:spcAft>
              <a:defRPr sz="850" b="0">
                <a:solidFill>
                  <a:srgbClr val="607080"/>
                </a:solidFill>
                <a:latin typeface="Noto Sans"/>
              </a:defRPr>
            </a:pPr>
            <a:r>
              <a:t>1 Introduction</a:t>
            </a:r>
          </a:p>
        </p:txBody>
      </p:sp>
      <p:sp>
        <p:nvSpPr>
          <p:cNvPr id="5" name="Rectangle 4"/>
          <p:cNvSpPr/>
          <p:nvPr/>
        </p:nvSpPr>
        <p:spPr>
          <a:xfrm>
            <a:off x="1545336" y="786384"/>
            <a:ext cx="1243584" cy="45720"/>
          </a:xfrm>
          <a:prstGeom prst="rect">
            <a:avLst/>
          </a:prstGeom>
          <a:solidFill>
            <a:srgbClr val="D2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545336" y="621792"/>
            <a:ext cx="1243584" cy="164592"/>
          </a:xfrm>
          <a:prstGeom prst="rect">
            <a:avLst/>
          </a:prstGeom>
          <a:noFill/>
        </p:spPr>
        <p:txBody>
          <a:bodyPr wrap="square" lIns="9144" tIns="0" rIns="9144" bIns="0" anchor="ctr">
            <a:spAutoFit/>
          </a:bodyPr>
          <a:lstStyle/>
          <a:p>
            <a:pPr algn="l">
              <a:spcBef>
                <a:spcPts val="0"/>
              </a:spcBef>
              <a:spcAft>
                <a:spcPts val="0"/>
              </a:spcAft>
              <a:defRPr sz="850" b="0">
                <a:solidFill>
                  <a:srgbClr val="607080"/>
                </a:solidFill>
                <a:latin typeface="Noto Sans"/>
              </a:defRPr>
            </a:pPr>
            <a:r>
              <a:t>2 Background</a:t>
            </a:r>
          </a:p>
        </p:txBody>
      </p:sp>
      <p:sp>
        <p:nvSpPr>
          <p:cNvPr id="7" name="Rectangle 6"/>
          <p:cNvSpPr/>
          <p:nvPr/>
        </p:nvSpPr>
        <p:spPr>
          <a:xfrm>
            <a:off x="2825496" y="786384"/>
            <a:ext cx="1078992" cy="45720"/>
          </a:xfrm>
          <a:prstGeom prst="rect">
            <a:avLst/>
          </a:prstGeom>
          <a:solidFill>
            <a:srgbClr val="D2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2825496" y="621792"/>
            <a:ext cx="1078992" cy="164592"/>
          </a:xfrm>
          <a:prstGeom prst="rect">
            <a:avLst/>
          </a:prstGeom>
          <a:noFill/>
        </p:spPr>
        <p:txBody>
          <a:bodyPr wrap="square" lIns="9144" tIns="0" rIns="9144" bIns="0" anchor="ctr">
            <a:spAutoFit/>
          </a:bodyPr>
          <a:lstStyle/>
          <a:p>
            <a:pPr algn="l">
              <a:spcBef>
                <a:spcPts val="0"/>
              </a:spcBef>
              <a:spcAft>
                <a:spcPts val="0"/>
              </a:spcAft>
              <a:defRPr sz="850" b="0">
                <a:solidFill>
                  <a:srgbClr val="607080"/>
                </a:solidFill>
                <a:latin typeface="Noto Sans"/>
              </a:defRPr>
            </a:pPr>
            <a:r>
              <a:t>3 Concept</a:t>
            </a:r>
          </a:p>
        </p:txBody>
      </p:sp>
      <p:sp>
        <p:nvSpPr>
          <p:cNvPr id="9" name="Rectangle 8"/>
          <p:cNvSpPr/>
          <p:nvPr/>
        </p:nvSpPr>
        <p:spPr>
          <a:xfrm>
            <a:off x="3941063" y="786384"/>
            <a:ext cx="1645920" cy="45720"/>
          </a:xfrm>
          <a:prstGeom prst="rect">
            <a:avLst/>
          </a:prstGeom>
          <a:solidFill>
            <a:srgbClr val="D2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941063" y="621792"/>
            <a:ext cx="1645920" cy="164592"/>
          </a:xfrm>
          <a:prstGeom prst="rect">
            <a:avLst/>
          </a:prstGeom>
          <a:noFill/>
        </p:spPr>
        <p:txBody>
          <a:bodyPr wrap="square" lIns="9144" tIns="0" rIns="9144" bIns="0" anchor="ctr">
            <a:spAutoFit/>
          </a:bodyPr>
          <a:lstStyle/>
          <a:p>
            <a:pPr algn="l">
              <a:spcBef>
                <a:spcPts val="0"/>
              </a:spcBef>
              <a:spcAft>
                <a:spcPts val="0"/>
              </a:spcAft>
              <a:defRPr sz="850" b="0">
                <a:solidFill>
                  <a:srgbClr val="607080"/>
                </a:solidFill>
                <a:latin typeface="Noto Sans"/>
              </a:defRPr>
            </a:pPr>
            <a:r>
              <a:t>4 Implementation</a:t>
            </a:r>
          </a:p>
        </p:txBody>
      </p:sp>
      <p:sp>
        <p:nvSpPr>
          <p:cNvPr id="11" name="Rectangle 10"/>
          <p:cNvSpPr/>
          <p:nvPr/>
        </p:nvSpPr>
        <p:spPr>
          <a:xfrm>
            <a:off x="5623559" y="786384"/>
            <a:ext cx="1252728" cy="45720"/>
          </a:xfrm>
          <a:prstGeom prst="rect">
            <a:avLst/>
          </a:prstGeom>
          <a:solidFill>
            <a:srgbClr val="D2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623559" y="621792"/>
            <a:ext cx="1252728" cy="164592"/>
          </a:xfrm>
          <a:prstGeom prst="rect">
            <a:avLst/>
          </a:prstGeom>
          <a:noFill/>
        </p:spPr>
        <p:txBody>
          <a:bodyPr wrap="square" lIns="9144" tIns="0" rIns="9144" bIns="0" anchor="ctr">
            <a:spAutoFit/>
          </a:bodyPr>
          <a:lstStyle/>
          <a:p>
            <a:pPr algn="l">
              <a:spcBef>
                <a:spcPts val="0"/>
              </a:spcBef>
              <a:spcAft>
                <a:spcPts val="0"/>
              </a:spcAft>
              <a:defRPr sz="850" b="0">
                <a:solidFill>
                  <a:srgbClr val="607080"/>
                </a:solidFill>
                <a:latin typeface="Noto Sans"/>
              </a:defRPr>
            </a:pPr>
            <a:r>
              <a:t>5 Evaluation</a:t>
            </a:r>
          </a:p>
        </p:txBody>
      </p:sp>
      <p:sp>
        <p:nvSpPr>
          <p:cNvPr id="13" name="Rectangle 12"/>
          <p:cNvSpPr/>
          <p:nvPr/>
        </p:nvSpPr>
        <p:spPr>
          <a:xfrm>
            <a:off x="6912864" y="786384"/>
            <a:ext cx="1216152" cy="45720"/>
          </a:xfrm>
          <a:prstGeom prst="rect">
            <a:avLst/>
          </a:prstGeom>
          <a:solidFill>
            <a:srgbClr val="D2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912864" y="621792"/>
            <a:ext cx="1216152" cy="164592"/>
          </a:xfrm>
          <a:prstGeom prst="rect">
            <a:avLst/>
          </a:prstGeom>
          <a:noFill/>
        </p:spPr>
        <p:txBody>
          <a:bodyPr wrap="square" lIns="9144" tIns="0" rIns="9144" bIns="0" anchor="ctr">
            <a:spAutoFit/>
          </a:bodyPr>
          <a:lstStyle/>
          <a:p>
            <a:pPr algn="l">
              <a:spcBef>
                <a:spcPts val="0"/>
              </a:spcBef>
              <a:spcAft>
                <a:spcPts val="0"/>
              </a:spcAft>
              <a:defRPr sz="850" b="0">
                <a:solidFill>
                  <a:srgbClr val="607080"/>
                </a:solidFill>
                <a:latin typeface="Noto Sans"/>
              </a:defRPr>
            </a:pPr>
            <a:r>
              <a:t>6 Conclusion</a:t>
            </a:r>
          </a:p>
        </p:txBody>
      </p:sp>
      <p:sp>
        <p:nvSpPr>
          <p:cNvPr id="15" name="TextBox 14"/>
          <p:cNvSpPr txBox="1"/>
          <p:nvPr/>
        </p:nvSpPr>
        <p:spPr>
          <a:xfrm>
            <a:off x="320040" y="4572000"/>
            <a:ext cx="8321040" cy="182880"/>
          </a:xfrm>
          <a:prstGeom prst="rect">
            <a:avLst/>
          </a:prstGeom>
          <a:noFill/>
        </p:spPr>
        <p:txBody>
          <a:bodyPr wrap="square" lIns="9144" tIns="0" rIns="9144" bIns="0" anchor="ctr">
            <a:spAutoFit/>
          </a:bodyPr>
          <a:lstStyle/>
          <a:p>
            <a:pPr algn="l">
              <a:spcBef>
                <a:spcPts val="0"/>
              </a:spcBef>
              <a:spcAft>
                <a:spcPts val="0"/>
              </a:spcAft>
              <a:defRPr sz="810" b="0">
                <a:solidFill>
                  <a:srgbClr val="607080"/>
                </a:solidFill>
                <a:latin typeface="Noto Sans"/>
              </a:defRPr>
            </a:pPr>
            <a:r>
              <a:t>Thesis §§3.2, 5.1  |  Keep the provenance labels distinct</a:t>
            </a:r>
          </a:p>
        </p:txBody>
      </p:sp>
      <p:sp>
        <p:nvSpPr>
          <p:cNvPr id="16" name="TextBox 15"/>
          <p:cNvSpPr txBox="1"/>
          <p:nvPr/>
        </p:nvSpPr>
        <p:spPr>
          <a:xfrm>
            <a:off x="1234440" y="4873752"/>
            <a:ext cx="6766560" cy="164592"/>
          </a:xfrm>
          <a:prstGeom prst="rect">
            <a:avLst/>
          </a:prstGeom>
          <a:noFill/>
        </p:spPr>
        <p:txBody>
          <a:bodyPr wrap="square" lIns="9144" tIns="0" rIns="9144" bIns="0" anchor="ctr">
            <a:spAutoFit/>
          </a:bodyPr>
          <a:lstStyle/>
          <a:p>
            <a:pPr algn="l">
              <a:spcBef>
                <a:spcPts val="0"/>
              </a:spcBef>
              <a:spcAft>
                <a:spcPts val="0"/>
              </a:spcAft>
              <a:defRPr sz="830" b="0">
                <a:solidFill>
                  <a:srgbClr val="041447"/>
                </a:solidFill>
                <a:latin typeface="Noto Sans"/>
              </a:defRPr>
            </a:pPr>
            <a:r>
              <a:t>Benjamin-Elias Probst  |  Diploma thesis defense  |  28 September 2026</a:t>
            </a:r>
          </a:p>
        </p:txBody>
      </p:sp>
      <p:sp>
        <p:nvSpPr>
          <p:cNvPr id="17" name="TextBox 16"/>
          <p:cNvSpPr txBox="1"/>
          <p:nvPr/>
        </p:nvSpPr>
        <p:spPr>
          <a:xfrm>
            <a:off x="8412480" y="4864608"/>
            <a:ext cx="393192" cy="192024"/>
          </a:xfrm>
          <a:prstGeom prst="rect">
            <a:avLst/>
          </a:prstGeom>
          <a:noFill/>
        </p:spPr>
        <p:txBody>
          <a:bodyPr wrap="square" lIns="9144" tIns="0" rIns="9144" bIns="0" anchor="ctr">
            <a:spAutoFit/>
          </a:bodyPr>
          <a:lstStyle/>
          <a:p>
            <a:pPr algn="r">
              <a:spcBef>
                <a:spcPts val="0"/>
              </a:spcBef>
              <a:spcAft>
                <a:spcPts val="0"/>
              </a:spcAft>
              <a:defRPr sz="900" b="1">
                <a:solidFill>
                  <a:srgbClr val="041447"/>
                </a:solidFill>
                <a:latin typeface="Noto Sans"/>
              </a:defRPr>
            </a:pPr>
            <a:r>
              <a:t>B1</a:t>
            </a:r>
          </a:p>
        </p:txBody>
      </p:sp>
      <p:sp>
        <p:nvSpPr>
          <p:cNvPr id="18" name="Rounded Rectangle 17"/>
          <p:cNvSpPr/>
          <p:nvPr/>
        </p:nvSpPr>
        <p:spPr>
          <a:xfrm>
            <a:off x="457200" y="1325880"/>
            <a:ext cx="2423160" cy="1700784"/>
          </a:xfrm>
          <a:prstGeom prst="roundRect">
            <a:avLst>
              <a:gd name="adj" fmla="val 8000"/>
            </a:avLst>
          </a:prstGeom>
          <a:solidFill>
            <a:srgbClr val="EFF3F7"/>
          </a:solidFill>
          <a:ln w="10160">
            <a:solidFill>
              <a:srgbClr val="D2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457200" y="1325880"/>
            <a:ext cx="32004" cy="1700784"/>
          </a:xfrm>
          <a:prstGeom prst="rect">
            <a:avLst/>
          </a:prstGeom>
          <a:solidFill>
            <a:srgbClr val="3178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557784" y="1399032"/>
            <a:ext cx="2240279" cy="365760"/>
          </a:xfrm>
          <a:prstGeom prst="rect">
            <a:avLst/>
          </a:prstGeom>
          <a:noFill/>
        </p:spPr>
        <p:txBody>
          <a:bodyPr wrap="square" lIns="9144" tIns="0" rIns="9144" bIns="0" anchor="ctr">
            <a:spAutoFit/>
          </a:bodyPr>
          <a:lstStyle/>
          <a:p>
            <a:pPr algn="l">
              <a:spcBef>
                <a:spcPts val="0"/>
              </a:spcBef>
              <a:spcAft>
                <a:spcPts val="0"/>
              </a:spcAft>
              <a:defRPr sz="1700" b="1">
                <a:solidFill>
                  <a:srgbClr val="3178B9"/>
                </a:solidFill>
                <a:latin typeface="Noto Sans"/>
              </a:defRPr>
            </a:pPr>
            <a:r>
              <a:t>Original code</a:t>
            </a:r>
          </a:p>
        </p:txBody>
      </p:sp>
      <p:sp>
        <p:nvSpPr>
          <p:cNvPr id="21" name="TextBox 20"/>
          <p:cNvSpPr txBox="1"/>
          <p:nvPr/>
        </p:nvSpPr>
        <p:spPr>
          <a:xfrm>
            <a:off x="557784" y="1792224"/>
            <a:ext cx="2240279" cy="1161288"/>
          </a:xfrm>
          <a:prstGeom prst="rect">
            <a:avLst/>
          </a:prstGeom>
          <a:noFill/>
        </p:spPr>
        <p:txBody>
          <a:bodyPr wrap="square" lIns="9144" tIns="0" rIns="9144" bIns="0" anchor="ctr">
            <a:spAutoFit/>
          </a:bodyPr>
          <a:lstStyle/>
          <a:p>
            <a:pPr algn="l">
              <a:spcBef>
                <a:spcPts val="0"/>
              </a:spcBef>
              <a:spcAft>
                <a:spcPts val="0"/>
              </a:spcAft>
              <a:defRPr sz="1200" b="0">
                <a:solidFill>
                  <a:srgbClr val="192B43"/>
                </a:solidFill>
                <a:latin typeface="Noto Sans"/>
              </a:defRPr>
            </a:pPr>
            <a:r>
              <a:t>paper implementation</a:t>
            </a:r>
          </a:p>
          <a:p>
            <a:pPr algn="l">
              <a:spcBef>
                <a:spcPts val="0"/>
              </a:spcBef>
              <a:spcAft>
                <a:spcPts val="0"/>
              </a:spcAft>
              <a:defRPr sz="1200" b="0">
                <a:solidFill>
                  <a:srgbClr val="192B43"/>
                </a:solidFill>
                <a:latin typeface="Noto Sans"/>
              </a:defRPr>
            </a:pPr>
            <a:r>
              <a:t>+ original provenance</a:t>
            </a:r>
          </a:p>
        </p:txBody>
      </p:sp>
      <p:sp>
        <p:nvSpPr>
          <p:cNvPr id="22" name="Rounded Rectangle 21"/>
          <p:cNvSpPr/>
          <p:nvPr/>
        </p:nvSpPr>
        <p:spPr>
          <a:xfrm>
            <a:off x="3364992" y="1325880"/>
            <a:ext cx="2423160" cy="1700784"/>
          </a:xfrm>
          <a:prstGeom prst="roundRect">
            <a:avLst>
              <a:gd name="adj" fmla="val 8000"/>
            </a:avLst>
          </a:prstGeom>
          <a:solidFill>
            <a:srgbClr val="EFF3F7"/>
          </a:solidFill>
          <a:ln w="10160">
            <a:solidFill>
              <a:srgbClr val="D2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3364992" y="1325880"/>
            <a:ext cx="32004" cy="1700784"/>
          </a:xfrm>
          <a:prstGeom prst="rect">
            <a:avLst/>
          </a:prstGeom>
          <a:solidFill>
            <a:srgbClr val="008A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3465576" y="1399032"/>
            <a:ext cx="2240279" cy="365760"/>
          </a:xfrm>
          <a:prstGeom prst="rect">
            <a:avLst/>
          </a:prstGeom>
          <a:noFill/>
        </p:spPr>
        <p:txBody>
          <a:bodyPr wrap="square" lIns="9144" tIns="0" rIns="9144" bIns="0" anchor="ctr">
            <a:spAutoFit/>
          </a:bodyPr>
          <a:lstStyle/>
          <a:p>
            <a:pPr algn="l">
              <a:spcBef>
                <a:spcPts val="0"/>
              </a:spcBef>
              <a:spcAft>
                <a:spcPts val="0"/>
              </a:spcAft>
              <a:defRPr sz="1700" b="1">
                <a:solidFill>
                  <a:srgbClr val="008A96"/>
                </a:solidFill>
                <a:latin typeface="Noto Sans"/>
              </a:defRPr>
            </a:pPr>
            <a:r>
              <a:t>Reconstructed profile</a:t>
            </a:r>
          </a:p>
        </p:txBody>
      </p:sp>
      <p:sp>
        <p:nvSpPr>
          <p:cNvPr id="25" name="TextBox 24"/>
          <p:cNvSpPr txBox="1"/>
          <p:nvPr/>
        </p:nvSpPr>
        <p:spPr>
          <a:xfrm>
            <a:off x="3465576" y="1792224"/>
            <a:ext cx="2240279" cy="1161288"/>
          </a:xfrm>
          <a:prstGeom prst="rect">
            <a:avLst/>
          </a:prstGeom>
          <a:noFill/>
        </p:spPr>
        <p:txBody>
          <a:bodyPr wrap="square" lIns="9144" tIns="0" rIns="9144" bIns="0" anchor="ctr">
            <a:spAutoFit/>
          </a:bodyPr>
          <a:lstStyle/>
          <a:p>
            <a:pPr algn="l">
              <a:spcBef>
                <a:spcPts val="0"/>
              </a:spcBef>
              <a:spcAft>
                <a:spcPts val="0"/>
              </a:spcAft>
              <a:defRPr sz="1200" b="0">
                <a:solidFill>
                  <a:srgbClr val="192B43"/>
                </a:solidFill>
                <a:latin typeface="Noto Sans"/>
              </a:defRPr>
            </a:pPr>
            <a:r>
              <a:t>declared components</a:t>
            </a:r>
          </a:p>
          <a:p>
            <a:pPr algn="l">
              <a:spcBef>
                <a:spcPts val="0"/>
              </a:spcBef>
              <a:spcAft>
                <a:spcPts val="0"/>
              </a:spcAft>
              <a:defRPr sz="1200" b="0">
                <a:solidFill>
                  <a:srgbClr val="192B43"/>
                </a:solidFill>
                <a:latin typeface="Noto Sans"/>
              </a:defRPr>
            </a:pPr>
            <a:r>
              <a:t>+ validated capabilities</a:t>
            </a:r>
          </a:p>
        </p:txBody>
      </p:sp>
      <p:sp>
        <p:nvSpPr>
          <p:cNvPr id="26" name="Rounded Rectangle 25"/>
          <p:cNvSpPr/>
          <p:nvPr/>
        </p:nvSpPr>
        <p:spPr>
          <a:xfrm>
            <a:off x="6272784" y="1325880"/>
            <a:ext cx="2423160" cy="1700784"/>
          </a:xfrm>
          <a:prstGeom prst="roundRect">
            <a:avLst>
              <a:gd name="adj" fmla="val 8000"/>
            </a:avLst>
          </a:prstGeom>
          <a:solidFill>
            <a:srgbClr val="EFF3F7"/>
          </a:solidFill>
          <a:ln w="10160">
            <a:solidFill>
              <a:srgbClr val="D2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6272784" y="1325880"/>
            <a:ext cx="32004" cy="1700784"/>
          </a:xfrm>
          <a:prstGeom prst="rect">
            <a:avLst/>
          </a:prstGeom>
          <a:solidFill>
            <a:srgbClr val="7458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373368" y="1399032"/>
            <a:ext cx="2240279" cy="365760"/>
          </a:xfrm>
          <a:prstGeom prst="rect">
            <a:avLst/>
          </a:prstGeom>
          <a:noFill/>
        </p:spPr>
        <p:txBody>
          <a:bodyPr wrap="square" lIns="9144" tIns="0" rIns="9144" bIns="0" anchor="ctr">
            <a:spAutoFit/>
          </a:bodyPr>
          <a:lstStyle/>
          <a:p>
            <a:pPr algn="l">
              <a:spcBef>
                <a:spcPts val="0"/>
              </a:spcBef>
              <a:spcAft>
                <a:spcPts val="0"/>
              </a:spcAft>
              <a:defRPr sz="1700" b="1">
                <a:solidFill>
                  <a:srgbClr val="74589E"/>
                </a:solidFill>
                <a:latin typeface="Noto Sans"/>
              </a:defRPr>
            </a:pPr>
            <a:r>
              <a:t>Axis contrast</a:t>
            </a:r>
          </a:p>
        </p:txBody>
      </p:sp>
      <p:sp>
        <p:nvSpPr>
          <p:cNvPr id="29" name="TextBox 28"/>
          <p:cNvSpPr txBox="1"/>
          <p:nvPr/>
        </p:nvSpPr>
        <p:spPr>
          <a:xfrm>
            <a:off x="6373368" y="1792224"/>
            <a:ext cx="2240279" cy="1161288"/>
          </a:xfrm>
          <a:prstGeom prst="rect">
            <a:avLst/>
          </a:prstGeom>
          <a:noFill/>
        </p:spPr>
        <p:txBody>
          <a:bodyPr wrap="square" lIns="9144" tIns="0" rIns="9144" bIns="0" anchor="ctr">
            <a:spAutoFit/>
          </a:bodyPr>
          <a:lstStyle/>
          <a:p>
            <a:pPr algn="l">
              <a:spcBef>
                <a:spcPts val="0"/>
              </a:spcBef>
              <a:spcAft>
                <a:spcPts val="0"/>
              </a:spcAft>
              <a:defRPr sz="1200" b="0">
                <a:solidFill>
                  <a:srgbClr val="192B43"/>
                </a:solidFill>
                <a:latin typeface="Noto Sans"/>
              </a:defRPr>
            </a:pPr>
            <a:r>
              <a:t>one varied decision</a:t>
            </a:r>
          </a:p>
          <a:p>
            <a:pPr algn="l">
              <a:spcBef>
                <a:spcPts val="0"/>
              </a:spcBef>
              <a:spcAft>
                <a:spcPts val="0"/>
              </a:spcAft>
              <a:defRPr sz="1200" b="0">
                <a:solidFill>
                  <a:srgbClr val="192B43"/>
                </a:solidFill>
                <a:latin typeface="Noto Sans"/>
              </a:defRPr>
            </a:pPr>
            <a:r>
              <a:t>+ matched surroundings</a:t>
            </a:r>
          </a:p>
        </p:txBody>
      </p:sp>
      <p:sp>
        <p:nvSpPr>
          <p:cNvPr id="30" name="Rectangle 29"/>
          <p:cNvSpPr/>
          <p:nvPr/>
        </p:nvSpPr>
        <p:spPr>
          <a:xfrm>
            <a:off x="329184" y="4096512"/>
            <a:ext cx="8458200" cy="356616"/>
          </a:xfrm>
          <a:prstGeom prst="rect">
            <a:avLst/>
          </a:prstGeom>
          <a:solidFill>
            <a:srgbClr val="0414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438912" y="4123944"/>
            <a:ext cx="8211312" cy="292608"/>
          </a:xfrm>
          <a:prstGeom prst="rect">
            <a:avLst/>
          </a:prstGeom>
          <a:noFill/>
        </p:spPr>
        <p:txBody>
          <a:bodyPr wrap="square" lIns="9144" tIns="0" rIns="9144" bIns="0" anchor="ctr">
            <a:spAutoFit/>
          </a:bodyPr>
          <a:lstStyle/>
          <a:p>
            <a:pPr algn="l">
              <a:spcBef>
                <a:spcPts val="0"/>
              </a:spcBef>
              <a:spcAft>
                <a:spcPts val="0"/>
              </a:spcAft>
              <a:defRPr sz="1300" b="1">
                <a:solidFill>
                  <a:srgbClr val="FFFFFF"/>
                </a:solidFill>
                <a:latin typeface="Noto Sans"/>
              </a:defRPr>
            </a:pPr>
            <a:r>
              <a:t>A stored paper profile is not proof of an original-code benchmark.</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Box 1"/>
          <p:cNvSpPr txBox="1"/>
          <p:nvPr/>
        </p:nvSpPr>
        <p:spPr>
          <a:xfrm>
            <a:off x="283464" y="182880"/>
            <a:ext cx="7360920" cy="438912"/>
          </a:xfrm>
          <a:prstGeom prst="rect">
            <a:avLst/>
          </a:prstGeom>
          <a:noFill/>
        </p:spPr>
        <p:txBody>
          <a:bodyPr wrap="square" lIns="9144" tIns="0" rIns="9144" bIns="0" anchor="ctr">
            <a:spAutoFit/>
          </a:bodyPr>
          <a:lstStyle/>
          <a:p>
            <a:pPr algn="l">
              <a:spcBef>
                <a:spcPts val="0"/>
              </a:spcBef>
              <a:spcAft>
                <a:spcPts val="0"/>
              </a:spcAft>
              <a:defRPr sz="2400" b="1">
                <a:solidFill>
                  <a:srgbClr val="041447"/>
                </a:solidFill>
                <a:latin typeface="Noto Sans"/>
              </a:defRPr>
            </a:pPr>
            <a:r>
              <a:t>B2 · PRT-ART: the candidate under test</a:t>
            </a:r>
          </a:p>
        </p:txBody>
      </p:sp>
      <p:sp>
        <p:nvSpPr>
          <p:cNvPr id="3" name="Rectangle 2"/>
          <p:cNvSpPr/>
          <p:nvPr/>
        </p:nvSpPr>
        <p:spPr>
          <a:xfrm>
            <a:off x="310896" y="786384"/>
            <a:ext cx="1197864" cy="45720"/>
          </a:xfrm>
          <a:prstGeom prst="rect">
            <a:avLst/>
          </a:prstGeom>
          <a:solidFill>
            <a:srgbClr val="D2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10896" y="621792"/>
            <a:ext cx="1197864" cy="164592"/>
          </a:xfrm>
          <a:prstGeom prst="rect">
            <a:avLst/>
          </a:prstGeom>
          <a:noFill/>
        </p:spPr>
        <p:txBody>
          <a:bodyPr wrap="square" lIns="9144" tIns="0" rIns="9144" bIns="0" anchor="ctr">
            <a:spAutoFit/>
          </a:bodyPr>
          <a:lstStyle/>
          <a:p>
            <a:pPr algn="l">
              <a:spcBef>
                <a:spcPts val="0"/>
              </a:spcBef>
              <a:spcAft>
                <a:spcPts val="0"/>
              </a:spcAft>
              <a:defRPr sz="850" b="0">
                <a:solidFill>
                  <a:srgbClr val="607080"/>
                </a:solidFill>
                <a:latin typeface="Noto Sans"/>
              </a:defRPr>
            </a:pPr>
            <a:r>
              <a:t>1 Introduction</a:t>
            </a:r>
          </a:p>
        </p:txBody>
      </p:sp>
      <p:sp>
        <p:nvSpPr>
          <p:cNvPr id="5" name="Rectangle 4"/>
          <p:cNvSpPr/>
          <p:nvPr/>
        </p:nvSpPr>
        <p:spPr>
          <a:xfrm>
            <a:off x="1545336" y="786384"/>
            <a:ext cx="1243584" cy="45720"/>
          </a:xfrm>
          <a:prstGeom prst="rect">
            <a:avLst/>
          </a:prstGeom>
          <a:solidFill>
            <a:srgbClr val="D2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545336" y="621792"/>
            <a:ext cx="1243584" cy="164592"/>
          </a:xfrm>
          <a:prstGeom prst="rect">
            <a:avLst/>
          </a:prstGeom>
          <a:noFill/>
        </p:spPr>
        <p:txBody>
          <a:bodyPr wrap="square" lIns="9144" tIns="0" rIns="9144" bIns="0" anchor="ctr">
            <a:spAutoFit/>
          </a:bodyPr>
          <a:lstStyle/>
          <a:p>
            <a:pPr algn="l">
              <a:spcBef>
                <a:spcPts val="0"/>
              </a:spcBef>
              <a:spcAft>
                <a:spcPts val="0"/>
              </a:spcAft>
              <a:defRPr sz="850" b="0">
                <a:solidFill>
                  <a:srgbClr val="607080"/>
                </a:solidFill>
                <a:latin typeface="Noto Sans"/>
              </a:defRPr>
            </a:pPr>
            <a:r>
              <a:t>2 Background</a:t>
            </a:r>
          </a:p>
        </p:txBody>
      </p:sp>
      <p:sp>
        <p:nvSpPr>
          <p:cNvPr id="7" name="Rectangle 6"/>
          <p:cNvSpPr/>
          <p:nvPr/>
        </p:nvSpPr>
        <p:spPr>
          <a:xfrm>
            <a:off x="2825496" y="786384"/>
            <a:ext cx="1078992" cy="45720"/>
          </a:xfrm>
          <a:prstGeom prst="rect">
            <a:avLst/>
          </a:prstGeom>
          <a:solidFill>
            <a:srgbClr val="D2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2825496" y="621792"/>
            <a:ext cx="1078992" cy="164592"/>
          </a:xfrm>
          <a:prstGeom prst="rect">
            <a:avLst/>
          </a:prstGeom>
          <a:noFill/>
        </p:spPr>
        <p:txBody>
          <a:bodyPr wrap="square" lIns="9144" tIns="0" rIns="9144" bIns="0" anchor="ctr">
            <a:spAutoFit/>
          </a:bodyPr>
          <a:lstStyle/>
          <a:p>
            <a:pPr algn="l">
              <a:spcBef>
                <a:spcPts val="0"/>
              </a:spcBef>
              <a:spcAft>
                <a:spcPts val="0"/>
              </a:spcAft>
              <a:defRPr sz="850" b="0">
                <a:solidFill>
                  <a:srgbClr val="607080"/>
                </a:solidFill>
                <a:latin typeface="Noto Sans"/>
              </a:defRPr>
            </a:pPr>
            <a:r>
              <a:t>3 Concept</a:t>
            </a:r>
          </a:p>
        </p:txBody>
      </p:sp>
      <p:sp>
        <p:nvSpPr>
          <p:cNvPr id="9" name="Rectangle 8"/>
          <p:cNvSpPr/>
          <p:nvPr/>
        </p:nvSpPr>
        <p:spPr>
          <a:xfrm>
            <a:off x="3941063" y="786384"/>
            <a:ext cx="1645920" cy="45720"/>
          </a:xfrm>
          <a:prstGeom prst="rect">
            <a:avLst/>
          </a:prstGeom>
          <a:solidFill>
            <a:srgbClr val="D2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941063" y="621792"/>
            <a:ext cx="1645920" cy="164592"/>
          </a:xfrm>
          <a:prstGeom prst="rect">
            <a:avLst/>
          </a:prstGeom>
          <a:noFill/>
        </p:spPr>
        <p:txBody>
          <a:bodyPr wrap="square" lIns="9144" tIns="0" rIns="9144" bIns="0" anchor="ctr">
            <a:spAutoFit/>
          </a:bodyPr>
          <a:lstStyle/>
          <a:p>
            <a:pPr algn="l">
              <a:spcBef>
                <a:spcPts val="0"/>
              </a:spcBef>
              <a:spcAft>
                <a:spcPts val="0"/>
              </a:spcAft>
              <a:defRPr sz="850" b="0">
                <a:solidFill>
                  <a:srgbClr val="607080"/>
                </a:solidFill>
                <a:latin typeface="Noto Sans"/>
              </a:defRPr>
            </a:pPr>
            <a:r>
              <a:t>4 Implementation</a:t>
            </a:r>
          </a:p>
        </p:txBody>
      </p:sp>
      <p:sp>
        <p:nvSpPr>
          <p:cNvPr id="11" name="Rectangle 10"/>
          <p:cNvSpPr/>
          <p:nvPr/>
        </p:nvSpPr>
        <p:spPr>
          <a:xfrm>
            <a:off x="5623559" y="786384"/>
            <a:ext cx="1252728" cy="45720"/>
          </a:xfrm>
          <a:prstGeom prst="rect">
            <a:avLst/>
          </a:prstGeom>
          <a:solidFill>
            <a:srgbClr val="D2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623559" y="621792"/>
            <a:ext cx="1252728" cy="164592"/>
          </a:xfrm>
          <a:prstGeom prst="rect">
            <a:avLst/>
          </a:prstGeom>
          <a:noFill/>
        </p:spPr>
        <p:txBody>
          <a:bodyPr wrap="square" lIns="9144" tIns="0" rIns="9144" bIns="0" anchor="ctr">
            <a:spAutoFit/>
          </a:bodyPr>
          <a:lstStyle/>
          <a:p>
            <a:pPr algn="l">
              <a:spcBef>
                <a:spcPts val="0"/>
              </a:spcBef>
              <a:spcAft>
                <a:spcPts val="0"/>
              </a:spcAft>
              <a:defRPr sz="850" b="0">
                <a:solidFill>
                  <a:srgbClr val="607080"/>
                </a:solidFill>
                <a:latin typeface="Noto Sans"/>
              </a:defRPr>
            </a:pPr>
            <a:r>
              <a:t>5 Evaluation</a:t>
            </a:r>
          </a:p>
        </p:txBody>
      </p:sp>
      <p:sp>
        <p:nvSpPr>
          <p:cNvPr id="13" name="Rectangle 12"/>
          <p:cNvSpPr/>
          <p:nvPr/>
        </p:nvSpPr>
        <p:spPr>
          <a:xfrm>
            <a:off x="6912864" y="786384"/>
            <a:ext cx="1216152" cy="45720"/>
          </a:xfrm>
          <a:prstGeom prst="rect">
            <a:avLst/>
          </a:prstGeom>
          <a:solidFill>
            <a:srgbClr val="D2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912864" y="621792"/>
            <a:ext cx="1216152" cy="164592"/>
          </a:xfrm>
          <a:prstGeom prst="rect">
            <a:avLst/>
          </a:prstGeom>
          <a:noFill/>
        </p:spPr>
        <p:txBody>
          <a:bodyPr wrap="square" lIns="9144" tIns="0" rIns="9144" bIns="0" anchor="ctr">
            <a:spAutoFit/>
          </a:bodyPr>
          <a:lstStyle/>
          <a:p>
            <a:pPr algn="l">
              <a:spcBef>
                <a:spcPts val="0"/>
              </a:spcBef>
              <a:spcAft>
                <a:spcPts val="0"/>
              </a:spcAft>
              <a:defRPr sz="850" b="0">
                <a:solidFill>
                  <a:srgbClr val="607080"/>
                </a:solidFill>
                <a:latin typeface="Noto Sans"/>
              </a:defRPr>
            </a:pPr>
            <a:r>
              <a:t>6 Conclusion</a:t>
            </a:r>
          </a:p>
        </p:txBody>
      </p:sp>
      <p:sp>
        <p:nvSpPr>
          <p:cNvPr id="15" name="TextBox 14"/>
          <p:cNvSpPr txBox="1"/>
          <p:nvPr/>
        </p:nvSpPr>
        <p:spPr>
          <a:xfrm>
            <a:off x="320040" y="4572000"/>
            <a:ext cx="8321040" cy="182880"/>
          </a:xfrm>
          <a:prstGeom prst="rect">
            <a:avLst/>
          </a:prstGeom>
          <a:noFill/>
        </p:spPr>
        <p:txBody>
          <a:bodyPr wrap="square" lIns="9144" tIns="0" rIns="9144" bIns="0" anchor="ctr">
            <a:spAutoFit/>
          </a:bodyPr>
          <a:lstStyle/>
          <a:p>
            <a:pPr algn="l">
              <a:spcBef>
                <a:spcPts val="0"/>
              </a:spcBef>
              <a:spcAft>
                <a:spcPts val="0"/>
              </a:spcAft>
              <a:defRPr sz="810" b="0">
                <a:solidFill>
                  <a:srgbClr val="607080"/>
                </a:solidFill>
                <a:latin typeface="Noto Sans"/>
              </a:defRPr>
            </a:pPr>
            <a:r>
              <a:t>Thesis §§3.5, 4.2  |  Plugin contributions enter the same contracts</a:t>
            </a:r>
          </a:p>
        </p:txBody>
      </p:sp>
      <p:sp>
        <p:nvSpPr>
          <p:cNvPr id="16" name="TextBox 15"/>
          <p:cNvSpPr txBox="1"/>
          <p:nvPr/>
        </p:nvSpPr>
        <p:spPr>
          <a:xfrm>
            <a:off x="1234440" y="4873752"/>
            <a:ext cx="6766560" cy="164592"/>
          </a:xfrm>
          <a:prstGeom prst="rect">
            <a:avLst/>
          </a:prstGeom>
          <a:noFill/>
        </p:spPr>
        <p:txBody>
          <a:bodyPr wrap="square" lIns="9144" tIns="0" rIns="9144" bIns="0" anchor="ctr">
            <a:spAutoFit/>
          </a:bodyPr>
          <a:lstStyle/>
          <a:p>
            <a:pPr algn="l">
              <a:spcBef>
                <a:spcPts val="0"/>
              </a:spcBef>
              <a:spcAft>
                <a:spcPts val="0"/>
              </a:spcAft>
              <a:defRPr sz="830" b="0">
                <a:solidFill>
                  <a:srgbClr val="041447"/>
                </a:solidFill>
                <a:latin typeface="Noto Sans"/>
              </a:defRPr>
            </a:pPr>
            <a:r>
              <a:t>Benjamin-Elias Probst  |  Diploma thesis defense  |  28 September 2026</a:t>
            </a:r>
          </a:p>
        </p:txBody>
      </p:sp>
      <p:sp>
        <p:nvSpPr>
          <p:cNvPr id="17" name="TextBox 16"/>
          <p:cNvSpPr txBox="1"/>
          <p:nvPr/>
        </p:nvSpPr>
        <p:spPr>
          <a:xfrm>
            <a:off x="8412480" y="4864608"/>
            <a:ext cx="393192" cy="192024"/>
          </a:xfrm>
          <a:prstGeom prst="rect">
            <a:avLst/>
          </a:prstGeom>
          <a:noFill/>
        </p:spPr>
        <p:txBody>
          <a:bodyPr wrap="square" lIns="9144" tIns="0" rIns="9144" bIns="0" anchor="ctr">
            <a:spAutoFit/>
          </a:bodyPr>
          <a:lstStyle/>
          <a:p>
            <a:pPr algn="r">
              <a:spcBef>
                <a:spcPts val="0"/>
              </a:spcBef>
              <a:spcAft>
                <a:spcPts val="0"/>
              </a:spcAft>
              <a:defRPr sz="900" b="1">
                <a:solidFill>
                  <a:srgbClr val="041447"/>
                </a:solidFill>
                <a:latin typeface="Noto Sans"/>
              </a:defRPr>
            </a:pPr>
            <a:r>
              <a:t>B2</a:t>
            </a:r>
          </a:p>
        </p:txBody>
      </p:sp>
      <p:sp>
        <p:nvSpPr>
          <p:cNvPr id="18" name="Rounded Rectangle 17"/>
          <p:cNvSpPr/>
          <p:nvPr/>
        </p:nvSpPr>
        <p:spPr>
          <a:xfrm>
            <a:off x="548640" y="1234440"/>
            <a:ext cx="3657600" cy="969264"/>
          </a:xfrm>
          <a:prstGeom prst="roundRect">
            <a:avLst>
              <a:gd name="adj" fmla="val 8000"/>
            </a:avLst>
          </a:prstGeom>
          <a:solidFill>
            <a:srgbClr val="EFF3F7"/>
          </a:solidFill>
          <a:ln w="10160">
            <a:solidFill>
              <a:srgbClr val="D2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548640" y="1234440"/>
            <a:ext cx="32004" cy="969264"/>
          </a:xfrm>
          <a:prstGeom prst="rect">
            <a:avLst/>
          </a:prstGeom>
          <a:solidFill>
            <a:srgbClr val="7458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49224" y="1307592"/>
            <a:ext cx="3474720" cy="365760"/>
          </a:xfrm>
          <a:prstGeom prst="rect">
            <a:avLst/>
          </a:prstGeom>
          <a:noFill/>
        </p:spPr>
        <p:txBody>
          <a:bodyPr wrap="square" lIns="9144" tIns="0" rIns="9144" bIns="0" anchor="ctr">
            <a:spAutoFit/>
          </a:bodyPr>
          <a:lstStyle/>
          <a:p>
            <a:pPr algn="l">
              <a:spcBef>
                <a:spcPts val="0"/>
              </a:spcBef>
              <a:spcAft>
                <a:spcPts val="0"/>
              </a:spcAft>
              <a:defRPr sz="1800" b="1">
                <a:solidFill>
                  <a:srgbClr val="74589E"/>
                </a:solidFill>
                <a:latin typeface="Noto Sans"/>
              </a:defRPr>
            </a:pPr>
            <a:r>
              <a:t>Allocation</a:t>
            </a:r>
          </a:p>
        </p:txBody>
      </p:sp>
      <p:sp>
        <p:nvSpPr>
          <p:cNvPr id="21" name="TextBox 20"/>
          <p:cNvSpPr txBox="1"/>
          <p:nvPr/>
        </p:nvSpPr>
        <p:spPr>
          <a:xfrm>
            <a:off x="649224" y="1700784"/>
            <a:ext cx="3474720" cy="429768"/>
          </a:xfrm>
          <a:prstGeom prst="rect">
            <a:avLst/>
          </a:prstGeom>
          <a:noFill/>
        </p:spPr>
        <p:txBody>
          <a:bodyPr wrap="square" lIns="9144" tIns="0" rIns="9144" bIns="0" anchor="ctr">
            <a:spAutoFit/>
          </a:bodyPr>
          <a:lstStyle/>
          <a:p>
            <a:pPr algn="l">
              <a:spcBef>
                <a:spcPts val="0"/>
              </a:spcBef>
              <a:spcAft>
                <a:spcPts val="0"/>
              </a:spcAft>
              <a:defRPr sz="1200" b="0">
                <a:solidFill>
                  <a:srgbClr val="192B43"/>
                </a:solidFill>
                <a:latin typeface="Noto Sans"/>
              </a:defRPr>
            </a:pPr>
            <a:r>
              <a:t>pool / size-class policy</a:t>
            </a:r>
          </a:p>
        </p:txBody>
      </p:sp>
      <p:sp>
        <p:nvSpPr>
          <p:cNvPr id="22" name="Rounded Rectangle 21"/>
          <p:cNvSpPr/>
          <p:nvPr/>
        </p:nvSpPr>
        <p:spPr>
          <a:xfrm>
            <a:off x="4663440" y="1234440"/>
            <a:ext cx="3657600" cy="969264"/>
          </a:xfrm>
          <a:prstGeom prst="roundRect">
            <a:avLst>
              <a:gd name="adj" fmla="val 8000"/>
            </a:avLst>
          </a:prstGeom>
          <a:solidFill>
            <a:srgbClr val="EFF3F7"/>
          </a:solidFill>
          <a:ln w="10160">
            <a:solidFill>
              <a:srgbClr val="D2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4663440" y="1234440"/>
            <a:ext cx="32004" cy="969264"/>
          </a:xfrm>
          <a:prstGeom prst="rect">
            <a:avLst/>
          </a:prstGeom>
          <a:solidFill>
            <a:srgbClr val="008A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4764024" y="1307592"/>
            <a:ext cx="3474720" cy="365760"/>
          </a:xfrm>
          <a:prstGeom prst="rect">
            <a:avLst/>
          </a:prstGeom>
          <a:noFill/>
        </p:spPr>
        <p:txBody>
          <a:bodyPr wrap="square" lIns="9144" tIns="0" rIns="9144" bIns="0" anchor="ctr">
            <a:spAutoFit/>
          </a:bodyPr>
          <a:lstStyle/>
          <a:p>
            <a:pPr algn="l">
              <a:spcBef>
                <a:spcPts val="0"/>
              </a:spcBef>
              <a:spcAft>
                <a:spcPts val="0"/>
              </a:spcAft>
              <a:defRPr sz="1800" b="1">
                <a:solidFill>
                  <a:srgbClr val="008A96"/>
                </a:solidFill>
                <a:latin typeface="Noto Sans"/>
              </a:defRPr>
            </a:pPr>
            <a:r>
              <a:t>Redirects</a:t>
            </a:r>
          </a:p>
        </p:txBody>
      </p:sp>
      <p:sp>
        <p:nvSpPr>
          <p:cNvPr id="25" name="TextBox 24"/>
          <p:cNvSpPr txBox="1"/>
          <p:nvPr/>
        </p:nvSpPr>
        <p:spPr>
          <a:xfrm>
            <a:off x="4764024" y="1700784"/>
            <a:ext cx="3474720" cy="429768"/>
          </a:xfrm>
          <a:prstGeom prst="rect">
            <a:avLst/>
          </a:prstGeom>
          <a:noFill/>
        </p:spPr>
        <p:txBody>
          <a:bodyPr wrap="square" lIns="9144" tIns="0" rIns="9144" bIns="0" anchor="ctr">
            <a:spAutoFit/>
          </a:bodyPr>
          <a:lstStyle/>
          <a:p>
            <a:pPr algn="l">
              <a:spcBef>
                <a:spcPts val="0"/>
              </a:spcBef>
              <a:spcAft>
                <a:spcPts val="0"/>
              </a:spcAft>
              <a:defRPr sz="1200" b="0">
                <a:solidFill>
                  <a:srgbClr val="192B43"/>
                </a:solidFill>
                <a:latin typeface="Noto Sans"/>
              </a:defRPr>
            </a:pPr>
            <a:r>
              <a:t>compressed prefix paths</a:t>
            </a:r>
          </a:p>
        </p:txBody>
      </p:sp>
      <p:sp>
        <p:nvSpPr>
          <p:cNvPr id="26" name="Rounded Rectangle 25"/>
          <p:cNvSpPr/>
          <p:nvPr/>
        </p:nvSpPr>
        <p:spPr>
          <a:xfrm>
            <a:off x="548640" y="2478024"/>
            <a:ext cx="3657600" cy="969264"/>
          </a:xfrm>
          <a:prstGeom prst="roundRect">
            <a:avLst>
              <a:gd name="adj" fmla="val 8000"/>
            </a:avLst>
          </a:prstGeom>
          <a:solidFill>
            <a:srgbClr val="EFF3F7"/>
          </a:solidFill>
          <a:ln w="10160">
            <a:solidFill>
              <a:srgbClr val="D2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548640" y="2478024"/>
            <a:ext cx="32004" cy="969264"/>
          </a:xfrm>
          <a:prstGeom prst="rect">
            <a:avLst/>
          </a:prstGeom>
          <a:solidFill>
            <a:srgbClr val="008A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49224" y="2551176"/>
            <a:ext cx="3474720" cy="365760"/>
          </a:xfrm>
          <a:prstGeom prst="rect">
            <a:avLst/>
          </a:prstGeom>
          <a:noFill/>
        </p:spPr>
        <p:txBody>
          <a:bodyPr wrap="square" lIns="9144" tIns="0" rIns="9144" bIns="0" anchor="ctr">
            <a:spAutoFit/>
          </a:bodyPr>
          <a:lstStyle/>
          <a:p>
            <a:pPr algn="l">
              <a:spcBef>
                <a:spcPts val="0"/>
              </a:spcBef>
              <a:spcAft>
                <a:spcPts val="0"/>
              </a:spcAft>
              <a:defRPr sz="1800" b="1">
                <a:solidFill>
                  <a:srgbClr val="008A96"/>
                </a:solidFill>
                <a:latin typeface="Noto Sans"/>
              </a:defRPr>
            </a:pPr>
            <a:r>
              <a:t>Multi-level layout</a:t>
            </a:r>
          </a:p>
        </p:txBody>
      </p:sp>
      <p:sp>
        <p:nvSpPr>
          <p:cNvPr id="29" name="TextBox 28"/>
          <p:cNvSpPr txBox="1"/>
          <p:nvPr/>
        </p:nvSpPr>
        <p:spPr>
          <a:xfrm>
            <a:off x="649224" y="2944368"/>
            <a:ext cx="3474720" cy="429768"/>
          </a:xfrm>
          <a:prstGeom prst="rect">
            <a:avLst/>
          </a:prstGeom>
          <a:noFill/>
        </p:spPr>
        <p:txBody>
          <a:bodyPr wrap="square" lIns="9144" tIns="0" rIns="9144" bIns="0" anchor="ctr">
            <a:spAutoFit/>
          </a:bodyPr>
          <a:lstStyle/>
          <a:p>
            <a:pPr algn="l">
              <a:spcBef>
                <a:spcPts val="0"/>
              </a:spcBef>
              <a:spcAft>
                <a:spcPts val="0"/>
              </a:spcAft>
              <a:defRPr sz="1200" b="0">
                <a:solidFill>
                  <a:srgbClr val="192B43"/>
                </a:solidFill>
                <a:latin typeface="Noto Sans"/>
              </a:defRPr>
            </a:pPr>
            <a:r>
              <a:t>related navigation placement</a:t>
            </a:r>
          </a:p>
        </p:txBody>
      </p:sp>
      <p:sp>
        <p:nvSpPr>
          <p:cNvPr id="30" name="Rounded Rectangle 29"/>
          <p:cNvSpPr/>
          <p:nvPr/>
        </p:nvSpPr>
        <p:spPr>
          <a:xfrm>
            <a:off x="4663440" y="2478024"/>
            <a:ext cx="3657600" cy="969264"/>
          </a:xfrm>
          <a:prstGeom prst="roundRect">
            <a:avLst>
              <a:gd name="adj" fmla="val 8000"/>
            </a:avLst>
          </a:prstGeom>
          <a:solidFill>
            <a:srgbClr val="EFF3F7"/>
          </a:solidFill>
          <a:ln w="10160">
            <a:solidFill>
              <a:srgbClr val="D2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4663440" y="2478024"/>
            <a:ext cx="32004" cy="969264"/>
          </a:xfrm>
          <a:prstGeom prst="rect">
            <a:avLst/>
          </a:prstGeom>
          <a:solidFill>
            <a:srgbClr val="A477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4764024" y="2551176"/>
            <a:ext cx="3474720" cy="365760"/>
          </a:xfrm>
          <a:prstGeom prst="rect">
            <a:avLst/>
          </a:prstGeom>
          <a:noFill/>
        </p:spPr>
        <p:txBody>
          <a:bodyPr wrap="square" lIns="9144" tIns="0" rIns="9144" bIns="0" anchor="ctr">
            <a:spAutoFit/>
          </a:bodyPr>
          <a:lstStyle/>
          <a:p>
            <a:pPr algn="l">
              <a:spcBef>
                <a:spcPts val="0"/>
              </a:spcBef>
              <a:spcAft>
                <a:spcPts val="0"/>
              </a:spcAft>
              <a:defRPr sz="1800" b="1">
                <a:solidFill>
                  <a:srgbClr val="A4770B"/>
                </a:solidFill>
                <a:latin typeface="Noto Sans"/>
              </a:defRPr>
            </a:pPr>
            <a:r>
              <a:t>Bundle prefetch</a:t>
            </a:r>
          </a:p>
        </p:txBody>
      </p:sp>
      <p:sp>
        <p:nvSpPr>
          <p:cNvPr id="33" name="TextBox 32"/>
          <p:cNvSpPr txBox="1"/>
          <p:nvPr/>
        </p:nvSpPr>
        <p:spPr>
          <a:xfrm>
            <a:off x="4764024" y="2944368"/>
            <a:ext cx="3474720" cy="429768"/>
          </a:xfrm>
          <a:prstGeom prst="rect">
            <a:avLst/>
          </a:prstGeom>
          <a:noFill/>
        </p:spPr>
        <p:txBody>
          <a:bodyPr wrap="square" lIns="9144" tIns="0" rIns="9144" bIns="0" anchor="ctr">
            <a:spAutoFit/>
          </a:bodyPr>
          <a:lstStyle/>
          <a:p>
            <a:pPr algn="l">
              <a:spcBef>
                <a:spcPts val="0"/>
              </a:spcBef>
              <a:spcAft>
                <a:spcPts val="0"/>
              </a:spcAft>
              <a:defRPr sz="1200" b="0">
                <a:solidFill>
                  <a:srgbClr val="192B43"/>
                </a:solidFill>
                <a:latin typeface="Noto Sans"/>
              </a:defRPr>
            </a:pPr>
            <a:r>
              <a:t>candidate future addresses</a:t>
            </a:r>
          </a:p>
        </p:txBody>
      </p:sp>
      <p:sp>
        <p:nvSpPr>
          <p:cNvPr id="34" name="Rectangle 33"/>
          <p:cNvSpPr/>
          <p:nvPr/>
        </p:nvSpPr>
        <p:spPr>
          <a:xfrm>
            <a:off x="329184" y="4096512"/>
            <a:ext cx="8458200" cy="356616"/>
          </a:xfrm>
          <a:prstGeom prst="rect">
            <a:avLst/>
          </a:prstGeom>
          <a:solidFill>
            <a:srgbClr val="0414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438912" y="4123944"/>
            <a:ext cx="8211312" cy="292608"/>
          </a:xfrm>
          <a:prstGeom prst="rect">
            <a:avLst/>
          </a:prstGeom>
          <a:noFill/>
        </p:spPr>
        <p:txBody>
          <a:bodyPr wrap="square" lIns="9144" tIns="0" rIns="9144" bIns="0" anchor="ctr">
            <a:spAutoFit/>
          </a:bodyPr>
          <a:lstStyle/>
          <a:p>
            <a:pPr algn="l">
              <a:spcBef>
                <a:spcPts val="0"/>
              </a:spcBef>
              <a:spcAft>
                <a:spcPts val="0"/>
              </a:spcAft>
              <a:defRPr sz="1300" b="1">
                <a:solidFill>
                  <a:srgbClr val="FFFFFF"/>
                </a:solidFill>
                <a:latin typeface="Noto Sans"/>
              </a:defRPr>
            </a:pPr>
            <a:r>
              <a:t>Declare contribution → check compatibility → compose candidate → measure</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Box 1"/>
          <p:cNvSpPr txBox="1"/>
          <p:nvPr/>
        </p:nvSpPr>
        <p:spPr>
          <a:xfrm>
            <a:off x="283464" y="182880"/>
            <a:ext cx="7360920" cy="438912"/>
          </a:xfrm>
          <a:prstGeom prst="rect">
            <a:avLst/>
          </a:prstGeom>
          <a:noFill/>
        </p:spPr>
        <p:txBody>
          <a:bodyPr wrap="square" lIns="9144" tIns="0" rIns="9144" bIns="0" anchor="ctr">
            <a:spAutoFit/>
          </a:bodyPr>
          <a:lstStyle/>
          <a:p>
            <a:pPr algn="l">
              <a:spcBef>
                <a:spcPts val="0"/>
              </a:spcBef>
              <a:spcAft>
                <a:spcPts val="0"/>
              </a:spcAft>
              <a:defRPr sz="2400" b="1">
                <a:solidFill>
                  <a:srgbClr val="041447"/>
                </a:solidFill>
                <a:latin typeface="Noto Sans"/>
              </a:defRPr>
            </a:pPr>
            <a:r>
              <a:t>B3 · The full organ inventory</a:t>
            </a:r>
          </a:p>
        </p:txBody>
      </p:sp>
      <p:sp>
        <p:nvSpPr>
          <p:cNvPr id="3" name="Rectangle 2"/>
          <p:cNvSpPr/>
          <p:nvPr/>
        </p:nvSpPr>
        <p:spPr>
          <a:xfrm>
            <a:off x="310896" y="786384"/>
            <a:ext cx="1197864" cy="45720"/>
          </a:xfrm>
          <a:prstGeom prst="rect">
            <a:avLst/>
          </a:prstGeom>
          <a:solidFill>
            <a:srgbClr val="D2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10896" y="621792"/>
            <a:ext cx="1197864" cy="164592"/>
          </a:xfrm>
          <a:prstGeom prst="rect">
            <a:avLst/>
          </a:prstGeom>
          <a:noFill/>
        </p:spPr>
        <p:txBody>
          <a:bodyPr wrap="square" lIns="9144" tIns="0" rIns="9144" bIns="0" anchor="ctr">
            <a:spAutoFit/>
          </a:bodyPr>
          <a:lstStyle/>
          <a:p>
            <a:pPr algn="l">
              <a:spcBef>
                <a:spcPts val="0"/>
              </a:spcBef>
              <a:spcAft>
                <a:spcPts val="0"/>
              </a:spcAft>
              <a:defRPr sz="850" b="0">
                <a:solidFill>
                  <a:srgbClr val="607080"/>
                </a:solidFill>
                <a:latin typeface="Noto Sans"/>
              </a:defRPr>
            </a:pPr>
            <a:r>
              <a:t>1 Introduction</a:t>
            </a:r>
          </a:p>
        </p:txBody>
      </p:sp>
      <p:sp>
        <p:nvSpPr>
          <p:cNvPr id="5" name="Rectangle 4"/>
          <p:cNvSpPr/>
          <p:nvPr/>
        </p:nvSpPr>
        <p:spPr>
          <a:xfrm>
            <a:off x="1545336" y="786384"/>
            <a:ext cx="1243584" cy="45720"/>
          </a:xfrm>
          <a:prstGeom prst="rect">
            <a:avLst/>
          </a:prstGeom>
          <a:solidFill>
            <a:srgbClr val="D2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545336" y="621792"/>
            <a:ext cx="1243584" cy="164592"/>
          </a:xfrm>
          <a:prstGeom prst="rect">
            <a:avLst/>
          </a:prstGeom>
          <a:noFill/>
        </p:spPr>
        <p:txBody>
          <a:bodyPr wrap="square" lIns="9144" tIns="0" rIns="9144" bIns="0" anchor="ctr">
            <a:spAutoFit/>
          </a:bodyPr>
          <a:lstStyle/>
          <a:p>
            <a:pPr algn="l">
              <a:spcBef>
                <a:spcPts val="0"/>
              </a:spcBef>
              <a:spcAft>
                <a:spcPts val="0"/>
              </a:spcAft>
              <a:defRPr sz="850" b="0">
                <a:solidFill>
                  <a:srgbClr val="607080"/>
                </a:solidFill>
                <a:latin typeface="Noto Sans"/>
              </a:defRPr>
            </a:pPr>
            <a:r>
              <a:t>2 Background</a:t>
            </a:r>
          </a:p>
        </p:txBody>
      </p:sp>
      <p:sp>
        <p:nvSpPr>
          <p:cNvPr id="7" name="Rectangle 6"/>
          <p:cNvSpPr/>
          <p:nvPr/>
        </p:nvSpPr>
        <p:spPr>
          <a:xfrm>
            <a:off x="2825496" y="786384"/>
            <a:ext cx="1078992" cy="45720"/>
          </a:xfrm>
          <a:prstGeom prst="rect">
            <a:avLst/>
          </a:prstGeom>
          <a:solidFill>
            <a:srgbClr val="D2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2825496" y="621792"/>
            <a:ext cx="1078992" cy="164592"/>
          </a:xfrm>
          <a:prstGeom prst="rect">
            <a:avLst/>
          </a:prstGeom>
          <a:noFill/>
        </p:spPr>
        <p:txBody>
          <a:bodyPr wrap="square" lIns="9144" tIns="0" rIns="9144" bIns="0" anchor="ctr">
            <a:spAutoFit/>
          </a:bodyPr>
          <a:lstStyle/>
          <a:p>
            <a:pPr algn="l">
              <a:spcBef>
                <a:spcPts val="0"/>
              </a:spcBef>
              <a:spcAft>
                <a:spcPts val="0"/>
              </a:spcAft>
              <a:defRPr sz="850" b="0">
                <a:solidFill>
                  <a:srgbClr val="607080"/>
                </a:solidFill>
                <a:latin typeface="Noto Sans"/>
              </a:defRPr>
            </a:pPr>
            <a:r>
              <a:t>3 Concept</a:t>
            </a:r>
          </a:p>
        </p:txBody>
      </p:sp>
      <p:sp>
        <p:nvSpPr>
          <p:cNvPr id="9" name="Rectangle 8"/>
          <p:cNvSpPr/>
          <p:nvPr/>
        </p:nvSpPr>
        <p:spPr>
          <a:xfrm>
            <a:off x="3941063" y="786384"/>
            <a:ext cx="1645920" cy="45720"/>
          </a:xfrm>
          <a:prstGeom prst="rect">
            <a:avLst/>
          </a:prstGeom>
          <a:solidFill>
            <a:srgbClr val="D2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941063" y="621792"/>
            <a:ext cx="1645920" cy="164592"/>
          </a:xfrm>
          <a:prstGeom prst="rect">
            <a:avLst/>
          </a:prstGeom>
          <a:noFill/>
        </p:spPr>
        <p:txBody>
          <a:bodyPr wrap="square" lIns="9144" tIns="0" rIns="9144" bIns="0" anchor="ctr">
            <a:spAutoFit/>
          </a:bodyPr>
          <a:lstStyle/>
          <a:p>
            <a:pPr algn="l">
              <a:spcBef>
                <a:spcPts val="0"/>
              </a:spcBef>
              <a:spcAft>
                <a:spcPts val="0"/>
              </a:spcAft>
              <a:defRPr sz="850" b="0">
                <a:solidFill>
                  <a:srgbClr val="607080"/>
                </a:solidFill>
                <a:latin typeface="Noto Sans"/>
              </a:defRPr>
            </a:pPr>
            <a:r>
              <a:t>4 Implementation</a:t>
            </a:r>
          </a:p>
        </p:txBody>
      </p:sp>
      <p:sp>
        <p:nvSpPr>
          <p:cNvPr id="11" name="Rectangle 10"/>
          <p:cNvSpPr/>
          <p:nvPr/>
        </p:nvSpPr>
        <p:spPr>
          <a:xfrm>
            <a:off x="5623559" y="786384"/>
            <a:ext cx="1252728" cy="45720"/>
          </a:xfrm>
          <a:prstGeom prst="rect">
            <a:avLst/>
          </a:prstGeom>
          <a:solidFill>
            <a:srgbClr val="D2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623559" y="621792"/>
            <a:ext cx="1252728" cy="164592"/>
          </a:xfrm>
          <a:prstGeom prst="rect">
            <a:avLst/>
          </a:prstGeom>
          <a:noFill/>
        </p:spPr>
        <p:txBody>
          <a:bodyPr wrap="square" lIns="9144" tIns="0" rIns="9144" bIns="0" anchor="ctr">
            <a:spAutoFit/>
          </a:bodyPr>
          <a:lstStyle/>
          <a:p>
            <a:pPr algn="l">
              <a:spcBef>
                <a:spcPts val="0"/>
              </a:spcBef>
              <a:spcAft>
                <a:spcPts val="0"/>
              </a:spcAft>
              <a:defRPr sz="850" b="0">
                <a:solidFill>
                  <a:srgbClr val="607080"/>
                </a:solidFill>
                <a:latin typeface="Noto Sans"/>
              </a:defRPr>
            </a:pPr>
            <a:r>
              <a:t>5 Evaluation</a:t>
            </a:r>
          </a:p>
        </p:txBody>
      </p:sp>
      <p:sp>
        <p:nvSpPr>
          <p:cNvPr id="13" name="Rectangle 12"/>
          <p:cNvSpPr/>
          <p:nvPr/>
        </p:nvSpPr>
        <p:spPr>
          <a:xfrm>
            <a:off x="6912864" y="786384"/>
            <a:ext cx="1216152" cy="45720"/>
          </a:xfrm>
          <a:prstGeom prst="rect">
            <a:avLst/>
          </a:prstGeom>
          <a:solidFill>
            <a:srgbClr val="D2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912864" y="621792"/>
            <a:ext cx="1216152" cy="164592"/>
          </a:xfrm>
          <a:prstGeom prst="rect">
            <a:avLst/>
          </a:prstGeom>
          <a:noFill/>
        </p:spPr>
        <p:txBody>
          <a:bodyPr wrap="square" lIns="9144" tIns="0" rIns="9144" bIns="0" anchor="ctr">
            <a:spAutoFit/>
          </a:bodyPr>
          <a:lstStyle/>
          <a:p>
            <a:pPr algn="l">
              <a:spcBef>
                <a:spcPts val="0"/>
              </a:spcBef>
              <a:spcAft>
                <a:spcPts val="0"/>
              </a:spcAft>
              <a:defRPr sz="850" b="0">
                <a:solidFill>
                  <a:srgbClr val="607080"/>
                </a:solidFill>
                <a:latin typeface="Noto Sans"/>
              </a:defRPr>
            </a:pPr>
            <a:r>
              <a:t>6 Conclusion</a:t>
            </a:r>
          </a:p>
        </p:txBody>
      </p:sp>
      <p:sp>
        <p:nvSpPr>
          <p:cNvPr id="15" name="TextBox 14"/>
          <p:cNvSpPr txBox="1"/>
          <p:nvPr/>
        </p:nvSpPr>
        <p:spPr>
          <a:xfrm>
            <a:off x="320040" y="4572000"/>
            <a:ext cx="8321040" cy="182880"/>
          </a:xfrm>
          <a:prstGeom prst="rect">
            <a:avLst/>
          </a:prstGeom>
          <a:noFill/>
        </p:spPr>
        <p:txBody>
          <a:bodyPr wrap="square" lIns="9144" tIns="0" rIns="9144" bIns="0" anchor="ctr">
            <a:spAutoFit/>
          </a:bodyPr>
          <a:lstStyle/>
          <a:p>
            <a:pPr algn="l">
              <a:spcBef>
                <a:spcPts val="0"/>
              </a:spcBef>
              <a:spcAft>
                <a:spcPts val="0"/>
              </a:spcAft>
              <a:defRPr sz="810" b="0">
                <a:solidFill>
                  <a:srgbClr val="607080"/>
                </a:solidFill>
                <a:latin typeface="Noto Sans"/>
              </a:defRPr>
            </a:pPr>
            <a:r>
              <a:t>Thesis Appendix D / source grouping; 18 organ slots</a:t>
            </a:r>
          </a:p>
        </p:txBody>
      </p:sp>
      <p:sp>
        <p:nvSpPr>
          <p:cNvPr id="16" name="TextBox 15"/>
          <p:cNvSpPr txBox="1"/>
          <p:nvPr/>
        </p:nvSpPr>
        <p:spPr>
          <a:xfrm>
            <a:off x="1234440" y="4873752"/>
            <a:ext cx="6766560" cy="164592"/>
          </a:xfrm>
          <a:prstGeom prst="rect">
            <a:avLst/>
          </a:prstGeom>
          <a:noFill/>
        </p:spPr>
        <p:txBody>
          <a:bodyPr wrap="square" lIns="9144" tIns="0" rIns="9144" bIns="0" anchor="ctr">
            <a:spAutoFit/>
          </a:bodyPr>
          <a:lstStyle/>
          <a:p>
            <a:pPr algn="l">
              <a:spcBef>
                <a:spcPts val="0"/>
              </a:spcBef>
              <a:spcAft>
                <a:spcPts val="0"/>
              </a:spcAft>
              <a:defRPr sz="830" b="0">
                <a:solidFill>
                  <a:srgbClr val="041447"/>
                </a:solidFill>
                <a:latin typeface="Noto Sans"/>
              </a:defRPr>
            </a:pPr>
            <a:r>
              <a:t>Benjamin-Elias Probst  |  Diploma thesis defense  |  28 September 2026</a:t>
            </a:r>
          </a:p>
        </p:txBody>
      </p:sp>
      <p:sp>
        <p:nvSpPr>
          <p:cNvPr id="17" name="TextBox 16"/>
          <p:cNvSpPr txBox="1"/>
          <p:nvPr/>
        </p:nvSpPr>
        <p:spPr>
          <a:xfrm>
            <a:off x="8412480" y="4864608"/>
            <a:ext cx="393192" cy="192024"/>
          </a:xfrm>
          <a:prstGeom prst="rect">
            <a:avLst/>
          </a:prstGeom>
          <a:noFill/>
        </p:spPr>
        <p:txBody>
          <a:bodyPr wrap="square" lIns="9144" tIns="0" rIns="9144" bIns="0" anchor="ctr">
            <a:spAutoFit/>
          </a:bodyPr>
          <a:lstStyle/>
          <a:p>
            <a:pPr algn="r">
              <a:spcBef>
                <a:spcPts val="0"/>
              </a:spcBef>
              <a:spcAft>
                <a:spcPts val="0"/>
              </a:spcAft>
              <a:defRPr sz="900" b="1">
                <a:solidFill>
                  <a:srgbClr val="041447"/>
                </a:solidFill>
                <a:latin typeface="Noto Sans"/>
              </a:defRPr>
            </a:pPr>
            <a:r>
              <a:t>B3</a:t>
            </a:r>
          </a:p>
        </p:txBody>
      </p:sp>
      <p:sp>
        <p:nvSpPr>
          <p:cNvPr id="18" name="Rounded Rectangle 17"/>
          <p:cNvSpPr/>
          <p:nvPr/>
        </p:nvSpPr>
        <p:spPr>
          <a:xfrm>
            <a:off x="365760" y="1143000"/>
            <a:ext cx="1591056" cy="2468880"/>
          </a:xfrm>
          <a:prstGeom prst="roundRect">
            <a:avLst>
              <a:gd name="adj" fmla="val 8000"/>
            </a:avLst>
          </a:prstGeom>
          <a:solidFill>
            <a:srgbClr val="EFF3F7"/>
          </a:solidFill>
          <a:ln w="10160">
            <a:solidFill>
              <a:srgbClr val="D2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365760" y="1143000"/>
            <a:ext cx="32004" cy="2468880"/>
          </a:xfrm>
          <a:prstGeom prst="rect">
            <a:avLst/>
          </a:prstGeom>
          <a:solidFill>
            <a:srgbClr val="3178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457200" y="1280160"/>
            <a:ext cx="1371600" cy="347472"/>
          </a:xfrm>
          <a:prstGeom prst="rect">
            <a:avLst/>
          </a:prstGeom>
          <a:noFill/>
        </p:spPr>
        <p:txBody>
          <a:bodyPr wrap="square" lIns="9144" tIns="0" rIns="9144" bIns="0" anchor="ctr">
            <a:spAutoFit/>
          </a:bodyPr>
          <a:lstStyle/>
          <a:p>
            <a:pPr algn="l">
              <a:spcBef>
                <a:spcPts val="0"/>
              </a:spcBef>
              <a:spcAft>
                <a:spcPts val="0"/>
              </a:spcAft>
              <a:defRPr sz="1320" b="1">
                <a:solidFill>
                  <a:srgbClr val="6A57A1"/>
                </a:solidFill>
                <a:latin typeface="Noto Sans"/>
              </a:defRPr>
            </a:pPr>
            <a:r>
              <a:rPr>
                <a:solidFill>
                  <a:srgbClr val="6A57A1"/>
                </a:solidFill>
              </a:rPr>
              <a:t>Read path</a:t>
            </a:r>
          </a:p>
        </p:txBody>
      </p:sp>
      <p:sp>
        <p:nvSpPr>
          <p:cNvPr id="21" name="TextBox 20"/>
          <p:cNvSpPr txBox="1"/>
          <p:nvPr/>
        </p:nvSpPr>
        <p:spPr>
          <a:xfrm>
            <a:off x="457200" y="1773936"/>
            <a:ext cx="1389888" cy="292608"/>
          </a:xfrm>
          <a:prstGeom prst="rect">
            <a:avLst/>
          </a:prstGeom>
          <a:noFill/>
        </p:spPr>
        <p:txBody>
          <a:bodyPr wrap="square" lIns="9144" tIns="0" rIns="9144" bIns="0" anchor="ctr">
            <a:spAutoFit/>
          </a:bodyPr>
          <a:lstStyle/>
          <a:p>
            <a:pPr algn="l">
              <a:spcBef>
                <a:spcPts val="0"/>
              </a:spcBef>
              <a:spcAft>
                <a:spcPts val="0"/>
              </a:spcAft>
              <a:defRPr sz="980" b="0">
                <a:solidFill>
                  <a:srgbClr val="192B43"/>
                </a:solidFill>
                <a:latin typeface="Noto Sans"/>
              </a:defRPr>
            </a:pPr>
            <a:r>
              <a:t>search​_algo</a:t>
            </a:r>
          </a:p>
        </p:txBody>
      </p:sp>
      <p:sp>
        <p:nvSpPr>
          <p:cNvPr id="22" name="TextBox 21"/>
          <p:cNvSpPr txBox="1"/>
          <p:nvPr/>
        </p:nvSpPr>
        <p:spPr>
          <a:xfrm>
            <a:off x="457200" y="2103120"/>
            <a:ext cx="1389888" cy="292608"/>
          </a:xfrm>
          <a:prstGeom prst="rect">
            <a:avLst/>
          </a:prstGeom>
          <a:noFill/>
        </p:spPr>
        <p:txBody>
          <a:bodyPr wrap="square" lIns="9144" tIns="0" rIns="9144" bIns="0" anchor="ctr">
            <a:spAutoFit/>
          </a:bodyPr>
          <a:lstStyle/>
          <a:p>
            <a:pPr algn="l">
              <a:spcBef>
                <a:spcPts val="0"/>
              </a:spcBef>
              <a:spcAft>
                <a:spcPts val="0"/>
              </a:spcAft>
              <a:defRPr sz="980" b="0">
                <a:solidFill>
                  <a:srgbClr val="192B43"/>
                </a:solidFill>
                <a:latin typeface="Noto Sans"/>
              </a:defRPr>
            </a:pPr>
            <a:r>
              <a:t>cache​_traversal</a:t>
            </a:r>
          </a:p>
        </p:txBody>
      </p:sp>
      <p:sp>
        <p:nvSpPr>
          <p:cNvPr id="23" name="Rounded Rectangle 22"/>
          <p:cNvSpPr/>
          <p:nvPr/>
        </p:nvSpPr>
        <p:spPr>
          <a:xfrm>
            <a:off x="2084831" y="1143000"/>
            <a:ext cx="1591056" cy="2468880"/>
          </a:xfrm>
          <a:prstGeom prst="roundRect">
            <a:avLst>
              <a:gd name="adj" fmla="val 8000"/>
            </a:avLst>
          </a:prstGeom>
          <a:solidFill>
            <a:srgbClr val="EFF3F7"/>
          </a:solidFill>
          <a:ln w="10160">
            <a:solidFill>
              <a:srgbClr val="D2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2084831" y="1143000"/>
            <a:ext cx="32004" cy="2468880"/>
          </a:xfrm>
          <a:prstGeom prst="rect">
            <a:avLst/>
          </a:prstGeom>
          <a:solidFill>
            <a:srgbClr val="008A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2176272" y="1280160"/>
            <a:ext cx="1371600" cy="347472"/>
          </a:xfrm>
          <a:prstGeom prst="rect">
            <a:avLst/>
          </a:prstGeom>
          <a:noFill/>
        </p:spPr>
        <p:txBody>
          <a:bodyPr wrap="square" lIns="9144" tIns="0" rIns="9144" bIns="0" anchor="ctr">
            <a:spAutoFit/>
          </a:bodyPr>
          <a:lstStyle/>
          <a:p>
            <a:pPr algn="l">
              <a:spcBef>
                <a:spcPts val="0"/>
              </a:spcBef>
              <a:spcAft>
                <a:spcPts val="0"/>
              </a:spcAft>
              <a:defRPr sz="1320" b="1">
                <a:solidFill>
                  <a:srgbClr val="3468AA"/>
                </a:solidFill>
                <a:latin typeface="Noto Sans"/>
              </a:defRPr>
            </a:pPr>
            <a:r>
              <a:rPr>
                <a:solidFill>
                  <a:srgbClr val="3468AA"/>
                </a:solidFill>
              </a:rPr>
              <a:t>Layout</a:t>
            </a:r>
          </a:p>
        </p:txBody>
      </p:sp>
      <p:sp>
        <p:nvSpPr>
          <p:cNvPr id="26" name="TextBox 25"/>
          <p:cNvSpPr txBox="1"/>
          <p:nvPr/>
        </p:nvSpPr>
        <p:spPr>
          <a:xfrm>
            <a:off x="2176272" y="1773936"/>
            <a:ext cx="1389888" cy="292608"/>
          </a:xfrm>
          <a:prstGeom prst="rect">
            <a:avLst/>
          </a:prstGeom>
          <a:noFill/>
        </p:spPr>
        <p:txBody>
          <a:bodyPr wrap="square" lIns="9144" tIns="0" rIns="9144" bIns="0" anchor="ctr">
            <a:spAutoFit/>
          </a:bodyPr>
          <a:lstStyle/>
          <a:p>
            <a:pPr algn="l">
              <a:spcBef>
                <a:spcPts val="0"/>
              </a:spcBef>
              <a:spcAft>
                <a:spcPts val="0"/>
              </a:spcAft>
              <a:defRPr sz="980" b="0">
                <a:solidFill>
                  <a:srgbClr val="192B43"/>
                </a:solidFill>
                <a:latin typeface="Noto Sans"/>
              </a:defRPr>
            </a:pPr>
            <a:r>
              <a:t>node​_type</a:t>
            </a:r>
          </a:p>
        </p:txBody>
      </p:sp>
      <p:sp>
        <p:nvSpPr>
          <p:cNvPr id="27" name="TextBox 26"/>
          <p:cNvSpPr txBox="1"/>
          <p:nvPr/>
        </p:nvSpPr>
        <p:spPr>
          <a:xfrm>
            <a:off x="2176272" y="2103120"/>
            <a:ext cx="1389888" cy="292608"/>
          </a:xfrm>
          <a:prstGeom prst="rect">
            <a:avLst/>
          </a:prstGeom>
          <a:noFill/>
        </p:spPr>
        <p:txBody>
          <a:bodyPr wrap="square" lIns="9144" tIns="0" rIns="9144" bIns="0" anchor="ctr">
            <a:spAutoFit/>
          </a:bodyPr>
          <a:lstStyle/>
          <a:p>
            <a:pPr algn="l">
              <a:spcBef>
                <a:spcPts val="0"/>
              </a:spcBef>
              <a:spcAft>
                <a:spcPts val="0"/>
              </a:spcAft>
              <a:defRPr sz="980" b="0">
                <a:solidFill>
                  <a:srgbClr val="192B43"/>
                </a:solidFill>
                <a:latin typeface="Noto Sans"/>
              </a:defRPr>
            </a:pPr>
            <a:r>
              <a:t>memory​_layout</a:t>
            </a:r>
          </a:p>
        </p:txBody>
      </p:sp>
      <p:sp>
        <p:nvSpPr>
          <p:cNvPr id="28" name="TextBox 27"/>
          <p:cNvSpPr txBox="1"/>
          <p:nvPr/>
        </p:nvSpPr>
        <p:spPr>
          <a:xfrm>
            <a:off x="2176272" y="2432304"/>
            <a:ext cx="1389888" cy="292608"/>
          </a:xfrm>
          <a:prstGeom prst="rect">
            <a:avLst/>
          </a:prstGeom>
          <a:noFill/>
        </p:spPr>
        <p:txBody>
          <a:bodyPr wrap="square" lIns="9144" tIns="0" rIns="9144" bIns="0" anchor="ctr">
            <a:spAutoFit/>
          </a:bodyPr>
          <a:lstStyle/>
          <a:p>
            <a:pPr algn="l">
              <a:spcBef>
                <a:spcPts val="0"/>
              </a:spcBef>
              <a:spcAft>
                <a:spcPts val="0"/>
              </a:spcAft>
              <a:defRPr sz="980" b="0">
                <a:solidFill>
                  <a:srgbClr val="192B43"/>
                </a:solidFill>
                <a:latin typeface="Noto Sans"/>
              </a:defRPr>
            </a:pPr>
            <a:r>
              <a:t>path​_compression</a:t>
            </a:r>
          </a:p>
        </p:txBody>
      </p:sp>
      <p:sp>
        <p:nvSpPr>
          <p:cNvPr id="29" name="TextBox 28"/>
          <p:cNvSpPr txBox="1"/>
          <p:nvPr/>
        </p:nvSpPr>
        <p:spPr>
          <a:xfrm>
            <a:off x="2176272" y="2761488"/>
            <a:ext cx="1389888" cy="292608"/>
          </a:xfrm>
          <a:prstGeom prst="rect">
            <a:avLst/>
          </a:prstGeom>
          <a:noFill/>
        </p:spPr>
        <p:txBody>
          <a:bodyPr wrap="square" lIns="9144" tIns="0" rIns="9144" bIns="0" anchor="ctr">
            <a:spAutoFit/>
          </a:bodyPr>
          <a:lstStyle/>
          <a:p>
            <a:pPr algn="l">
              <a:spcBef>
                <a:spcPts val="0"/>
              </a:spcBef>
              <a:spcAft>
                <a:spcPts val="0"/>
              </a:spcAft>
              <a:defRPr sz="980" b="0">
                <a:solidFill>
                  <a:srgbClr val="192B43"/>
                </a:solidFill>
                <a:latin typeface="Noto Sans"/>
              </a:defRPr>
            </a:pPr>
            <a:r>
              <a:t>filter</a:t>
            </a:r>
          </a:p>
        </p:txBody>
      </p:sp>
      <p:sp>
        <p:nvSpPr>
          <p:cNvPr id="30" name="TextBox 29"/>
          <p:cNvSpPr txBox="1"/>
          <p:nvPr/>
        </p:nvSpPr>
        <p:spPr>
          <a:xfrm>
            <a:off x="2176272" y="3090672"/>
            <a:ext cx="1389888" cy="292608"/>
          </a:xfrm>
          <a:prstGeom prst="rect">
            <a:avLst/>
          </a:prstGeom>
          <a:noFill/>
        </p:spPr>
        <p:txBody>
          <a:bodyPr wrap="square" lIns="9144" tIns="0" rIns="9144" bIns="0" anchor="ctr">
            <a:spAutoFit/>
          </a:bodyPr>
          <a:lstStyle/>
          <a:p>
            <a:pPr algn="l">
              <a:spcBef>
                <a:spcPts val="0"/>
              </a:spcBef>
              <a:spcAft>
                <a:spcPts val="0"/>
              </a:spcAft>
              <a:defRPr sz="980" b="0">
                <a:solidFill>
                  <a:srgbClr val="192B43"/>
                </a:solidFill>
                <a:latin typeface="Noto Sans"/>
              </a:defRPr>
            </a:pPr>
            <a:r>
              <a:t>serialization</a:t>
            </a:r>
          </a:p>
        </p:txBody>
      </p:sp>
      <p:sp>
        <p:nvSpPr>
          <p:cNvPr id="31" name="Rounded Rectangle 30"/>
          <p:cNvSpPr/>
          <p:nvPr/>
        </p:nvSpPr>
        <p:spPr>
          <a:xfrm>
            <a:off x="3803904" y="1143000"/>
            <a:ext cx="1591056" cy="2468880"/>
          </a:xfrm>
          <a:prstGeom prst="roundRect">
            <a:avLst>
              <a:gd name="adj" fmla="val 8000"/>
            </a:avLst>
          </a:prstGeom>
          <a:solidFill>
            <a:srgbClr val="EFF3F7"/>
          </a:solidFill>
          <a:ln w="10160">
            <a:solidFill>
              <a:srgbClr val="D2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3803904" y="1143000"/>
            <a:ext cx="32004" cy="2468880"/>
          </a:xfrm>
          <a:prstGeom prst="rect">
            <a:avLst/>
          </a:prstGeom>
          <a:solidFill>
            <a:srgbClr val="7458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3895344" y="1280160"/>
            <a:ext cx="1371600" cy="347472"/>
          </a:xfrm>
          <a:prstGeom prst="rect">
            <a:avLst/>
          </a:prstGeom>
          <a:noFill/>
        </p:spPr>
        <p:txBody>
          <a:bodyPr wrap="square" lIns="9144" tIns="0" rIns="9144" bIns="0" anchor="ctr">
            <a:spAutoFit/>
          </a:bodyPr>
          <a:lstStyle/>
          <a:p>
            <a:pPr algn="l">
              <a:spcBef>
                <a:spcPts val="0"/>
              </a:spcBef>
              <a:spcAft>
                <a:spcPts val="0"/>
              </a:spcAft>
              <a:defRPr sz="1320" b="1">
                <a:solidFill>
                  <a:srgbClr val="AD731A"/>
                </a:solidFill>
                <a:latin typeface="Noto Sans"/>
              </a:defRPr>
            </a:pPr>
            <a:r>
              <a:rPr>
                <a:solidFill>
                  <a:srgbClr val="AD731A"/>
                </a:solidFill>
              </a:rPr>
              <a:t>Placement</a:t>
            </a:r>
          </a:p>
        </p:txBody>
      </p:sp>
      <p:sp>
        <p:nvSpPr>
          <p:cNvPr id="34" name="TextBox 33"/>
          <p:cNvSpPr txBox="1"/>
          <p:nvPr/>
        </p:nvSpPr>
        <p:spPr>
          <a:xfrm>
            <a:off x="3895344" y="1773936"/>
            <a:ext cx="1389888" cy="292608"/>
          </a:xfrm>
          <a:prstGeom prst="rect">
            <a:avLst/>
          </a:prstGeom>
          <a:noFill/>
        </p:spPr>
        <p:txBody>
          <a:bodyPr wrap="square" lIns="9144" tIns="0" rIns="9144" bIns="0" anchor="ctr">
            <a:spAutoFit/>
          </a:bodyPr>
          <a:lstStyle/>
          <a:p>
            <a:pPr algn="l">
              <a:spcBef>
                <a:spcPts val="0"/>
              </a:spcBef>
              <a:spcAft>
                <a:spcPts val="0"/>
              </a:spcAft>
              <a:defRPr sz="980" b="0">
                <a:solidFill>
                  <a:srgbClr val="192B43"/>
                </a:solidFill>
                <a:latin typeface="Noto Sans"/>
              </a:defRPr>
            </a:pPr>
            <a:r>
              <a:t>mapping</a:t>
            </a:r>
          </a:p>
        </p:txBody>
      </p:sp>
      <p:sp>
        <p:nvSpPr>
          <p:cNvPr id="35" name="TextBox 34"/>
          <p:cNvSpPr txBox="1"/>
          <p:nvPr/>
        </p:nvSpPr>
        <p:spPr>
          <a:xfrm>
            <a:off x="3895344" y="2103120"/>
            <a:ext cx="1389888" cy="292608"/>
          </a:xfrm>
          <a:prstGeom prst="rect">
            <a:avLst/>
          </a:prstGeom>
          <a:noFill/>
        </p:spPr>
        <p:txBody>
          <a:bodyPr wrap="square" lIns="9144" tIns="0" rIns="9144" bIns="0" anchor="ctr">
            <a:spAutoFit/>
          </a:bodyPr>
          <a:lstStyle/>
          <a:p>
            <a:pPr algn="l">
              <a:spcBef>
                <a:spcPts val="0"/>
              </a:spcBef>
              <a:spcAft>
                <a:spcPts val="0"/>
              </a:spcAft>
              <a:defRPr sz="980" b="0">
                <a:solidFill>
                  <a:srgbClr val="192B43"/>
                </a:solidFill>
                <a:latin typeface="Noto Sans"/>
              </a:defRPr>
            </a:pPr>
            <a:r>
              <a:t>allocator</a:t>
            </a:r>
          </a:p>
        </p:txBody>
      </p:sp>
      <p:sp>
        <p:nvSpPr>
          <p:cNvPr id="36" name="TextBox 35"/>
          <p:cNvSpPr txBox="1"/>
          <p:nvPr/>
        </p:nvSpPr>
        <p:spPr>
          <a:xfrm>
            <a:off x="3895344" y="2432304"/>
            <a:ext cx="1389888" cy="292608"/>
          </a:xfrm>
          <a:prstGeom prst="rect">
            <a:avLst/>
          </a:prstGeom>
          <a:noFill/>
        </p:spPr>
        <p:txBody>
          <a:bodyPr wrap="square" lIns="9144" tIns="0" rIns="9144" bIns="0" anchor="ctr">
            <a:spAutoFit/>
          </a:bodyPr>
          <a:lstStyle/>
          <a:p>
            <a:pPr algn="l">
              <a:spcBef>
                <a:spcPts val="0"/>
              </a:spcBef>
              <a:spcAft>
                <a:spcPts val="0"/>
              </a:spcAft>
              <a:defRPr sz="980" b="0">
                <a:solidFill>
                  <a:srgbClr val="192B43"/>
                </a:solidFill>
                <a:latin typeface="Noto Sans"/>
              </a:defRPr>
            </a:pPr>
            <a:r>
              <a:t>value​_handle</a:t>
            </a:r>
          </a:p>
        </p:txBody>
      </p:sp>
      <p:sp>
        <p:nvSpPr>
          <p:cNvPr id="37" name="TextBox 36"/>
          <p:cNvSpPr txBox="1"/>
          <p:nvPr/>
        </p:nvSpPr>
        <p:spPr>
          <a:xfrm>
            <a:off x="3895344" y="2761488"/>
            <a:ext cx="1389888" cy="292608"/>
          </a:xfrm>
          <a:prstGeom prst="rect">
            <a:avLst/>
          </a:prstGeom>
          <a:noFill/>
        </p:spPr>
        <p:txBody>
          <a:bodyPr wrap="square" lIns="9144" tIns="0" rIns="9144" bIns="0" anchor="ctr">
            <a:spAutoFit/>
          </a:bodyPr>
          <a:lstStyle/>
          <a:p>
            <a:pPr algn="l">
              <a:spcBef>
                <a:spcPts val="0"/>
              </a:spcBef>
              <a:spcAft>
                <a:spcPts val="0"/>
              </a:spcAft>
              <a:defRPr sz="980" b="0">
                <a:solidFill>
                  <a:srgbClr val="192B43"/>
                </a:solidFill>
                <a:latin typeface="Noto Sans"/>
              </a:defRPr>
            </a:pPr>
            <a:r>
              <a:t>index​_organization</a:t>
            </a:r>
          </a:p>
        </p:txBody>
      </p:sp>
      <p:sp>
        <p:nvSpPr>
          <p:cNvPr id="38" name="TextBox 37"/>
          <p:cNvSpPr txBox="1"/>
          <p:nvPr/>
        </p:nvSpPr>
        <p:spPr>
          <a:xfrm>
            <a:off x="3895344" y="3090672"/>
            <a:ext cx="1389888" cy="292608"/>
          </a:xfrm>
          <a:prstGeom prst="rect">
            <a:avLst/>
          </a:prstGeom>
          <a:noFill/>
        </p:spPr>
        <p:txBody>
          <a:bodyPr wrap="square" lIns="9144" tIns="0" rIns="9144" bIns="0" anchor="ctr">
            <a:spAutoFit/>
          </a:bodyPr>
          <a:lstStyle/>
          <a:p>
            <a:pPr algn="l">
              <a:spcBef>
                <a:spcPts val="0"/>
              </a:spcBef>
              <a:spcAft>
                <a:spcPts val="0"/>
              </a:spcAft>
              <a:defRPr sz="980" b="0">
                <a:solidFill>
                  <a:srgbClr val="192B43"/>
                </a:solidFill>
                <a:latin typeface="Noto Sans"/>
              </a:defRPr>
            </a:pPr>
            <a:r>
              <a:t>migration​_policy</a:t>
            </a:r>
          </a:p>
        </p:txBody>
      </p:sp>
      <p:sp>
        <p:nvSpPr>
          <p:cNvPr id="39" name="Rounded Rectangle 38"/>
          <p:cNvSpPr/>
          <p:nvPr/>
        </p:nvSpPr>
        <p:spPr>
          <a:xfrm>
            <a:off x="5522976" y="1143000"/>
            <a:ext cx="1591056" cy="2468880"/>
          </a:xfrm>
          <a:prstGeom prst="roundRect">
            <a:avLst>
              <a:gd name="adj" fmla="val 8000"/>
            </a:avLst>
          </a:prstGeom>
          <a:solidFill>
            <a:srgbClr val="EFF3F7"/>
          </a:solidFill>
          <a:ln w="10160">
            <a:solidFill>
              <a:srgbClr val="D2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Rectangle 39"/>
          <p:cNvSpPr/>
          <p:nvPr/>
        </p:nvSpPr>
        <p:spPr>
          <a:xfrm>
            <a:off x="5522976" y="1143000"/>
            <a:ext cx="32004" cy="2468880"/>
          </a:xfrm>
          <a:prstGeom prst="rect">
            <a:avLst/>
          </a:prstGeom>
          <a:solidFill>
            <a:srgbClr val="A477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5614416" y="1280160"/>
            <a:ext cx="1371600" cy="347472"/>
          </a:xfrm>
          <a:prstGeom prst="rect">
            <a:avLst/>
          </a:prstGeom>
          <a:noFill/>
        </p:spPr>
        <p:txBody>
          <a:bodyPr wrap="square" lIns="9144" tIns="0" rIns="9144" bIns="0" anchor="ctr">
            <a:spAutoFit/>
          </a:bodyPr>
          <a:lstStyle/>
          <a:p>
            <a:pPr algn="l">
              <a:spcBef>
                <a:spcPts val="0"/>
              </a:spcBef>
              <a:spcAft>
                <a:spcPts val="0"/>
              </a:spcAft>
              <a:defRPr sz="1320" b="1">
                <a:solidFill>
                  <a:srgbClr val="2F7458"/>
                </a:solidFill>
                <a:latin typeface="Noto Sans"/>
              </a:defRPr>
            </a:pPr>
            <a:r>
              <a:rPr>
                <a:solidFill>
                  <a:srgbClr val="2F7458"/>
                </a:solidFill>
              </a:rPr>
              <a:t>Execution</a:t>
            </a:r>
          </a:p>
        </p:txBody>
      </p:sp>
      <p:sp>
        <p:nvSpPr>
          <p:cNvPr id="42" name="TextBox 41"/>
          <p:cNvSpPr txBox="1"/>
          <p:nvPr/>
        </p:nvSpPr>
        <p:spPr>
          <a:xfrm>
            <a:off x="5614416" y="1773936"/>
            <a:ext cx="1389888" cy="292608"/>
          </a:xfrm>
          <a:prstGeom prst="rect">
            <a:avLst/>
          </a:prstGeom>
          <a:noFill/>
        </p:spPr>
        <p:txBody>
          <a:bodyPr wrap="square" lIns="9144" tIns="0" rIns="9144" bIns="0" anchor="ctr">
            <a:spAutoFit/>
          </a:bodyPr>
          <a:lstStyle/>
          <a:p>
            <a:pPr algn="l">
              <a:spcBef>
                <a:spcPts val="0"/>
              </a:spcBef>
              <a:spcAft>
                <a:spcPts val="0"/>
              </a:spcAft>
              <a:defRPr sz="980" b="0">
                <a:solidFill>
                  <a:srgbClr val="192B43"/>
                </a:solidFill>
                <a:latin typeface="Noto Sans"/>
              </a:defRPr>
            </a:pPr>
            <a:r>
              <a:t>concurrency</a:t>
            </a:r>
          </a:p>
        </p:txBody>
      </p:sp>
      <p:sp>
        <p:nvSpPr>
          <p:cNvPr id="43" name="TextBox 42"/>
          <p:cNvSpPr txBox="1"/>
          <p:nvPr/>
        </p:nvSpPr>
        <p:spPr>
          <a:xfrm>
            <a:off x="5614416" y="2103120"/>
            <a:ext cx="1389888" cy="292608"/>
          </a:xfrm>
          <a:prstGeom prst="rect">
            <a:avLst/>
          </a:prstGeom>
          <a:noFill/>
        </p:spPr>
        <p:txBody>
          <a:bodyPr wrap="square" lIns="9144" tIns="0" rIns="9144" bIns="0" anchor="ctr">
            <a:spAutoFit/>
          </a:bodyPr>
          <a:lstStyle/>
          <a:p>
            <a:pPr algn="l">
              <a:spcBef>
                <a:spcPts val="0"/>
              </a:spcBef>
              <a:spcAft>
                <a:spcPts val="0"/>
              </a:spcAft>
              <a:defRPr sz="980" b="0">
                <a:solidFill>
                  <a:srgbClr val="192B43"/>
                </a:solidFill>
                <a:latin typeface="Noto Sans"/>
              </a:defRPr>
            </a:pPr>
            <a:r>
              <a:t>prefetch</a:t>
            </a:r>
          </a:p>
        </p:txBody>
      </p:sp>
      <p:sp>
        <p:nvSpPr>
          <p:cNvPr id="44" name="Rounded Rectangle 43"/>
          <p:cNvSpPr/>
          <p:nvPr/>
        </p:nvSpPr>
        <p:spPr>
          <a:xfrm>
            <a:off x="7242048" y="1143000"/>
            <a:ext cx="1591056" cy="2468880"/>
          </a:xfrm>
          <a:prstGeom prst="roundRect">
            <a:avLst>
              <a:gd name="adj" fmla="val 8000"/>
            </a:avLst>
          </a:prstGeom>
          <a:solidFill>
            <a:srgbClr val="EFF3F7"/>
          </a:solidFill>
          <a:ln w="10160">
            <a:solidFill>
              <a:srgbClr val="D2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Rectangle 44"/>
          <p:cNvSpPr/>
          <p:nvPr/>
        </p:nvSpPr>
        <p:spPr>
          <a:xfrm>
            <a:off x="7242048" y="1143000"/>
            <a:ext cx="32004" cy="2468880"/>
          </a:xfrm>
          <a:prstGeom prst="rect">
            <a:avLst/>
          </a:prstGeom>
          <a:solidFill>
            <a:srgbClr val="BB6A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7333488" y="1280160"/>
            <a:ext cx="1371600" cy="347472"/>
          </a:xfrm>
          <a:prstGeom prst="rect">
            <a:avLst/>
          </a:prstGeom>
          <a:noFill/>
        </p:spPr>
        <p:txBody>
          <a:bodyPr wrap="square" lIns="9144" tIns="0" rIns="9144" bIns="0" anchor="ctr">
            <a:spAutoFit/>
          </a:bodyPr>
          <a:lstStyle/>
          <a:p>
            <a:pPr algn="l">
              <a:spcBef>
                <a:spcPts val="0"/>
              </a:spcBef>
              <a:spcAft>
                <a:spcPts val="0"/>
              </a:spcAft>
              <a:defRPr sz="1320" b="1">
                <a:solidFill>
                  <a:srgbClr val="657487"/>
                </a:solidFill>
                <a:latin typeface="Noto Sans"/>
              </a:defRPr>
            </a:pPr>
            <a:r>
              <a:rPr>
                <a:solidFill>
                  <a:srgbClr val="657487"/>
                </a:solidFill>
              </a:rPr>
              <a:t>Write / I/O</a:t>
            </a:r>
          </a:p>
        </p:txBody>
      </p:sp>
      <p:sp>
        <p:nvSpPr>
          <p:cNvPr id="47" name="TextBox 46"/>
          <p:cNvSpPr txBox="1"/>
          <p:nvPr/>
        </p:nvSpPr>
        <p:spPr>
          <a:xfrm>
            <a:off x="7333488" y="1773936"/>
            <a:ext cx="1389888" cy="292608"/>
          </a:xfrm>
          <a:prstGeom prst="rect">
            <a:avLst/>
          </a:prstGeom>
          <a:noFill/>
        </p:spPr>
        <p:txBody>
          <a:bodyPr wrap="square" lIns="9144" tIns="0" rIns="9144" bIns="0" anchor="ctr">
            <a:spAutoFit/>
          </a:bodyPr>
          <a:lstStyle/>
          <a:p>
            <a:pPr algn="l">
              <a:spcBef>
                <a:spcPts val="0"/>
              </a:spcBef>
              <a:spcAft>
                <a:spcPts val="0"/>
              </a:spcAft>
              <a:defRPr sz="980" b="0">
                <a:solidFill>
                  <a:srgbClr val="192B43"/>
                </a:solidFill>
                <a:latin typeface="Noto Sans"/>
              </a:defRPr>
            </a:pPr>
            <a:r>
              <a:t>queuing​_q1</a:t>
            </a:r>
          </a:p>
        </p:txBody>
      </p:sp>
      <p:sp>
        <p:nvSpPr>
          <p:cNvPr id="48" name="TextBox 47"/>
          <p:cNvSpPr txBox="1"/>
          <p:nvPr/>
        </p:nvSpPr>
        <p:spPr>
          <a:xfrm>
            <a:off x="7333488" y="2103120"/>
            <a:ext cx="1389888" cy="292608"/>
          </a:xfrm>
          <a:prstGeom prst="rect">
            <a:avLst/>
          </a:prstGeom>
          <a:noFill/>
        </p:spPr>
        <p:txBody>
          <a:bodyPr wrap="square" lIns="9144" tIns="0" rIns="9144" bIns="0" anchor="ctr">
            <a:spAutoFit/>
          </a:bodyPr>
          <a:lstStyle/>
          <a:p>
            <a:pPr algn="l">
              <a:spcBef>
                <a:spcPts val="0"/>
              </a:spcBef>
              <a:spcAft>
                <a:spcPts val="0"/>
              </a:spcAft>
              <a:defRPr sz="980" b="0">
                <a:solidFill>
                  <a:srgbClr val="192B43"/>
                </a:solidFill>
                <a:latin typeface="Noto Sans"/>
              </a:defRPr>
            </a:pPr>
            <a:r>
              <a:t>queuing​_q2</a:t>
            </a:r>
          </a:p>
        </p:txBody>
      </p:sp>
      <p:sp>
        <p:nvSpPr>
          <p:cNvPr id="49" name="TextBox 48"/>
          <p:cNvSpPr txBox="1"/>
          <p:nvPr/>
        </p:nvSpPr>
        <p:spPr>
          <a:xfrm>
            <a:off x="7333488" y="2432304"/>
            <a:ext cx="1389888" cy="292608"/>
          </a:xfrm>
          <a:prstGeom prst="rect">
            <a:avLst/>
          </a:prstGeom>
          <a:noFill/>
        </p:spPr>
        <p:txBody>
          <a:bodyPr wrap="square" lIns="9144" tIns="0" rIns="9144" bIns="0" anchor="ctr">
            <a:spAutoFit/>
          </a:bodyPr>
          <a:lstStyle/>
          <a:p>
            <a:pPr algn="l">
              <a:spcBef>
                <a:spcPts val="0"/>
              </a:spcBef>
              <a:spcAft>
                <a:spcPts val="0"/>
              </a:spcAft>
              <a:defRPr sz="980" b="0">
                <a:solidFill>
                  <a:srgbClr val="192B43"/>
                </a:solidFill>
                <a:latin typeface="Noto Sans"/>
              </a:defRPr>
            </a:pPr>
            <a:r>
              <a:t>io​_dispatch</a:t>
            </a:r>
          </a:p>
        </p:txBody>
      </p:sp>
      <p:sp>
        <p:nvSpPr>
          <p:cNvPr id="50" name="TextBox 49"/>
          <p:cNvSpPr txBox="1"/>
          <p:nvPr/>
        </p:nvSpPr>
        <p:spPr>
          <a:xfrm>
            <a:off x="7333488" y="2761488"/>
            <a:ext cx="1389888" cy="292608"/>
          </a:xfrm>
          <a:prstGeom prst="rect">
            <a:avLst/>
          </a:prstGeom>
          <a:noFill/>
        </p:spPr>
        <p:txBody>
          <a:bodyPr wrap="square" lIns="9144" tIns="0" rIns="9144" bIns="0" anchor="ctr">
            <a:spAutoFit/>
          </a:bodyPr>
          <a:lstStyle/>
          <a:p>
            <a:pPr algn="l">
              <a:spcBef>
                <a:spcPts val="0"/>
              </a:spcBef>
              <a:spcAft>
                <a:spcPts val="0"/>
              </a:spcAft>
              <a:defRPr sz="980" b="0">
                <a:solidFill>
                  <a:srgbClr val="192B43"/>
                </a:solidFill>
                <a:latin typeface="Noto Sans"/>
              </a:defRPr>
            </a:pPr>
            <a:r>
              <a:t>persistence​_target</a:t>
            </a:r>
          </a:p>
        </p:txBody>
      </p:sp>
      <p:sp>
        <p:nvSpPr>
          <p:cNvPr id="51" name="Rectangle 50"/>
          <p:cNvSpPr/>
          <p:nvPr/>
        </p:nvSpPr>
        <p:spPr>
          <a:xfrm>
            <a:off x="329184" y="4096512"/>
            <a:ext cx="8458200" cy="356616"/>
          </a:xfrm>
          <a:prstGeom prst="rect">
            <a:avLst/>
          </a:prstGeom>
          <a:solidFill>
            <a:srgbClr val="0414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438912" y="4123944"/>
            <a:ext cx="8211312" cy="292608"/>
          </a:xfrm>
          <a:prstGeom prst="rect">
            <a:avLst/>
          </a:prstGeom>
          <a:noFill/>
        </p:spPr>
        <p:txBody>
          <a:bodyPr wrap="square" lIns="9144" tIns="0" rIns="9144" bIns="0" anchor="ctr">
            <a:spAutoFit/>
          </a:bodyPr>
          <a:lstStyle/>
          <a:p>
            <a:pPr algn="l">
              <a:spcBef>
                <a:spcPts val="0"/>
              </a:spcBef>
              <a:spcAft>
                <a:spcPts val="0"/>
              </a:spcAft>
              <a:defRPr sz="1300" b="1">
                <a:solidFill>
                  <a:srgbClr val="FFFFFF"/>
                </a:solidFill>
                <a:latin typeface="Noto Sans"/>
              </a:defRPr>
            </a:pPr>
            <a:r>
              <a:t>Category grouping is not the same as binding time or interface family.</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Box 1"/>
          <p:cNvSpPr txBox="1"/>
          <p:nvPr/>
        </p:nvSpPr>
        <p:spPr>
          <a:xfrm>
            <a:off x="283464" y="182880"/>
            <a:ext cx="7360920" cy="438912"/>
          </a:xfrm>
          <a:prstGeom prst="rect">
            <a:avLst/>
          </a:prstGeom>
          <a:noFill/>
        </p:spPr>
        <p:txBody>
          <a:bodyPr wrap="square" lIns="9144" tIns="0" rIns="9144" bIns="0" anchor="ctr">
            <a:spAutoFit/>
          </a:bodyPr>
          <a:lstStyle/>
          <a:p>
            <a:pPr algn="l">
              <a:spcBef>
                <a:spcPts val="0"/>
              </a:spcBef>
              <a:spcAft>
                <a:spcPts val="0"/>
              </a:spcAft>
              <a:defRPr sz="2400" b="1">
                <a:solidFill>
                  <a:srgbClr val="041447"/>
                </a:solidFill>
                <a:latin typeface="Noto Sans"/>
              </a:defRPr>
            </a:pPr>
            <a:r>
              <a:t>B4 · Interface families and compositions</a:t>
            </a:r>
          </a:p>
        </p:txBody>
      </p:sp>
      <p:sp>
        <p:nvSpPr>
          <p:cNvPr id="3" name="Rectangle 2"/>
          <p:cNvSpPr/>
          <p:nvPr/>
        </p:nvSpPr>
        <p:spPr>
          <a:xfrm>
            <a:off x="310896" y="786384"/>
            <a:ext cx="1197864" cy="45720"/>
          </a:xfrm>
          <a:prstGeom prst="rect">
            <a:avLst/>
          </a:prstGeom>
          <a:solidFill>
            <a:srgbClr val="D2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10896" y="621792"/>
            <a:ext cx="1197864" cy="164592"/>
          </a:xfrm>
          <a:prstGeom prst="rect">
            <a:avLst/>
          </a:prstGeom>
          <a:noFill/>
        </p:spPr>
        <p:txBody>
          <a:bodyPr wrap="square" lIns="9144" tIns="0" rIns="9144" bIns="0" anchor="ctr">
            <a:spAutoFit/>
          </a:bodyPr>
          <a:lstStyle/>
          <a:p>
            <a:pPr algn="l">
              <a:spcBef>
                <a:spcPts val="0"/>
              </a:spcBef>
              <a:spcAft>
                <a:spcPts val="0"/>
              </a:spcAft>
              <a:defRPr sz="850" b="0">
                <a:solidFill>
                  <a:srgbClr val="607080"/>
                </a:solidFill>
                <a:latin typeface="Noto Sans"/>
              </a:defRPr>
            </a:pPr>
            <a:r>
              <a:t>1 Introduction</a:t>
            </a:r>
          </a:p>
        </p:txBody>
      </p:sp>
      <p:sp>
        <p:nvSpPr>
          <p:cNvPr id="5" name="Rectangle 4"/>
          <p:cNvSpPr/>
          <p:nvPr/>
        </p:nvSpPr>
        <p:spPr>
          <a:xfrm>
            <a:off x="1545336" y="786384"/>
            <a:ext cx="1243584" cy="45720"/>
          </a:xfrm>
          <a:prstGeom prst="rect">
            <a:avLst/>
          </a:prstGeom>
          <a:solidFill>
            <a:srgbClr val="D2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545336" y="621792"/>
            <a:ext cx="1243584" cy="164592"/>
          </a:xfrm>
          <a:prstGeom prst="rect">
            <a:avLst/>
          </a:prstGeom>
          <a:noFill/>
        </p:spPr>
        <p:txBody>
          <a:bodyPr wrap="square" lIns="9144" tIns="0" rIns="9144" bIns="0" anchor="ctr">
            <a:spAutoFit/>
          </a:bodyPr>
          <a:lstStyle/>
          <a:p>
            <a:pPr algn="l">
              <a:spcBef>
                <a:spcPts val="0"/>
              </a:spcBef>
              <a:spcAft>
                <a:spcPts val="0"/>
              </a:spcAft>
              <a:defRPr sz="850" b="0">
                <a:solidFill>
                  <a:srgbClr val="607080"/>
                </a:solidFill>
                <a:latin typeface="Noto Sans"/>
              </a:defRPr>
            </a:pPr>
            <a:r>
              <a:t>2 Background</a:t>
            </a:r>
          </a:p>
        </p:txBody>
      </p:sp>
      <p:sp>
        <p:nvSpPr>
          <p:cNvPr id="7" name="Rectangle 6"/>
          <p:cNvSpPr/>
          <p:nvPr/>
        </p:nvSpPr>
        <p:spPr>
          <a:xfrm>
            <a:off x="2825496" y="786384"/>
            <a:ext cx="1078992" cy="45720"/>
          </a:xfrm>
          <a:prstGeom prst="rect">
            <a:avLst/>
          </a:prstGeom>
          <a:solidFill>
            <a:srgbClr val="D2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2825496" y="621792"/>
            <a:ext cx="1078992" cy="164592"/>
          </a:xfrm>
          <a:prstGeom prst="rect">
            <a:avLst/>
          </a:prstGeom>
          <a:noFill/>
        </p:spPr>
        <p:txBody>
          <a:bodyPr wrap="square" lIns="9144" tIns="0" rIns="9144" bIns="0" anchor="ctr">
            <a:spAutoFit/>
          </a:bodyPr>
          <a:lstStyle/>
          <a:p>
            <a:pPr algn="l">
              <a:spcBef>
                <a:spcPts val="0"/>
              </a:spcBef>
              <a:spcAft>
                <a:spcPts val="0"/>
              </a:spcAft>
              <a:defRPr sz="850" b="0">
                <a:solidFill>
                  <a:srgbClr val="607080"/>
                </a:solidFill>
                <a:latin typeface="Noto Sans"/>
              </a:defRPr>
            </a:pPr>
            <a:r>
              <a:t>3 Concept</a:t>
            </a:r>
          </a:p>
        </p:txBody>
      </p:sp>
      <p:sp>
        <p:nvSpPr>
          <p:cNvPr id="9" name="Rectangle 8"/>
          <p:cNvSpPr/>
          <p:nvPr/>
        </p:nvSpPr>
        <p:spPr>
          <a:xfrm>
            <a:off x="3941063" y="786384"/>
            <a:ext cx="1645920" cy="45720"/>
          </a:xfrm>
          <a:prstGeom prst="rect">
            <a:avLst/>
          </a:prstGeom>
          <a:solidFill>
            <a:srgbClr val="D2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941063" y="621792"/>
            <a:ext cx="1645920" cy="164592"/>
          </a:xfrm>
          <a:prstGeom prst="rect">
            <a:avLst/>
          </a:prstGeom>
          <a:noFill/>
        </p:spPr>
        <p:txBody>
          <a:bodyPr wrap="square" lIns="9144" tIns="0" rIns="9144" bIns="0" anchor="ctr">
            <a:spAutoFit/>
          </a:bodyPr>
          <a:lstStyle/>
          <a:p>
            <a:pPr algn="l">
              <a:spcBef>
                <a:spcPts val="0"/>
              </a:spcBef>
              <a:spcAft>
                <a:spcPts val="0"/>
              </a:spcAft>
              <a:defRPr sz="850" b="0">
                <a:solidFill>
                  <a:srgbClr val="607080"/>
                </a:solidFill>
                <a:latin typeface="Noto Sans"/>
              </a:defRPr>
            </a:pPr>
            <a:r>
              <a:t>4 Implementation</a:t>
            </a:r>
          </a:p>
        </p:txBody>
      </p:sp>
      <p:sp>
        <p:nvSpPr>
          <p:cNvPr id="11" name="Rectangle 10"/>
          <p:cNvSpPr/>
          <p:nvPr/>
        </p:nvSpPr>
        <p:spPr>
          <a:xfrm>
            <a:off x="5623559" y="786384"/>
            <a:ext cx="1252728" cy="45720"/>
          </a:xfrm>
          <a:prstGeom prst="rect">
            <a:avLst/>
          </a:prstGeom>
          <a:solidFill>
            <a:srgbClr val="D2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623559" y="621792"/>
            <a:ext cx="1252728" cy="164592"/>
          </a:xfrm>
          <a:prstGeom prst="rect">
            <a:avLst/>
          </a:prstGeom>
          <a:noFill/>
        </p:spPr>
        <p:txBody>
          <a:bodyPr wrap="square" lIns="9144" tIns="0" rIns="9144" bIns="0" anchor="ctr">
            <a:spAutoFit/>
          </a:bodyPr>
          <a:lstStyle/>
          <a:p>
            <a:pPr algn="l">
              <a:spcBef>
                <a:spcPts val="0"/>
              </a:spcBef>
              <a:spcAft>
                <a:spcPts val="0"/>
              </a:spcAft>
              <a:defRPr sz="850" b="0">
                <a:solidFill>
                  <a:srgbClr val="607080"/>
                </a:solidFill>
                <a:latin typeface="Noto Sans"/>
              </a:defRPr>
            </a:pPr>
            <a:r>
              <a:t>5 Evaluation</a:t>
            </a:r>
          </a:p>
        </p:txBody>
      </p:sp>
      <p:sp>
        <p:nvSpPr>
          <p:cNvPr id="13" name="Rectangle 12"/>
          <p:cNvSpPr/>
          <p:nvPr/>
        </p:nvSpPr>
        <p:spPr>
          <a:xfrm>
            <a:off x="6912864" y="786384"/>
            <a:ext cx="1216152" cy="45720"/>
          </a:xfrm>
          <a:prstGeom prst="rect">
            <a:avLst/>
          </a:prstGeom>
          <a:solidFill>
            <a:srgbClr val="D2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912864" y="621792"/>
            <a:ext cx="1216152" cy="164592"/>
          </a:xfrm>
          <a:prstGeom prst="rect">
            <a:avLst/>
          </a:prstGeom>
          <a:noFill/>
        </p:spPr>
        <p:txBody>
          <a:bodyPr wrap="square" lIns="9144" tIns="0" rIns="9144" bIns="0" anchor="ctr">
            <a:spAutoFit/>
          </a:bodyPr>
          <a:lstStyle/>
          <a:p>
            <a:pPr algn="l">
              <a:spcBef>
                <a:spcPts val="0"/>
              </a:spcBef>
              <a:spcAft>
                <a:spcPts val="0"/>
              </a:spcAft>
              <a:defRPr sz="850" b="0">
                <a:solidFill>
                  <a:srgbClr val="607080"/>
                </a:solidFill>
                <a:latin typeface="Noto Sans"/>
              </a:defRPr>
            </a:pPr>
            <a:r>
              <a:t>6 Conclusion</a:t>
            </a:r>
          </a:p>
        </p:txBody>
      </p:sp>
      <p:sp>
        <p:nvSpPr>
          <p:cNvPr id="15" name="TextBox 14"/>
          <p:cNvSpPr txBox="1"/>
          <p:nvPr/>
        </p:nvSpPr>
        <p:spPr>
          <a:xfrm>
            <a:off x="320040" y="4572000"/>
            <a:ext cx="8321040" cy="182880"/>
          </a:xfrm>
          <a:prstGeom prst="rect">
            <a:avLst/>
          </a:prstGeom>
          <a:noFill/>
        </p:spPr>
        <p:txBody>
          <a:bodyPr wrap="square" lIns="9144" tIns="0" rIns="9144" bIns="0" anchor="ctr">
            <a:spAutoFit/>
          </a:bodyPr>
          <a:lstStyle/>
          <a:p>
            <a:pPr algn="l">
              <a:spcBef>
                <a:spcPts val="0"/>
              </a:spcBef>
              <a:spcAft>
                <a:spcPts val="0"/>
              </a:spcAft>
              <a:defRPr sz="810" b="0">
                <a:solidFill>
                  <a:srgbClr val="607080"/>
                </a:solidFill>
                <a:latin typeface="Noto Sans"/>
              </a:defRPr>
            </a:pPr>
            <a:r>
              <a:t>Thesis §3.3.2  |  Distinct from the planner/build/measurement stages</a:t>
            </a:r>
          </a:p>
        </p:txBody>
      </p:sp>
      <p:sp>
        <p:nvSpPr>
          <p:cNvPr id="16" name="TextBox 15"/>
          <p:cNvSpPr txBox="1"/>
          <p:nvPr/>
        </p:nvSpPr>
        <p:spPr>
          <a:xfrm>
            <a:off x="1234440" y="4873752"/>
            <a:ext cx="6766560" cy="164592"/>
          </a:xfrm>
          <a:prstGeom prst="rect">
            <a:avLst/>
          </a:prstGeom>
          <a:noFill/>
        </p:spPr>
        <p:txBody>
          <a:bodyPr wrap="square" lIns="9144" tIns="0" rIns="9144" bIns="0" anchor="ctr">
            <a:spAutoFit/>
          </a:bodyPr>
          <a:lstStyle/>
          <a:p>
            <a:pPr algn="l">
              <a:spcBef>
                <a:spcPts val="0"/>
              </a:spcBef>
              <a:spcAft>
                <a:spcPts val="0"/>
              </a:spcAft>
              <a:defRPr sz="830" b="0">
                <a:solidFill>
                  <a:srgbClr val="041447"/>
                </a:solidFill>
                <a:latin typeface="Noto Sans"/>
              </a:defRPr>
            </a:pPr>
            <a:r>
              <a:t>Benjamin-Elias Probst  |  Diploma thesis defense  |  28 September 2026</a:t>
            </a:r>
          </a:p>
        </p:txBody>
      </p:sp>
      <p:sp>
        <p:nvSpPr>
          <p:cNvPr id="17" name="TextBox 16"/>
          <p:cNvSpPr txBox="1"/>
          <p:nvPr/>
        </p:nvSpPr>
        <p:spPr>
          <a:xfrm>
            <a:off x="8412480" y="4864608"/>
            <a:ext cx="393192" cy="192024"/>
          </a:xfrm>
          <a:prstGeom prst="rect">
            <a:avLst/>
          </a:prstGeom>
          <a:noFill/>
        </p:spPr>
        <p:txBody>
          <a:bodyPr wrap="square" lIns="9144" tIns="0" rIns="9144" bIns="0" anchor="ctr">
            <a:spAutoFit/>
          </a:bodyPr>
          <a:lstStyle/>
          <a:p>
            <a:pPr algn="r">
              <a:spcBef>
                <a:spcPts val="0"/>
              </a:spcBef>
              <a:spcAft>
                <a:spcPts val="0"/>
              </a:spcAft>
              <a:defRPr sz="900" b="1">
                <a:solidFill>
                  <a:srgbClr val="041447"/>
                </a:solidFill>
                <a:latin typeface="Noto Sans"/>
              </a:defRPr>
            </a:pPr>
            <a:r>
              <a:t>B4</a:t>
            </a:r>
          </a:p>
        </p:txBody>
      </p:sp>
      <p:sp>
        <p:nvSpPr>
          <p:cNvPr id="18" name="Rounded Rectangle 17"/>
          <p:cNvSpPr/>
          <p:nvPr/>
        </p:nvSpPr>
        <p:spPr>
          <a:xfrm>
            <a:off x="530352" y="1197864"/>
            <a:ext cx="3767328" cy="658368"/>
          </a:xfrm>
          <a:prstGeom prst="roundRect">
            <a:avLst>
              <a:gd name="adj" fmla="val 8000"/>
            </a:avLst>
          </a:prstGeom>
          <a:solidFill>
            <a:srgbClr val="EFF3F7"/>
          </a:solidFill>
          <a:ln w="10160">
            <a:solidFill>
              <a:srgbClr val="D2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530352" y="1197864"/>
            <a:ext cx="32004" cy="658368"/>
          </a:xfrm>
          <a:prstGeom prst="rect">
            <a:avLst/>
          </a:prstGeom>
          <a:solidFill>
            <a:srgbClr val="3178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30936" y="1271016"/>
            <a:ext cx="3584448" cy="512063"/>
          </a:xfrm>
          <a:prstGeom prst="rect">
            <a:avLst/>
          </a:prstGeom>
          <a:noFill/>
        </p:spPr>
        <p:txBody>
          <a:bodyPr wrap="square" lIns="9144" tIns="0" rIns="9144" bIns="0" anchor="ctr">
            <a:spAutoFit/>
          </a:bodyPr>
          <a:lstStyle/>
          <a:p>
            <a:pPr algn="l">
              <a:spcBef>
                <a:spcPts val="0"/>
              </a:spcBef>
              <a:spcAft>
                <a:spcPts val="0"/>
              </a:spcAft>
              <a:defRPr sz="1900" b="1">
                <a:solidFill>
                  <a:srgbClr val="3178B9"/>
                </a:solidFill>
                <a:latin typeface="Noto Sans"/>
              </a:defRPr>
            </a:pPr>
            <a:r>
              <a:t>Map interface family</a:t>
            </a:r>
          </a:p>
        </p:txBody>
      </p:sp>
      <p:sp>
        <p:nvSpPr>
          <p:cNvPr id="21" name="Rounded Rectangle 20"/>
          <p:cNvSpPr/>
          <p:nvPr/>
        </p:nvSpPr>
        <p:spPr>
          <a:xfrm>
            <a:off x="4754880" y="1197864"/>
            <a:ext cx="3767328" cy="658368"/>
          </a:xfrm>
          <a:prstGeom prst="roundRect">
            <a:avLst>
              <a:gd name="adj" fmla="val 8000"/>
            </a:avLst>
          </a:prstGeom>
          <a:solidFill>
            <a:srgbClr val="EFF3F7"/>
          </a:solidFill>
          <a:ln w="10160">
            <a:solidFill>
              <a:srgbClr val="D2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4754880" y="1197864"/>
            <a:ext cx="32004" cy="658368"/>
          </a:xfrm>
          <a:prstGeom prst="rect">
            <a:avLst/>
          </a:prstGeom>
          <a:solidFill>
            <a:srgbClr val="7458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4855464" y="1271016"/>
            <a:ext cx="3584448" cy="512063"/>
          </a:xfrm>
          <a:prstGeom prst="rect">
            <a:avLst/>
          </a:prstGeom>
          <a:noFill/>
        </p:spPr>
        <p:txBody>
          <a:bodyPr wrap="square" lIns="9144" tIns="0" rIns="9144" bIns="0" anchor="ctr">
            <a:spAutoFit/>
          </a:bodyPr>
          <a:lstStyle/>
          <a:p>
            <a:pPr algn="l">
              <a:spcBef>
                <a:spcPts val="0"/>
              </a:spcBef>
              <a:spcAft>
                <a:spcPts val="0"/>
              </a:spcAft>
              <a:defRPr sz="1900" b="1">
                <a:solidFill>
                  <a:srgbClr val="74589E"/>
                </a:solidFill>
                <a:latin typeface="Noto Sans"/>
              </a:defRPr>
            </a:pPr>
            <a:r>
              <a:t>Container interface family</a:t>
            </a:r>
          </a:p>
        </p:txBody>
      </p:sp>
      <p:cxnSp>
        <p:nvCxnSpPr>
          <p:cNvPr id="24" name="Connector 23"/>
          <p:cNvCxnSpPr/>
          <p:nvPr/>
        </p:nvCxnSpPr>
        <p:spPr>
          <a:xfrm>
            <a:off x="2404872" y="1883664"/>
            <a:ext cx="0" cy="384048"/>
          </a:xfrm>
          <a:prstGeom prst="line">
            <a:avLst/>
          </a:prstGeom>
          <a:ln w="15240">
            <a:solidFill>
              <a:srgbClr val="607080"/>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6629400" y="1883664"/>
            <a:ext cx="0" cy="384048"/>
          </a:xfrm>
          <a:prstGeom prst="line">
            <a:avLst/>
          </a:prstGeom>
          <a:ln w="15240">
            <a:solidFill>
              <a:srgbClr val="607080"/>
            </a:solidFill>
            <a:tailEnd type="triangle" w="sm" len="sm"/>
          </a:ln>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530352" y="2322576"/>
            <a:ext cx="3767328" cy="1225296"/>
          </a:xfrm>
          <a:prstGeom prst="roundRect">
            <a:avLst>
              <a:gd name="adj" fmla="val 8000"/>
            </a:avLst>
          </a:prstGeom>
          <a:solidFill>
            <a:srgbClr val="EFF3F7"/>
          </a:solidFill>
          <a:ln w="10160">
            <a:solidFill>
              <a:srgbClr val="D2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530352" y="2322576"/>
            <a:ext cx="32004" cy="1225296"/>
          </a:xfrm>
          <a:prstGeom prst="rect">
            <a:avLst/>
          </a:prstGeom>
          <a:solidFill>
            <a:srgbClr val="008A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30936" y="2395728"/>
            <a:ext cx="3584448" cy="365760"/>
          </a:xfrm>
          <a:prstGeom prst="rect">
            <a:avLst/>
          </a:prstGeom>
          <a:noFill/>
        </p:spPr>
        <p:txBody>
          <a:bodyPr wrap="square" lIns="9144" tIns="0" rIns="9144" bIns="0" anchor="ctr">
            <a:spAutoFit/>
          </a:bodyPr>
          <a:lstStyle/>
          <a:p>
            <a:pPr algn="l">
              <a:spcBef>
                <a:spcPts val="0"/>
              </a:spcBef>
              <a:spcAft>
                <a:spcPts val="0"/>
              </a:spcAft>
              <a:defRPr sz="1800" b="1">
                <a:solidFill>
                  <a:srgbClr val="008A96"/>
                </a:solidFill>
                <a:latin typeface="Noto Sans"/>
              </a:defRPr>
            </a:pPr>
            <a:r>
              <a:t>SearchAlgorithm</a:t>
            </a:r>
          </a:p>
        </p:txBody>
      </p:sp>
      <p:sp>
        <p:nvSpPr>
          <p:cNvPr id="29" name="TextBox 28"/>
          <p:cNvSpPr txBox="1"/>
          <p:nvPr/>
        </p:nvSpPr>
        <p:spPr>
          <a:xfrm>
            <a:off x="630936" y="2788920"/>
            <a:ext cx="3584448" cy="685800"/>
          </a:xfrm>
          <a:prstGeom prst="rect">
            <a:avLst/>
          </a:prstGeom>
          <a:noFill/>
        </p:spPr>
        <p:txBody>
          <a:bodyPr wrap="square" lIns="9144" tIns="0" rIns="9144" bIns="0" anchor="ctr">
            <a:spAutoFit/>
          </a:bodyPr>
          <a:lstStyle/>
          <a:p>
            <a:pPr algn="l">
              <a:spcBef>
                <a:spcPts val="0"/>
              </a:spcBef>
              <a:spcAft>
                <a:spcPts val="0"/>
              </a:spcAft>
              <a:defRPr sz="1200" b="0">
                <a:solidFill>
                  <a:srgbClr val="192B43"/>
                </a:solidFill>
                <a:latin typeface="Noto Sans"/>
              </a:defRPr>
            </a:pPr>
            <a:r>
              <a:t>candidate-specific organ composition</a:t>
            </a:r>
          </a:p>
        </p:txBody>
      </p:sp>
      <p:sp>
        <p:nvSpPr>
          <p:cNvPr id="30" name="Rounded Rectangle 29"/>
          <p:cNvSpPr/>
          <p:nvPr/>
        </p:nvSpPr>
        <p:spPr>
          <a:xfrm>
            <a:off x="4754880" y="2322576"/>
            <a:ext cx="3767328" cy="1225296"/>
          </a:xfrm>
          <a:prstGeom prst="roundRect">
            <a:avLst>
              <a:gd name="adj" fmla="val 8000"/>
            </a:avLst>
          </a:prstGeom>
          <a:solidFill>
            <a:srgbClr val="EFF3F7"/>
          </a:solidFill>
          <a:ln w="10160">
            <a:solidFill>
              <a:srgbClr val="D2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4754880" y="2322576"/>
            <a:ext cx="32004" cy="1225296"/>
          </a:xfrm>
          <a:prstGeom prst="rect">
            <a:avLst/>
          </a:prstGeom>
          <a:solidFill>
            <a:srgbClr val="7458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4855464" y="2395728"/>
            <a:ext cx="3584448" cy="365760"/>
          </a:xfrm>
          <a:prstGeom prst="rect">
            <a:avLst/>
          </a:prstGeom>
          <a:noFill/>
        </p:spPr>
        <p:txBody>
          <a:bodyPr wrap="square" lIns="9144" tIns="0" rIns="9144" bIns="0" anchor="ctr">
            <a:spAutoFit/>
          </a:bodyPr>
          <a:lstStyle/>
          <a:p>
            <a:pPr algn="l">
              <a:spcBef>
                <a:spcPts val="0"/>
              </a:spcBef>
              <a:spcAft>
                <a:spcPts val="0"/>
              </a:spcAft>
              <a:defRPr sz="1500" b="1">
                <a:solidFill>
                  <a:srgbClr val="74589E"/>
                </a:solidFill>
                <a:latin typeface="Noto Sans"/>
              </a:defRPr>
            </a:pPr>
            <a:r>
              <a:t>Set / Sequence / Adapter / View</a:t>
            </a:r>
          </a:p>
        </p:txBody>
      </p:sp>
      <p:sp>
        <p:nvSpPr>
          <p:cNvPr id="33" name="TextBox 32"/>
          <p:cNvSpPr txBox="1"/>
          <p:nvPr/>
        </p:nvSpPr>
        <p:spPr>
          <a:xfrm>
            <a:off x="4855464" y="2788920"/>
            <a:ext cx="3584448" cy="685800"/>
          </a:xfrm>
          <a:prstGeom prst="rect">
            <a:avLst/>
          </a:prstGeom>
          <a:noFill/>
        </p:spPr>
        <p:txBody>
          <a:bodyPr wrap="square" lIns="9144" tIns="0" rIns="9144" bIns="0" anchor="ctr">
            <a:spAutoFit/>
          </a:bodyPr>
          <a:lstStyle/>
          <a:p>
            <a:pPr algn="l">
              <a:spcBef>
                <a:spcPts val="0"/>
              </a:spcBef>
              <a:spcAft>
                <a:spcPts val="0"/>
              </a:spcAft>
              <a:defRPr sz="1200" b="0">
                <a:solidFill>
                  <a:srgbClr val="192B43"/>
                </a:solidFill>
                <a:latin typeface="Noto Sans"/>
              </a:defRPr>
            </a:pPr>
            <a:r>
              <a:t>their own contracts and compositions</a:t>
            </a:r>
          </a:p>
        </p:txBody>
      </p:sp>
      <p:sp>
        <p:nvSpPr>
          <p:cNvPr id="34" name="Rectangle 33"/>
          <p:cNvSpPr/>
          <p:nvPr/>
        </p:nvSpPr>
        <p:spPr>
          <a:xfrm>
            <a:off x="329184" y="4096512"/>
            <a:ext cx="8458200" cy="356616"/>
          </a:xfrm>
          <a:prstGeom prst="rect">
            <a:avLst/>
          </a:prstGeom>
          <a:solidFill>
            <a:srgbClr val="0414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438912" y="4123944"/>
            <a:ext cx="8211312" cy="292608"/>
          </a:xfrm>
          <a:prstGeom prst="rect">
            <a:avLst/>
          </a:prstGeom>
          <a:noFill/>
        </p:spPr>
        <p:txBody>
          <a:bodyPr wrap="square" lIns="9144" tIns="0" rIns="9144" bIns="0" anchor="ctr">
            <a:spAutoFit/>
          </a:bodyPr>
          <a:lstStyle/>
          <a:p>
            <a:pPr algn="l">
              <a:spcBef>
                <a:spcPts val="0"/>
              </a:spcBef>
              <a:spcAft>
                <a:spcPts val="0"/>
              </a:spcAft>
              <a:defRPr sz="1300" b="1">
                <a:solidFill>
                  <a:srgbClr val="FFFFFF"/>
                </a:solidFill>
                <a:latin typeface="Noto Sans"/>
              </a:defRPr>
            </a:pPr>
            <a:r>
              <a:t>Do not force every container into the Map candidate’s 18-slot anatomy.</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Box 1"/>
          <p:cNvSpPr txBox="1"/>
          <p:nvPr/>
        </p:nvSpPr>
        <p:spPr>
          <a:xfrm>
            <a:off x="283464" y="182880"/>
            <a:ext cx="7360920" cy="438912"/>
          </a:xfrm>
          <a:prstGeom prst="rect">
            <a:avLst/>
          </a:prstGeom>
          <a:noFill/>
        </p:spPr>
        <p:txBody>
          <a:bodyPr wrap="square" lIns="9144" tIns="0" rIns="9144" bIns="0" anchor="ctr">
            <a:spAutoFit/>
          </a:bodyPr>
          <a:lstStyle/>
          <a:p>
            <a:pPr algn="l">
              <a:spcBef>
                <a:spcPts val="0"/>
              </a:spcBef>
              <a:spcAft>
                <a:spcPts val="0"/>
              </a:spcAft>
              <a:defRPr sz="2400" b="1">
                <a:solidFill>
                  <a:srgbClr val="041447"/>
                </a:solidFill>
                <a:latin typeface="Noto Sans"/>
              </a:defRPr>
            </a:pPr>
            <a:r>
              <a:t>B5 · Application and publication output</a:t>
            </a:r>
          </a:p>
        </p:txBody>
      </p:sp>
      <p:sp>
        <p:nvSpPr>
          <p:cNvPr id="3" name="Rectangle 2"/>
          <p:cNvSpPr/>
          <p:nvPr/>
        </p:nvSpPr>
        <p:spPr>
          <a:xfrm>
            <a:off x="310896" y="786384"/>
            <a:ext cx="1197864" cy="45720"/>
          </a:xfrm>
          <a:prstGeom prst="rect">
            <a:avLst/>
          </a:prstGeom>
          <a:solidFill>
            <a:srgbClr val="D2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10896" y="621792"/>
            <a:ext cx="1197864" cy="164592"/>
          </a:xfrm>
          <a:prstGeom prst="rect">
            <a:avLst/>
          </a:prstGeom>
          <a:noFill/>
        </p:spPr>
        <p:txBody>
          <a:bodyPr wrap="square" lIns="9144" tIns="0" rIns="9144" bIns="0" anchor="ctr">
            <a:spAutoFit/>
          </a:bodyPr>
          <a:lstStyle/>
          <a:p>
            <a:pPr algn="l">
              <a:spcBef>
                <a:spcPts val="0"/>
              </a:spcBef>
              <a:spcAft>
                <a:spcPts val="0"/>
              </a:spcAft>
              <a:defRPr sz="850" b="0">
                <a:solidFill>
                  <a:srgbClr val="607080"/>
                </a:solidFill>
                <a:latin typeface="Noto Sans"/>
              </a:defRPr>
            </a:pPr>
            <a:r>
              <a:t>1 Introduction</a:t>
            </a:r>
          </a:p>
        </p:txBody>
      </p:sp>
      <p:sp>
        <p:nvSpPr>
          <p:cNvPr id="5" name="Rectangle 4"/>
          <p:cNvSpPr/>
          <p:nvPr/>
        </p:nvSpPr>
        <p:spPr>
          <a:xfrm>
            <a:off x="1545336" y="786384"/>
            <a:ext cx="1243584" cy="45720"/>
          </a:xfrm>
          <a:prstGeom prst="rect">
            <a:avLst/>
          </a:prstGeom>
          <a:solidFill>
            <a:srgbClr val="D2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545336" y="621792"/>
            <a:ext cx="1243584" cy="164592"/>
          </a:xfrm>
          <a:prstGeom prst="rect">
            <a:avLst/>
          </a:prstGeom>
          <a:noFill/>
        </p:spPr>
        <p:txBody>
          <a:bodyPr wrap="square" lIns="9144" tIns="0" rIns="9144" bIns="0" anchor="ctr">
            <a:spAutoFit/>
          </a:bodyPr>
          <a:lstStyle/>
          <a:p>
            <a:pPr algn="l">
              <a:spcBef>
                <a:spcPts val="0"/>
              </a:spcBef>
              <a:spcAft>
                <a:spcPts val="0"/>
              </a:spcAft>
              <a:defRPr sz="850" b="0">
                <a:solidFill>
                  <a:srgbClr val="607080"/>
                </a:solidFill>
                <a:latin typeface="Noto Sans"/>
              </a:defRPr>
            </a:pPr>
            <a:r>
              <a:t>2 Background</a:t>
            </a:r>
          </a:p>
        </p:txBody>
      </p:sp>
      <p:sp>
        <p:nvSpPr>
          <p:cNvPr id="7" name="Rectangle 6"/>
          <p:cNvSpPr/>
          <p:nvPr/>
        </p:nvSpPr>
        <p:spPr>
          <a:xfrm>
            <a:off x="2825496" y="786384"/>
            <a:ext cx="1078992" cy="45720"/>
          </a:xfrm>
          <a:prstGeom prst="rect">
            <a:avLst/>
          </a:prstGeom>
          <a:solidFill>
            <a:srgbClr val="D2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2825496" y="621792"/>
            <a:ext cx="1078992" cy="164592"/>
          </a:xfrm>
          <a:prstGeom prst="rect">
            <a:avLst/>
          </a:prstGeom>
          <a:noFill/>
        </p:spPr>
        <p:txBody>
          <a:bodyPr wrap="square" lIns="9144" tIns="0" rIns="9144" bIns="0" anchor="ctr">
            <a:spAutoFit/>
          </a:bodyPr>
          <a:lstStyle/>
          <a:p>
            <a:pPr algn="l">
              <a:spcBef>
                <a:spcPts val="0"/>
              </a:spcBef>
              <a:spcAft>
                <a:spcPts val="0"/>
              </a:spcAft>
              <a:defRPr sz="850" b="0">
                <a:solidFill>
                  <a:srgbClr val="607080"/>
                </a:solidFill>
                <a:latin typeface="Noto Sans"/>
              </a:defRPr>
            </a:pPr>
            <a:r>
              <a:t>3 Concept</a:t>
            </a:r>
          </a:p>
        </p:txBody>
      </p:sp>
      <p:sp>
        <p:nvSpPr>
          <p:cNvPr id="9" name="Rectangle 8"/>
          <p:cNvSpPr/>
          <p:nvPr/>
        </p:nvSpPr>
        <p:spPr>
          <a:xfrm>
            <a:off x="3941063" y="786384"/>
            <a:ext cx="1645920" cy="45720"/>
          </a:xfrm>
          <a:prstGeom prst="rect">
            <a:avLst/>
          </a:prstGeom>
          <a:solidFill>
            <a:srgbClr val="D2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941063" y="621792"/>
            <a:ext cx="1645920" cy="164592"/>
          </a:xfrm>
          <a:prstGeom prst="rect">
            <a:avLst/>
          </a:prstGeom>
          <a:noFill/>
        </p:spPr>
        <p:txBody>
          <a:bodyPr wrap="square" lIns="9144" tIns="0" rIns="9144" bIns="0" anchor="ctr">
            <a:spAutoFit/>
          </a:bodyPr>
          <a:lstStyle/>
          <a:p>
            <a:pPr algn="l">
              <a:spcBef>
                <a:spcPts val="0"/>
              </a:spcBef>
              <a:spcAft>
                <a:spcPts val="0"/>
              </a:spcAft>
              <a:defRPr sz="850" b="0">
                <a:solidFill>
                  <a:srgbClr val="607080"/>
                </a:solidFill>
                <a:latin typeface="Noto Sans"/>
              </a:defRPr>
            </a:pPr>
            <a:r>
              <a:t>4 Implementation</a:t>
            </a:r>
          </a:p>
        </p:txBody>
      </p:sp>
      <p:sp>
        <p:nvSpPr>
          <p:cNvPr id="11" name="Rectangle 10"/>
          <p:cNvSpPr/>
          <p:nvPr/>
        </p:nvSpPr>
        <p:spPr>
          <a:xfrm>
            <a:off x="5623559" y="786384"/>
            <a:ext cx="1252728" cy="45720"/>
          </a:xfrm>
          <a:prstGeom prst="rect">
            <a:avLst/>
          </a:prstGeom>
          <a:solidFill>
            <a:srgbClr val="D2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623559" y="621792"/>
            <a:ext cx="1252728" cy="164592"/>
          </a:xfrm>
          <a:prstGeom prst="rect">
            <a:avLst/>
          </a:prstGeom>
          <a:noFill/>
        </p:spPr>
        <p:txBody>
          <a:bodyPr wrap="square" lIns="9144" tIns="0" rIns="9144" bIns="0" anchor="ctr">
            <a:spAutoFit/>
          </a:bodyPr>
          <a:lstStyle/>
          <a:p>
            <a:pPr algn="l">
              <a:spcBef>
                <a:spcPts val="0"/>
              </a:spcBef>
              <a:spcAft>
                <a:spcPts val="0"/>
              </a:spcAft>
              <a:defRPr sz="850" b="0">
                <a:solidFill>
                  <a:srgbClr val="607080"/>
                </a:solidFill>
                <a:latin typeface="Noto Sans"/>
              </a:defRPr>
            </a:pPr>
            <a:r>
              <a:t>5 Evaluation</a:t>
            </a:r>
          </a:p>
        </p:txBody>
      </p:sp>
      <p:sp>
        <p:nvSpPr>
          <p:cNvPr id="13" name="Rectangle 12"/>
          <p:cNvSpPr/>
          <p:nvPr/>
        </p:nvSpPr>
        <p:spPr>
          <a:xfrm>
            <a:off x="6912864" y="786384"/>
            <a:ext cx="1216152" cy="45720"/>
          </a:xfrm>
          <a:prstGeom prst="rect">
            <a:avLst/>
          </a:prstGeom>
          <a:solidFill>
            <a:srgbClr val="D2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912864" y="621792"/>
            <a:ext cx="1216152" cy="164592"/>
          </a:xfrm>
          <a:prstGeom prst="rect">
            <a:avLst/>
          </a:prstGeom>
          <a:noFill/>
        </p:spPr>
        <p:txBody>
          <a:bodyPr wrap="square" lIns="9144" tIns="0" rIns="9144" bIns="0" anchor="ctr">
            <a:spAutoFit/>
          </a:bodyPr>
          <a:lstStyle/>
          <a:p>
            <a:pPr algn="l">
              <a:spcBef>
                <a:spcPts val="0"/>
              </a:spcBef>
              <a:spcAft>
                <a:spcPts val="0"/>
              </a:spcAft>
              <a:defRPr sz="850" b="0">
                <a:solidFill>
                  <a:srgbClr val="607080"/>
                </a:solidFill>
                <a:latin typeface="Noto Sans"/>
              </a:defRPr>
            </a:pPr>
            <a:r>
              <a:t>6 Conclusion</a:t>
            </a:r>
          </a:p>
        </p:txBody>
      </p:sp>
      <p:sp>
        <p:nvSpPr>
          <p:cNvPr id="15" name="TextBox 14"/>
          <p:cNvSpPr txBox="1"/>
          <p:nvPr/>
        </p:nvSpPr>
        <p:spPr>
          <a:xfrm>
            <a:off x="320040" y="4572000"/>
            <a:ext cx="8321040" cy="182880"/>
          </a:xfrm>
          <a:prstGeom prst="rect">
            <a:avLst/>
          </a:prstGeom>
          <a:noFill/>
        </p:spPr>
        <p:txBody>
          <a:bodyPr wrap="square" lIns="9144" tIns="0" rIns="9144" bIns="0" anchor="ctr">
            <a:spAutoFit/>
          </a:bodyPr>
          <a:lstStyle/>
          <a:p>
            <a:pPr algn="l">
              <a:spcBef>
                <a:spcPts val="0"/>
              </a:spcBef>
              <a:spcAft>
                <a:spcPts val="0"/>
              </a:spcAft>
              <a:defRPr sz="810" b="0">
                <a:solidFill>
                  <a:srgbClr val="607080"/>
                </a:solidFill>
                <a:latin typeface="Noto Sans"/>
              </a:defRPr>
            </a:pPr>
            <a:r>
              <a:t>Moved to backup as requested in the rehearsal</a:t>
            </a:r>
          </a:p>
        </p:txBody>
      </p:sp>
      <p:sp>
        <p:nvSpPr>
          <p:cNvPr id="16" name="TextBox 15"/>
          <p:cNvSpPr txBox="1"/>
          <p:nvPr/>
        </p:nvSpPr>
        <p:spPr>
          <a:xfrm>
            <a:off x="1234440" y="4873752"/>
            <a:ext cx="6766560" cy="164592"/>
          </a:xfrm>
          <a:prstGeom prst="rect">
            <a:avLst/>
          </a:prstGeom>
          <a:noFill/>
        </p:spPr>
        <p:txBody>
          <a:bodyPr wrap="square" lIns="9144" tIns="0" rIns="9144" bIns="0" anchor="ctr">
            <a:spAutoFit/>
          </a:bodyPr>
          <a:lstStyle/>
          <a:p>
            <a:pPr algn="l">
              <a:spcBef>
                <a:spcPts val="0"/>
              </a:spcBef>
              <a:spcAft>
                <a:spcPts val="0"/>
              </a:spcAft>
              <a:defRPr sz="830" b="0">
                <a:solidFill>
                  <a:srgbClr val="041447"/>
                </a:solidFill>
                <a:latin typeface="Noto Sans"/>
              </a:defRPr>
            </a:pPr>
            <a:r>
              <a:t>Benjamin-Elias Probst  |  Diploma thesis defense  |  28 September 2026</a:t>
            </a:r>
          </a:p>
        </p:txBody>
      </p:sp>
      <p:sp>
        <p:nvSpPr>
          <p:cNvPr id="17" name="TextBox 16"/>
          <p:cNvSpPr txBox="1"/>
          <p:nvPr/>
        </p:nvSpPr>
        <p:spPr>
          <a:xfrm>
            <a:off x="8412480" y="4864608"/>
            <a:ext cx="393192" cy="192024"/>
          </a:xfrm>
          <a:prstGeom prst="rect">
            <a:avLst/>
          </a:prstGeom>
          <a:noFill/>
        </p:spPr>
        <p:txBody>
          <a:bodyPr wrap="square" lIns="9144" tIns="0" rIns="9144" bIns="0" anchor="ctr">
            <a:spAutoFit/>
          </a:bodyPr>
          <a:lstStyle/>
          <a:p>
            <a:pPr algn="r">
              <a:spcBef>
                <a:spcPts val="0"/>
              </a:spcBef>
              <a:spcAft>
                <a:spcPts val="0"/>
              </a:spcAft>
              <a:defRPr sz="900" b="1">
                <a:solidFill>
                  <a:srgbClr val="041447"/>
                </a:solidFill>
                <a:latin typeface="Noto Sans"/>
              </a:defRPr>
            </a:pPr>
            <a:r>
              <a:t>B5</a:t>
            </a:r>
          </a:p>
        </p:txBody>
      </p:sp>
      <p:sp>
        <p:nvSpPr>
          <p:cNvPr id="18" name="Rounded Rectangle 17"/>
          <p:cNvSpPr/>
          <p:nvPr/>
        </p:nvSpPr>
        <p:spPr>
          <a:xfrm>
            <a:off x="2606040" y="1060704"/>
            <a:ext cx="3931920" cy="704088"/>
          </a:xfrm>
          <a:prstGeom prst="roundRect">
            <a:avLst>
              <a:gd name="adj" fmla="val 8000"/>
            </a:avLst>
          </a:prstGeom>
          <a:solidFill>
            <a:srgbClr val="EFF3F7"/>
          </a:solidFill>
          <a:ln w="10160">
            <a:solidFill>
              <a:srgbClr val="D2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2606040" y="1060704"/>
            <a:ext cx="32004" cy="704088"/>
          </a:xfrm>
          <a:prstGeom prst="rect">
            <a:avLst/>
          </a:prstGeom>
          <a:solidFill>
            <a:srgbClr val="0414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2706624" y="1092707"/>
            <a:ext cx="3749039" cy="283464"/>
          </a:xfrm>
          <a:prstGeom prst="rect">
            <a:avLst/>
          </a:prstGeom>
          <a:noFill/>
        </p:spPr>
        <p:txBody>
          <a:bodyPr wrap="square" lIns="9144" tIns="0" rIns="9144" bIns="0" anchor="ctr">
            <a:spAutoFit/>
          </a:bodyPr>
          <a:lstStyle/>
          <a:p>
            <a:pPr algn="l">
              <a:spcBef>
                <a:spcPts val="0"/>
              </a:spcBef>
              <a:spcAft>
                <a:spcPts val="0"/>
              </a:spcAft>
              <a:defRPr sz="1800" b="1">
                <a:solidFill>
                  <a:srgbClr val="041447"/>
                </a:solidFill>
                <a:latin typeface="Noto Sans"/>
              </a:defRPr>
            </a:pPr>
            <a:r>
              <a:t>Super-project</a:t>
            </a:r>
          </a:p>
        </p:txBody>
      </p:sp>
      <p:sp>
        <p:nvSpPr>
          <p:cNvPr id="21" name="TextBox 20"/>
          <p:cNvSpPr txBox="1"/>
          <p:nvPr/>
        </p:nvSpPr>
        <p:spPr>
          <a:xfrm>
            <a:off x="2706624" y="1394460"/>
            <a:ext cx="3749039" cy="347472"/>
          </a:xfrm>
          <a:prstGeom prst="rect">
            <a:avLst/>
          </a:prstGeom>
          <a:noFill/>
        </p:spPr>
        <p:txBody>
          <a:bodyPr wrap="square" lIns="9144" tIns="0" rIns="9144" bIns="0" anchor="ctr">
            <a:spAutoFit/>
          </a:bodyPr>
          <a:lstStyle/>
          <a:p>
            <a:pPr algn="l">
              <a:spcBef>
                <a:spcPts val="0"/>
              </a:spcBef>
              <a:spcAft>
                <a:spcPts val="0"/>
              </a:spcAft>
              <a:defRPr sz="1120" b="0">
                <a:solidFill>
                  <a:srgbClr val="192B43"/>
                </a:solidFill>
                <a:latin typeface="Noto Sans"/>
              </a:defRPr>
            </a:pPr>
            <a:r>
              <a:t>reference experiment application</a:t>
            </a:r>
          </a:p>
        </p:txBody>
      </p:sp>
      <p:sp>
        <p:nvSpPr>
          <p:cNvPr id="22" name="Rounded Rectangle 21"/>
          <p:cNvSpPr/>
          <p:nvPr/>
        </p:nvSpPr>
        <p:spPr>
          <a:xfrm>
            <a:off x="502920" y="2130552"/>
            <a:ext cx="3730752" cy="822960"/>
          </a:xfrm>
          <a:prstGeom prst="roundRect">
            <a:avLst>
              <a:gd name="adj" fmla="val 8000"/>
            </a:avLst>
          </a:prstGeom>
          <a:solidFill>
            <a:srgbClr val="EFF3F7"/>
          </a:solidFill>
          <a:ln w="10160">
            <a:solidFill>
              <a:srgbClr val="D2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502920" y="2130552"/>
            <a:ext cx="32004" cy="822960"/>
          </a:xfrm>
          <a:prstGeom prst="rect">
            <a:avLst/>
          </a:prstGeom>
          <a:solidFill>
            <a:srgbClr val="008A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03504" y="2162556"/>
            <a:ext cx="3547872" cy="283464"/>
          </a:xfrm>
          <a:prstGeom prst="rect">
            <a:avLst/>
          </a:prstGeom>
          <a:noFill/>
        </p:spPr>
        <p:txBody>
          <a:bodyPr wrap="square" lIns="9144" tIns="0" rIns="9144" bIns="0" anchor="ctr">
            <a:spAutoFit/>
          </a:bodyPr>
          <a:lstStyle/>
          <a:p>
            <a:pPr algn="l">
              <a:spcBef>
                <a:spcPts val="0"/>
              </a:spcBef>
              <a:spcAft>
                <a:spcPts val="0"/>
              </a:spcAft>
              <a:defRPr sz="1800" b="1">
                <a:solidFill>
                  <a:srgbClr val="008A96"/>
                </a:solidFill>
                <a:latin typeface="Noto Sans"/>
              </a:defRPr>
            </a:pPr>
            <a:r>
              <a:t>Cache Engine</a:t>
            </a:r>
          </a:p>
        </p:txBody>
      </p:sp>
      <p:sp>
        <p:nvSpPr>
          <p:cNvPr id="25" name="TextBox 24"/>
          <p:cNvSpPr txBox="1"/>
          <p:nvPr/>
        </p:nvSpPr>
        <p:spPr>
          <a:xfrm>
            <a:off x="603504" y="2464308"/>
            <a:ext cx="3547872" cy="466344"/>
          </a:xfrm>
          <a:prstGeom prst="rect">
            <a:avLst/>
          </a:prstGeom>
          <a:noFill/>
        </p:spPr>
        <p:txBody>
          <a:bodyPr wrap="square" lIns="9144" tIns="0" rIns="9144" bIns="0" anchor="ctr">
            <a:spAutoFit/>
          </a:bodyPr>
          <a:lstStyle/>
          <a:p>
            <a:pPr algn="l">
              <a:spcBef>
                <a:spcPts val="0"/>
              </a:spcBef>
              <a:spcAft>
                <a:spcPts val="0"/>
              </a:spcAft>
              <a:defRPr sz="1120" b="0">
                <a:solidFill>
                  <a:srgbClr val="192B43"/>
                </a:solidFill>
                <a:latin typeface="Noto Sans"/>
              </a:defRPr>
            </a:pPr>
            <a:r>
              <a:t>reusable experiment framework</a:t>
            </a:r>
          </a:p>
        </p:txBody>
      </p:sp>
      <p:sp>
        <p:nvSpPr>
          <p:cNvPr id="26" name="Rounded Rectangle 25"/>
          <p:cNvSpPr/>
          <p:nvPr/>
        </p:nvSpPr>
        <p:spPr>
          <a:xfrm>
            <a:off x="4910328" y="2130552"/>
            <a:ext cx="3730752" cy="822960"/>
          </a:xfrm>
          <a:prstGeom prst="roundRect">
            <a:avLst>
              <a:gd name="adj" fmla="val 8000"/>
            </a:avLst>
          </a:prstGeom>
          <a:solidFill>
            <a:srgbClr val="EFF3F7"/>
          </a:solidFill>
          <a:ln w="10160">
            <a:solidFill>
              <a:srgbClr val="D2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4910328" y="2130552"/>
            <a:ext cx="32004" cy="822960"/>
          </a:xfrm>
          <a:prstGeom prst="rect">
            <a:avLst/>
          </a:prstGeom>
          <a:solidFill>
            <a:srgbClr val="7458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5010912" y="2162556"/>
            <a:ext cx="3547872" cy="283464"/>
          </a:xfrm>
          <a:prstGeom prst="rect">
            <a:avLst/>
          </a:prstGeom>
          <a:noFill/>
        </p:spPr>
        <p:txBody>
          <a:bodyPr wrap="square" lIns="9144" tIns="0" rIns="9144" bIns="0" anchor="ctr">
            <a:spAutoFit/>
          </a:bodyPr>
          <a:lstStyle/>
          <a:p>
            <a:pPr algn="l">
              <a:spcBef>
                <a:spcPts val="0"/>
              </a:spcBef>
              <a:spcAft>
                <a:spcPts val="0"/>
              </a:spcAft>
              <a:defRPr sz="1800" b="1">
                <a:solidFill>
                  <a:srgbClr val="74589E"/>
                </a:solidFill>
                <a:latin typeface="Noto Sans"/>
              </a:defRPr>
            </a:pPr>
            <a:r>
              <a:t>PRT-ART</a:t>
            </a:r>
          </a:p>
        </p:txBody>
      </p:sp>
      <p:sp>
        <p:nvSpPr>
          <p:cNvPr id="29" name="TextBox 28"/>
          <p:cNvSpPr txBox="1"/>
          <p:nvPr/>
        </p:nvSpPr>
        <p:spPr>
          <a:xfrm>
            <a:off x="5010912" y="2464308"/>
            <a:ext cx="3547872" cy="466344"/>
          </a:xfrm>
          <a:prstGeom prst="rect">
            <a:avLst/>
          </a:prstGeom>
          <a:noFill/>
        </p:spPr>
        <p:txBody>
          <a:bodyPr wrap="square" lIns="9144" tIns="0" rIns="9144" bIns="0" anchor="ctr">
            <a:spAutoFit/>
          </a:bodyPr>
          <a:lstStyle/>
          <a:p>
            <a:pPr algn="l">
              <a:spcBef>
                <a:spcPts val="0"/>
              </a:spcBef>
              <a:spcAft>
                <a:spcPts val="0"/>
              </a:spcAft>
              <a:defRPr sz="1120" b="0">
                <a:solidFill>
                  <a:srgbClr val="192B43"/>
                </a:solidFill>
                <a:latin typeface="Noto Sans"/>
              </a:defRPr>
            </a:pPr>
            <a:r>
              <a:t>experimental plugin</a:t>
            </a:r>
          </a:p>
        </p:txBody>
      </p:sp>
      <p:cxnSp>
        <p:nvCxnSpPr>
          <p:cNvPr id="30" name="Connector 29"/>
          <p:cNvCxnSpPr/>
          <p:nvPr/>
        </p:nvCxnSpPr>
        <p:spPr>
          <a:xfrm flipH="1">
            <a:off x="2377440" y="1792224"/>
            <a:ext cx="731520" cy="283464"/>
          </a:xfrm>
          <a:prstGeom prst="line">
            <a:avLst/>
          </a:prstGeom>
          <a:ln w="15240">
            <a:solidFill>
              <a:srgbClr val="607080"/>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6035040" y="1792224"/>
            <a:ext cx="731520" cy="283464"/>
          </a:xfrm>
          <a:prstGeom prst="line">
            <a:avLst/>
          </a:prstGeom>
          <a:ln w="15240">
            <a:solidFill>
              <a:srgbClr val="607080"/>
            </a:solidFill>
            <a:tailEnd type="triangle" w="sm" len="sm"/>
          </a:ln>
        </p:spPr>
        <p:style>
          <a:lnRef idx="2">
            <a:schemeClr val="accent1"/>
          </a:lnRef>
          <a:fillRef idx="0">
            <a:schemeClr val="accent1"/>
          </a:fillRef>
          <a:effectRef idx="1">
            <a:schemeClr val="accent1"/>
          </a:effectRef>
          <a:fontRef idx="minor">
            <a:schemeClr val="tx1"/>
          </a:fontRef>
        </p:style>
      </p:cxnSp>
      <p:sp>
        <p:nvSpPr>
          <p:cNvPr id="32" name="Rounded Rectangle 31"/>
          <p:cNvSpPr/>
          <p:nvPr/>
        </p:nvSpPr>
        <p:spPr>
          <a:xfrm>
            <a:off x="2615184" y="3392424"/>
            <a:ext cx="3913632" cy="704088"/>
          </a:xfrm>
          <a:prstGeom prst="roundRect">
            <a:avLst>
              <a:gd name="adj" fmla="val 8000"/>
            </a:avLst>
          </a:prstGeom>
          <a:solidFill>
            <a:srgbClr val="EFF3F7"/>
          </a:solidFill>
          <a:ln w="10160">
            <a:solidFill>
              <a:srgbClr val="D2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2615184" y="3392424"/>
            <a:ext cx="32004" cy="704088"/>
          </a:xfrm>
          <a:prstGeom prst="rect">
            <a:avLst/>
          </a:prstGeom>
          <a:solidFill>
            <a:srgbClr val="3178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2715768" y="3424428"/>
            <a:ext cx="3730752" cy="283464"/>
          </a:xfrm>
          <a:prstGeom prst="rect">
            <a:avLst/>
          </a:prstGeom>
          <a:noFill/>
        </p:spPr>
        <p:txBody>
          <a:bodyPr wrap="square" lIns="9144" tIns="0" rIns="9144" bIns="0" anchor="ctr">
            <a:spAutoFit/>
          </a:bodyPr>
          <a:lstStyle/>
          <a:p>
            <a:pPr algn="l">
              <a:spcBef>
                <a:spcPts val="0"/>
              </a:spcBef>
              <a:spcAft>
                <a:spcPts val="0"/>
              </a:spcAft>
              <a:defRPr sz="1800" b="1">
                <a:solidFill>
                  <a:srgbClr val="3178B9"/>
                </a:solidFill>
                <a:latin typeface="Noto Sans"/>
              </a:defRPr>
            </a:pPr>
            <a:r>
              <a:t>Overleaf thesis</a:t>
            </a:r>
          </a:p>
        </p:txBody>
      </p:sp>
      <p:sp>
        <p:nvSpPr>
          <p:cNvPr id="35" name="TextBox 34"/>
          <p:cNvSpPr txBox="1"/>
          <p:nvPr/>
        </p:nvSpPr>
        <p:spPr>
          <a:xfrm>
            <a:off x="2715768" y="3726180"/>
            <a:ext cx="3730752" cy="347472"/>
          </a:xfrm>
          <a:prstGeom prst="rect">
            <a:avLst/>
          </a:prstGeom>
          <a:noFill/>
        </p:spPr>
        <p:txBody>
          <a:bodyPr wrap="square" lIns="9144" tIns="0" rIns="9144" bIns="0" anchor="ctr">
            <a:spAutoFit/>
          </a:bodyPr>
          <a:lstStyle/>
          <a:p>
            <a:pPr algn="l">
              <a:spcBef>
                <a:spcPts val="0"/>
              </a:spcBef>
              <a:spcAft>
                <a:spcPts val="0"/>
              </a:spcAft>
              <a:defRPr sz="1120" b="0">
                <a:solidFill>
                  <a:srgbClr val="192B43"/>
                </a:solidFill>
                <a:latin typeface="Noto Sans"/>
              </a:defRPr>
            </a:pPr>
            <a:r>
              <a:t>text + generated tables / diagrams</a:t>
            </a:r>
          </a:p>
        </p:txBody>
      </p:sp>
      <p:cxnSp>
        <p:nvCxnSpPr>
          <p:cNvPr id="36" name="Connector 35"/>
          <p:cNvCxnSpPr/>
          <p:nvPr/>
        </p:nvCxnSpPr>
        <p:spPr>
          <a:xfrm>
            <a:off x="2377440" y="2980944"/>
            <a:ext cx="1298447" cy="384048"/>
          </a:xfrm>
          <a:prstGeom prst="line">
            <a:avLst/>
          </a:prstGeom>
          <a:ln w="15240">
            <a:solidFill>
              <a:srgbClr val="607080"/>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H="1">
            <a:off x="5605272" y="2980944"/>
            <a:ext cx="1170432" cy="384048"/>
          </a:xfrm>
          <a:prstGeom prst="line">
            <a:avLst/>
          </a:prstGeom>
          <a:ln w="15240">
            <a:solidFill>
              <a:srgbClr val="607080"/>
            </a:solidFill>
            <a:tailEnd type="triangle" w="sm" len="sm"/>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Box 1"/>
          <p:cNvSpPr txBox="1"/>
          <p:nvPr/>
        </p:nvSpPr>
        <p:spPr>
          <a:xfrm>
            <a:off x="283464" y="182880"/>
            <a:ext cx="7360920" cy="438912"/>
          </a:xfrm>
          <a:prstGeom prst="rect">
            <a:avLst/>
          </a:prstGeom>
          <a:noFill/>
        </p:spPr>
        <p:txBody>
          <a:bodyPr wrap="square" lIns="9144" tIns="0" rIns="9144" bIns="0" anchor="ctr">
            <a:spAutoFit/>
          </a:bodyPr>
          <a:lstStyle/>
          <a:p>
            <a:pPr algn="l">
              <a:spcBef>
                <a:spcPts val="0"/>
              </a:spcBef>
              <a:spcAft>
                <a:spcPts val="0"/>
              </a:spcAft>
              <a:defRPr sz="2400" b="1">
                <a:solidFill>
                  <a:srgbClr val="041447"/>
                </a:solidFill>
                <a:latin typeface="Noto Sans"/>
              </a:defRPr>
            </a:pPr>
            <a:r>
              <a:t>B6 · From the four-axis measurement to final evidence</a:t>
            </a:r>
          </a:p>
        </p:txBody>
      </p:sp>
      <p:sp>
        <p:nvSpPr>
          <p:cNvPr id="3" name="Rectangle 2"/>
          <p:cNvSpPr/>
          <p:nvPr/>
        </p:nvSpPr>
        <p:spPr>
          <a:xfrm>
            <a:off x="310896" y="786384"/>
            <a:ext cx="1197864" cy="45720"/>
          </a:xfrm>
          <a:prstGeom prst="rect">
            <a:avLst/>
          </a:prstGeom>
          <a:solidFill>
            <a:srgbClr val="D2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10896" y="621792"/>
            <a:ext cx="1197864" cy="164592"/>
          </a:xfrm>
          <a:prstGeom prst="rect">
            <a:avLst/>
          </a:prstGeom>
          <a:noFill/>
        </p:spPr>
        <p:txBody>
          <a:bodyPr wrap="square" lIns="9144" tIns="0" rIns="9144" bIns="0" anchor="ctr">
            <a:spAutoFit/>
          </a:bodyPr>
          <a:lstStyle/>
          <a:p>
            <a:pPr algn="l">
              <a:spcBef>
                <a:spcPts val="0"/>
              </a:spcBef>
              <a:spcAft>
                <a:spcPts val="0"/>
              </a:spcAft>
              <a:defRPr sz="850" b="0">
                <a:solidFill>
                  <a:srgbClr val="607080"/>
                </a:solidFill>
                <a:latin typeface="Noto Sans"/>
              </a:defRPr>
            </a:pPr>
            <a:r>
              <a:t>1 Introduction</a:t>
            </a:r>
          </a:p>
        </p:txBody>
      </p:sp>
      <p:sp>
        <p:nvSpPr>
          <p:cNvPr id="5" name="Rectangle 4"/>
          <p:cNvSpPr/>
          <p:nvPr/>
        </p:nvSpPr>
        <p:spPr>
          <a:xfrm>
            <a:off x="1545336" y="786384"/>
            <a:ext cx="1243584" cy="45720"/>
          </a:xfrm>
          <a:prstGeom prst="rect">
            <a:avLst/>
          </a:prstGeom>
          <a:solidFill>
            <a:srgbClr val="D2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545336" y="621792"/>
            <a:ext cx="1243584" cy="164592"/>
          </a:xfrm>
          <a:prstGeom prst="rect">
            <a:avLst/>
          </a:prstGeom>
          <a:noFill/>
        </p:spPr>
        <p:txBody>
          <a:bodyPr wrap="square" lIns="9144" tIns="0" rIns="9144" bIns="0" anchor="ctr">
            <a:spAutoFit/>
          </a:bodyPr>
          <a:lstStyle/>
          <a:p>
            <a:pPr algn="l">
              <a:spcBef>
                <a:spcPts val="0"/>
              </a:spcBef>
              <a:spcAft>
                <a:spcPts val="0"/>
              </a:spcAft>
              <a:defRPr sz="850" b="0">
                <a:solidFill>
                  <a:srgbClr val="607080"/>
                </a:solidFill>
                <a:latin typeface="Noto Sans"/>
              </a:defRPr>
            </a:pPr>
            <a:r>
              <a:t>2 Background</a:t>
            </a:r>
          </a:p>
        </p:txBody>
      </p:sp>
      <p:sp>
        <p:nvSpPr>
          <p:cNvPr id="7" name="Rectangle 6"/>
          <p:cNvSpPr/>
          <p:nvPr/>
        </p:nvSpPr>
        <p:spPr>
          <a:xfrm>
            <a:off x="2825496" y="786384"/>
            <a:ext cx="1078992" cy="45720"/>
          </a:xfrm>
          <a:prstGeom prst="rect">
            <a:avLst/>
          </a:prstGeom>
          <a:solidFill>
            <a:srgbClr val="D2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2825496" y="621792"/>
            <a:ext cx="1078992" cy="164592"/>
          </a:xfrm>
          <a:prstGeom prst="rect">
            <a:avLst/>
          </a:prstGeom>
          <a:noFill/>
        </p:spPr>
        <p:txBody>
          <a:bodyPr wrap="square" lIns="9144" tIns="0" rIns="9144" bIns="0" anchor="ctr">
            <a:spAutoFit/>
          </a:bodyPr>
          <a:lstStyle/>
          <a:p>
            <a:pPr algn="l">
              <a:spcBef>
                <a:spcPts val="0"/>
              </a:spcBef>
              <a:spcAft>
                <a:spcPts val="0"/>
              </a:spcAft>
              <a:defRPr sz="850" b="0">
                <a:solidFill>
                  <a:srgbClr val="607080"/>
                </a:solidFill>
                <a:latin typeface="Noto Sans"/>
              </a:defRPr>
            </a:pPr>
            <a:r>
              <a:t>3 Concept</a:t>
            </a:r>
          </a:p>
        </p:txBody>
      </p:sp>
      <p:sp>
        <p:nvSpPr>
          <p:cNvPr id="9" name="Rectangle 8"/>
          <p:cNvSpPr/>
          <p:nvPr/>
        </p:nvSpPr>
        <p:spPr>
          <a:xfrm>
            <a:off x="3941063" y="786384"/>
            <a:ext cx="1645920" cy="45720"/>
          </a:xfrm>
          <a:prstGeom prst="rect">
            <a:avLst/>
          </a:prstGeom>
          <a:solidFill>
            <a:srgbClr val="D2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941063" y="621792"/>
            <a:ext cx="1645920" cy="164592"/>
          </a:xfrm>
          <a:prstGeom prst="rect">
            <a:avLst/>
          </a:prstGeom>
          <a:noFill/>
        </p:spPr>
        <p:txBody>
          <a:bodyPr wrap="square" lIns="9144" tIns="0" rIns="9144" bIns="0" anchor="ctr">
            <a:spAutoFit/>
          </a:bodyPr>
          <a:lstStyle/>
          <a:p>
            <a:pPr algn="l">
              <a:spcBef>
                <a:spcPts val="0"/>
              </a:spcBef>
              <a:spcAft>
                <a:spcPts val="0"/>
              </a:spcAft>
              <a:defRPr sz="850" b="0">
                <a:solidFill>
                  <a:srgbClr val="607080"/>
                </a:solidFill>
                <a:latin typeface="Noto Sans"/>
              </a:defRPr>
            </a:pPr>
            <a:r>
              <a:t>4 Implementation</a:t>
            </a:r>
          </a:p>
        </p:txBody>
      </p:sp>
      <p:sp>
        <p:nvSpPr>
          <p:cNvPr id="11" name="Rectangle 10"/>
          <p:cNvSpPr/>
          <p:nvPr/>
        </p:nvSpPr>
        <p:spPr>
          <a:xfrm>
            <a:off x="5623559" y="786384"/>
            <a:ext cx="1252728" cy="45720"/>
          </a:xfrm>
          <a:prstGeom prst="rect">
            <a:avLst/>
          </a:prstGeom>
          <a:solidFill>
            <a:srgbClr val="D2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623559" y="621792"/>
            <a:ext cx="1252728" cy="164592"/>
          </a:xfrm>
          <a:prstGeom prst="rect">
            <a:avLst/>
          </a:prstGeom>
          <a:noFill/>
        </p:spPr>
        <p:txBody>
          <a:bodyPr wrap="square" lIns="9144" tIns="0" rIns="9144" bIns="0" anchor="ctr">
            <a:spAutoFit/>
          </a:bodyPr>
          <a:lstStyle/>
          <a:p>
            <a:pPr algn="l">
              <a:spcBef>
                <a:spcPts val="0"/>
              </a:spcBef>
              <a:spcAft>
                <a:spcPts val="0"/>
              </a:spcAft>
              <a:defRPr sz="850" b="0">
                <a:solidFill>
                  <a:srgbClr val="607080"/>
                </a:solidFill>
                <a:latin typeface="Noto Sans"/>
              </a:defRPr>
            </a:pPr>
            <a:r>
              <a:t>5 Evaluation</a:t>
            </a:r>
          </a:p>
        </p:txBody>
      </p:sp>
      <p:sp>
        <p:nvSpPr>
          <p:cNvPr id="13" name="Rectangle 12"/>
          <p:cNvSpPr/>
          <p:nvPr/>
        </p:nvSpPr>
        <p:spPr>
          <a:xfrm>
            <a:off x="6912864" y="786384"/>
            <a:ext cx="1216152" cy="45720"/>
          </a:xfrm>
          <a:prstGeom prst="rect">
            <a:avLst/>
          </a:prstGeom>
          <a:solidFill>
            <a:srgbClr val="D2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912864" y="621792"/>
            <a:ext cx="1216152" cy="164592"/>
          </a:xfrm>
          <a:prstGeom prst="rect">
            <a:avLst/>
          </a:prstGeom>
          <a:noFill/>
        </p:spPr>
        <p:txBody>
          <a:bodyPr wrap="square" lIns="9144" tIns="0" rIns="9144" bIns="0" anchor="ctr">
            <a:spAutoFit/>
          </a:bodyPr>
          <a:lstStyle/>
          <a:p>
            <a:pPr algn="l">
              <a:spcBef>
                <a:spcPts val="0"/>
              </a:spcBef>
              <a:spcAft>
                <a:spcPts val="0"/>
              </a:spcAft>
              <a:defRPr sz="850" b="0">
                <a:solidFill>
                  <a:srgbClr val="607080"/>
                </a:solidFill>
                <a:latin typeface="Noto Sans"/>
              </a:defRPr>
            </a:pPr>
            <a:r>
              <a:t>6 Conclusion</a:t>
            </a:r>
          </a:p>
        </p:txBody>
      </p:sp>
      <p:sp>
        <p:nvSpPr>
          <p:cNvPr id="15" name="TextBox 14"/>
          <p:cNvSpPr txBox="1"/>
          <p:nvPr/>
        </p:nvSpPr>
        <p:spPr>
          <a:xfrm>
            <a:off x="320040" y="4572000"/>
            <a:ext cx="8321040" cy="182880"/>
          </a:xfrm>
          <a:prstGeom prst="rect">
            <a:avLst/>
          </a:prstGeom>
          <a:noFill/>
        </p:spPr>
        <p:txBody>
          <a:bodyPr wrap="square" lIns="9144" tIns="0" rIns="9144" bIns="0" anchor="ctr">
            <a:spAutoFit/>
          </a:bodyPr>
          <a:lstStyle/>
          <a:p>
            <a:pPr algn="l">
              <a:spcBef>
                <a:spcPts val="0"/>
              </a:spcBef>
              <a:spcAft>
                <a:spcPts val="0"/>
              </a:spcAft>
              <a:defRPr sz="810" b="0">
                <a:solidFill>
                  <a:srgbClr val="607080"/>
                </a:solidFill>
                <a:latin typeface="Noto Sans"/>
              </a:defRPr>
            </a:pPr>
            <a:r>
              <a:t>No final run was supplied with the rehearsal recording</a:t>
            </a:r>
          </a:p>
        </p:txBody>
      </p:sp>
      <p:sp>
        <p:nvSpPr>
          <p:cNvPr id="16" name="TextBox 15"/>
          <p:cNvSpPr txBox="1"/>
          <p:nvPr/>
        </p:nvSpPr>
        <p:spPr>
          <a:xfrm>
            <a:off x="1234440" y="4873752"/>
            <a:ext cx="6766560" cy="164592"/>
          </a:xfrm>
          <a:prstGeom prst="rect">
            <a:avLst/>
          </a:prstGeom>
          <a:noFill/>
        </p:spPr>
        <p:txBody>
          <a:bodyPr wrap="square" lIns="9144" tIns="0" rIns="9144" bIns="0" anchor="ctr">
            <a:spAutoFit/>
          </a:bodyPr>
          <a:lstStyle/>
          <a:p>
            <a:pPr algn="l">
              <a:spcBef>
                <a:spcPts val="0"/>
              </a:spcBef>
              <a:spcAft>
                <a:spcPts val="0"/>
              </a:spcAft>
              <a:defRPr sz="830" b="0">
                <a:solidFill>
                  <a:srgbClr val="041447"/>
                </a:solidFill>
                <a:latin typeface="Noto Sans"/>
              </a:defRPr>
            </a:pPr>
            <a:r>
              <a:t>Benjamin-Elias Probst  |  Diploma thesis defense  |  28 September 2026</a:t>
            </a:r>
          </a:p>
        </p:txBody>
      </p:sp>
      <p:sp>
        <p:nvSpPr>
          <p:cNvPr id="17" name="TextBox 16"/>
          <p:cNvSpPr txBox="1"/>
          <p:nvPr/>
        </p:nvSpPr>
        <p:spPr>
          <a:xfrm>
            <a:off x="8412480" y="4864608"/>
            <a:ext cx="393192" cy="192024"/>
          </a:xfrm>
          <a:prstGeom prst="rect">
            <a:avLst/>
          </a:prstGeom>
          <a:noFill/>
        </p:spPr>
        <p:txBody>
          <a:bodyPr wrap="square" lIns="9144" tIns="0" rIns="9144" bIns="0" anchor="ctr">
            <a:spAutoFit/>
          </a:bodyPr>
          <a:lstStyle/>
          <a:p>
            <a:pPr algn="r">
              <a:spcBef>
                <a:spcPts val="0"/>
              </a:spcBef>
              <a:spcAft>
                <a:spcPts val="0"/>
              </a:spcAft>
              <a:defRPr sz="900" b="1">
                <a:solidFill>
                  <a:srgbClr val="041447"/>
                </a:solidFill>
                <a:latin typeface="Noto Sans"/>
              </a:defRPr>
            </a:pPr>
            <a:r>
              <a:t>B6</a:t>
            </a:r>
          </a:p>
        </p:txBody>
      </p:sp>
      <p:sp>
        <p:nvSpPr>
          <p:cNvPr id="18" name="Rectangle 17"/>
          <p:cNvSpPr/>
          <p:nvPr/>
        </p:nvSpPr>
        <p:spPr>
          <a:xfrm>
            <a:off x="457200" y="1133856"/>
            <a:ext cx="1408176" cy="265176"/>
          </a:xfrm>
          <a:prstGeom prst="rect">
            <a:avLst/>
          </a:prstGeom>
          <a:solidFill>
            <a:srgbClr val="0414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93776" y="1147572"/>
            <a:ext cx="1335024" cy="228600"/>
          </a:xfrm>
          <a:prstGeom prst="rect">
            <a:avLst/>
          </a:prstGeom>
          <a:noFill/>
        </p:spPr>
        <p:txBody>
          <a:bodyPr wrap="square" lIns="9144" tIns="0" rIns="9144" bIns="0" anchor="ctr">
            <a:spAutoFit/>
          </a:bodyPr>
          <a:lstStyle/>
          <a:p>
            <a:pPr algn="l">
              <a:spcBef>
                <a:spcPts val="0"/>
              </a:spcBef>
              <a:spcAft>
                <a:spcPts val="0"/>
              </a:spcAft>
              <a:defRPr sz="1100" b="1">
                <a:solidFill>
                  <a:srgbClr val="FFFFFF"/>
                </a:solidFill>
                <a:latin typeface="Noto Sans"/>
              </a:defRPr>
            </a:pPr>
            <a:r>
              <a:t>Identity</a:t>
            </a:r>
          </a:p>
        </p:txBody>
      </p:sp>
      <p:sp>
        <p:nvSpPr>
          <p:cNvPr id="20" name="TextBox 19"/>
          <p:cNvSpPr txBox="1"/>
          <p:nvPr/>
        </p:nvSpPr>
        <p:spPr>
          <a:xfrm>
            <a:off x="2121408" y="1133856"/>
            <a:ext cx="6519672" cy="329184"/>
          </a:xfrm>
          <a:prstGeom prst="rect">
            <a:avLst/>
          </a:prstGeom>
          <a:noFill/>
        </p:spPr>
        <p:txBody>
          <a:bodyPr wrap="square" lIns="9144" tIns="0" rIns="9144" bIns="0" anchor="ctr">
            <a:spAutoFit/>
          </a:bodyPr>
          <a:lstStyle/>
          <a:p>
            <a:pPr algn="l">
              <a:spcBef>
                <a:spcPts val="0"/>
              </a:spcBef>
              <a:spcAft>
                <a:spcPts val="0"/>
              </a:spcAft>
              <a:defRPr sz="1300" b="0">
                <a:solidFill>
                  <a:srgbClr val="192B43"/>
                </a:solidFill>
                <a:latin typeface="Noto Sans"/>
              </a:defRPr>
            </a:pPr>
            <a:r>
              <a:t>exact source / binary / platform / dataset stamps</a:t>
            </a:r>
          </a:p>
        </p:txBody>
      </p:sp>
      <p:sp>
        <p:nvSpPr>
          <p:cNvPr id="21" name="Rectangle 20"/>
          <p:cNvSpPr/>
          <p:nvPr/>
        </p:nvSpPr>
        <p:spPr>
          <a:xfrm>
            <a:off x="457200" y="1655064"/>
            <a:ext cx="1408176" cy="265176"/>
          </a:xfrm>
          <a:prstGeom prst="rect">
            <a:avLst/>
          </a:prstGeom>
          <a:solidFill>
            <a:srgbClr val="0414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493776" y="1668780"/>
            <a:ext cx="1335024" cy="228600"/>
          </a:xfrm>
          <a:prstGeom prst="rect">
            <a:avLst/>
          </a:prstGeom>
          <a:noFill/>
        </p:spPr>
        <p:txBody>
          <a:bodyPr wrap="square" lIns="9144" tIns="0" rIns="9144" bIns="0" anchor="ctr">
            <a:spAutoFit/>
          </a:bodyPr>
          <a:lstStyle/>
          <a:p>
            <a:pPr algn="l">
              <a:spcBef>
                <a:spcPts val="0"/>
              </a:spcBef>
              <a:spcAft>
                <a:spcPts val="0"/>
              </a:spcAft>
              <a:defRPr sz="1100" b="1">
                <a:solidFill>
                  <a:srgbClr val="FFFFFF"/>
                </a:solidFill>
                <a:latin typeface="Noto Sans"/>
              </a:defRPr>
            </a:pPr>
            <a:r>
              <a:t>Correctness</a:t>
            </a:r>
          </a:p>
        </p:txBody>
      </p:sp>
      <p:sp>
        <p:nvSpPr>
          <p:cNvPr id="23" name="TextBox 22"/>
          <p:cNvSpPr txBox="1"/>
          <p:nvPr/>
        </p:nvSpPr>
        <p:spPr>
          <a:xfrm>
            <a:off x="2121408" y="1655064"/>
            <a:ext cx="6519672" cy="329184"/>
          </a:xfrm>
          <a:prstGeom prst="rect">
            <a:avLst/>
          </a:prstGeom>
          <a:noFill/>
        </p:spPr>
        <p:txBody>
          <a:bodyPr wrap="square" lIns="9144" tIns="0" rIns="9144" bIns="0" anchor="ctr">
            <a:spAutoFit/>
          </a:bodyPr>
          <a:lstStyle/>
          <a:p>
            <a:pPr algn="l">
              <a:spcBef>
                <a:spcPts val="0"/>
              </a:spcBef>
              <a:spcAft>
                <a:spcPts val="0"/>
              </a:spcAft>
              <a:defRPr sz="1300" b="0">
                <a:solidFill>
                  <a:srgbClr val="192B43"/>
                </a:solidFill>
                <a:latin typeface="Noto Sans"/>
              </a:defRPr>
            </a:pPr>
            <a:r>
              <a:t>operation semantics; no scan no-ops</a:t>
            </a:r>
          </a:p>
        </p:txBody>
      </p:sp>
      <p:sp>
        <p:nvSpPr>
          <p:cNvPr id="24" name="Rectangle 23"/>
          <p:cNvSpPr/>
          <p:nvPr/>
        </p:nvSpPr>
        <p:spPr>
          <a:xfrm>
            <a:off x="457200" y="2176272"/>
            <a:ext cx="1408176" cy="265176"/>
          </a:xfrm>
          <a:prstGeom prst="rect">
            <a:avLst/>
          </a:prstGeom>
          <a:solidFill>
            <a:srgbClr val="0414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493776" y="2189988"/>
            <a:ext cx="1335024" cy="228600"/>
          </a:xfrm>
          <a:prstGeom prst="rect">
            <a:avLst/>
          </a:prstGeom>
          <a:noFill/>
        </p:spPr>
        <p:txBody>
          <a:bodyPr wrap="square" lIns="9144" tIns="0" rIns="9144" bIns="0" anchor="ctr">
            <a:spAutoFit/>
          </a:bodyPr>
          <a:lstStyle/>
          <a:p>
            <a:pPr algn="l">
              <a:spcBef>
                <a:spcPts val="0"/>
              </a:spcBef>
              <a:spcAft>
                <a:spcPts val="0"/>
              </a:spcAft>
              <a:defRPr sz="1100" b="1">
                <a:solidFill>
                  <a:srgbClr val="FFFFFF"/>
                </a:solidFill>
                <a:latin typeface="Noto Sans"/>
              </a:defRPr>
            </a:pPr>
            <a:r>
              <a:t>Comparison</a:t>
            </a:r>
          </a:p>
        </p:txBody>
      </p:sp>
      <p:sp>
        <p:nvSpPr>
          <p:cNvPr id="26" name="TextBox 25"/>
          <p:cNvSpPr txBox="1"/>
          <p:nvPr/>
        </p:nvSpPr>
        <p:spPr>
          <a:xfrm>
            <a:off x="2121408" y="2176272"/>
            <a:ext cx="6519672" cy="329184"/>
          </a:xfrm>
          <a:prstGeom prst="rect">
            <a:avLst/>
          </a:prstGeom>
          <a:noFill/>
        </p:spPr>
        <p:txBody>
          <a:bodyPr wrap="square" lIns="9144" tIns="0" rIns="9144" bIns="0" anchor="ctr">
            <a:spAutoFit/>
          </a:bodyPr>
          <a:lstStyle/>
          <a:p>
            <a:pPr algn="l">
              <a:spcBef>
                <a:spcPts val="0"/>
              </a:spcBef>
              <a:spcAft>
                <a:spcPts val="0"/>
              </a:spcAft>
              <a:defRPr sz="1300" b="0">
                <a:solidFill>
                  <a:srgbClr val="192B43"/>
                </a:solidFill>
                <a:latin typeface="Noto Sans"/>
              </a:defRPr>
            </a:pPr>
            <a:r>
              <a:t>same contexts, actual repetitions, stated exclusions</a:t>
            </a:r>
          </a:p>
        </p:txBody>
      </p:sp>
      <p:sp>
        <p:nvSpPr>
          <p:cNvPr id="27" name="Rectangle 26"/>
          <p:cNvSpPr/>
          <p:nvPr/>
        </p:nvSpPr>
        <p:spPr>
          <a:xfrm>
            <a:off x="457200" y="2697480"/>
            <a:ext cx="1408176" cy="265176"/>
          </a:xfrm>
          <a:prstGeom prst="rect">
            <a:avLst/>
          </a:prstGeom>
          <a:solidFill>
            <a:srgbClr val="0414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493776" y="2711196"/>
            <a:ext cx="1335024" cy="228600"/>
          </a:xfrm>
          <a:prstGeom prst="rect">
            <a:avLst/>
          </a:prstGeom>
          <a:noFill/>
        </p:spPr>
        <p:txBody>
          <a:bodyPr wrap="square" lIns="9144" tIns="0" rIns="9144" bIns="0" anchor="ctr">
            <a:spAutoFit/>
          </a:bodyPr>
          <a:lstStyle/>
          <a:p>
            <a:pPr algn="l">
              <a:spcBef>
                <a:spcPts val="0"/>
              </a:spcBef>
              <a:spcAft>
                <a:spcPts val="0"/>
              </a:spcAft>
              <a:defRPr sz="1100" b="1">
                <a:solidFill>
                  <a:srgbClr val="FFFFFF"/>
                </a:solidFill>
                <a:latin typeface="Noto Sans"/>
              </a:defRPr>
            </a:pPr>
            <a:r>
              <a:t>Cache claim</a:t>
            </a:r>
          </a:p>
        </p:txBody>
      </p:sp>
      <p:sp>
        <p:nvSpPr>
          <p:cNvPr id="29" name="TextBox 28"/>
          <p:cNvSpPr txBox="1"/>
          <p:nvPr/>
        </p:nvSpPr>
        <p:spPr>
          <a:xfrm>
            <a:off x="2121408" y="2697480"/>
            <a:ext cx="6519672" cy="329184"/>
          </a:xfrm>
          <a:prstGeom prst="rect">
            <a:avLst/>
          </a:prstGeom>
          <a:noFill/>
        </p:spPr>
        <p:txBody>
          <a:bodyPr wrap="square" lIns="9144" tIns="0" rIns="9144" bIns="0" anchor="ctr">
            <a:spAutoFit/>
          </a:bodyPr>
          <a:lstStyle/>
          <a:p>
            <a:pPr algn="l">
              <a:spcBef>
                <a:spcPts val="0"/>
              </a:spcBef>
              <a:spcAft>
                <a:spcPts val="0"/>
              </a:spcAft>
              <a:defRPr sz="1300" b="0">
                <a:solidFill>
                  <a:srgbClr val="192B43"/>
                </a:solidFill>
                <a:latin typeface="Noto Sans"/>
              </a:defRPr>
            </a:pPr>
            <a:r>
              <a:t>validated line-count semantics or real counters</a:t>
            </a:r>
          </a:p>
        </p:txBody>
      </p:sp>
      <p:sp>
        <p:nvSpPr>
          <p:cNvPr id="30" name="Rectangle 29"/>
          <p:cNvSpPr/>
          <p:nvPr/>
        </p:nvSpPr>
        <p:spPr>
          <a:xfrm>
            <a:off x="457200" y="3218687"/>
            <a:ext cx="1408176" cy="265176"/>
          </a:xfrm>
          <a:prstGeom prst="rect">
            <a:avLst/>
          </a:prstGeom>
          <a:solidFill>
            <a:srgbClr val="0414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493776" y="3232403"/>
            <a:ext cx="1335024" cy="228600"/>
          </a:xfrm>
          <a:prstGeom prst="rect">
            <a:avLst/>
          </a:prstGeom>
          <a:noFill/>
        </p:spPr>
        <p:txBody>
          <a:bodyPr wrap="square" lIns="9144" tIns="0" rIns="9144" bIns="0" anchor="ctr">
            <a:spAutoFit/>
          </a:bodyPr>
          <a:lstStyle/>
          <a:p>
            <a:pPr algn="l">
              <a:spcBef>
                <a:spcPts val="0"/>
              </a:spcBef>
              <a:spcAft>
                <a:spcPts val="0"/>
              </a:spcAft>
              <a:defRPr sz="1100" b="1">
                <a:solidFill>
                  <a:srgbClr val="FFFFFF"/>
                </a:solidFill>
                <a:latin typeface="Noto Sans"/>
              </a:defRPr>
            </a:pPr>
            <a:r>
              <a:t>Release</a:t>
            </a:r>
          </a:p>
        </p:txBody>
      </p:sp>
      <p:sp>
        <p:nvSpPr>
          <p:cNvPr id="32" name="TextBox 31"/>
          <p:cNvSpPr txBox="1"/>
          <p:nvPr/>
        </p:nvSpPr>
        <p:spPr>
          <a:xfrm>
            <a:off x="2121408" y="3218687"/>
            <a:ext cx="6519672" cy="329184"/>
          </a:xfrm>
          <a:prstGeom prst="rect">
            <a:avLst/>
          </a:prstGeom>
          <a:noFill/>
        </p:spPr>
        <p:txBody>
          <a:bodyPr wrap="square" lIns="9144" tIns="0" rIns="9144" bIns="0" anchor="ctr">
            <a:spAutoFit/>
          </a:bodyPr>
          <a:lstStyle/>
          <a:p>
            <a:pPr algn="l">
              <a:spcBef>
                <a:spcPts val="0"/>
              </a:spcBef>
              <a:spcAft>
                <a:spcPts val="0"/>
              </a:spcAft>
              <a:defRPr sz="1300" b="0">
                <a:solidFill>
                  <a:srgbClr val="192B43"/>
                </a:solidFill>
                <a:latin typeface="Noto Sans"/>
              </a:defRPr>
            </a:pPr>
            <a:r>
              <a:t>selected artifact linked to the evidence</a:t>
            </a:r>
          </a:p>
        </p:txBody>
      </p:sp>
      <p:sp>
        <p:nvSpPr>
          <p:cNvPr id="33" name="Rectangle 32"/>
          <p:cNvSpPr/>
          <p:nvPr/>
        </p:nvSpPr>
        <p:spPr>
          <a:xfrm>
            <a:off x="329184" y="4096512"/>
            <a:ext cx="8458200" cy="356616"/>
          </a:xfrm>
          <a:prstGeom prst="rect">
            <a:avLst/>
          </a:prstGeom>
          <a:solidFill>
            <a:srgbClr val="A4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438912" y="4123944"/>
            <a:ext cx="8211312" cy="292608"/>
          </a:xfrm>
          <a:prstGeom prst="rect">
            <a:avLst/>
          </a:prstGeom>
          <a:noFill/>
        </p:spPr>
        <p:txBody>
          <a:bodyPr wrap="square" lIns="9144" tIns="0" rIns="9144" bIns="0" anchor="ctr">
            <a:spAutoFit/>
          </a:bodyPr>
          <a:lstStyle/>
          <a:p>
            <a:pPr algn="l">
              <a:spcBef>
                <a:spcPts val="0"/>
              </a:spcBef>
              <a:spcAft>
                <a:spcPts val="0"/>
              </a:spcAft>
              <a:defRPr sz="1300" b="1">
                <a:solidFill>
                  <a:srgbClr val="FFFFFF"/>
                </a:solidFill>
                <a:latin typeface="Noto Sans"/>
              </a:defRPr>
            </a:pPr>
            <a:r>
              <a:t>A clean rerun is needed; renaming old measurements “final” is not acceptable.</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Box 1"/>
          <p:cNvSpPr txBox="1"/>
          <p:nvPr/>
        </p:nvSpPr>
        <p:spPr>
          <a:xfrm>
            <a:off x="283464" y="182880"/>
            <a:ext cx="7360920" cy="438912"/>
          </a:xfrm>
          <a:prstGeom prst="rect">
            <a:avLst/>
          </a:prstGeom>
          <a:noFill/>
        </p:spPr>
        <p:txBody>
          <a:bodyPr wrap="square" lIns="9144" tIns="0" rIns="9144" bIns="0" anchor="ctr">
            <a:spAutoFit/>
          </a:bodyPr>
          <a:lstStyle/>
          <a:p>
            <a:pPr algn="l">
              <a:spcBef>
                <a:spcPts val="0"/>
              </a:spcBef>
              <a:spcAft>
                <a:spcPts val="0"/>
              </a:spcAft>
              <a:defRPr sz="2400" b="1">
                <a:solidFill>
                  <a:srgbClr val="041447"/>
                </a:solidFill>
                <a:latin typeface="Noto Sans"/>
              </a:defRPr>
            </a:pPr>
            <a:r>
              <a:t>B7 · Thesis-to-talk crosswalk</a:t>
            </a:r>
          </a:p>
        </p:txBody>
      </p:sp>
      <p:sp>
        <p:nvSpPr>
          <p:cNvPr id="3" name="Rectangle 2"/>
          <p:cNvSpPr/>
          <p:nvPr/>
        </p:nvSpPr>
        <p:spPr>
          <a:xfrm>
            <a:off x="310896" y="786384"/>
            <a:ext cx="1197864" cy="45720"/>
          </a:xfrm>
          <a:prstGeom prst="rect">
            <a:avLst/>
          </a:prstGeom>
          <a:solidFill>
            <a:srgbClr val="D2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10896" y="621792"/>
            <a:ext cx="1197864" cy="164592"/>
          </a:xfrm>
          <a:prstGeom prst="rect">
            <a:avLst/>
          </a:prstGeom>
          <a:noFill/>
        </p:spPr>
        <p:txBody>
          <a:bodyPr wrap="square" lIns="9144" tIns="0" rIns="9144" bIns="0" anchor="ctr">
            <a:spAutoFit/>
          </a:bodyPr>
          <a:lstStyle/>
          <a:p>
            <a:pPr algn="l">
              <a:spcBef>
                <a:spcPts val="0"/>
              </a:spcBef>
              <a:spcAft>
                <a:spcPts val="0"/>
              </a:spcAft>
              <a:defRPr sz="850" b="0">
                <a:solidFill>
                  <a:srgbClr val="607080"/>
                </a:solidFill>
                <a:latin typeface="Noto Sans"/>
              </a:defRPr>
            </a:pPr>
            <a:r>
              <a:t>1 Introduction</a:t>
            </a:r>
          </a:p>
        </p:txBody>
      </p:sp>
      <p:sp>
        <p:nvSpPr>
          <p:cNvPr id="5" name="Rectangle 4"/>
          <p:cNvSpPr/>
          <p:nvPr/>
        </p:nvSpPr>
        <p:spPr>
          <a:xfrm>
            <a:off x="1545336" y="786384"/>
            <a:ext cx="1243584" cy="45720"/>
          </a:xfrm>
          <a:prstGeom prst="rect">
            <a:avLst/>
          </a:prstGeom>
          <a:solidFill>
            <a:srgbClr val="D2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545336" y="621792"/>
            <a:ext cx="1243584" cy="164592"/>
          </a:xfrm>
          <a:prstGeom prst="rect">
            <a:avLst/>
          </a:prstGeom>
          <a:noFill/>
        </p:spPr>
        <p:txBody>
          <a:bodyPr wrap="square" lIns="9144" tIns="0" rIns="9144" bIns="0" anchor="ctr">
            <a:spAutoFit/>
          </a:bodyPr>
          <a:lstStyle/>
          <a:p>
            <a:pPr algn="l">
              <a:spcBef>
                <a:spcPts val="0"/>
              </a:spcBef>
              <a:spcAft>
                <a:spcPts val="0"/>
              </a:spcAft>
              <a:defRPr sz="850" b="0">
                <a:solidFill>
                  <a:srgbClr val="607080"/>
                </a:solidFill>
                <a:latin typeface="Noto Sans"/>
              </a:defRPr>
            </a:pPr>
            <a:r>
              <a:t>2 Background</a:t>
            </a:r>
          </a:p>
        </p:txBody>
      </p:sp>
      <p:sp>
        <p:nvSpPr>
          <p:cNvPr id="7" name="Rectangle 6"/>
          <p:cNvSpPr/>
          <p:nvPr/>
        </p:nvSpPr>
        <p:spPr>
          <a:xfrm>
            <a:off x="2825496" y="786384"/>
            <a:ext cx="1078992" cy="45720"/>
          </a:xfrm>
          <a:prstGeom prst="rect">
            <a:avLst/>
          </a:prstGeom>
          <a:solidFill>
            <a:srgbClr val="D2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2825496" y="621792"/>
            <a:ext cx="1078992" cy="164592"/>
          </a:xfrm>
          <a:prstGeom prst="rect">
            <a:avLst/>
          </a:prstGeom>
          <a:noFill/>
        </p:spPr>
        <p:txBody>
          <a:bodyPr wrap="square" lIns="9144" tIns="0" rIns="9144" bIns="0" anchor="ctr">
            <a:spAutoFit/>
          </a:bodyPr>
          <a:lstStyle/>
          <a:p>
            <a:pPr algn="l">
              <a:spcBef>
                <a:spcPts val="0"/>
              </a:spcBef>
              <a:spcAft>
                <a:spcPts val="0"/>
              </a:spcAft>
              <a:defRPr sz="850" b="0">
                <a:solidFill>
                  <a:srgbClr val="607080"/>
                </a:solidFill>
                <a:latin typeface="Noto Sans"/>
              </a:defRPr>
            </a:pPr>
            <a:r>
              <a:t>3 Concept</a:t>
            </a:r>
          </a:p>
        </p:txBody>
      </p:sp>
      <p:sp>
        <p:nvSpPr>
          <p:cNvPr id="9" name="Rectangle 8"/>
          <p:cNvSpPr/>
          <p:nvPr/>
        </p:nvSpPr>
        <p:spPr>
          <a:xfrm>
            <a:off x="3941063" y="786384"/>
            <a:ext cx="1645920" cy="45720"/>
          </a:xfrm>
          <a:prstGeom prst="rect">
            <a:avLst/>
          </a:prstGeom>
          <a:solidFill>
            <a:srgbClr val="D2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941063" y="621792"/>
            <a:ext cx="1645920" cy="164592"/>
          </a:xfrm>
          <a:prstGeom prst="rect">
            <a:avLst/>
          </a:prstGeom>
          <a:noFill/>
        </p:spPr>
        <p:txBody>
          <a:bodyPr wrap="square" lIns="9144" tIns="0" rIns="9144" bIns="0" anchor="ctr">
            <a:spAutoFit/>
          </a:bodyPr>
          <a:lstStyle/>
          <a:p>
            <a:pPr algn="l">
              <a:spcBef>
                <a:spcPts val="0"/>
              </a:spcBef>
              <a:spcAft>
                <a:spcPts val="0"/>
              </a:spcAft>
              <a:defRPr sz="850" b="0">
                <a:solidFill>
                  <a:srgbClr val="607080"/>
                </a:solidFill>
                <a:latin typeface="Noto Sans"/>
              </a:defRPr>
            </a:pPr>
            <a:r>
              <a:t>4 Implementation</a:t>
            </a:r>
          </a:p>
        </p:txBody>
      </p:sp>
      <p:sp>
        <p:nvSpPr>
          <p:cNvPr id="11" name="Rectangle 10"/>
          <p:cNvSpPr/>
          <p:nvPr/>
        </p:nvSpPr>
        <p:spPr>
          <a:xfrm>
            <a:off x="5623559" y="786384"/>
            <a:ext cx="1252728" cy="45720"/>
          </a:xfrm>
          <a:prstGeom prst="rect">
            <a:avLst/>
          </a:prstGeom>
          <a:solidFill>
            <a:srgbClr val="D2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623559" y="621792"/>
            <a:ext cx="1252728" cy="164592"/>
          </a:xfrm>
          <a:prstGeom prst="rect">
            <a:avLst/>
          </a:prstGeom>
          <a:noFill/>
        </p:spPr>
        <p:txBody>
          <a:bodyPr wrap="square" lIns="9144" tIns="0" rIns="9144" bIns="0" anchor="ctr">
            <a:spAutoFit/>
          </a:bodyPr>
          <a:lstStyle/>
          <a:p>
            <a:pPr algn="l">
              <a:spcBef>
                <a:spcPts val="0"/>
              </a:spcBef>
              <a:spcAft>
                <a:spcPts val="0"/>
              </a:spcAft>
              <a:defRPr sz="850" b="0">
                <a:solidFill>
                  <a:srgbClr val="607080"/>
                </a:solidFill>
                <a:latin typeface="Noto Sans"/>
              </a:defRPr>
            </a:pPr>
            <a:r>
              <a:t>5 Evaluation</a:t>
            </a:r>
          </a:p>
        </p:txBody>
      </p:sp>
      <p:sp>
        <p:nvSpPr>
          <p:cNvPr id="13" name="Rectangle 12"/>
          <p:cNvSpPr/>
          <p:nvPr/>
        </p:nvSpPr>
        <p:spPr>
          <a:xfrm>
            <a:off x="6912864" y="786384"/>
            <a:ext cx="1216152" cy="45720"/>
          </a:xfrm>
          <a:prstGeom prst="rect">
            <a:avLst/>
          </a:prstGeom>
          <a:solidFill>
            <a:srgbClr val="D2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912864" y="621792"/>
            <a:ext cx="1216152" cy="164592"/>
          </a:xfrm>
          <a:prstGeom prst="rect">
            <a:avLst/>
          </a:prstGeom>
          <a:noFill/>
        </p:spPr>
        <p:txBody>
          <a:bodyPr wrap="square" lIns="9144" tIns="0" rIns="9144" bIns="0" anchor="ctr">
            <a:spAutoFit/>
          </a:bodyPr>
          <a:lstStyle/>
          <a:p>
            <a:pPr algn="l">
              <a:spcBef>
                <a:spcPts val="0"/>
              </a:spcBef>
              <a:spcAft>
                <a:spcPts val="0"/>
              </a:spcAft>
              <a:defRPr sz="850" b="0">
                <a:solidFill>
                  <a:srgbClr val="607080"/>
                </a:solidFill>
                <a:latin typeface="Noto Sans"/>
              </a:defRPr>
            </a:pPr>
            <a:r>
              <a:t>6 Conclusion</a:t>
            </a:r>
          </a:p>
        </p:txBody>
      </p:sp>
      <p:sp>
        <p:nvSpPr>
          <p:cNvPr id="15" name="TextBox 14"/>
          <p:cNvSpPr txBox="1"/>
          <p:nvPr/>
        </p:nvSpPr>
        <p:spPr>
          <a:xfrm>
            <a:off x="320040" y="4572000"/>
            <a:ext cx="8321040" cy="182880"/>
          </a:xfrm>
          <a:prstGeom prst="rect">
            <a:avLst/>
          </a:prstGeom>
          <a:noFill/>
        </p:spPr>
        <p:txBody>
          <a:bodyPr wrap="square" lIns="9144" tIns="0" rIns="9144" bIns="0" anchor="ctr">
            <a:spAutoFit/>
          </a:bodyPr>
          <a:lstStyle/>
          <a:p>
            <a:pPr algn="l">
              <a:spcBef>
                <a:spcPts val="0"/>
              </a:spcBef>
              <a:spcAft>
                <a:spcPts val="0"/>
              </a:spcAft>
              <a:defRPr sz="810" b="0">
                <a:solidFill>
                  <a:srgbClr val="607080"/>
                </a:solidFill>
                <a:latin typeface="Noto Sans"/>
              </a:defRPr>
            </a:pPr>
            <a:r>
              <a:t>Monday route (19-minute route): 19:37 / full script (25-minute frame): 20:41; question budget: about 5:00</a:t>
            </a:r>
          </a:p>
        </p:txBody>
      </p:sp>
      <p:sp>
        <p:nvSpPr>
          <p:cNvPr id="16" name="TextBox 15"/>
          <p:cNvSpPr txBox="1"/>
          <p:nvPr/>
        </p:nvSpPr>
        <p:spPr>
          <a:xfrm>
            <a:off x="1234440" y="4873752"/>
            <a:ext cx="6766560" cy="164592"/>
          </a:xfrm>
          <a:prstGeom prst="rect">
            <a:avLst/>
          </a:prstGeom>
          <a:noFill/>
        </p:spPr>
        <p:txBody>
          <a:bodyPr wrap="square" lIns="9144" tIns="0" rIns="9144" bIns="0" anchor="ctr">
            <a:spAutoFit/>
          </a:bodyPr>
          <a:lstStyle/>
          <a:p>
            <a:pPr algn="l">
              <a:spcBef>
                <a:spcPts val="0"/>
              </a:spcBef>
              <a:spcAft>
                <a:spcPts val="0"/>
              </a:spcAft>
              <a:defRPr sz="830" b="0">
                <a:solidFill>
                  <a:srgbClr val="041447"/>
                </a:solidFill>
                <a:latin typeface="Noto Sans"/>
              </a:defRPr>
            </a:pPr>
            <a:r>
              <a:t>Benjamin-Elias Probst  |  Diploma thesis defense  |  28 September 2026</a:t>
            </a:r>
          </a:p>
        </p:txBody>
      </p:sp>
      <p:sp>
        <p:nvSpPr>
          <p:cNvPr id="17" name="TextBox 16"/>
          <p:cNvSpPr txBox="1"/>
          <p:nvPr/>
        </p:nvSpPr>
        <p:spPr>
          <a:xfrm>
            <a:off x="8412480" y="4864608"/>
            <a:ext cx="393192" cy="192024"/>
          </a:xfrm>
          <a:prstGeom prst="rect">
            <a:avLst/>
          </a:prstGeom>
          <a:noFill/>
        </p:spPr>
        <p:txBody>
          <a:bodyPr wrap="square" lIns="9144" tIns="0" rIns="9144" bIns="0" anchor="ctr">
            <a:spAutoFit/>
          </a:bodyPr>
          <a:lstStyle/>
          <a:p>
            <a:pPr algn="r">
              <a:spcBef>
                <a:spcPts val="0"/>
              </a:spcBef>
              <a:spcAft>
                <a:spcPts val="0"/>
              </a:spcAft>
              <a:defRPr sz="900" b="1">
                <a:solidFill>
                  <a:srgbClr val="041447"/>
                </a:solidFill>
                <a:latin typeface="Noto Sans"/>
              </a:defRPr>
            </a:pPr>
            <a:r>
              <a:t>B7</a:t>
            </a:r>
          </a:p>
        </p:txBody>
      </p:sp>
      <p:sp>
        <p:nvSpPr>
          <p:cNvPr id="18" name="TextBox 17"/>
          <p:cNvSpPr txBox="1"/>
          <p:nvPr/>
        </p:nvSpPr>
        <p:spPr>
          <a:xfrm>
            <a:off x="521207" y="1097280"/>
            <a:ext cx="6839712" cy="292608"/>
          </a:xfrm>
          <a:prstGeom prst="rect">
            <a:avLst/>
          </a:prstGeom>
          <a:noFill/>
        </p:spPr>
        <p:txBody>
          <a:bodyPr wrap="square" lIns="9144" tIns="0" rIns="9144" bIns="0" anchor="ctr">
            <a:spAutoFit/>
          </a:bodyPr>
          <a:lstStyle/>
          <a:p>
            <a:pPr algn="l">
              <a:spcBef>
                <a:spcPts val="0"/>
              </a:spcBef>
              <a:spcAft>
                <a:spcPts val="0"/>
              </a:spcAft>
              <a:defRPr sz="1500" b="0">
                <a:solidFill>
                  <a:srgbClr val="041447"/>
                </a:solidFill>
                <a:latin typeface="Noto Sans"/>
              </a:defRPr>
            </a:pPr>
            <a:r>
              <a:t>1 Introduction</a:t>
            </a:r>
          </a:p>
        </p:txBody>
      </p:sp>
      <p:sp>
        <p:nvSpPr>
          <p:cNvPr id="19" name="Rectangle 18"/>
          <p:cNvSpPr/>
          <p:nvPr/>
        </p:nvSpPr>
        <p:spPr>
          <a:xfrm>
            <a:off x="7479792" y="1097280"/>
            <a:ext cx="987552" cy="265176"/>
          </a:xfrm>
          <a:prstGeom prst="rect">
            <a:avLst/>
          </a:prstGeom>
          <a:solidFill>
            <a:srgbClr val="008A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516367" y="1110995"/>
            <a:ext cx="914400" cy="228600"/>
          </a:xfrm>
          <a:prstGeom prst="rect">
            <a:avLst/>
          </a:prstGeom>
          <a:noFill/>
        </p:spPr>
        <p:txBody>
          <a:bodyPr wrap="square" lIns="9144" tIns="0" rIns="9144" bIns="0" anchor="ctr">
            <a:spAutoFit/>
          </a:bodyPr>
          <a:lstStyle/>
          <a:p>
            <a:pPr algn="l">
              <a:spcBef>
                <a:spcPts val="0"/>
              </a:spcBef>
              <a:spcAft>
                <a:spcPts val="0"/>
              </a:spcAft>
              <a:defRPr sz="1200" b="1">
                <a:solidFill>
                  <a:srgbClr val="FFFFFF"/>
                </a:solidFill>
                <a:latin typeface="Noto Sans"/>
              </a:defRPr>
            </a:pPr>
            <a:r>
              <a:t>1–2</a:t>
            </a:r>
          </a:p>
        </p:txBody>
      </p:sp>
      <p:sp>
        <p:nvSpPr>
          <p:cNvPr id="21" name="TextBox 20"/>
          <p:cNvSpPr txBox="1"/>
          <p:nvPr/>
        </p:nvSpPr>
        <p:spPr>
          <a:xfrm>
            <a:off x="521207" y="1581912"/>
            <a:ext cx="6839712" cy="292608"/>
          </a:xfrm>
          <a:prstGeom prst="rect">
            <a:avLst/>
          </a:prstGeom>
          <a:noFill/>
        </p:spPr>
        <p:txBody>
          <a:bodyPr wrap="square" lIns="9144" tIns="0" rIns="9144" bIns="0" anchor="ctr">
            <a:spAutoFit/>
          </a:bodyPr>
          <a:lstStyle/>
          <a:p>
            <a:pPr algn="l">
              <a:spcBef>
                <a:spcPts val="0"/>
              </a:spcBef>
              <a:spcAft>
                <a:spcPts val="0"/>
              </a:spcAft>
              <a:defRPr sz="1500" b="0">
                <a:solidFill>
                  <a:srgbClr val="041447"/>
                </a:solidFill>
                <a:latin typeface="Noto Sans"/>
              </a:defRPr>
            </a:pPr>
            <a:r>
              <a:t>2 Search trees and foundations</a:t>
            </a:r>
          </a:p>
        </p:txBody>
      </p:sp>
      <p:sp>
        <p:nvSpPr>
          <p:cNvPr id="22" name="Rectangle 21"/>
          <p:cNvSpPr/>
          <p:nvPr/>
        </p:nvSpPr>
        <p:spPr>
          <a:xfrm>
            <a:off x="7479792" y="1581912"/>
            <a:ext cx="987552" cy="265176"/>
          </a:xfrm>
          <a:prstGeom prst="rect">
            <a:avLst/>
          </a:prstGeom>
          <a:solidFill>
            <a:srgbClr val="008A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7516367" y="1595628"/>
            <a:ext cx="914400" cy="228600"/>
          </a:xfrm>
          <a:prstGeom prst="rect">
            <a:avLst/>
          </a:prstGeom>
          <a:noFill/>
        </p:spPr>
        <p:txBody>
          <a:bodyPr wrap="square" lIns="9144" tIns="0" rIns="9144" bIns="0" anchor="ctr">
            <a:spAutoFit/>
          </a:bodyPr>
          <a:lstStyle/>
          <a:p>
            <a:pPr algn="l">
              <a:spcBef>
                <a:spcPts val="0"/>
              </a:spcBef>
              <a:spcAft>
                <a:spcPts val="0"/>
              </a:spcAft>
              <a:defRPr sz="1200" b="1">
                <a:solidFill>
                  <a:srgbClr val="FFFFFF"/>
                </a:solidFill>
                <a:latin typeface="Noto Sans"/>
              </a:defRPr>
            </a:pPr>
            <a:r>
              <a:t>3–4</a:t>
            </a:r>
          </a:p>
        </p:txBody>
      </p:sp>
      <p:sp>
        <p:nvSpPr>
          <p:cNvPr id="24" name="TextBox 23"/>
          <p:cNvSpPr txBox="1"/>
          <p:nvPr/>
        </p:nvSpPr>
        <p:spPr>
          <a:xfrm>
            <a:off x="521207" y="2066543"/>
            <a:ext cx="6839712" cy="292608"/>
          </a:xfrm>
          <a:prstGeom prst="rect">
            <a:avLst/>
          </a:prstGeom>
          <a:noFill/>
        </p:spPr>
        <p:txBody>
          <a:bodyPr wrap="square" lIns="9144" tIns="0" rIns="9144" bIns="0" anchor="ctr">
            <a:spAutoFit/>
          </a:bodyPr>
          <a:lstStyle/>
          <a:p>
            <a:pPr algn="l">
              <a:spcBef>
                <a:spcPts val="0"/>
              </a:spcBef>
              <a:spcAft>
                <a:spcPts val="0"/>
              </a:spcAft>
              <a:defRPr sz="1500" b="1">
                <a:solidFill>
                  <a:srgbClr val="041447"/>
                </a:solidFill>
                <a:latin typeface="Noto Sans"/>
              </a:defRPr>
            </a:pPr>
            <a:r>
              <a:t>3 Concepts of a cache-aware measurement system</a:t>
            </a:r>
          </a:p>
        </p:txBody>
      </p:sp>
      <p:sp>
        <p:nvSpPr>
          <p:cNvPr id="25" name="Rectangle 24"/>
          <p:cNvSpPr/>
          <p:nvPr/>
        </p:nvSpPr>
        <p:spPr>
          <a:xfrm>
            <a:off x="7479792" y="2066543"/>
            <a:ext cx="987552" cy="265176"/>
          </a:xfrm>
          <a:prstGeom prst="rect">
            <a:avLst/>
          </a:prstGeom>
          <a:solidFill>
            <a:srgbClr val="008A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7516367" y="2080260"/>
            <a:ext cx="914400" cy="228600"/>
          </a:xfrm>
          <a:prstGeom prst="rect">
            <a:avLst/>
          </a:prstGeom>
          <a:noFill/>
        </p:spPr>
        <p:txBody>
          <a:bodyPr wrap="square" lIns="9144" tIns="0" rIns="9144" bIns="0" anchor="ctr">
            <a:spAutoFit/>
          </a:bodyPr>
          <a:lstStyle/>
          <a:p>
            <a:pPr algn="l">
              <a:spcBef>
                <a:spcPts val="0"/>
              </a:spcBef>
              <a:spcAft>
                <a:spcPts val="0"/>
              </a:spcAft>
              <a:defRPr sz="1200" b="1">
                <a:solidFill>
                  <a:srgbClr val="FFFFFF"/>
                </a:solidFill>
                <a:latin typeface="Noto Sans"/>
              </a:defRPr>
            </a:pPr>
            <a:r>
              <a:t>5–10</a:t>
            </a:r>
          </a:p>
        </p:txBody>
      </p:sp>
      <p:sp>
        <p:nvSpPr>
          <p:cNvPr id="27" name="TextBox 26"/>
          <p:cNvSpPr txBox="1"/>
          <p:nvPr/>
        </p:nvSpPr>
        <p:spPr>
          <a:xfrm>
            <a:off x="521207" y="2551176"/>
            <a:ext cx="6839712" cy="292608"/>
          </a:xfrm>
          <a:prstGeom prst="rect">
            <a:avLst/>
          </a:prstGeom>
          <a:noFill/>
        </p:spPr>
        <p:txBody>
          <a:bodyPr wrap="square" lIns="9144" tIns="0" rIns="9144" bIns="0" anchor="ctr">
            <a:spAutoFit/>
          </a:bodyPr>
          <a:lstStyle/>
          <a:p>
            <a:pPr algn="l">
              <a:spcBef>
                <a:spcPts val="0"/>
              </a:spcBef>
              <a:spcAft>
                <a:spcPts val="0"/>
              </a:spcAft>
              <a:defRPr sz="1500" b="1">
                <a:solidFill>
                  <a:srgbClr val="041447"/>
                </a:solidFill>
                <a:latin typeface="Noto Sans"/>
              </a:defRPr>
            </a:pPr>
            <a:r>
              <a:t>4 Implementation</a:t>
            </a:r>
          </a:p>
        </p:txBody>
      </p:sp>
      <p:sp>
        <p:nvSpPr>
          <p:cNvPr id="28" name="Rectangle 27"/>
          <p:cNvSpPr/>
          <p:nvPr/>
        </p:nvSpPr>
        <p:spPr>
          <a:xfrm>
            <a:off x="7479792" y="2551176"/>
            <a:ext cx="987552" cy="265176"/>
          </a:xfrm>
          <a:prstGeom prst="rect">
            <a:avLst/>
          </a:prstGeom>
          <a:solidFill>
            <a:srgbClr val="008A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7516367" y="2564892"/>
            <a:ext cx="914400" cy="228600"/>
          </a:xfrm>
          <a:prstGeom prst="rect">
            <a:avLst/>
          </a:prstGeom>
          <a:noFill/>
        </p:spPr>
        <p:txBody>
          <a:bodyPr wrap="square" lIns="9144" tIns="0" rIns="9144" bIns="0" anchor="ctr">
            <a:spAutoFit/>
          </a:bodyPr>
          <a:lstStyle/>
          <a:p>
            <a:pPr algn="l">
              <a:spcBef>
                <a:spcPts val="0"/>
              </a:spcBef>
              <a:spcAft>
                <a:spcPts val="0"/>
              </a:spcAft>
              <a:defRPr sz="1200" b="1">
                <a:solidFill>
                  <a:srgbClr val="FFFFFF"/>
                </a:solidFill>
                <a:latin typeface="Noto Sans"/>
              </a:defRPr>
            </a:pPr>
            <a:r>
              <a:t>11–12</a:t>
            </a:r>
          </a:p>
        </p:txBody>
      </p:sp>
      <p:sp>
        <p:nvSpPr>
          <p:cNvPr id="30" name="TextBox 29"/>
          <p:cNvSpPr txBox="1"/>
          <p:nvPr/>
        </p:nvSpPr>
        <p:spPr>
          <a:xfrm>
            <a:off x="521207" y="3035808"/>
            <a:ext cx="6839712" cy="292608"/>
          </a:xfrm>
          <a:prstGeom prst="rect">
            <a:avLst/>
          </a:prstGeom>
          <a:noFill/>
        </p:spPr>
        <p:txBody>
          <a:bodyPr wrap="square" lIns="9144" tIns="0" rIns="9144" bIns="0" anchor="ctr">
            <a:spAutoFit/>
          </a:bodyPr>
          <a:lstStyle/>
          <a:p>
            <a:pPr algn="l">
              <a:spcBef>
                <a:spcPts val="0"/>
              </a:spcBef>
              <a:spcAft>
                <a:spcPts val="0"/>
              </a:spcAft>
              <a:defRPr sz="1500" b="1">
                <a:solidFill>
                  <a:srgbClr val="041447"/>
                </a:solidFill>
                <a:latin typeface="Noto Sans"/>
              </a:defRPr>
            </a:pPr>
            <a:r>
              <a:t>5 Evaluation</a:t>
            </a:r>
          </a:p>
        </p:txBody>
      </p:sp>
      <p:sp>
        <p:nvSpPr>
          <p:cNvPr id="31" name="Rectangle 30"/>
          <p:cNvSpPr/>
          <p:nvPr/>
        </p:nvSpPr>
        <p:spPr>
          <a:xfrm>
            <a:off x="7479792" y="3035808"/>
            <a:ext cx="987552" cy="265176"/>
          </a:xfrm>
          <a:prstGeom prst="rect">
            <a:avLst/>
          </a:prstGeom>
          <a:solidFill>
            <a:srgbClr val="008A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7516367" y="3049524"/>
            <a:ext cx="914400" cy="228600"/>
          </a:xfrm>
          <a:prstGeom prst="rect">
            <a:avLst/>
          </a:prstGeom>
          <a:noFill/>
        </p:spPr>
        <p:txBody>
          <a:bodyPr wrap="square" lIns="9144" tIns="0" rIns="9144" bIns="0" anchor="ctr">
            <a:spAutoFit/>
          </a:bodyPr>
          <a:lstStyle/>
          <a:p>
            <a:pPr algn="l">
              <a:spcBef>
                <a:spcPts val="0"/>
              </a:spcBef>
              <a:spcAft>
                <a:spcPts val="0"/>
              </a:spcAft>
              <a:defRPr sz="1200" b="1">
                <a:solidFill>
                  <a:srgbClr val="FFFFFF"/>
                </a:solidFill>
                <a:latin typeface="Noto Sans"/>
              </a:defRPr>
            </a:pPr>
            <a:r>
              <a:t>13–16</a:t>
            </a:r>
          </a:p>
        </p:txBody>
      </p:sp>
      <p:sp>
        <p:nvSpPr>
          <p:cNvPr id="33" name="TextBox 32"/>
          <p:cNvSpPr txBox="1"/>
          <p:nvPr/>
        </p:nvSpPr>
        <p:spPr>
          <a:xfrm>
            <a:off x="521207" y="3520440"/>
            <a:ext cx="6839712" cy="292608"/>
          </a:xfrm>
          <a:prstGeom prst="rect">
            <a:avLst/>
          </a:prstGeom>
          <a:noFill/>
        </p:spPr>
        <p:txBody>
          <a:bodyPr wrap="square" lIns="9144" tIns="0" rIns="9144" bIns="0" anchor="ctr">
            <a:spAutoFit/>
          </a:bodyPr>
          <a:lstStyle/>
          <a:p>
            <a:pPr algn="l">
              <a:spcBef>
                <a:spcPts val="0"/>
              </a:spcBef>
              <a:spcAft>
                <a:spcPts val="0"/>
              </a:spcAft>
              <a:defRPr sz="1500" b="0">
                <a:solidFill>
                  <a:srgbClr val="041447"/>
                </a:solidFill>
                <a:latin typeface="Noto Sans"/>
              </a:defRPr>
            </a:pPr>
            <a:r>
              <a:t>6 Conclusion and outlook</a:t>
            </a:r>
          </a:p>
        </p:txBody>
      </p:sp>
      <p:sp>
        <p:nvSpPr>
          <p:cNvPr id="34" name="Rectangle 33"/>
          <p:cNvSpPr/>
          <p:nvPr/>
        </p:nvSpPr>
        <p:spPr>
          <a:xfrm>
            <a:off x="7479792" y="3520440"/>
            <a:ext cx="987552" cy="265176"/>
          </a:xfrm>
          <a:prstGeom prst="rect">
            <a:avLst/>
          </a:prstGeom>
          <a:solidFill>
            <a:srgbClr val="008A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7516367" y="3534156"/>
            <a:ext cx="914400" cy="228600"/>
          </a:xfrm>
          <a:prstGeom prst="rect">
            <a:avLst/>
          </a:prstGeom>
          <a:noFill/>
        </p:spPr>
        <p:txBody>
          <a:bodyPr wrap="square" lIns="9144" tIns="0" rIns="9144" bIns="0" anchor="ctr">
            <a:spAutoFit/>
          </a:bodyPr>
          <a:lstStyle/>
          <a:p>
            <a:pPr algn="l">
              <a:spcBef>
                <a:spcPts val="0"/>
              </a:spcBef>
              <a:spcAft>
                <a:spcPts val="0"/>
              </a:spcAft>
              <a:defRPr sz="1200" b="1">
                <a:solidFill>
                  <a:srgbClr val="FFFFFF"/>
                </a:solidFill>
                <a:latin typeface="Noto Sans"/>
              </a:defRPr>
            </a:pPr>
            <a:r>
              <a:t>17</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Box 1"/>
          <p:cNvSpPr txBox="1"/>
          <p:nvPr/>
        </p:nvSpPr>
        <p:spPr>
          <a:xfrm>
            <a:off x="283464" y="182880"/>
            <a:ext cx="7360920" cy="438912"/>
          </a:xfrm>
          <a:prstGeom prst="rect">
            <a:avLst/>
          </a:prstGeom>
          <a:noFill/>
        </p:spPr>
        <p:txBody>
          <a:bodyPr wrap="square" lIns="9144" tIns="0" rIns="9144" bIns="0" anchor="ctr">
            <a:spAutoFit/>
          </a:bodyPr>
          <a:lstStyle/>
          <a:p>
            <a:pPr algn="l">
              <a:spcBef>
                <a:spcPts val="0"/>
              </a:spcBef>
              <a:spcAft>
                <a:spcPts val="0"/>
              </a:spcAft>
              <a:defRPr sz="2400" b="1">
                <a:solidFill>
                  <a:srgbClr val="041447"/>
                </a:solidFill>
                <a:latin typeface="Noto Sans"/>
              </a:defRPr>
            </a:pPr>
            <a:r>
              <a:t>B8 · An organ can itself be composed</a:t>
            </a:r>
          </a:p>
        </p:txBody>
      </p:sp>
      <p:sp>
        <p:nvSpPr>
          <p:cNvPr id="3" name="Rectangle 2"/>
          <p:cNvSpPr/>
          <p:nvPr/>
        </p:nvSpPr>
        <p:spPr>
          <a:xfrm>
            <a:off x="310896" y="786384"/>
            <a:ext cx="1197864" cy="45720"/>
          </a:xfrm>
          <a:prstGeom prst="rect">
            <a:avLst/>
          </a:prstGeom>
          <a:solidFill>
            <a:srgbClr val="D2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10896" y="621792"/>
            <a:ext cx="1197864" cy="164592"/>
          </a:xfrm>
          <a:prstGeom prst="rect">
            <a:avLst/>
          </a:prstGeom>
          <a:noFill/>
        </p:spPr>
        <p:txBody>
          <a:bodyPr wrap="square" lIns="9144" tIns="0" rIns="9144" bIns="0" anchor="ctr">
            <a:spAutoFit/>
          </a:bodyPr>
          <a:lstStyle/>
          <a:p>
            <a:pPr algn="l">
              <a:spcBef>
                <a:spcPts val="0"/>
              </a:spcBef>
              <a:spcAft>
                <a:spcPts val="0"/>
              </a:spcAft>
              <a:defRPr sz="850" b="0">
                <a:solidFill>
                  <a:srgbClr val="607080"/>
                </a:solidFill>
                <a:latin typeface="Noto Sans"/>
              </a:defRPr>
            </a:pPr>
            <a:r>
              <a:t>1 Introduction</a:t>
            </a:r>
          </a:p>
        </p:txBody>
      </p:sp>
      <p:sp>
        <p:nvSpPr>
          <p:cNvPr id="5" name="Rectangle 4"/>
          <p:cNvSpPr/>
          <p:nvPr/>
        </p:nvSpPr>
        <p:spPr>
          <a:xfrm>
            <a:off x="1545336" y="786384"/>
            <a:ext cx="1243584" cy="45720"/>
          </a:xfrm>
          <a:prstGeom prst="rect">
            <a:avLst/>
          </a:prstGeom>
          <a:solidFill>
            <a:srgbClr val="D2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545336" y="621792"/>
            <a:ext cx="1243584" cy="164592"/>
          </a:xfrm>
          <a:prstGeom prst="rect">
            <a:avLst/>
          </a:prstGeom>
          <a:noFill/>
        </p:spPr>
        <p:txBody>
          <a:bodyPr wrap="square" lIns="9144" tIns="0" rIns="9144" bIns="0" anchor="ctr">
            <a:spAutoFit/>
          </a:bodyPr>
          <a:lstStyle/>
          <a:p>
            <a:pPr algn="l">
              <a:spcBef>
                <a:spcPts val="0"/>
              </a:spcBef>
              <a:spcAft>
                <a:spcPts val="0"/>
              </a:spcAft>
              <a:defRPr sz="850" b="0">
                <a:solidFill>
                  <a:srgbClr val="607080"/>
                </a:solidFill>
                <a:latin typeface="Noto Sans"/>
              </a:defRPr>
            </a:pPr>
            <a:r>
              <a:t>2 Background</a:t>
            </a:r>
          </a:p>
        </p:txBody>
      </p:sp>
      <p:sp>
        <p:nvSpPr>
          <p:cNvPr id="7" name="Rectangle 6"/>
          <p:cNvSpPr/>
          <p:nvPr/>
        </p:nvSpPr>
        <p:spPr>
          <a:xfrm>
            <a:off x="2825496" y="786384"/>
            <a:ext cx="1078992" cy="45720"/>
          </a:xfrm>
          <a:prstGeom prst="rect">
            <a:avLst/>
          </a:prstGeom>
          <a:solidFill>
            <a:srgbClr val="D2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2825496" y="621792"/>
            <a:ext cx="1078992" cy="164592"/>
          </a:xfrm>
          <a:prstGeom prst="rect">
            <a:avLst/>
          </a:prstGeom>
          <a:noFill/>
        </p:spPr>
        <p:txBody>
          <a:bodyPr wrap="square" lIns="9144" tIns="0" rIns="9144" bIns="0" anchor="ctr">
            <a:spAutoFit/>
          </a:bodyPr>
          <a:lstStyle/>
          <a:p>
            <a:pPr algn="l">
              <a:spcBef>
                <a:spcPts val="0"/>
              </a:spcBef>
              <a:spcAft>
                <a:spcPts val="0"/>
              </a:spcAft>
              <a:defRPr sz="850" b="0">
                <a:solidFill>
                  <a:srgbClr val="607080"/>
                </a:solidFill>
                <a:latin typeface="Noto Sans"/>
              </a:defRPr>
            </a:pPr>
            <a:r>
              <a:t>3 Concept</a:t>
            </a:r>
          </a:p>
        </p:txBody>
      </p:sp>
      <p:sp>
        <p:nvSpPr>
          <p:cNvPr id="9" name="Rectangle 8"/>
          <p:cNvSpPr/>
          <p:nvPr/>
        </p:nvSpPr>
        <p:spPr>
          <a:xfrm>
            <a:off x="3941063" y="786384"/>
            <a:ext cx="1645920" cy="45720"/>
          </a:xfrm>
          <a:prstGeom prst="rect">
            <a:avLst/>
          </a:prstGeom>
          <a:solidFill>
            <a:srgbClr val="D2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941063" y="621792"/>
            <a:ext cx="1645920" cy="164592"/>
          </a:xfrm>
          <a:prstGeom prst="rect">
            <a:avLst/>
          </a:prstGeom>
          <a:noFill/>
        </p:spPr>
        <p:txBody>
          <a:bodyPr wrap="square" lIns="9144" tIns="0" rIns="9144" bIns="0" anchor="ctr">
            <a:spAutoFit/>
          </a:bodyPr>
          <a:lstStyle/>
          <a:p>
            <a:pPr algn="l">
              <a:spcBef>
                <a:spcPts val="0"/>
              </a:spcBef>
              <a:spcAft>
                <a:spcPts val="0"/>
              </a:spcAft>
              <a:defRPr sz="850" b="0">
                <a:solidFill>
                  <a:srgbClr val="607080"/>
                </a:solidFill>
                <a:latin typeface="Noto Sans"/>
              </a:defRPr>
            </a:pPr>
            <a:r>
              <a:t>4 Implementation</a:t>
            </a:r>
          </a:p>
        </p:txBody>
      </p:sp>
      <p:sp>
        <p:nvSpPr>
          <p:cNvPr id="11" name="Rectangle 10"/>
          <p:cNvSpPr/>
          <p:nvPr/>
        </p:nvSpPr>
        <p:spPr>
          <a:xfrm>
            <a:off x="5623559" y="786384"/>
            <a:ext cx="1252728" cy="45720"/>
          </a:xfrm>
          <a:prstGeom prst="rect">
            <a:avLst/>
          </a:prstGeom>
          <a:solidFill>
            <a:srgbClr val="D2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623559" y="621792"/>
            <a:ext cx="1252728" cy="164592"/>
          </a:xfrm>
          <a:prstGeom prst="rect">
            <a:avLst/>
          </a:prstGeom>
          <a:noFill/>
        </p:spPr>
        <p:txBody>
          <a:bodyPr wrap="square" lIns="9144" tIns="0" rIns="9144" bIns="0" anchor="ctr">
            <a:spAutoFit/>
          </a:bodyPr>
          <a:lstStyle/>
          <a:p>
            <a:pPr algn="l">
              <a:spcBef>
                <a:spcPts val="0"/>
              </a:spcBef>
              <a:spcAft>
                <a:spcPts val="0"/>
              </a:spcAft>
              <a:defRPr sz="850" b="0">
                <a:solidFill>
                  <a:srgbClr val="607080"/>
                </a:solidFill>
                <a:latin typeface="Noto Sans"/>
              </a:defRPr>
            </a:pPr>
            <a:r>
              <a:t>5 Evaluation</a:t>
            </a:r>
          </a:p>
        </p:txBody>
      </p:sp>
      <p:sp>
        <p:nvSpPr>
          <p:cNvPr id="13" name="Rectangle 12"/>
          <p:cNvSpPr/>
          <p:nvPr/>
        </p:nvSpPr>
        <p:spPr>
          <a:xfrm>
            <a:off x="6912864" y="786384"/>
            <a:ext cx="1216152" cy="45720"/>
          </a:xfrm>
          <a:prstGeom prst="rect">
            <a:avLst/>
          </a:prstGeom>
          <a:solidFill>
            <a:srgbClr val="D2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912864" y="621792"/>
            <a:ext cx="1216152" cy="164592"/>
          </a:xfrm>
          <a:prstGeom prst="rect">
            <a:avLst/>
          </a:prstGeom>
          <a:noFill/>
        </p:spPr>
        <p:txBody>
          <a:bodyPr wrap="square" lIns="9144" tIns="0" rIns="9144" bIns="0" anchor="ctr">
            <a:spAutoFit/>
          </a:bodyPr>
          <a:lstStyle/>
          <a:p>
            <a:pPr algn="l">
              <a:spcBef>
                <a:spcPts val="0"/>
              </a:spcBef>
              <a:spcAft>
                <a:spcPts val="0"/>
              </a:spcAft>
              <a:defRPr sz="850" b="0">
                <a:solidFill>
                  <a:srgbClr val="607080"/>
                </a:solidFill>
                <a:latin typeface="Noto Sans"/>
              </a:defRPr>
            </a:pPr>
            <a:r>
              <a:t>6 Conclusion</a:t>
            </a:r>
          </a:p>
        </p:txBody>
      </p:sp>
      <p:sp>
        <p:nvSpPr>
          <p:cNvPr id="15" name="TextBox 14"/>
          <p:cNvSpPr txBox="1"/>
          <p:nvPr/>
        </p:nvSpPr>
        <p:spPr>
          <a:xfrm>
            <a:off x="320040" y="4572000"/>
            <a:ext cx="8321040" cy="182880"/>
          </a:xfrm>
          <a:prstGeom prst="rect">
            <a:avLst/>
          </a:prstGeom>
          <a:noFill/>
        </p:spPr>
        <p:txBody>
          <a:bodyPr wrap="square" lIns="9144" tIns="0" rIns="9144" bIns="0" anchor="ctr">
            <a:spAutoFit/>
          </a:bodyPr>
          <a:lstStyle/>
          <a:p>
            <a:pPr algn="l">
              <a:spcBef>
                <a:spcPts val="0"/>
              </a:spcBef>
              <a:spcAft>
                <a:spcPts val="0"/>
              </a:spcAft>
              <a:defRPr sz="810" b="0">
                <a:solidFill>
                  <a:srgbClr val="607080"/>
                </a:solidFill>
                <a:latin typeface="Noto Sans"/>
              </a:defRPr>
            </a:pPr>
            <a:r>
              <a:t>Thesis §3.3.1, fig:usage; Appendix D, T4; Appendix C  |  Different abstraction levels, not extra slots</a:t>
            </a:r>
          </a:p>
        </p:txBody>
      </p:sp>
      <p:sp>
        <p:nvSpPr>
          <p:cNvPr id="16" name="TextBox 15"/>
          <p:cNvSpPr txBox="1"/>
          <p:nvPr/>
        </p:nvSpPr>
        <p:spPr>
          <a:xfrm>
            <a:off x="1234440" y="4873752"/>
            <a:ext cx="6766560" cy="164592"/>
          </a:xfrm>
          <a:prstGeom prst="rect">
            <a:avLst/>
          </a:prstGeom>
          <a:noFill/>
        </p:spPr>
        <p:txBody>
          <a:bodyPr wrap="square" lIns="9144" tIns="0" rIns="9144" bIns="0" anchor="ctr">
            <a:spAutoFit/>
          </a:bodyPr>
          <a:lstStyle/>
          <a:p>
            <a:pPr algn="l">
              <a:spcBef>
                <a:spcPts val="0"/>
              </a:spcBef>
              <a:spcAft>
                <a:spcPts val="0"/>
              </a:spcAft>
              <a:defRPr sz="830" b="0">
                <a:solidFill>
                  <a:srgbClr val="041447"/>
                </a:solidFill>
                <a:latin typeface="Noto Sans"/>
              </a:defRPr>
            </a:pPr>
            <a:r>
              <a:t>Benjamin-Elias Probst  |  Diploma thesis defense  |  28 September 2026</a:t>
            </a:r>
          </a:p>
        </p:txBody>
      </p:sp>
      <p:sp>
        <p:nvSpPr>
          <p:cNvPr id="17" name="TextBox 16"/>
          <p:cNvSpPr txBox="1"/>
          <p:nvPr/>
        </p:nvSpPr>
        <p:spPr>
          <a:xfrm>
            <a:off x="8412480" y="4864608"/>
            <a:ext cx="393192" cy="192024"/>
          </a:xfrm>
          <a:prstGeom prst="rect">
            <a:avLst/>
          </a:prstGeom>
          <a:noFill/>
        </p:spPr>
        <p:txBody>
          <a:bodyPr wrap="square" lIns="9144" tIns="0" rIns="9144" bIns="0" anchor="ctr">
            <a:spAutoFit/>
          </a:bodyPr>
          <a:lstStyle/>
          <a:p>
            <a:r>
              <a:t>B8</a:t>
            </a:r>
          </a:p>
        </p:txBody>
      </p:sp>
      <p:sp>
        <p:nvSpPr>
          <p:cNvPr id="18" name="Rounded Rectangle 17"/>
          <p:cNvSpPr/>
          <p:nvPr/>
        </p:nvSpPr>
        <p:spPr>
          <a:xfrm>
            <a:off x="438912" y="1143000"/>
            <a:ext cx="3822191" cy="2688336"/>
          </a:xfrm>
          <a:prstGeom prst="roundRect">
            <a:avLst>
              <a:gd name="adj" fmla="val 6000"/>
            </a:avLst>
          </a:prstGeom>
          <a:solidFill>
            <a:srgbClr val="FFFFFF"/>
          </a:solidFill>
          <a:ln w="11430">
            <a:solidFill>
              <a:srgbClr val="04144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03504" y="1252728"/>
            <a:ext cx="3493008" cy="320040"/>
          </a:xfrm>
          <a:prstGeom prst="rect">
            <a:avLst/>
          </a:prstGeom>
          <a:noFill/>
        </p:spPr>
        <p:txBody>
          <a:bodyPr wrap="square" lIns="22860" tIns="0" rIns="22860" bIns="0" anchor="ctr">
            <a:noAutofit/>
          </a:bodyPr>
          <a:lstStyle/>
          <a:p>
            <a:pPr algn="l">
              <a:lnSpc>
                <a:spcPct val="108000"/>
              </a:lnSpc>
              <a:spcBef>
                <a:spcPts val="0"/>
              </a:spcBef>
              <a:spcAft>
                <a:spcPts val="0"/>
              </a:spcAft>
            </a:pPr>
            <a:r>
              <a:rPr sz="1600" b="1">
                <a:solidFill>
                  <a:srgbClr val="041447"/>
                </a:solidFill>
                <a:latin typeface="Noto Sans"/>
              </a:rPr>
              <a:t>Catalogue terminology</a:t>
            </a:r>
          </a:p>
        </p:txBody>
      </p:sp>
      <p:sp>
        <p:nvSpPr>
          <p:cNvPr id="20" name="TextBox 19"/>
          <p:cNvSpPr txBox="1"/>
          <p:nvPr/>
        </p:nvSpPr>
        <p:spPr>
          <a:xfrm>
            <a:off x="621792" y="1783080"/>
            <a:ext cx="3419856" cy="502920"/>
          </a:xfrm>
          <a:prstGeom prst="rect">
            <a:avLst/>
          </a:prstGeom>
          <a:noFill/>
        </p:spPr>
        <p:txBody>
          <a:bodyPr wrap="square" lIns="22860" tIns="0" rIns="22860" bIns="0" anchor="ctr">
            <a:noAutofit/>
          </a:bodyPr>
          <a:lstStyle/>
          <a:p>
            <a:pPr algn="l">
              <a:lnSpc>
                <a:spcPct val="108000"/>
              </a:lnSpc>
              <a:spcBef>
                <a:spcPts val="0"/>
              </a:spcBef>
              <a:spcAft>
                <a:spcPts val="0"/>
              </a:spcAft>
            </a:pPr>
            <a:r>
              <a:rPr sz="1400" b="0">
                <a:solidFill>
                  <a:srgbClr val="23364B"/>
                </a:solidFill>
                <a:latin typeface="Noto Sans"/>
              </a:rPr>
              <a:t>Axis / organ slot</a:t>
            </a:r>
          </a:p>
          <a:p>
            <a:pPr algn="l">
              <a:lnSpc>
                <a:spcPct val="108000"/>
              </a:lnSpc>
              <a:spcBef>
                <a:spcPts val="0"/>
              </a:spcBef>
              <a:spcAft>
                <a:spcPts val="0"/>
              </a:spcAft>
            </a:pPr>
            <a:r>
              <a:rPr sz="1400" b="0">
                <a:solidFill>
                  <a:srgbClr val="23364B"/>
                </a:solidFill>
                <a:latin typeface="Noto Sans"/>
              </a:rPr>
              <a:t>→ one selected strategy</a:t>
            </a:r>
          </a:p>
        </p:txBody>
      </p:sp>
      <p:sp>
        <p:nvSpPr>
          <p:cNvPr id="21" name="TextBox 20"/>
          <p:cNvSpPr txBox="1"/>
          <p:nvPr/>
        </p:nvSpPr>
        <p:spPr>
          <a:xfrm>
            <a:off x="621792" y="2551176"/>
            <a:ext cx="3419856" cy="521207"/>
          </a:xfrm>
          <a:prstGeom prst="rect">
            <a:avLst/>
          </a:prstGeom>
          <a:noFill/>
        </p:spPr>
        <p:txBody>
          <a:bodyPr wrap="square" lIns="22860" tIns="0" rIns="22860" bIns="0" anchor="ctr">
            <a:noAutofit/>
          </a:bodyPr>
          <a:lstStyle/>
          <a:p>
            <a:pPr algn="l">
              <a:lnSpc>
                <a:spcPct val="108000"/>
              </a:lnSpc>
              <a:spcBef>
                <a:spcPts val="0"/>
              </a:spcBef>
              <a:spcAft>
                <a:spcPts val="0"/>
              </a:spcAft>
            </a:pPr>
            <a:r>
              <a:rPr sz="1230" b="0">
                <a:solidFill>
                  <a:srgbClr val="23364B"/>
                </a:solidFill>
                <a:latin typeface="Noto Sans"/>
              </a:rPr>
              <a:t>18 identity-forming organ slots</a:t>
            </a:r>
          </a:p>
          <a:p>
            <a:pPr algn="l">
              <a:lnSpc>
                <a:spcPct val="108000"/>
              </a:lnSpc>
              <a:spcBef>
                <a:spcPts val="0"/>
              </a:spcBef>
              <a:spcAft>
                <a:spcPts val="0"/>
              </a:spcAft>
            </a:pPr>
            <a:r>
              <a:rPr sz="1230" b="0">
                <a:solidFill>
                  <a:srgbClr val="23364B"/>
                </a:solidFill>
                <a:latin typeface="Noto Sans"/>
              </a:rPr>
              <a:t>The five groups only organise them.</a:t>
            </a:r>
          </a:p>
        </p:txBody>
      </p:sp>
      <p:sp>
        <p:nvSpPr>
          <p:cNvPr id="22" name="TextBox 21"/>
          <p:cNvSpPr txBox="1"/>
          <p:nvPr/>
        </p:nvSpPr>
        <p:spPr>
          <a:xfrm>
            <a:off x="621792" y="3282696"/>
            <a:ext cx="3419856" cy="320040"/>
          </a:xfrm>
          <a:prstGeom prst="rect">
            <a:avLst/>
          </a:prstGeom>
          <a:noFill/>
        </p:spPr>
        <p:txBody>
          <a:bodyPr wrap="square" lIns="22860" tIns="0" rIns="22860" bIns="0" anchor="ctr">
            <a:noAutofit/>
          </a:bodyPr>
          <a:lstStyle/>
          <a:p>
            <a:pPr algn="l">
              <a:lnSpc>
                <a:spcPct val="108000"/>
              </a:lnSpc>
              <a:spcBef>
                <a:spcPts val="0"/>
              </a:spcBef>
              <a:spcAft>
                <a:spcPts val="0"/>
              </a:spcAft>
            </a:pPr>
            <a:r>
              <a:rPr sz="1040" b="0">
                <a:solidFill>
                  <a:srgbClr val="657487"/>
                </a:solidFill>
                <a:latin typeface="Noto Sans"/>
              </a:rPr>
              <a:t>Appendix C / Appendix D opening</a:t>
            </a:r>
          </a:p>
        </p:txBody>
      </p:sp>
      <p:sp>
        <p:nvSpPr>
          <p:cNvPr id="23" name="Rounded Rectangle 22"/>
          <p:cNvSpPr/>
          <p:nvPr/>
        </p:nvSpPr>
        <p:spPr>
          <a:xfrm>
            <a:off x="4590288" y="1143000"/>
            <a:ext cx="4096512" cy="2688336"/>
          </a:xfrm>
          <a:prstGeom prst="roundRect">
            <a:avLst>
              <a:gd name="adj" fmla="val 6000"/>
            </a:avLst>
          </a:prstGeom>
          <a:solidFill>
            <a:srgbClr val="F1F5F8"/>
          </a:solidFill>
          <a:ln w="11430">
            <a:solidFill>
              <a:srgbClr val="04144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4736592" y="1261872"/>
            <a:ext cx="3767328" cy="301752"/>
          </a:xfrm>
          <a:prstGeom prst="rect">
            <a:avLst/>
          </a:prstGeom>
          <a:noFill/>
        </p:spPr>
        <p:txBody>
          <a:bodyPr wrap="square" lIns="22860" tIns="0" rIns="22860" bIns="0" anchor="ctr">
            <a:noAutofit/>
          </a:bodyPr>
          <a:lstStyle/>
          <a:p>
            <a:pPr algn="l">
              <a:lnSpc>
                <a:spcPct val="108000"/>
              </a:lnSpc>
              <a:spcBef>
                <a:spcPts val="0"/>
              </a:spcBef>
              <a:spcAft>
                <a:spcPts val="0"/>
              </a:spcAft>
            </a:pPr>
            <a:r>
              <a:rPr sz="1600" b="1">
                <a:solidFill>
                  <a:srgbClr val="041447"/>
                </a:solidFill>
                <a:latin typeface="Noto Sans"/>
              </a:rPr>
              <a:t>Functional composition</a:t>
            </a:r>
          </a:p>
        </p:txBody>
      </p:sp>
      <p:sp>
        <p:nvSpPr>
          <p:cNvPr id="25" name="Freeform 24"/>
          <p:cNvSpPr/>
          <p:nvPr/>
        </p:nvSpPr>
        <p:spPr>
          <a:xfrm>
            <a:off x="4983480" y="1828800"/>
            <a:ext cx="1170432" cy="704088"/>
          </a:xfrm>
          <a:custGeom>
            <a:avLst/>
            <a:gdLst/>
            <a:ahLst/>
            <a:cxnLst/>
            <a:rect l="l" t="t" r="r" b="b"/>
            <a:pathLst>
              <a:path w="1280" h="770">
                <a:moveTo>
                  <a:pt x="0" y="0"/>
                </a:moveTo>
                <a:lnTo>
                  <a:pt x="1180" y="0"/>
                </a:lnTo>
                <a:lnTo>
                  <a:pt x="1180" y="323"/>
                </a:lnTo>
                <a:lnTo>
                  <a:pt x="1202" y="336"/>
                </a:lnTo>
                <a:lnTo>
                  <a:pt x="1223" y="348"/>
                </a:lnTo>
                <a:lnTo>
                  <a:pt x="1242" y="360"/>
                </a:lnTo>
                <a:lnTo>
                  <a:pt x="1258" y="372"/>
                </a:lnTo>
                <a:lnTo>
                  <a:pt x="1270" y="384"/>
                </a:lnTo>
                <a:lnTo>
                  <a:pt x="1278" y="396"/>
                </a:lnTo>
                <a:lnTo>
                  <a:pt x="1280" y="408"/>
                </a:lnTo>
                <a:lnTo>
                  <a:pt x="1278" y="420"/>
                </a:lnTo>
                <a:lnTo>
                  <a:pt x="1270" y="432"/>
                </a:lnTo>
                <a:lnTo>
                  <a:pt x="1258" y="444"/>
                </a:lnTo>
                <a:lnTo>
                  <a:pt x="1242" y="456"/>
                </a:lnTo>
                <a:lnTo>
                  <a:pt x="1223" y="469"/>
                </a:lnTo>
                <a:lnTo>
                  <a:pt x="1202" y="481"/>
                </a:lnTo>
                <a:lnTo>
                  <a:pt x="1180" y="493"/>
                </a:lnTo>
                <a:lnTo>
                  <a:pt x="1180" y="770"/>
                </a:lnTo>
                <a:lnTo>
                  <a:pt x="0" y="770"/>
                </a:lnTo>
                <a:lnTo>
                  <a:pt x="0" y="493"/>
                </a:lnTo>
                <a:lnTo>
                  <a:pt x="0" y="0"/>
                </a:lnTo>
                <a:close/>
              </a:path>
            </a:pathLst>
          </a:custGeom>
          <a:solidFill>
            <a:srgbClr val="3468AA"/>
          </a:solidFill>
          <a:ln w="1651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5065776" y="1869948"/>
            <a:ext cx="950976" cy="183062"/>
          </a:xfrm>
          <a:prstGeom prst="rect">
            <a:avLst/>
          </a:prstGeom>
          <a:noFill/>
        </p:spPr>
        <p:txBody>
          <a:bodyPr wrap="square" lIns="22860" tIns="0" rIns="22860" bIns="0" anchor="ctr">
            <a:noAutofit/>
          </a:bodyPr>
          <a:lstStyle/>
          <a:p>
            <a:pPr algn="ctr">
              <a:lnSpc>
                <a:spcPct val="108000"/>
              </a:lnSpc>
              <a:spcBef>
                <a:spcPts val="0"/>
              </a:spcBef>
              <a:spcAft>
                <a:spcPts val="0"/>
              </a:spcAft>
            </a:pPr>
            <a:r>
              <a:rPr sz="1200" b="1">
                <a:solidFill>
                  <a:srgbClr val="FFFFFF"/>
                </a:solidFill>
                <a:latin typeface="Noto Sans"/>
              </a:rPr>
              <a:t>T4</a:t>
            </a:r>
          </a:p>
        </p:txBody>
      </p:sp>
      <p:sp>
        <p:nvSpPr>
          <p:cNvPr id="27" name="TextBox 26"/>
          <p:cNvSpPr txBox="1"/>
          <p:nvPr/>
        </p:nvSpPr>
        <p:spPr>
          <a:xfrm>
            <a:off x="5024628" y="2068189"/>
            <a:ext cx="1010412" cy="309798"/>
          </a:xfrm>
          <a:prstGeom prst="rect">
            <a:avLst/>
          </a:prstGeom>
          <a:noFill/>
        </p:spPr>
        <p:txBody>
          <a:bodyPr wrap="square" lIns="22860" tIns="0" rIns="22860" bIns="0" anchor="ctr">
            <a:noAutofit/>
          </a:bodyPr>
          <a:lstStyle/>
          <a:p>
            <a:pPr algn="ctr">
              <a:lnSpc>
                <a:spcPct val="108000"/>
              </a:lnSpc>
              <a:spcBef>
                <a:spcPts val="0"/>
              </a:spcBef>
              <a:spcAft>
                <a:spcPts val="0"/>
              </a:spcAft>
            </a:pPr>
            <a:r>
              <a:rPr sz="1250" b="1">
                <a:solidFill>
                  <a:srgbClr val="FFFFFF"/>
                </a:solidFill>
                <a:latin typeface="Noto Sans"/>
              </a:rPr>
              <a:t>Node4</a:t>
            </a:r>
          </a:p>
        </p:txBody>
      </p:sp>
      <p:sp>
        <p:nvSpPr>
          <p:cNvPr id="28" name="Freeform 27"/>
          <p:cNvSpPr/>
          <p:nvPr/>
        </p:nvSpPr>
        <p:spPr>
          <a:xfrm>
            <a:off x="6062472" y="1828800"/>
            <a:ext cx="1170432" cy="704088"/>
          </a:xfrm>
          <a:custGeom>
            <a:avLst/>
            <a:gdLst/>
            <a:ahLst/>
            <a:cxnLst/>
            <a:rect l="l" t="t" r="r" b="b"/>
            <a:pathLst>
              <a:path w="1280" h="770">
                <a:moveTo>
                  <a:pt x="0" y="0"/>
                </a:moveTo>
                <a:lnTo>
                  <a:pt x="1180" y="0"/>
                </a:lnTo>
                <a:lnTo>
                  <a:pt x="1180" y="323"/>
                </a:lnTo>
                <a:lnTo>
                  <a:pt x="1202" y="336"/>
                </a:lnTo>
                <a:lnTo>
                  <a:pt x="1223" y="348"/>
                </a:lnTo>
                <a:lnTo>
                  <a:pt x="1242" y="360"/>
                </a:lnTo>
                <a:lnTo>
                  <a:pt x="1258" y="372"/>
                </a:lnTo>
                <a:lnTo>
                  <a:pt x="1270" y="384"/>
                </a:lnTo>
                <a:lnTo>
                  <a:pt x="1278" y="396"/>
                </a:lnTo>
                <a:lnTo>
                  <a:pt x="1280" y="408"/>
                </a:lnTo>
                <a:lnTo>
                  <a:pt x="1278" y="420"/>
                </a:lnTo>
                <a:lnTo>
                  <a:pt x="1270" y="432"/>
                </a:lnTo>
                <a:lnTo>
                  <a:pt x="1258" y="444"/>
                </a:lnTo>
                <a:lnTo>
                  <a:pt x="1242" y="456"/>
                </a:lnTo>
                <a:lnTo>
                  <a:pt x="1223" y="469"/>
                </a:lnTo>
                <a:lnTo>
                  <a:pt x="1202" y="481"/>
                </a:lnTo>
                <a:lnTo>
                  <a:pt x="1180" y="493"/>
                </a:lnTo>
                <a:lnTo>
                  <a:pt x="1180" y="770"/>
                </a:lnTo>
                <a:lnTo>
                  <a:pt x="0" y="770"/>
                </a:lnTo>
                <a:lnTo>
                  <a:pt x="0" y="493"/>
                </a:lnTo>
                <a:lnTo>
                  <a:pt x="22" y="481"/>
                </a:lnTo>
                <a:lnTo>
                  <a:pt x="43" y="469"/>
                </a:lnTo>
                <a:lnTo>
                  <a:pt x="62" y="456"/>
                </a:lnTo>
                <a:lnTo>
                  <a:pt x="78" y="444"/>
                </a:lnTo>
                <a:lnTo>
                  <a:pt x="90" y="432"/>
                </a:lnTo>
                <a:lnTo>
                  <a:pt x="98" y="420"/>
                </a:lnTo>
                <a:lnTo>
                  <a:pt x="100" y="408"/>
                </a:lnTo>
                <a:lnTo>
                  <a:pt x="98" y="396"/>
                </a:lnTo>
                <a:lnTo>
                  <a:pt x="90" y="384"/>
                </a:lnTo>
                <a:lnTo>
                  <a:pt x="78" y="372"/>
                </a:lnTo>
                <a:lnTo>
                  <a:pt x="62" y="360"/>
                </a:lnTo>
                <a:lnTo>
                  <a:pt x="43" y="348"/>
                </a:lnTo>
                <a:lnTo>
                  <a:pt x="22" y="336"/>
                </a:lnTo>
                <a:lnTo>
                  <a:pt x="0" y="323"/>
                </a:lnTo>
                <a:lnTo>
                  <a:pt x="0" y="0"/>
                </a:lnTo>
                <a:close/>
              </a:path>
            </a:pathLst>
          </a:custGeom>
          <a:solidFill>
            <a:srgbClr val="00878C"/>
          </a:solidFill>
          <a:ln w="1651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144768" y="1869948"/>
            <a:ext cx="950976" cy="183062"/>
          </a:xfrm>
          <a:prstGeom prst="rect">
            <a:avLst/>
          </a:prstGeom>
          <a:noFill/>
        </p:spPr>
        <p:txBody>
          <a:bodyPr wrap="square" lIns="22860" tIns="0" rIns="22860" bIns="0" anchor="ctr">
            <a:noAutofit/>
          </a:bodyPr>
          <a:lstStyle/>
          <a:p>
            <a:pPr algn="ctr">
              <a:lnSpc>
                <a:spcPct val="108000"/>
              </a:lnSpc>
              <a:spcBef>
                <a:spcPts val="0"/>
              </a:spcBef>
              <a:spcAft>
                <a:spcPts val="0"/>
              </a:spcAft>
            </a:pPr>
            <a:r>
              <a:rPr sz="1200" b="1">
                <a:solidFill>
                  <a:srgbClr val="FFFFFF"/>
                </a:solidFill>
                <a:latin typeface="Noto Sans"/>
              </a:rPr>
              <a:t>T5</a:t>
            </a:r>
          </a:p>
        </p:txBody>
      </p:sp>
      <p:sp>
        <p:nvSpPr>
          <p:cNvPr id="30" name="TextBox 29"/>
          <p:cNvSpPr txBox="1"/>
          <p:nvPr/>
        </p:nvSpPr>
        <p:spPr>
          <a:xfrm>
            <a:off x="6103620" y="2068189"/>
            <a:ext cx="1010412" cy="309798"/>
          </a:xfrm>
          <a:prstGeom prst="rect">
            <a:avLst/>
          </a:prstGeom>
          <a:noFill/>
        </p:spPr>
        <p:txBody>
          <a:bodyPr wrap="square" lIns="22860" tIns="0" rIns="22860" bIns="0" anchor="ctr">
            <a:noAutofit/>
          </a:bodyPr>
          <a:lstStyle/>
          <a:p>
            <a:pPr algn="ctr">
              <a:lnSpc>
                <a:spcPct val="108000"/>
              </a:lnSpc>
              <a:spcBef>
                <a:spcPts val="0"/>
              </a:spcBef>
              <a:spcAft>
                <a:spcPts val="0"/>
              </a:spcAft>
            </a:pPr>
            <a:r>
              <a:rPr sz="1250" b="1">
                <a:solidFill>
                  <a:srgbClr val="FFFFFF"/>
                </a:solidFill>
                <a:latin typeface="Noto Sans"/>
              </a:rPr>
              <a:t>Aligned</a:t>
            </a:r>
          </a:p>
        </p:txBody>
      </p:sp>
      <p:sp>
        <p:nvSpPr>
          <p:cNvPr id="31" name="Freeform 30"/>
          <p:cNvSpPr/>
          <p:nvPr/>
        </p:nvSpPr>
        <p:spPr>
          <a:xfrm>
            <a:off x="7141464" y="1828800"/>
            <a:ext cx="1078992" cy="704088"/>
          </a:xfrm>
          <a:custGeom>
            <a:avLst/>
            <a:gdLst/>
            <a:ahLst/>
            <a:cxnLst/>
            <a:rect l="l" t="t" r="r" b="b"/>
            <a:pathLst>
              <a:path w="1180" h="770">
                <a:moveTo>
                  <a:pt x="0" y="0"/>
                </a:moveTo>
                <a:lnTo>
                  <a:pt x="1180" y="0"/>
                </a:lnTo>
                <a:lnTo>
                  <a:pt x="1180" y="323"/>
                </a:lnTo>
                <a:lnTo>
                  <a:pt x="1180" y="770"/>
                </a:lnTo>
                <a:lnTo>
                  <a:pt x="0" y="770"/>
                </a:lnTo>
                <a:lnTo>
                  <a:pt x="0" y="493"/>
                </a:lnTo>
                <a:lnTo>
                  <a:pt x="22" y="481"/>
                </a:lnTo>
                <a:lnTo>
                  <a:pt x="43" y="469"/>
                </a:lnTo>
                <a:lnTo>
                  <a:pt x="62" y="456"/>
                </a:lnTo>
                <a:lnTo>
                  <a:pt x="78" y="444"/>
                </a:lnTo>
                <a:lnTo>
                  <a:pt x="90" y="432"/>
                </a:lnTo>
                <a:lnTo>
                  <a:pt x="98" y="420"/>
                </a:lnTo>
                <a:lnTo>
                  <a:pt x="100" y="408"/>
                </a:lnTo>
                <a:lnTo>
                  <a:pt x="98" y="396"/>
                </a:lnTo>
                <a:lnTo>
                  <a:pt x="90" y="384"/>
                </a:lnTo>
                <a:lnTo>
                  <a:pt x="78" y="372"/>
                </a:lnTo>
                <a:lnTo>
                  <a:pt x="62" y="360"/>
                </a:lnTo>
                <a:lnTo>
                  <a:pt x="43" y="348"/>
                </a:lnTo>
                <a:lnTo>
                  <a:pt x="22" y="336"/>
                </a:lnTo>
                <a:lnTo>
                  <a:pt x="0" y="323"/>
                </a:lnTo>
                <a:lnTo>
                  <a:pt x="0" y="0"/>
                </a:lnTo>
                <a:close/>
              </a:path>
            </a:pathLst>
          </a:custGeom>
          <a:solidFill>
            <a:srgbClr val="AD731A"/>
          </a:solidFill>
          <a:ln w="1651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7223760" y="1869948"/>
            <a:ext cx="950976" cy="183062"/>
          </a:xfrm>
          <a:prstGeom prst="rect">
            <a:avLst/>
          </a:prstGeom>
          <a:noFill/>
        </p:spPr>
        <p:txBody>
          <a:bodyPr wrap="square" lIns="22860" tIns="0" rIns="22860" bIns="0" anchor="ctr">
            <a:noAutofit/>
          </a:bodyPr>
          <a:lstStyle/>
          <a:p>
            <a:pPr algn="ctr">
              <a:lnSpc>
                <a:spcPct val="108000"/>
              </a:lnSpc>
              <a:spcBef>
                <a:spcPts val="0"/>
              </a:spcBef>
              <a:spcAft>
                <a:spcPts val="0"/>
              </a:spcAft>
            </a:pPr>
            <a:r>
              <a:rPr sz="1200" b="1">
                <a:solidFill>
                  <a:srgbClr val="FFFFFF"/>
                </a:solidFill>
                <a:latin typeface="Noto Sans"/>
              </a:rPr>
              <a:t>T6</a:t>
            </a:r>
          </a:p>
        </p:txBody>
      </p:sp>
      <p:sp>
        <p:nvSpPr>
          <p:cNvPr id="33" name="TextBox 32"/>
          <p:cNvSpPr txBox="1"/>
          <p:nvPr/>
        </p:nvSpPr>
        <p:spPr>
          <a:xfrm>
            <a:off x="7182612" y="2068189"/>
            <a:ext cx="1010412" cy="309798"/>
          </a:xfrm>
          <a:prstGeom prst="rect">
            <a:avLst/>
          </a:prstGeom>
          <a:noFill/>
        </p:spPr>
        <p:txBody>
          <a:bodyPr wrap="square" lIns="22860" tIns="0" rIns="22860" bIns="0" anchor="ctr">
            <a:noAutofit/>
          </a:bodyPr>
          <a:lstStyle/>
          <a:p>
            <a:pPr algn="ctr">
              <a:lnSpc>
                <a:spcPct val="108000"/>
              </a:lnSpc>
              <a:spcBef>
                <a:spcPts val="0"/>
              </a:spcBef>
              <a:spcAft>
                <a:spcPts val="0"/>
              </a:spcAft>
            </a:pPr>
            <a:r>
              <a:rPr sz="1250" b="1">
                <a:solidFill>
                  <a:srgbClr val="FFFFFF"/>
                </a:solidFill>
                <a:latin typeface="Noto Sans"/>
              </a:rPr>
              <a:t>mimalloc</a:t>
            </a:r>
          </a:p>
        </p:txBody>
      </p:sp>
      <p:cxnSp>
        <p:nvCxnSpPr>
          <p:cNvPr id="34" name="Connector 33"/>
          <p:cNvCxnSpPr/>
          <p:nvPr/>
        </p:nvCxnSpPr>
        <p:spPr>
          <a:xfrm>
            <a:off x="6583680" y="2578608"/>
            <a:ext cx="0" cy="246888"/>
          </a:xfrm>
          <a:prstGeom prst="line">
            <a:avLst/>
          </a:prstGeom>
          <a:ln w="16510">
            <a:solidFill>
              <a:srgbClr val="041447"/>
            </a:solidFill>
            <a:tailEnd type="triangle" w="sm" len="sm"/>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4937760" y="2871216"/>
            <a:ext cx="3310128" cy="429768"/>
          </a:xfrm>
          <a:prstGeom prst="roundRect">
            <a:avLst>
              <a:gd name="adj" fmla="val 6000"/>
            </a:avLst>
          </a:prstGeom>
          <a:solidFill>
            <a:srgbClr val="FFFFFF"/>
          </a:solidFill>
          <a:ln w="15240">
            <a:solidFill>
              <a:srgbClr val="04144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4960620" y="2875788"/>
            <a:ext cx="3264408" cy="420623"/>
          </a:xfrm>
          <a:prstGeom prst="rect">
            <a:avLst/>
          </a:prstGeom>
          <a:noFill/>
        </p:spPr>
        <p:txBody>
          <a:bodyPr wrap="square" lIns="22860" tIns="0" rIns="22860" bIns="0" anchor="ctr">
            <a:noAutofit/>
          </a:bodyPr>
          <a:lstStyle/>
          <a:p>
            <a:pPr algn="ctr">
              <a:lnSpc>
                <a:spcPct val="108000"/>
              </a:lnSpc>
              <a:spcBef>
                <a:spcPts val="0"/>
              </a:spcBef>
              <a:spcAft>
                <a:spcPts val="0"/>
              </a:spcAft>
            </a:pPr>
            <a:r>
              <a:rPr sz="1210" b="1">
                <a:solidFill>
                  <a:srgbClr val="041447"/>
                </a:solidFill>
                <a:latin typeface="Noto Sans"/>
              </a:rPr>
              <a:t>LayoutAwareChunkedStore</a:t>
            </a:r>
          </a:p>
        </p:txBody>
      </p:sp>
      <p:sp>
        <p:nvSpPr>
          <p:cNvPr id="37" name="TextBox 36"/>
          <p:cNvSpPr txBox="1"/>
          <p:nvPr/>
        </p:nvSpPr>
        <p:spPr>
          <a:xfrm>
            <a:off x="4864608" y="3429000"/>
            <a:ext cx="3547872" cy="210312"/>
          </a:xfrm>
          <a:prstGeom prst="rect">
            <a:avLst/>
          </a:prstGeom>
          <a:noFill/>
        </p:spPr>
        <p:txBody>
          <a:bodyPr wrap="square" lIns="22860" tIns="0" rIns="22860" bIns="0" anchor="ctr">
            <a:noAutofit/>
          </a:bodyPr>
          <a:lstStyle/>
          <a:p>
            <a:pPr algn="ctr">
              <a:lnSpc>
                <a:spcPct val="108000"/>
              </a:lnSpc>
              <a:spcBef>
                <a:spcPts val="0"/>
              </a:spcBef>
              <a:spcAft>
                <a:spcPts val="0"/>
              </a:spcAft>
            </a:pPr>
            <a:r>
              <a:rPr sz="1200" b="1">
                <a:solidFill>
                  <a:srgbClr val="041447"/>
                </a:solidFill>
                <a:latin typeface="Noto Sans"/>
              </a:rPr>
              <a:t>T4 ⊕ T5 ⊕ T6 → StorageOrgan</a:t>
            </a:r>
          </a:p>
        </p:txBody>
      </p:sp>
      <p:sp>
        <p:nvSpPr>
          <p:cNvPr id="38" name="Rectangle 37"/>
          <p:cNvSpPr/>
          <p:nvPr/>
        </p:nvSpPr>
        <p:spPr>
          <a:xfrm>
            <a:off x="329184" y="4096512"/>
            <a:ext cx="8458200" cy="356616"/>
          </a:xfrm>
          <a:prstGeom prst="rect">
            <a:avLst/>
          </a:prstGeom>
          <a:solidFill>
            <a:srgbClr val="EAF0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438912" y="4114800"/>
            <a:ext cx="8211312" cy="310896"/>
          </a:xfrm>
          <a:prstGeom prst="rect">
            <a:avLst/>
          </a:prstGeom>
          <a:noFill/>
        </p:spPr>
        <p:txBody>
          <a:bodyPr wrap="square" lIns="22860" tIns="0" rIns="22860" bIns="0" anchor="ctr">
            <a:noAutofit/>
          </a:bodyPr>
          <a:lstStyle/>
          <a:p>
            <a:pPr algn="l">
              <a:lnSpc>
                <a:spcPct val="108000"/>
              </a:lnSpc>
              <a:spcBef>
                <a:spcPts val="0"/>
              </a:spcBef>
              <a:spcAft>
                <a:spcPts val="0"/>
              </a:spcAft>
            </a:pPr>
            <a:r>
              <a:rPr sz="1300" b="1">
                <a:solidFill>
                  <a:srgbClr val="041447"/>
                </a:solidFill>
                <a:latin typeface="Noto Sans"/>
              </a:rPr>
              <a:t>The storage organ is not an extra 19th slot; it realises the selected axes together.</a:t>
            </a:r>
          </a:p>
        </p:txBody>
      </p:sp>
    </p:spTree>
  </p:cSld>
  <p:clrMapOvr>
    <a:masterClrMapping/>
  </p:clrMapOvr>
</p:sld>
</file>

<file path=ppt/theme/theme1.xml><?xml version="1.0" encoding="utf-8"?>
<a:theme xmlns:a="http://schemas.openxmlformats.org/drawingml/2006/main" name="DB_theme">
  <a:themeElements>
    <a:clrScheme name="PAL-CD">
      <a:dk1>
        <a:srgbClr val="4C4D4D"/>
      </a:dk1>
      <a:lt1>
        <a:sysClr val="window" lastClr="FFFFFF"/>
      </a:lt1>
      <a:dk2>
        <a:srgbClr val="171616"/>
      </a:dk2>
      <a:lt2>
        <a:srgbClr val="E7E6E6"/>
      </a:lt2>
      <a:accent1>
        <a:srgbClr val="40B498"/>
      </a:accent1>
      <a:accent2>
        <a:srgbClr val="B1D285"/>
      </a:accent2>
      <a:accent3>
        <a:srgbClr val="1F8299"/>
      </a:accent3>
      <a:accent4>
        <a:srgbClr val="F9C611"/>
      </a:accent4>
      <a:accent5>
        <a:srgbClr val="EA4F30"/>
      </a:accent5>
      <a:accent6>
        <a:srgbClr val="994781"/>
      </a:accent6>
      <a:hlink>
        <a:srgbClr val="1F8299"/>
      </a:hlink>
      <a:folHlink>
        <a:srgbClr val="994781"/>
      </a:folHlink>
    </a:clrScheme>
    <a:fontScheme name="TUD CD">
      <a:majorFont>
        <a:latin typeface="Noto Sans"/>
        <a:ea typeface=""/>
        <a:cs typeface=""/>
      </a:majorFont>
      <a:minorFont>
        <a:latin typeface="Noto Sans"/>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rtlCol="0">
        <a:spAutoFit/>
      </a:bodyPr>
      <a:lstStyle>
        <a:defPPr>
          <a:defRPr sz="1200" dirty="0" err="1" smtClean="0"/>
        </a:defPPr>
      </a:lstStyle>
    </a:txDef>
  </a:objectDefaults>
  <a:extraClrSchemeLst/>
  <a:custClrLst>
    <a:custClr name="Brillantblau">
      <a:srgbClr val="00008C"/>
    </a:custClr>
    <a:custClr name="Blau 1">
      <a:srgbClr val="2F57B2"/>
    </a:custClr>
    <a:custClr name="Violett 1">
      <a:srgbClr val="7369BE"/>
    </a:custClr>
    <a:custClr name="Magenta 1">
      <a:srgbClr val="BC1589"/>
    </a:custClr>
    <a:custClr name="Rot 1">
      <a:srgbClr val="D20F41"/>
    </a:custClr>
    <a:custClr name="Orange 1">
      <a:srgbClr val="C85000"/>
    </a:custClr>
    <a:custClr name="Gelb 1">
      <a:srgbClr val="FFC700"/>
    </a:custClr>
    <a:custClr name="Oliv 1">
      <a:srgbClr val="767A23"/>
    </a:custClr>
    <a:custClr name="Grün 1">
      <a:srgbClr val="007D4B"/>
    </a:custClr>
    <a:custClr name="Türkis 1">
      <a:srgbClr val="0A777F"/>
    </a:custClr>
    <a:custClr name="Dunkelblau">
      <a:srgbClr val="001450"/>
    </a:custClr>
    <a:custClr name="Blau 2">
      <a:srgbClr val="97C6FF"/>
    </a:custClr>
    <a:custClr name="Violett 2">
      <a:srgbClr val="C8C8FF"/>
    </a:custClr>
    <a:custClr name="Magenta 2">
      <a:srgbClr val="FFB9FF"/>
    </a:custClr>
    <a:custClr name="Rot 2">
      <a:srgbClr val="FFAAA5"/>
    </a:custClr>
    <a:custClr name="Orange 2">
      <a:srgbClr val="FFBE78"/>
    </a:custClr>
    <a:custClr name="Gelb 2">
      <a:srgbClr val="FFE483"/>
    </a:custClr>
    <a:custClr name="Oliv 2">
      <a:srgbClr val="D2DC46"/>
    </a:custClr>
    <a:custClr name="Grün 2">
      <a:srgbClr val="8CE6AA"/>
    </a:custClr>
    <a:custClr name="Türkis 2">
      <a:srgbClr val="8CE6D7"/>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Schwarz">
      <a:srgbClr val="000000"/>
    </a:custClr>
    <a:custClr name="Weiß">
      <a:srgbClr val="FFFFFF"/>
    </a:custClr>
    <a:custClr name="Grau 100">
      <a:srgbClr val="323F4B"/>
    </a:custClr>
    <a:custClr name="Grau 80">
      <a:srgbClr val="566371"/>
    </a:custClr>
    <a:custClr name="Grau 60">
      <a:srgbClr val="7D8894"/>
    </a:custClr>
    <a:custClr name="Grau 40">
      <a:srgbClr val="A5AEB8"/>
    </a:custClr>
    <a:custClr name="Grau 20">
      <a:srgbClr val="D0D5DC"/>
    </a:custClr>
    <a:custClr name="Grau 10">
      <a:srgbClr val="E7E9ED"/>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Lst>
  <a:extLst>
    <a:ext uri="{05A4C25C-085E-4340-85A3-A5531E510DB2}">
      <thm15:themeFamily xmlns:thm15="http://schemas.microsoft.com/office/thememl/2012/main" name="DB_template_26v2.potx" id="{346595A6-02AF-417F-B415-CE76A098590B}" vid="{48E7935D-9E50-4D71-ABDC-0DDEEDD198F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Benutzerdefiniert 1">
      <a:majorFont>
        <a:latin typeface="Muli"/>
        <a:ea typeface=""/>
        <a:cs typeface=""/>
      </a:majorFont>
      <a:minorFont>
        <a:latin typeface="Mul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Benutzerdefiniert 1">
      <a:majorFont>
        <a:latin typeface="Muli"/>
        <a:ea typeface=""/>
        <a:cs typeface=""/>
      </a:majorFont>
      <a:minorFont>
        <a:latin typeface="Mul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0</TotalTime>
  <Words>6885</Words>
  <Application>Microsoft Office PowerPoint</Application>
  <PresentationFormat>Bildschirmpräsentation (16:9)</PresentationFormat>
  <Paragraphs>870</Paragraphs>
  <Slides>23</Slides>
  <Notes>23</Notes>
  <HiddenSlides>8</HiddenSlides>
  <MMClips>0</MMClips>
  <ScaleCrop>false</ScaleCrop>
  <HeadingPairs>
    <vt:vector size="6" baseType="variant">
      <vt:variant>
        <vt:lpstr>Verwendete Schriftarten</vt:lpstr>
      </vt:variant>
      <vt:variant>
        <vt:i4>4</vt:i4>
      </vt:variant>
      <vt:variant>
        <vt:lpstr>Design</vt:lpstr>
      </vt:variant>
      <vt:variant>
        <vt:i4>1</vt:i4>
      </vt:variant>
      <vt:variant>
        <vt:lpstr>Folientitel</vt:lpstr>
      </vt:variant>
      <vt:variant>
        <vt:i4>23</vt:i4>
      </vt:variant>
    </vt:vector>
  </HeadingPairs>
  <TitlesOfParts>
    <vt:vector size="28" baseType="lpstr">
      <vt:lpstr>Arial</vt:lpstr>
      <vt:lpstr>DejaVu Sans Mono</vt:lpstr>
      <vt:lpstr>Muli</vt:lpstr>
      <vt:lpstr>Noto Sans</vt:lpstr>
      <vt:lpstr>DB_theme</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Cache Engine — revised after the supervisor rehearsal</dc:title>
  <dc:subject>Thesis-ordered scientific presentation; 19-minute route</dc:subject>
  <dc:creator>Benjamin-Elias Probst</dc:creator>
  <cp:keywords>PRT-ART; Cache Engine; design spaces; measurement; TU Dresden</cp:keywords>
  <cp:lastModifiedBy>Benjamin-Elias Probst</cp:lastModifiedBy>
  <cp:revision>44</cp:revision>
  <cp:lastPrinted>2017-08-03T12:32:02Z</cp:lastPrinted>
  <dcterms:created xsi:type="dcterms:W3CDTF">2025-09-12T10:00:42Z</dcterms:created>
  <dcterms:modified xsi:type="dcterms:W3CDTF">2026-09-18T12:31:53Z</dcterms:modified>
</cp:coreProperties>
</file>