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5" d="100"/>
          <a:sy n="165" d="100"/>
        </p:scale>
        <p:origin x="1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-Elias Probst" userId="ed3c63fefcac5ed3" providerId="LiveId" clId="{4D0D08F5-47D1-4615-B1A3-9EACB94514F4}"/>
    <pc:docChg chg="custSel modSld">
      <pc:chgData name="Benjamin-Elias Probst" userId="ed3c63fefcac5ed3" providerId="LiveId" clId="{4D0D08F5-47D1-4615-B1A3-9EACB94514F4}" dt="2026-04-16T20:44:04.113" v="1" actId="478"/>
      <pc:docMkLst>
        <pc:docMk/>
      </pc:docMkLst>
      <pc:sldChg chg="delSp modSp mod">
        <pc:chgData name="Benjamin-Elias Probst" userId="ed3c63fefcac5ed3" providerId="LiveId" clId="{4D0D08F5-47D1-4615-B1A3-9EACB94514F4}" dt="2026-04-16T20:44:04.113" v="1" actId="478"/>
        <pc:sldMkLst>
          <pc:docMk/>
          <pc:sldMk cId="0" sldId="260"/>
        </pc:sldMkLst>
        <pc:spChg chg="del">
          <ac:chgData name="Benjamin-Elias Probst" userId="ed3c63fefcac5ed3" providerId="LiveId" clId="{4D0D08F5-47D1-4615-B1A3-9EACB94514F4}" dt="2026-04-16T20:44:04.113" v="1" actId="478"/>
          <ac:spMkLst>
            <pc:docMk/>
            <pc:sldMk cId="0" sldId="260"/>
            <ac:spMk id="5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4-16T20:44:01.474" v="0" actId="20577"/>
          <ac:spMkLst>
            <pc:docMk/>
            <pc:sldMk cId="0" sldId="260"/>
            <ac:spMk id="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54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ZIH Barnard and Grace Hopper hardware overview: https://compendium.hpc.tu-dresden.de/jobs_and_resources/hardware_overview/ and https://compendium.hpc.tu-dresden.de/jobs_and_resources/nvidia_grace_hopper/
- Intel i7-1270P specs: https://www.intel.com/content/www/us/en/products/sku/226255/intel-core-i71270p-processor-18m-cache-up-to-4-80-ghz/specifications.html
- Intel i9-14900KS specs: https://www.intel.com/content/www/us/en/products/sku/237504/intel-core-i9-processor-14900ks-36m-cache-up-to-6-20-ghz.html
- AMD Ryzen 9 9950X3D2 Dual Edition: https://www.amd.com/de/products/processors/desktops/ryzen/9000-series/amd-ryzen-9-9950x3d2-dual-edition.html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VisionFive 2 official specs: https://doc-en.rvspace.org/VisionFive2/Quick_Start_Guide/VisionFive_2/specification_pb.html
- Raspberry Pi 5 official announcement/specs: https://www.raspberrypi.com/news/introducing-raspberry-pi-5/
- Mac mini M1 specs and Apple silicon tuning docs: https://support.apple.com/en-kg/111894 and https://developer.apple.com/documentation/apple-silicon/tuning-your-code-s-performance-for-apple-silicon
- ODROID H4 Ultra specs: https://www.odroid.co.uk/hard-kernel/odroid-h4-ultra
- Barnard / Capella / GH200: https://compendium.hpc.tu-dresden.de/jobs_and_resources/hardware_overview/, https://compendium.hpc.tu-dresden.de/jobs_and_resources/capella/, https://compendium.hpc.tu-dresden.de/jobs_and_resources/nvidia_grace_hopper/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Intel Advisor cache simulation and modes: https://www.intel.com/content/www/us/en/docs/advisor/user-guide/2025-1/cachesim-cacheline-size.html and https://www.intel.com/content/www/us/en/docs/advisor/user-guide/2024-0/cachesim-mode.html
- Intel MLC overview: https://www.intel.com/content/www/us/en/download/736633/intel-memory-latency-checker-intel-mlc.html
- Google Benchmark user guide: https://google.github.io/benchmark/user_guide.html
- YCSB core workloads: https://github.com/brianfrankcooper/YCSB/wiki/Core-Workloads
- CoCo-trie dataset family discussed in prior literature plan; dataset basis from String Dictionary Compression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perf stat hybrid PMUs and usage: https://man7.org/linux/man-pages/man1/perf-stat.1.html
- ZIH perf tools / PAPI / PIKA no_monitoring: https://compendium.hpc.tu-dresden.de/software/perf_tools/, https://compendium.hpc.tu-dresden.de/software/papi/, https://compendium.hpc.tu-dresden.de/software/pika/
- Intel Advisor cache simulation docs: https://www.intel.com/content/www/us/en/docs/advisor/user-guide/2024-1/enable-cache-simulation.html and related MAP cache-simulation options
- Apple tuning guidance: https://developer.apple.com/documentation/apple-silicon/tuning-your-code-s-performance-for-apple-silicon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Sources consolidated from prior slides: ZIH hardware overview, GH200 page, Intel/AMD CPU product pages, Raspberry Pi 5, VisionFive 2, Apple docs, Google Benchmark, YCSB.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 · Termin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Architekturen, Benchmarks und Messalgorithmen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für die Verifikation der Cache-Engine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268"/>
                </a:solidFill>
              </a:rPr>
              <a:t>Fokus: Architektur-Extrema, Kalibrierungsbenchmarks, Messstack und Nachweis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A6268"/>
                </a:solidFill>
              </a:rPr>
              <a:t>aktiver statt passiver Cache-Awareness über PRT-ART.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235440" y="2679192"/>
            <a:ext cx="0" cy="27432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452360" y="1856232"/>
            <a:ext cx="3611880" cy="841248"/>
          </a:xfrm>
          <a:prstGeom prst="roundRect">
            <a:avLst>
              <a:gd name="adj" fmla="val 5435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607808" y="1965960"/>
            <a:ext cx="327355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Architektur-Extrema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RISC-V · Arm · Apple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Hybrid x86 · Server x86 · GH200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9235440" y="3666744"/>
            <a:ext cx="0" cy="27432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7452360" y="2843784"/>
            <a:ext cx="3611880" cy="841248"/>
          </a:xfrm>
          <a:prstGeom prst="roundRect">
            <a:avLst>
              <a:gd name="adj" fmla="val 5435"/>
            </a:avLst>
          </a:prstGeom>
          <a:solidFill>
            <a:srgbClr val="E7F3F5"/>
          </a:solidFill>
          <a:ln w="12700">
            <a:solidFill>
              <a:srgbClr val="C9D8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607808" y="2953512"/>
            <a:ext cx="327355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Kalibrierung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Working set · stride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pointer chase · TLB · prefetch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9235440" y="4654296"/>
            <a:ext cx="0" cy="27432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452360" y="3831336"/>
            <a:ext cx="3611880" cy="841248"/>
          </a:xfrm>
          <a:prstGeom prst="roundRect">
            <a:avLst>
              <a:gd name="adj" fmla="val 5435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607808" y="3941064"/>
            <a:ext cx="327355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Suchlasten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exact/prefix · build/update/delete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YCSB-inspirierte Mischlasten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452360" y="4818888"/>
            <a:ext cx="3611880" cy="841248"/>
          </a:xfrm>
          <a:prstGeom prst="roundRect">
            <a:avLst>
              <a:gd name="adj" fmla="val 5435"/>
            </a:avLst>
          </a:prstGeom>
          <a:solidFill>
            <a:srgbClr val="E7F3F5"/>
          </a:solidFill>
          <a:ln w="12700">
            <a:solidFill>
              <a:srgbClr val="C9D8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607808" y="4928616"/>
            <a:ext cx="327355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Nachweis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passiv vs. Warm-up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F2933"/>
                </a:solidFill>
              </a:rPr>
              <a:t>vs. online adaptiv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95528" y="5760720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B7A86"/>
                </a:solidFill>
              </a:rPr>
              <a:t>Ziel: automatische Cache-Engine-Entscheidungen auf sehr unterschiedlichen Plattformen reproduzierbar verifizieren.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58368" y="660196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D7680"/>
                </a:solidFill>
              </a:rPr>
              <a:t>PRT-ART · Termin 6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Architektur-Extrema der Pflichtmatrix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2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Matrix deckt Plattformen ab, auf denen die Cache-Engine unterschiedliche Entscheidungen erzwingen muss.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10927080" cy="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65D"/>
                </a:solidFill>
              </a:rPr>
              <a:t>Pflichtplattformen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14400" y="3090672"/>
            <a:ext cx="10241280" cy="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  <a:headEnd type="oval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VisionFive 2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RISC-V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RV64GC · scalar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029968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7F3F5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075688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Raspberry Pi 5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Arm A76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NEON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3145536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191256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Mac mini M1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Apple arm64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4P + 4E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261104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7F3F5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306824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ODROID H4 Ultra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Intel N305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E-core only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AVX2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5376672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422392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i7-1270P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Intel Hybrid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4P + 8E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AVX2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7F3F5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37960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i9-14900KS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Intel Hybrid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8P + 16E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AVX2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7607808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653528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Ryzen 9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9950X3D2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Zen 5 + 3D V-Cache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AVX-512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8979408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7F3F5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025128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Barnard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2× Xeon 8470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AVX-512 / AMX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10149840" y="1874520"/>
            <a:ext cx="932688" cy="1051560"/>
          </a:xfrm>
          <a:prstGeom prst="roundRect">
            <a:avLst>
              <a:gd name="adj" fmla="val 3922"/>
            </a:avLst>
          </a:prstGeom>
          <a:solidFill>
            <a:srgbClr val="EAF3F8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0195560" y="1965960"/>
            <a:ext cx="84124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Grace Hopper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72× Neoverse V2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1F2933"/>
                </a:solidFill>
              </a:rPr>
              <a:t>SVE2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713232" y="3977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65D"/>
                </a:solidFill>
              </a:rPr>
              <a:t>Zusatzpfad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3931920" cy="1143000"/>
          </a:xfrm>
          <a:prstGeom prst="roundRect">
            <a:avLst>
              <a:gd name="adj" fmla="val 4000"/>
            </a:avLst>
          </a:prstGeom>
          <a:solidFill>
            <a:srgbClr val="FAFCFE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1115568" y="446227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65D"/>
                </a:solidFill>
              </a:rPr>
              <a:t>Capella als optionaler AMD-Server-Gegenpol
</a:t>
            </a:r>
            <a:r>
              <a:rPr lang="en-US" sz="1020" dirty="0">
                <a:solidFill>
                  <a:srgbClr val="1F2933"/>
                </a:solidFill>
              </a:rPr>
              <a:t>2× AMD EPYC 9334, 8 NUMA-Domains pro Knoten. Sinnvoll, falls eine zusätzliche Server-Architektur neben Barnard benötigt wird.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920" y="4315968"/>
            <a:ext cx="2880360" cy="1143000"/>
          </a:xfrm>
          <a:prstGeom prst="roundRect">
            <a:avLst>
              <a:gd name="adj" fmla="val 4000"/>
            </a:avLst>
          </a:prstGeom>
          <a:solidFill>
            <a:srgbClr val="FAFCFE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276088" y="4462272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65D"/>
                </a:solidFill>
              </a:rPr>
              <a:t>Legacy Intel Mac mini
</a:t>
            </a:r>
            <a:r>
              <a:rPr lang="en-US" sz="1020" dirty="0">
                <a:solidFill>
                  <a:srgbClr val="1F2933"/>
                </a:solidFill>
              </a:rPr>
              <a:t>Nur nach exakter CPU-ID-Aufnahme durch den Warm-up-Pfad in die Vergleichsmatrix aufnehmen.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83880" y="4315968"/>
            <a:ext cx="2926080" cy="1143000"/>
          </a:xfrm>
          <a:prstGeom prst="roundRect">
            <a:avLst>
              <a:gd name="adj" fmla="val 4000"/>
            </a:avLst>
          </a:prstGeom>
          <a:solidFill>
            <a:srgbClr val="FAFCFE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8366760" y="446227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65D"/>
                </a:solidFill>
              </a:rPr>
              <a:t>Wichtigste Trennachse
</a:t>
            </a:r>
            <a:r>
              <a:rPr lang="en-US" sz="1010" dirty="0">
                <a:solidFill>
                  <a:srgbClr val="1F2933"/>
                </a:solidFill>
              </a:rPr>
              <a:t>scalar · NEON · SVE2 · AVX2 · AVX-512 sowie kleine vs. große LLCs und Hybrid- vs. homogene Kerne.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660196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D7680"/>
                </a:solidFill>
              </a:rPr>
              <a:t>PRT-ART · Termin 6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Kalibrierungsbenchmarks und eigentliche Suchlasten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2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6 friert eine zweistufige Verifikation ein: erst Cache-Engine-Kalibrierung, dann PRT-ART-Workloads.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10927080" cy="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49808" y="1298448"/>
            <a:ext cx="5212080" cy="4526280"/>
          </a:xfrm>
          <a:prstGeom prst="roundRect">
            <a:avLst>
              <a:gd name="adj" fmla="val 808"/>
            </a:avLst>
          </a:prstGeom>
          <a:solidFill>
            <a:srgbClr val="F8FBFD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69264" y="15270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65D"/>
                </a:solidFill>
              </a:rPr>
              <a:t>A. Cache-Engine-Kalibrierung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90195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1188720" y="1892808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Working-set staircase für L1/L2/L3/DRAM-Knicke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987552" y="230428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1188720" y="229514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Stride sweep: unit, cache-line, page, random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987552" y="270662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Dependent pointer chase für echte Latenzpfade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987552" y="310896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1188720" y="3099816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Prefetch-distance sweep und TLB/page sweep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987552" y="351129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1188720" y="350215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Seitentyp-Mikrobenchmarks: dense, START, HOT, redirect, inline vs. handle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987552" y="391363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1188720" y="3904488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ISA sweep: scalar / AVX2 / AVX-512 / NEON / SVE2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17920" y="1298448"/>
            <a:ext cx="5230368" cy="4526280"/>
          </a:xfrm>
          <a:prstGeom prst="roundRect">
            <a:avLst>
              <a:gd name="adj" fmla="val 808"/>
            </a:avLst>
          </a:prstGeom>
          <a:solidFill>
            <a:srgbClr val="F8FBFD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437376" y="15270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65D"/>
                </a:solidFill>
              </a:rPr>
              <a:t>B. PRT-ART und Baseline-Workloads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5664" y="190195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656832" y="1892808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Exact hit / miss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455664" y="230428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6656832" y="2295144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Prefix hit / miss / enumeration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455664" y="270662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656832" y="2697480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Sequential lexicographic scan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6455664" y="310896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6656832" y="3099816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Bulk build, insert, update, delete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455664" y="351129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6656832" y="3502152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YCSB-inspirierte Mischlasten A/B/C/E/F über eigenen Harness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455664" y="391363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B7A86"/>
                </a:solidFill>
              </a:rPr>
              <a:t>•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6656832" y="3904488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3"/>
                </a:solidFill>
              </a:rPr>
              <a:t>Sechs CoCo-trie-Datensätze als Pflichtsatz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960120" y="5989320"/>
            <a:ext cx="10195560" cy="502920"/>
          </a:xfrm>
          <a:prstGeom prst="roundRect">
            <a:avLst>
              <a:gd name="adj" fmla="val 5455"/>
            </a:avLst>
          </a:prstGeom>
          <a:solidFill>
            <a:srgbClr val="EAF3F8"/>
          </a:solidFill>
          <a:ln w="12700">
            <a:solidFill>
              <a:srgbClr val="D0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1143000" y="6144768"/>
            <a:ext cx="9829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A86"/>
                </a:solidFill>
              </a:rPr>
              <a:t>Erfolgskriterium: Die Cache-Engine muss auf denselben Workloads zwischen passiv, Warm-up-kalibriert und online adaptiv messbar unterschiedliche Entscheidungen erzeugen.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" y="660196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D7680"/>
                </a:solidFill>
              </a:rPr>
              <a:t>PRT-ART · Termin 6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Messalgorithmen und Werkzeugkette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2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Werkzeuge werden je Plattformklasse getrennt, nicht künstlich vereinheitlicht.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10927080" cy="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49808" y="1371600"/>
            <a:ext cx="2377440" cy="420624"/>
          </a:xfrm>
          <a:prstGeom prst="rect">
            <a:avLst/>
          </a:prstGeom>
          <a:solidFill>
            <a:srgbClr val="DCE7F0"/>
          </a:solidFill>
          <a:ln w="12700">
            <a:solidFill>
              <a:srgbClr val="BFCF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65D"/>
                </a:solidFill>
              </a:rPr>
              <a:t>Klasse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27248" y="1371600"/>
            <a:ext cx="2468880" cy="420624"/>
          </a:xfrm>
          <a:prstGeom prst="rect">
            <a:avLst/>
          </a:prstGeom>
          <a:solidFill>
            <a:srgbClr val="DCE7F0"/>
          </a:solidFill>
          <a:ln w="12700">
            <a:solidFill>
              <a:srgbClr val="BFCF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00400" y="148132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65D"/>
                </a:solidFill>
              </a:rPr>
              <a:t>Primär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96128" y="1371600"/>
            <a:ext cx="2103120" cy="420624"/>
          </a:xfrm>
          <a:prstGeom prst="rect">
            <a:avLst/>
          </a:prstGeom>
          <a:solidFill>
            <a:srgbClr val="DCE7F0"/>
          </a:solidFill>
          <a:ln w="12700">
            <a:solidFill>
              <a:srgbClr val="BFCF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669280" y="1481328"/>
            <a:ext cx="1956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65D"/>
                </a:solidFill>
              </a:rPr>
              <a:t>Ergänzung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99248" y="1371600"/>
            <a:ext cx="3931920" cy="420624"/>
          </a:xfrm>
          <a:prstGeom prst="rect">
            <a:avLst/>
          </a:prstGeom>
          <a:solidFill>
            <a:srgbClr val="DCE7F0"/>
          </a:solidFill>
          <a:ln w="12700">
            <a:solidFill>
              <a:srgbClr val="BFCF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772400" y="1481328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65D"/>
                </a:solidFill>
              </a:rPr>
              <a:t>Pflichtmetriken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1792224"/>
            <a:ext cx="237744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1865376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Linux allgemein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127248" y="1792224"/>
            <a:ext cx="246888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200400" y="186537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perf stat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596128" y="1792224"/>
            <a:ext cx="210312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669280" y="186537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perf record/report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699248" y="1792224"/>
            <a:ext cx="393192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772400" y="1865376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cycles, instructions, branches, branch-misses, cache-misses, dTLB-misses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49808" y="2377440"/>
            <a:ext cx="237744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822960" y="2450592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Intel Hybrid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3127248" y="2377440"/>
            <a:ext cx="246888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200400" y="245059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perf mit cpu_core/* und cpu_atom/*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596128" y="2377440"/>
            <a:ext cx="210312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669280" y="245059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Advisor MAP / CLU / Footprint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699248" y="2377440"/>
            <a:ext cx="393192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772400" y="2450592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P-/E-Core getrennt; Miss-Verhalten und Cache-Line-Nutzung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49808" y="2962656"/>
            <a:ext cx="237744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822960" y="3035808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Intel Server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127248" y="2962656"/>
            <a:ext cx="246888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200400" y="303580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perf + PAPI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596128" y="2962656"/>
            <a:ext cx="210312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5669280" y="303580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Advisor auf CPU-Pfaden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699248" y="2962656"/>
            <a:ext cx="393192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7772400" y="3035808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LLC-/Memory-Nähe, AVX-512, Serververgleich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49808" y="3547872"/>
            <a:ext cx="237744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822960" y="3621024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AMD x86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3127248" y="3547872"/>
            <a:ext cx="246888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3200400" y="362102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perf + PAPI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596128" y="3547872"/>
            <a:ext cx="210312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5669280" y="3621024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ISA- und working-set sweep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7699248" y="3547872"/>
            <a:ext cx="393192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7772400" y="3621024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LLC-Ausnutzung, 3D-V-Cache, AVX-512-Pfad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749808" y="4133088"/>
            <a:ext cx="237744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822960" y="4206240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macOS / Apple Silicon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3127248" y="4133088"/>
            <a:ext cx="246888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3200400" y="420624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Instruments / Time Profiler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5596128" y="4133088"/>
            <a:ext cx="210312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5669280" y="420624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eigener Harness + Systeminfos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699248" y="4133088"/>
            <a:ext cx="3931920" cy="585216"/>
          </a:xfrm>
          <a:prstGeom prst="rect">
            <a:avLst/>
          </a:prstGeom>
          <a:solidFill>
            <a:srgbClr val="FAFCFE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7772400" y="4206240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CPU-Zeit, P/E-Verteilung, End-to-End-Latenz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49808" y="4718304"/>
            <a:ext cx="237744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822960" y="4791456"/>
            <a:ext cx="2231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ZIH Jobs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3127248" y="4718304"/>
            <a:ext cx="246888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3200400" y="479145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PAPI + perf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5596128" y="4718304"/>
            <a:ext cx="210312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5669280" y="479145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PIKA deaktivierbar via --exclusive und no_monitoring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7699248" y="4718304"/>
            <a:ext cx="3931920" cy="585216"/>
          </a:xfrm>
          <a:prstGeom prst="rect">
            <a:avLst/>
          </a:prstGeom>
          <a:solidFill>
            <a:srgbClr val="F5F8FB"/>
          </a:solidFill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7772400" y="4791456"/>
            <a:ext cx="3785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F2933"/>
                </a:solidFill>
              </a:rPr>
              <a:t>Counter sauber pro Job und Plattform reproduzierbar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868680" y="5486400"/>
            <a:ext cx="5303520" cy="685800"/>
          </a:xfrm>
          <a:prstGeom prst="roundRect">
            <a:avLst>
              <a:gd name="adj" fmla="val 5333"/>
            </a:avLst>
          </a:prstGeom>
          <a:solidFill>
            <a:srgbClr val="EAF3F8"/>
          </a:solidFill>
          <a:ln w="12700">
            <a:solidFill>
              <a:srgbClr val="D0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1051560" y="565099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B7A86"/>
                </a:solidFill>
              </a:rPr>
              <a:t>Hybrid-Regel: Alder-Lake-ähnliche Systeme werden nie als ein homogener CPU-Block ausgewertet.</a:t>
            </a:r>
            <a:endParaRPr lang="en-US" sz="1230" dirty="0"/>
          </a:p>
        </p:txBody>
      </p:sp>
      <p:sp>
        <p:nvSpPr>
          <p:cNvPr id="63" name="Shape 61"/>
          <p:cNvSpPr/>
          <p:nvPr/>
        </p:nvSpPr>
        <p:spPr>
          <a:xfrm>
            <a:off x="6446520" y="5486400"/>
            <a:ext cx="4983480" cy="685800"/>
          </a:xfrm>
          <a:prstGeom prst="roundRect">
            <a:avLst>
              <a:gd name="adj" fmla="val 5333"/>
            </a:avLst>
          </a:prstGeom>
          <a:solidFill>
            <a:srgbClr val="EAF3F8"/>
          </a:solidFill>
          <a:ln w="12700">
            <a:solidFill>
              <a:srgbClr val="D0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62"/>
          <p:cNvSpPr/>
          <p:nvPr/>
        </p:nvSpPr>
        <p:spPr>
          <a:xfrm>
            <a:off x="6629400" y="56509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0B7A86"/>
                </a:solidFill>
              </a:rPr>
              <a:t>ZIH-Regel: Für eigene Counter-Messungen exklusive Jobs und deaktiviertes PIKA-Monitoring.</a:t>
            </a:r>
            <a:endParaRPr lang="en-US" sz="1210" dirty="0"/>
          </a:p>
        </p:txBody>
      </p:sp>
      <p:sp>
        <p:nvSpPr>
          <p:cNvPr id="65" name="Text 63"/>
          <p:cNvSpPr/>
          <p:nvPr/>
        </p:nvSpPr>
        <p:spPr>
          <a:xfrm>
            <a:off x="658368" y="660196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D7680"/>
                </a:solidFill>
              </a:rPr>
              <a:t>PRT-ART · Termin 6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Termin-6-Freeze: Was morgen fest zugesagt werden kann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2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Matrix ist groß, aber die Kernlogik ist nun klar und präsentierbar.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10927080" cy="0"/>
          </a:xfrm>
          <a:prstGeom prst="line">
            <a:avLst/>
          </a:prstGeom>
          <a:noFill/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3429000" cy="4526280"/>
          </a:xfrm>
          <a:prstGeom prst="roundRect">
            <a:avLst>
              <a:gd name="adj" fmla="val 1333"/>
            </a:avLst>
          </a:prstGeom>
          <a:solidFill>
            <a:srgbClr val="F8FBFD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42416" y="16184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65D"/>
                </a:solidFill>
              </a:rPr>
              <a:t>Pflichtplattformen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252728" y="192938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VisionFive 2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51560" y="229514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252728" y="228600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Raspberry Pi 5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252728" y="264261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Mac mini M1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51560" y="300837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252728" y="299923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ODROID-H4 Ultra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051560" y="336499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252728" y="33558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i7-1270P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51560" y="372160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52728" y="371246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i9-14900KS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051560" y="407822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252728" y="40690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Ryzen 9 9950X3D2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051560" y="44348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252728" y="442569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Barnard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051560" y="479145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252728" y="47823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Grace Hopper GH200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4407408" y="1371600"/>
            <a:ext cx="3493008" cy="4526280"/>
          </a:xfrm>
          <a:prstGeom prst="roundRect">
            <a:avLst>
              <a:gd name="adj" fmla="val 1309"/>
            </a:avLst>
          </a:prstGeom>
          <a:solidFill>
            <a:srgbClr val="F8FBFD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26864" y="16184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65D"/>
                </a:solidFill>
              </a:rPr>
              <a:t>Pflicht-ISA / Modi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5152" y="193852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4846320" y="192938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scalar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645152" y="229514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4846320" y="22860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x86_avx2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4645152" y="265176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4846320" y="264261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x86_avx512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4645152" y="300837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846320" y="2999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arm_neon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4645152" y="336499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4846320" y="335584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arm_sve2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4645152" y="372160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4846320" y="37124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passiv / statisch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4645152" y="407822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4846320" y="406908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Warm-up-kalibriert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4645152" y="44348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4846320" y="44256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online adaptiv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8019288" y="1371600"/>
            <a:ext cx="3401568" cy="4526280"/>
          </a:xfrm>
          <a:prstGeom prst="roundRect">
            <a:avLst>
              <a:gd name="adj" fmla="val 1344"/>
            </a:avLst>
          </a:prstGeom>
          <a:solidFill>
            <a:srgbClr val="F8FBFD"/>
          </a:solidFill>
          <a:ln w="12700">
            <a:solidFill>
              <a:srgbClr val="D8E3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8238744" y="16184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65D"/>
                </a:solidFill>
              </a:rPr>
              <a:t>Pflicht-Messpfade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47888" y="193852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8449056" y="192938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perf stat / record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8247888" y="231343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8449056" y="230428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PAPI auf ZIH</a:t>
            </a:r>
            <a:endParaRPr lang="en-US" sz="1220" dirty="0"/>
          </a:p>
        </p:txBody>
      </p:sp>
      <p:sp>
        <p:nvSpPr>
          <p:cNvPr id="49" name="Text 47"/>
          <p:cNvSpPr/>
          <p:nvPr/>
        </p:nvSpPr>
        <p:spPr>
          <a:xfrm>
            <a:off x="8247888" y="268833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8449056" y="267919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Advisor MAP / CLU / Footprint auf Intel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8247888" y="30632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52" name="Text 50"/>
          <p:cNvSpPr/>
          <p:nvPr/>
        </p:nvSpPr>
        <p:spPr>
          <a:xfrm>
            <a:off x="8449056" y="30540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Instruments auf macOS</a:t>
            </a:r>
            <a:endParaRPr lang="en-US" sz="1220" dirty="0"/>
          </a:p>
        </p:txBody>
      </p:sp>
      <p:sp>
        <p:nvSpPr>
          <p:cNvPr id="53" name="Text 51"/>
          <p:cNvSpPr/>
          <p:nvPr/>
        </p:nvSpPr>
        <p:spPr>
          <a:xfrm>
            <a:off x="8247888" y="343814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54" name="Text 52"/>
          <p:cNvSpPr/>
          <p:nvPr/>
        </p:nvSpPr>
        <p:spPr>
          <a:xfrm>
            <a:off x="8449056" y="34290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Google Benchmark als Mikrobenchmark-Harness</a:t>
            </a:r>
            <a:endParaRPr lang="en-US" sz="1220" dirty="0"/>
          </a:p>
        </p:txBody>
      </p:sp>
      <p:sp>
        <p:nvSpPr>
          <p:cNvPr id="55" name="Text 53"/>
          <p:cNvSpPr/>
          <p:nvPr/>
        </p:nvSpPr>
        <p:spPr>
          <a:xfrm>
            <a:off x="8247888" y="381304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7A86"/>
                </a:solidFill>
              </a:rPr>
              <a:t>•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8449056" y="380390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3"/>
                </a:solidFill>
              </a:rPr>
              <a:t>YCSB als Mischlast-Vorlage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1097280" y="6208776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40" dirty="0"/>
          </a:p>
        </p:txBody>
      </p:sp>
      <p:sp>
        <p:nvSpPr>
          <p:cNvPr id="59" name="Text 57"/>
          <p:cNvSpPr/>
          <p:nvPr/>
        </p:nvSpPr>
        <p:spPr>
          <a:xfrm>
            <a:off x="658368" y="660196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D7680"/>
                </a:solidFill>
              </a:rPr>
              <a:t>PRT-ART · Termin 6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1366</Words>
  <Application>Microsoft Office PowerPoint</Application>
  <PresentationFormat>Breitbild</PresentationFormat>
  <Paragraphs>183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Termin 6 – Architekturen, Benchmarks und Messalgorithmen</dc:title>
  <dc:subject>PRT-ART Termin 6</dc:subject>
  <dc:creator>OpenAI</dc:creator>
  <cp:lastModifiedBy>Benjamin-Elias Probst</cp:lastModifiedBy>
  <cp:revision>1</cp:revision>
  <dcterms:created xsi:type="dcterms:W3CDTF">2026-04-16T19:37:36Z</dcterms:created>
  <dcterms:modified xsi:type="dcterms:W3CDTF">2026-04-16T20:44:05Z</dcterms:modified>
</cp:coreProperties>
</file>