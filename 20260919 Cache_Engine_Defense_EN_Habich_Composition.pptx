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1"/>
  </p:sldMasterIdLst>
  <p:notesMasterIdLst>
    <p:notesMasterId r:id="rId25"/>
  </p:notesMasterIdLst>
  <p:handoutMasterIdLst>
    <p:handoutMasterId r:id="rId2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797675" cy="987425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1E8197"/>
    <a:srgbClr val="4677A0"/>
    <a:srgbClr val="B1D284"/>
    <a:srgbClr val="29BC9F"/>
    <a:srgbClr val="40B498"/>
    <a:srgbClr val="E7F4EE"/>
    <a:srgbClr val="E7F4E4"/>
    <a:srgbClr val="87D4AF"/>
    <a:srgbClr val="5087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9" autoAdjust="0"/>
    <p:restoredTop sz="75217" autoAdjust="0"/>
  </p:normalViewPr>
  <p:slideViewPr>
    <p:cSldViewPr snapToGrid="0">
      <p:cViewPr varScale="1">
        <p:scale>
          <a:sx n="250" d="100"/>
          <a:sy n="250" d="100"/>
        </p:scale>
        <p:origin x="605" y="149"/>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73" d="100"/>
          <a:sy n="73" d="100"/>
        </p:scale>
        <p:origin x="3449"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F4DF2165-45DD-4E6A-8D88-991CFCF20576}" type="datetimeFigureOut">
              <a:rPr lang="de-DE" smtClean="0"/>
              <a:t>18.09.2026</a:t>
            </a:fld>
            <a:endParaRPr lang="de-DE" dirty="0"/>
          </a:p>
        </p:txBody>
      </p:sp>
      <p:sp>
        <p:nvSpPr>
          <p:cNvPr id="4" name="Fußzeilenplatzhalter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de-DE" dirty="0"/>
          </a:p>
        </p:txBody>
      </p:sp>
      <p:sp>
        <p:nvSpPr>
          <p:cNvPr id="5" name="Foliennummernplatzhalter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4F392895-00AB-4E56-A4C3-B2032C42F3A0}" type="slidenum">
              <a:rPr lang="de-DE" smtClean="0"/>
              <a:t>‹Nr.›</a:t>
            </a:fld>
            <a:endParaRPr lang="de-DE" dirty="0"/>
          </a:p>
        </p:txBody>
      </p:sp>
    </p:spTree>
    <p:extLst>
      <p:ext uri="{BB962C8B-B14F-4D97-AF65-F5344CB8AC3E}">
        <p14:creationId xmlns:p14="http://schemas.microsoft.com/office/powerpoint/2010/main" val="3816150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50443" y="0"/>
            <a:ext cx="2945659" cy="495427"/>
          </a:xfrm>
          <a:prstGeom prst="rect">
            <a:avLst/>
          </a:prstGeom>
        </p:spPr>
        <p:txBody>
          <a:bodyPr vert="horz" lIns="91440" tIns="45720" rIns="91440" bIns="45720" rtlCol="0"/>
          <a:lstStyle>
            <a:lvl1pPr algn="r">
              <a:defRPr sz="1200"/>
            </a:lvl1pPr>
          </a:lstStyle>
          <a:p>
            <a:fld id="{DBB2A775-C49D-45BA-A919-7D687A0440E7}" type="datetimeFigureOut">
              <a:rPr lang="de-DE" smtClean="0"/>
              <a:t>18.09.2026</a:t>
            </a:fld>
            <a:endParaRPr lang="de-DE"/>
          </a:p>
        </p:txBody>
      </p:sp>
      <p:sp>
        <p:nvSpPr>
          <p:cNvPr id="4" name="Folienbildplatzhalter 3"/>
          <p:cNvSpPr>
            <a:spLocks noGrp="1" noRot="1" noChangeAspect="1"/>
          </p:cNvSpPr>
          <p:nvPr>
            <p:ph type="sldImg" idx="2"/>
          </p:nvPr>
        </p:nvSpPr>
        <p:spPr>
          <a:xfrm>
            <a:off x="511513" y="1048806"/>
            <a:ext cx="5924550" cy="333375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2D6A0D67-EDAE-48EC-829F-B147F9799060}" type="slidenum">
              <a:rPr lang="de-DE" smtClean="0"/>
              <a:t>‹Nr.›</a:t>
            </a:fld>
            <a:endParaRPr lang="de-DE"/>
          </a:p>
        </p:txBody>
      </p:sp>
    </p:spTree>
    <p:extLst>
      <p:ext uri="{BB962C8B-B14F-4D97-AF65-F5344CB8AC3E}">
        <p14:creationId xmlns:p14="http://schemas.microsoft.com/office/powerpoint/2010/main" val="166453848"/>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00:00–00:20 | 20 seconds</a:t>
            </a:r>
          </a:p>
          <a:p>
            <a:r>
              <a:t>THESIS: Title page</a:t>
            </a:r>
          </a:p>
          <a:p>
            <a:endParaRPr/>
          </a:p>
          <a:p>
            <a:r>
              <a:t>This thesis studies main-memory index structures from the perspective of cache-line awareness. I will start with the task that an index solves, explain the design problem, and then show the concept, its implementation, and three representative pilot comparisons. The central question is which design decisions help under which conditions.</a:t>
            </a:r>
          </a:p>
          <a:p>
            <a:endParaRPr/>
          </a:p>
          <a:p>
            <a:r>
              <a:t>VISUAL / CLICK CUES</a:t>
            </a:r>
          </a:p>
          <a:p>
            <a:r>
              <a:t>No timed animation. Explain the figure before advancing.</a:t>
            </a:r>
          </a:p>
          <a:p>
            <a:endParaRPr/>
          </a:p>
          <a:p>
            <a:r>
              <a:t>SOURCE BASIS</a:t>
            </a:r>
          </a:p>
          <a:p>
            <a:r>
              <a:t>https://github.com/BenniProbst/20260931-Overleaf-Diplomarbeit/blob/56a8fe08042c30f8ac5a7cad104c18b1a9202d56/diplomarbeit.tex</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00:20–01:25 | 65 seconds</a:t>
            </a:r>
          </a:p>
          <a:p>
            <a:r>
              <a:t>THESIS: Thesis §§1.1–1.2; §2.1</a:t>
            </a:r>
          </a:p>
          <a:p>
            <a:endParaRPr/>
          </a:p>
          <a:p>
            <a:r>
              <a:t>Suppose a database contains records identified by keys. A query asks for the record associated with the key cat. Without an index, one possible approach is to inspect records until the key is found. An index provides a navigation structure from the key to the requested record. The same structure may also support insertion, deletion and ordered navigation.</a:t>
            </a:r>
          </a:p>
          <a:p>
            <a:endParaRPr/>
          </a:p>
          <a:p>
            <a:r>
              <a:t>The important distinction in this drawing is between the index and the data. The index supplies a path; a leaf or terminal entry supplies a reference to the record. Different index structures can implement the same externally visible operation while following very different paths through memory.</a:t>
            </a:r>
          </a:p>
          <a:p>
            <a:endParaRPr/>
          </a:p>
          <a:p>
            <a:r>
              <a:t>My scope is principally CPU-based, main-memory search. The question is not simply which data structure has a familiar name or the best asymptotic bound. It is how the physical implementation of this navigation affects performance under an explicitly defined workload. We first need to understand the existing design choices before discussing the apparatus that compares them.</a:t>
            </a:r>
          </a:p>
          <a:p>
            <a:endParaRPr/>
          </a:p>
          <a:p>
            <a:r>
              <a:t>VISUAL / CLICK CUES</a:t>
            </a:r>
          </a:p>
          <a:p>
            <a:r>
              <a:t>No timed animation. Explain the figure before advancing.</a:t>
            </a:r>
          </a:p>
          <a:p>
            <a:endParaRPr/>
          </a:p>
          <a:p>
            <a:r>
              <a:t>SOURCE BASIS</a:t>
            </a:r>
          </a:p>
          <a:p>
            <a:r>
              <a:t>https://github.com/BenniProbst/20260931-Overleaf-Diplomarbeit/blob/56a8fe08042c30f8ac5a7cad104c18b1a9202d56/kapitel/de/01_einleitung.tex</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01:25–01:45 | 20 seconds</a:t>
            </a:r>
          </a:p>
          <a:p>
            <a:r>
              <a:t>THESIS: Thesis: six included chapters</a:t>
            </a:r>
          </a:p>
          <a:p>
            <a:endParaRPr/>
          </a:p>
          <a:p>
            <a:r>
              <a:t>The presentation follows the thesis. Introduction and background establish the problem and the related work. The concept explains the common design space. Implementation turns a specification into measurable candidates. Evaluation then examines three concrete comparisons. I close with what the evidence supports and what still needs final validation.</a:t>
            </a:r>
          </a:p>
          <a:p>
            <a:endParaRPr/>
          </a:p>
          <a:p>
            <a:r>
              <a:t>VISUAL / CLICK CUES</a:t>
            </a:r>
          </a:p>
          <a:p>
            <a:r>
              <a:t>No timed animation. Explain the figure before advancing.</a:t>
            </a:r>
          </a:p>
          <a:p>
            <a:endParaRPr/>
          </a:p>
          <a:p>
            <a:r>
              <a:t>SOURCE BASIS</a:t>
            </a:r>
          </a:p>
          <a:p>
            <a:r>
              <a:t>https://github.com/BenniProbst/20260931-Overleaf-Diplomarbeit/blob/56a8fe08042c30f8ac5a7cad104c18b1a9202d56/kapitel/de/01_einleitung.tex</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01:45–03:15 | 90 seconds</a:t>
            </a:r>
          </a:p>
          <a:p>
            <a:r>
              <a:t>THESIS: Thesis §§2.1–2.2; Table 2.1</a:t>
            </a:r>
          </a:p>
          <a:p>
            <a:endParaRPr/>
          </a:p>
          <a:p>
            <a:r>
              <a:t>Main-memory index research contains several approaches to reducing navigation and memory costs. CSS and CSB-plus trees emphasize the organization of directories and child groups. ART adapts node representations to the number of children. HOT uses discriminating bits to reduce navigation height. Masstree combines key slices with layered tree structures.</a:t>
            </a:r>
          </a:p>
          <a:p>
            <a:endParaRPr/>
          </a:p>
          <a:p>
            <a:r>
              <a:t>These are established techniques, not contributions of this thesis. They show why comparing index names alone is not enough: a published implementation is a bundle of decisions.</a:t>
            </a:r>
          </a:p>
          <a:p>
            <a:endParaRPr/>
          </a:p>
          <a:p>
            <a:r>
              <a:t>The cache-line drawing makes one physical consequence visible. A transfer brings a line of bytes into the cache, but a lookup may use only part of it. Grouping relevant fields can improve useful-byte density. Conversely, a larger representation can reduce some search work while increasing the amount of memory involved. The illustrated line is 64 bytes; that is an example, not a universal hardware assumption.</a:t>
            </a:r>
          </a:p>
          <a:p>
            <a:endParaRPr/>
          </a:p>
          <a:p>
            <a:r>
              <a:t>This leads to the thesis problem: when two complete implementations perform differently, which part of the bundle caused the difference? We need to make the candidate decisions explicit while preserving the operation being compared.</a:t>
            </a:r>
          </a:p>
          <a:p>
            <a:endParaRPr/>
          </a:p>
          <a:p>
            <a:r>
              <a:t>VISUAL / CLICK CUES</a:t>
            </a:r>
          </a:p>
          <a:p>
            <a:r>
              <a:t>No timed animation. Explain the figure before advancing.</a:t>
            </a:r>
          </a:p>
          <a:p>
            <a:endParaRPr/>
          </a:p>
          <a:p>
            <a:r>
              <a:t>SOURCE BASIS</a:t>
            </a:r>
          </a:p>
          <a:p>
            <a:r>
              <a:t>https://github.com/BenniProbst/20260931-Overleaf-Diplomarbeit/blob/56a8fe08042c30f8ac5a7cad104c18b1a9202d56/kapitel/de/02_suchbaeume_grundlagen.tex</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03:15–04:30 | 75 seconds</a:t>
            </a:r>
          </a:p>
          <a:p>
            <a:r>
              <a:t>THESIS: Active German sources, development @56a8fe08042c30f8ac5a7cad104c18b1a9202d56</a:t>
            </a:r>
          </a:p>
          <a:p>
            <a:endParaRPr/>
          </a:p>
          <a:p>
            <a:r>
              <a:t>The five categories organise the design space; they are not five executable modules. Let us zoom into a concrete part of an ART-derived framework configuration: storage. We need a node representation, a physical layout and an allocation strategy.</a:t>
            </a:r>
          </a:p>
          <a:p>
            <a:endParaRPr/>
          </a:p>
          <a:p>
            <a:r>
              <a:t>On each axis we choose a concrete building block. In this illustration the choices are Node4, cache-line-aligned layout and mimalloc. The alternatives remain visible on the left. These names also occur in the persisted ART profile that I will show shortly; this is a reconstructed framework example, not a claim of original-ART fidelity.</a:t>
            </a:r>
          </a:p>
          <a:p>
            <a:endParaRPr/>
          </a:p>
          <a:p>
            <a:r>
              <a:t>The selected pieces now come together. Node type contributes capacity, layout contributes the byte arrangement, and the allocator supplies memory. Together they form a functional storage organ. The composed organ exposes the StorageOrgan interface.</a:t>
            </a:r>
          </a:p>
          <a:p>
            <a:endParaRPr/>
          </a:p>
          <a:p>
            <a:r>
              <a:t>This is the missing construction step: the framework does not merely label an existing index. It composes a working part from selected implementations. Next, we connect that part to the rest of the algorithm.</a:t>
            </a:r>
          </a:p>
          <a:p>
            <a:endParaRPr/>
          </a:p>
          <a:p>
            <a:r>
              <a:t>VISUAL / CLICK CUES</a:t>
            </a:r>
          </a:p>
          <a:p>
            <a:r>
              <a:t>Click 1: selected implementations form the storage organ.</a:t>
            </a:r>
          </a:p>
          <a:p>
            <a:r>
              <a:t>Click 2: the shared StorageOrgan interface appears.</a:t>
            </a:r>
          </a:p>
          <a:p>
            <a:endParaRPr/>
          </a:p>
          <a:p>
            <a:r>
              <a:t>SOURCE BASIS</a:t>
            </a:r>
          </a:p>
          <a:p>
            <a:r>
              <a:t>https://github.com/BenniProbst/20260931-Overleaf-Diplomarbeit/blob/56a8fe08042c30f8ac5a7cad104c18b1a9202d56/kapitel/de/03_messsystem_prtart.tex</a:t>
            </a:r>
          </a:p>
          <a:p>
            <a:r>
              <a:t>https://github.com/BenniProbst/20260931-Overleaf-Diplomarbeit/blob/56a8fe08042c30f8ac5a7cad104c18b1a9202d56/kapitel/de/04_implementierung.tex</a:t>
            </a:r>
          </a:p>
          <a:p>
            <a:r>
              <a:t>https://github.com/BenniProbst/20260931-Overleaf-Diplomarbeit/blob/56a8fe08042c30f8ac5a7cad104c18b1a9202d56/anhang/de/D_building_block_matrix.tex</a:t>
            </a:r>
          </a:p>
          <a:p>
            <a:r>
              <a:t>https://github.com/BenniProbst/comdare-cache-engine/blob/eb69abc190b3cc80922d5e7ec6e388aaad443b49/libs/cache_engine/algorithm_profiles/sota/art.profile.xml</a:t>
            </a:r>
          </a:p>
          <a:p>
            <a:r>
              <a:t>Selected fields only. This is not a verified original-ART benchmark.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04:30–05:55 | 85 seconds</a:t>
            </a:r>
          </a:p>
          <a:p>
            <a:r>
              <a:t>THESIS: Active German sources, development @56a8fe08042c30f8ac5a7cad104c18b1a9202d56</a:t>
            </a:r>
          </a:p>
          <a:p>
            <a:endParaRPr/>
          </a:p>
          <a:p>
            <a:r>
              <a:t>Here is the same storage organ inside a complete SearchAlgorithm anatomy. We keep the request find cat and the expected value forty-two from the introductory example.</a:t>
            </a:r>
          </a:p>
          <a:p>
            <a:endParaRPr/>
          </a:p>
          <a:p>
            <a:r>
              <a:t>Let us expand the body. The search organ performs the search logic. The storage organ contains the selected node, layout and allocator implementations. The value-handle policy describes access to the payload. The remaining organ slots are still bound; the slide simply does not expand every one.</a:t>
            </a:r>
          </a:p>
          <a:p>
            <a:endParaRPr/>
          </a:p>
          <a:p>
            <a:r>
              <a:t>Now follow the operative connections. Search must use the StorageOrgan interface. Otherwise, replacing the selected layout or allocator would change a label but not the real search path. In the thesis, anatomy means this composition and this wiring together.</a:t>
            </a:r>
          </a:p>
          <a:p>
            <a:endParaRPr/>
          </a:p>
          <a:p>
            <a:r>
              <a:t>Changing one compatible building block therefore changes a part of the body. We recompose and compile a new candidate, then compare the complete algorithms under the same external contract. We do not compare an isolated collection of unrelated microbenchmarks.</a:t>
            </a:r>
          </a:p>
          <a:p>
            <a:endParaRPr/>
          </a:p>
          <a:p>
            <a:r>
              <a:t>The important boundary is that a framework composition is not automatically a faithful reconstruction of the original paper. That requires separate provenance and conformance evidence.</a:t>
            </a:r>
          </a:p>
          <a:p>
            <a:endParaRPr/>
          </a:p>
          <a:p>
            <a:r>
              <a:t>VISUAL / CLICK CUES</a:t>
            </a:r>
          </a:p>
          <a:p>
            <a:r>
              <a:t>Click 1: the organs form the body.</a:t>
            </a:r>
          </a:p>
          <a:p>
            <a:r>
              <a:t>Click 2: show the mandatory service connections and complete lookup.</a:t>
            </a:r>
          </a:p>
          <a:p>
            <a:endParaRPr/>
          </a:p>
          <a:p>
            <a:r>
              <a:t>SOURCE BASIS</a:t>
            </a:r>
          </a:p>
          <a:p>
            <a:r>
              <a:t>https://github.com/BenniProbst/20260931-Overleaf-Diplomarbeit/blob/56a8fe08042c30f8ac5a7cad104c18b1a9202d56/kapitel/de/03_messsystem_prtart.tex</a:t>
            </a:r>
          </a:p>
          <a:p>
            <a:r>
              <a:t>https://github.com/BenniProbst/20260931-Overleaf-Diplomarbeit/blob/56a8fe08042c30f8ac5a7cad104c18b1a9202d56/kapitel/de/04_implementierung.tex</a:t>
            </a:r>
          </a:p>
          <a:p>
            <a:r>
              <a:t>https://github.com/BenniProbst/20260931-Overleaf-Diplomarbeit/blob/56a8fe08042c30f8ac5a7cad104c18b1a9202d56/anhang/de/D_building_block_matrix.tex</a:t>
            </a:r>
          </a:p>
          <a:p>
            <a:endParaRPr/>
          </a:p>
          <a:p>
            <a:r>
              <a:t>SOURCE PRECISION</a:t>
            </a:r>
          </a:p>
          <a:p>
            <a:r>
              <a:t>The thesis uses organ both for an individual axis slot and for the composite storage organ. Here the concrete composition T4/T5/T6 is expanded, not declared as an extra slot. Figure usage marks store→search as mandatory; prefetch and telemetry hooks as optional; concurrency-to-store as not yet wired. This source-based concept diagram does not upgrade those statuses.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05:55–07:10 | 75 seconds</a:t>
            </a:r>
          </a:p>
          <a:p>
            <a:r>
              <a:t>THESIS: Active German sources, development @56a8fe08042c30f8ac5a7cad104c18b1a9202d56</a:t>
            </a:r>
          </a:p>
          <a:p>
            <a:endParaRPr/>
          </a:p>
          <a:p>
            <a:r>
              <a:t>We have now assembled one algorithmic body. That body is only one part of an experiment. The thesis separates organ decisions, system decisions and measurement decisions.</a:t>
            </a:r>
          </a:p>
          <a:p>
            <a:endParaRPr/>
          </a:p>
          <a:p>
            <a:r>
              <a:t>The organ space supplies the strategies we have just composed. System choices supply the execution environment and permitted hardware-specific facilities. Measurement choices determine how observations are obtained and which workloads and datasets are used. System and measurement are not additional pieces of the storage organ.</a:t>
            </a:r>
          </a:p>
          <a:p>
            <a:endParaRPr/>
          </a:p>
          <a:p>
            <a:r>
              <a:t>These decisions also have binding times. A main strategy is fixed in the compiled candidate. An allowed sub-axis value can be supplied later, for example a prefetch distance or resource budget. The same principle is applied across the staged framework.</a:t>
            </a:r>
          </a:p>
          <a:p>
            <a:endParaRPr/>
          </a:p>
          <a:p>
            <a:r>
              <a:t>For a controlled comparison we keep the relevant system, workload and measurement conditions fixed while changing the intended component. The terminology remains compile-time composition, runtime parameterization, and measurement-driven binary selection.</a:t>
            </a:r>
          </a:p>
          <a:p>
            <a:endParaRPr/>
          </a:p>
          <a:p>
            <a:r>
              <a:t>VISUAL / CLICK CUES</a:t>
            </a:r>
          </a:p>
          <a:p>
            <a:r>
              <a:t>No build. Refer back to the already assembled body, then distinguish the two other realms.</a:t>
            </a:r>
          </a:p>
          <a:p>
            <a:endParaRPr/>
          </a:p>
          <a:p>
            <a:r>
              <a:t>SOURCE BASIS</a:t>
            </a:r>
          </a:p>
          <a:p>
            <a:r>
              <a:t>https://github.com/BenniProbst/20260931-Overleaf-Diplomarbeit/blob/56a8fe08042c30f8ac5a7cad104c18b1a9202d56/kapitel/de/03_messsystem_prtart.tex</a:t>
            </a:r>
          </a:p>
          <a:p>
            <a:r>
              <a:t>https://github.com/BenniProbst/20260931-Overleaf-Diplomarbeit/blob/56a8fe08042c30f8ac5a7cad104c18b1a9202d56/kapitel/de/04_implementierung.tex</a:t>
            </a:r>
          </a:p>
          <a:p>
            <a:r>
              <a:t>https://github.com/BenniProbst/20260931-Overleaf-Diplomarbeit/blob/56a8fe08042c30f8ac5a7cad104c18b1a9202d56/anhang/de/D_building_block_matrix.tex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07:10–08:35 | 85 seconds</a:t>
            </a:r>
          </a:p>
          <a:p>
            <a:r>
              <a:t>THESIS: Active German sources, development @56a8fe08042c30f8ac5a7cad104c18b1a9202d56</a:t>
            </a:r>
          </a:p>
          <a:p>
            <a:endParaRPr/>
          </a:p>
          <a:p>
            <a:r>
              <a:t>We now move from the concept to implementation. This is a shortened extract from the actual persisted ART profile. The node, layout and allocator entries bind the three coloured pieces that formed our storage organ. The complete profile contains further choices that are deliberately omitted here.</a:t>
            </a:r>
          </a:p>
          <a:p>
            <a:endParaRPr/>
          </a:p>
          <a:p>
            <a:r>
              <a:t>These selected implementations become the composed storage organ. That organ is then wired with search and the remaining components, and the complete anatomy is compiled into a candidate binary. The picture on the right is a conceptual translation of the profile, not additional XML syntax.</a:t>
            </a:r>
          </a:p>
          <a:p>
            <a:endParaRPr/>
          </a:p>
          <a:p>
            <a:r>
              <a:t>This is not an interpreter selecting an entire index by name for every lookup. The XML controls which implementations are incorporated during construction. Permitted runtime parameters are supplied afterwards through the declared interfaces.</a:t>
            </a:r>
          </a:p>
          <a:p>
            <a:endParaRPr/>
          </a:p>
          <a:p>
            <a:r>
              <a:t>A larger experiment can request alternative compatible choices. Each resulting configuration needs a complete composition and an identity. The next slide follows one such assembled candidate through planning, construction and measurement. The profile label by itself does not establish a completed original-paper benchmark.</a:t>
            </a:r>
          </a:p>
          <a:p>
            <a:endParaRPr/>
          </a:p>
          <a:p>
            <a:r>
              <a:t>VISUAL / CLICK CUES</a:t>
            </a:r>
          </a:p>
          <a:p>
            <a:r>
              <a:t>Click 1: bind XML choices to the storage organ.</a:t>
            </a:r>
          </a:p>
          <a:p>
            <a:r>
              <a:t>Click 2: wire and compile the complete candidate.</a:t>
            </a:r>
          </a:p>
          <a:p>
            <a:endParaRPr/>
          </a:p>
          <a:p>
            <a:r>
              <a:t>SOURCE BASIS</a:t>
            </a:r>
          </a:p>
          <a:p>
            <a:r>
              <a:t>https://github.com/BenniProbst/20260931-Overleaf-Diplomarbeit/blob/56a8fe08042c30f8ac5a7cad104c18b1a9202d56/kapitel/de/03_messsystem_prtart.tex</a:t>
            </a:r>
          </a:p>
          <a:p>
            <a:r>
              <a:t>https://github.com/BenniProbst/20260931-Overleaf-Diplomarbeit/blob/56a8fe08042c30f8ac5a7cad104c18b1a9202d56/kapitel/de/04_implementierung.tex</a:t>
            </a:r>
          </a:p>
          <a:p>
            <a:r>
              <a:t>https://github.com/BenniProbst/20260931-Overleaf-Diplomarbeit/blob/56a8fe08042c30f8ac5a7cad104c18b1a9202d56/anhang/de/D_building_block_matrix.tex</a:t>
            </a:r>
          </a:p>
          <a:p>
            <a:r>
              <a:t>https://github.com/BenniProbst/comdare-cache-engine/blob/eb69abc190b3cc80922d5e7ec6e388aaad443b49/libs/cache_engine/algorithm_profiles/sota/art.profile.xml</a:t>
            </a:r>
          </a:p>
          <a:p>
            <a:r>
              <a:t>Selected fields only. This is not a verified original-ART benchmark.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08:35–10:10 | 95 seconds</a:t>
            </a:r>
          </a:p>
          <a:p>
            <a:r>
              <a:t>THESIS: Active German sources, development @56a8fe08042c30f8ac5a7cad104c18b1a9202d56</a:t>
            </a:r>
          </a:p>
          <a:p>
            <a:endParaRPr/>
          </a:p>
          <a:p>
            <a:r>
              <a:t>The experiment XML is validated and planned by the Planner. The CEB stage uses the component library, including declared plugin contributions, to construct the requested candidates. Notice the coloured storage pieces inside the Tier binary: this is exactly the body we assembled on the preceding slides.</a:t>
            </a:r>
          </a:p>
          <a:p>
            <a:endParaRPr/>
          </a:p>
          <a:p>
            <a:r>
              <a:t>Compilation fixes the main composition. Runtime settings are then supplied through the permitted contracts. A Tier binary is one candidate algorithm, not the whole framework and not simply an axis name.</a:t>
            </a:r>
          </a:p>
          <a:p>
            <a:endParaRPr/>
          </a:p>
          <a:p>
            <a:r>
              <a:t>The candidate must pass conformance checks before the workload is driven and observed. The result is attached to the candidate identity and the controlled settings. Build success is not measurement completion.</a:t>
            </a:r>
          </a:p>
          <a:p>
            <a:endParaRPr/>
          </a:p>
          <a:p>
            <a:r>
              <a:t>Valid measurements then enter comparison and selection. The scientific question is which complete composition performs well under a stated workload, and how its component choices contribute to that outcome.</a:t>
            </a:r>
          </a:p>
          <a:p>
            <a:endParaRPr/>
          </a:p>
          <a:p>
            <a:r>
              <a:t>Thus the build apparatus serves the experiment: specification becomes an assembled algorithm, the algorithm becomes a checked observation, and the observation supports a comparison. Publication automation remains in the backup rather than forming a second story in the main talk.</a:t>
            </a:r>
          </a:p>
          <a:p>
            <a:endParaRPr/>
          </a:p>
          <a:p>
            <a:r>
              <a:t>VISUAL / CLICK CUES</a:t>
            </a:r>
          </a:p>
          <a:p>
            <a:r>
              <a:t>Click 1: conformance, workload drive and valid measurement.</a:t>
            </a:r>
          </a:p>
          <a:p>
            <a:r>
              <a:t>Click 2: compare/select the full composition.</a:t>
            </a:r>
          </a:p>
          <a:p>
            <a:endParaRPr/>
          </a:p>
          <a:p>
            <a:r>
              <a:t>SOURCE BASIS</a:t>
            </a:r>
          </a:p>
          <a:p>
            <a:r>
              <a:t>https://github.com/BenniProbst/20260931-Overleaf-Diplomarbeit/blob/56a8fe08042c30f8ac5a7cad104c18b1a9202d56/kapitel/de/03_messsystem_prtart.tex</a:t>
            </a:r>
          </a:p>
          <a:p>
            <a:r>
              <a:t>https://github.com/BenniProbst/20260931-Overleaf-Diplomarbeit/blob/56a8fe08042c30f8ac5a7cad104c18b1a9202d56/kapitel/de/04_implementierung.tex</a:t>
            </a:r>
          </a:p>
          <a:p>
            <a:r>
              <a:t>https://github.com/BenniProbst/20260931-Overleaf-Diplomarbeit/blob/56a8fe08042c30f8ac5a7cad104c18b1a9202d56/anhang/de/D_building_block_matrix.tex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10:10–11:30 | 80 seconds</a:t>
            </a:r>
          </a:p>
          <a:p>
            <a:r>
              <a:t>THESIS: Active German sources, development @56a8fe08042c30f8ac5a7cad104c18b1a9202d56</a:t>
            </a:r>
          </a:p>
          <a:p>
            <a:endParaRPr/>
          </a:p>
          <a:p>
            <a:r>
              <a:t>The same assembled algorithm is observed at three granularities. The outer frame is the complete request sequence. Inside it is one interface operation, such as find cat. Inside that operation, search uses the composed storage organ, whose node, layout and allocator choices remain visible.</a:t>
            </a:r>
          </a:p>
          <a:p>
            <a:endParaRPr/>
          </a:p>
          <a:p>
            <a:r>
              <a:t>This nesting is the reason to assemble components before comparing them. A cheap component does not necessarily produce the cheapest whole algorithm: it can change allocation frequency, byte layout, or the work of the search consumer. The interaction is part of the experiment.</a:t>
            </a:r>
          </a:p>
          <a:p>
            <a:endParaRPr/>
          </a:p>
          <a:p>
            <a:r>
              <a:t>The test dock drives operations under a common contract and obtains the appropriate observations. Unsupported operations must not become zero-cost successes. Missing counters remain missing. Component measurements also must not be added as if they were non-overlapping workload times unless that relationship has actually been established.</a:t>
            </a:r>
          </a:p>
          <a:p>
            <a:endParaRPr/>
          </a:p>
          <a:p>
            <a:r>
              <a:t>PRT-ART can contribute new compatible pieces to this same construction and measurement path. It does not get a separate favourable benchmark. We can now turn from how a candidate is built and observed to three concrete pilot comparisons.</a:t>
            </a:r>
          </a:p>
          <a:p>
            <a:endParaRPr/>
          </a:p>
          <a:p>
            <a:r>
              <a:t>VISUAL / CLICK CUES</a:t>
            </a:r>
          </a:p>
          <a:p>
            <a:r>
              <a:t>No build. Follow the nested workload → operation → composed storage view.</a:t>
            </a:r>
          </a:p>
          <a:p>
            <a:endParaRPr/>
          </a:p>
          <a:p>
            <a:r>
              <a:t>SOURCE BASIS</a:t>
            </a:r>
          </a:p>
          <a:p>
            <a:r>
              <a:t>https://github.com/BenniProbst/20260931-Overleaf-Diplomarbeit/blob/56a8fe08042c30f8ac5a7cad104c18b1a9202d56/kapitel/de/03_messsystem_prtart.tex</a:t>
            </a:r>
          </a:p>
          <a:p>
            <a:r>
              <a:t>https://github.com/BenniProbst/20260931-Overleaf-Diplomarbeit/blob/56a8fe08042c30f8ac5a7cad104c18b1a9202d56/kapitel/de/04_implementierung.tex</a:t>
            </a:r>
          </a:p>
          <a:p>
            <a:r>
              <a:t>https://github.com/BenniProbst/20260931-Overleaf-Diplomarbeit/blob/56a8fe08042c30f8ac5a7cad104c18b1a9202d56/anhang/de/D_building_block_matrix.tex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11:30–12:30 | 60 seconds</a:t>
            </a:r>
          </a:p>
          <a:p>
            <a:r>
              <a:t>THESIS: Thesis §5.1; Appendix A; supplied CSV 18 Jun 2026</a:t>
            </a:r>
          </a:p>
          <a:p>
            <a:endParaRPr/>
          </a:p>
          <a:p>
            <a:r>
              <a:t>The next three slides use the available historical pilot, not a newly completed final run. The source CSV contains 320 candidate binaries and three repetitions. I exclude the two historical scan profiles that did not execute a valid scan.</a:t>
            </a:r>
          </a:p>
          <a:p>
            <a:endParaRPr/>
          </a:p>
          <a:p>
            <a:r>
              <a:t>For each contrast, a candidate is matched to its baseline under identical remaining axis choices, runtime setting, workload and repetition. Each plotted marker is the median of those paired differences within one repetition. The repetitions are shown separately; they are not averaged into one apparent measurement.</a:t>
            </a:r>
          </a:p>
          <a:p>
            <a:endParaRPr/>
          </a:p>
          <a:p>
            <a:r>
              <a:t>The plots report relative changes in time. They do not directly establish a causal change in cache-line utilization. The legacy data path and incomplete hardware-counter evidence remain limitations. The final rebuilt measurement campaign must replace these pilot plots before they can be presented as final validation. With that boundary explicit, the pilot illustrates the questions the apparatus is designed to answer.</a:t>
            </a:r>
          </a:p>
          <a:p>
            <a:endParaRPr/>
          </a:p>
          <a:p>
            <a:r>
              <a:t>VISUAL / CLICK CUES</a:t>
            </a:r>
          </a:p>
          <a:p>
            <a:r>
              <a:t>No timed animation. Explain the figure before advancing.</a:t>
            </a:r>
          </a:p>
          <a:p>
            <a:endParaRPr/>
          </a:p>
          <a:p>
            <a:r>
              <a:t>SOURCE BASIS</a:t>
            </a:r>
          </a:p>
          <a:p>
            <a:r>
              <a:t>https://github.com/BenniProbst/20260931-Overleaf-Diplomarbeit/blob/56a8fe08042c30f8ac5a7cad104c18b1a9202d56/kapitel/de/05_evaluation.tex</a:t>
            </a:r>
          </a:p>
          <a:p>
            <a:r>
              <a:t>https://github.com/BenniProbst/20260931-Overleaf-Diplomarbeit/blob/56a8fe08042c30f8ac5a7cad104c18b1a9202d56/anhang/de/A_measurements.tex</a:t>
            </a:r>
          </a:p>
          <a:p>
            <a:r>
              <a:t>Historical CSV: tier150_measurements_INDEX320_cowfix-v1_2026-06-18.csv; see pilot_audit.json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12:30–14:20 | 110 seconds</a:t>
            </a:r>
          </a:p>
          <a:p>
            <a:r>
              <a:t>THESIS: Pilot: node_type, YCSB-C, lookup p50; 480 pairs/run</a:t>
            </a:r>
          </a:p>
          <a:p>
            <a:endParaRPr/>
          </a:p>
          <a:p>
            <a:r>
              <a:t>The first question is whether increasing node capacity always improves lookup performance. The comparison uses the YCSB-C-labelled workload and the lookup median. Node4 is the reference. All remaining settings are matched between each candidate and the baseline.</a:t>
            </a:r>
          </a:p>
          <a:p>
            <a:endParaRPr/>
          </a:p>
          <a:p>
            <a:r>
              <a:t>Read the horizontal axis first. Zero means the same latency as the baseline. Negative values mean lower latency. Each of the three markers is one repetition's median across 480 matched contexts.</a:t>
            </a:r>
          </a:p>
          <a:p>
            <a:endParaRPr/>
          </a:p>
          <a:p>
            <a:r>
              <a:t>In this pilot slice, Node16 lies approximately eight to ten percent below Node4. Node48 also lies below the baseline, by roughly three to four percent. Node256 lies approximately four percent above it. Therefore, larger capacity is not monotonically better in these data.</a:t>
            </a:r>
          </a:p>
          <a:p>
            <a:endParaRPr/>
          </a:p>
          <a:p>
            <a:r>
              <a:t>The physical motivation is a trade-off: capacity can change the number of nodes or allocations, while a larger representation can change the working set and local search cost. The observed curve motivates investigating that trade-off; it does not isolate its hardware cause.</a:t>
            </a:r>
          </a:p>
          <a:p>
            <a:endParaRPr/>
          </a:p>
          <a:p>
            <a:r>
              <a:t>This is not a benchmark of three complete ART implementations, and the names alone do not guarantee the original ART memory layouts. The final interpretation needs the rebuilt operative path and appropriate cache observations. What the present pilot supplies is a concrete, reproducible comparison question: where is the useful capacity range for this operation and workload?</a:t>
            </a:r>
          </a:p>
          <a:p>
            <a:endParaRPr/>
          </a:p>
          <a:p>
            <a:r>
              <a:t>VISUAL / CLICK CUES</a:t>
            </a:r>
          </a:p>
          <a:p>
            <a:r>
              <a:t>No timed animation. Explain the figure before advancing.</a:t>
            </a:r>
          </a:p>
          <a:p>
            <a:endParaRPr/>
          </a:p>
          <a:p>
            <a:r>
              <a:t>SOURCE BASIS</a:t>
            </a:r>
          </a:p>
          <a:p>
            <a:r>
              <a:t>https://github.com/BenniProbst/20260931-Overleaf-Diplomarbeit/blob/56a8fe08042c30f8ac5a7cad104c18b1a9202d56/kapitel/de/05_evaluation.tex</a:t>
            </a:r>
          </a:p>
          <a:p>
            <a:r>
              <a:t>https://github.com/BenniProbst/20260931-Overleaf-Diplomarbeit/blob/56a8fe08042c30f8ac5a7cad104c18b1a9202d56/anhang/de/A_measurements.tex</a:t>
            </a:r>
          </a:p>
          <a:p>
            <a:r>
              <a:t>Historical CSV: tier150_measurements_INDEX320_cowfix-v1_2026-06-18.csv; see pilot_audit.json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14:20–16:10 | 110 seconds</a:t>
            </a:r>
          </a:p>
          <a:p>
            <a:r>
              <a:t>THESIS: Pilot: search_algo vs linear_scan; 480 pairs/run/workload</a:t>
            </a:r>
          </a:p>
          <a:p>
            <a:endParaRPr/>
          </a:p>
          <a:p>
            <a:r>
              <a:t>The second comparison asks whether a search method has the same advantage under different workloads. The reference is linear scan. I show two workload labels from the same pilot: YCSB-C and YCSB-A. The three candidate methods are Eytzinger, interpolation and k-ary search.</a:t>
            </a:r>
          </a:p>
          <a:p>
            <a:endParaRPr/>
          </a:p>
          <a:p>
            <a:r>
              <a:t>Again, the horizontal axis is the percentage change in total nanoseconds per operation. Each point is a separate repetition's matched median. Within each contrast, the remaining settings are held equal.</a:t>
            </a:r>
          </a:p>
          <a:p>
            <a:endParaRPr/>
          </a:p>
          <a:p>
            <a:r>
              <a:t>For the read-oriented YCSB-C label, all three candidates are below the linear-scan baseline. In the mixed YCSB-A label, all three are above it. The magnitudes differ, but the important result is the reversal relative to the reference.</a:t>
            </a:r>
          </a:p>
          <a:p>
            <a:endParaRPr/>
          </a:p>
          <a:p>
            <a:r>
              <a:t>This is why the workload must be part of the experimental specification. A method that improves lookup can have additional representation or maintenance costs under updates. A single overall algorithm ranking would hide that interaction.</a:t>
            </a:r>
          </a:p>
          <a:p>
            <a:endParaRPr/>
          </a:p>
          <a:p>
            <a:r>
              <a:t>These timings include more than cache behaviour. Search work, branching, updates and instrumentation can contribute. Therefore the plot supports workload-specific comparison and selection, not a claim that one method universally has better cache utilization. The final campaign should retain the same comparison structure while validating the rebuilt implementations and the exact request sequence.</a:t>
            </a:r>
          </a:p>
          <a:p>
            <a:endParaRPr/>
          </a:p>
          <a:p>
            <a:r>
              <a:t>VISUAL / CLICK CUES</a:t>
            </a:r>
          </a:p>
          <a:p>
            <a:r>
              <a:t>No timed animation. Explain the figure before advancing.</a:t>
            </a:r>
          </a:p>
          <a:p>
            <a:endParaRPr/>
          </a:p>
          <a:p>
            <a:r>
              <a:t>SOURCE BASIS</a:t>
            </a:r>
          </a:p>
          <a:p>
            <a:r>
              <a:t>https://github.com/BenniProbst/20260931-Overleaf-Diplomarbeit/blob/56a8fe08042c30f8ac5a7cad104c18b1a9202d56/kapitel/de/05_evaluation.tex</a:t>
            </a:r>
          </a:p>
          <a:p>
            <a:r>
              <a:t>https://github.com/BenniProbst/20260931-Overleaf-Diplomarbeit/blob/56a8fe08042c30f8ac5a7cad104c18b1a9202d56/anhang/de/A_measurements.tex</a:t>
            </a:r>
          </a:p>
          <a:p>
            <a:r>
              <a:t>Historical CSV: tier150_measurements_INDEX320_cowfix-v1_2026-06-18.csv; see pilot_audit.json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16:10–18:00 | 110 seconds</a:t>
            </a:r>
          </a:p>
          <a:p>
            <a:r>
              <a:t>THESIS: Pilot: memory_layout vs AoSStrict; 384 pairs/run/workload</a:t>
            </a:r>
          </a:p>
          <a:p>
            <a:endParaRPr/>
          </a:p>
          <a:p>
            <a:r>
              <a:t>The third question returns directly to the cache-line motivation. Is an explicitly cache-line-aligned layout automatically the better choice? The reference is the compact AoSStrict layout. I show the aligned layout and PackedBitmap under the two workload labels.</a:t>
            </a:r>
          </a:p>
          <a:p>
            <a:endParaRPr/>
          </a:p>
          <a:p>
            <a:r>
              <a:t>For the YCSB-C label, the aligned layout is close to the reference. For YCSB-A, its paired time is approximately twenty-one to twenty-four percent higher. PackedBitmap lies modestly below the baseline in these two slices.</a:t>
            </a:r>
          </a:p>
          <a:p>
            <a:endParaRPr/>
          </a:p>
          <a:p>
            <a:r>
              <a:t>The result is not that alignment is generally harmful. Alignment, field placement and padding are different mechanisms. A representation can align entries while increasing their footprint or the amount of work needed during updates. Conversely, a compact representation can reduce memory traffic without guaranteeing the fastest local computation.</a:t>
            </a:r>
          </a:p>
          <a:p>
            <a:endParaRPr/>
          </a:p>
          <a:p>
            <a:r>
              <a:t>The pilot reports a larger live footprint for the widened layouts, but its cache-line-count field is not suitable for deriving utilization across layouts. I therefore do not display a cache-line-utilization percentage or claim that the timing difference was caused by a measured cache miss reduction.</a:t>
            </a:r>
          </a:p>
          <a:p>
            <a:endParaRPr/>
          </a:p>
          <a:p>
            <a:r>
              <a:t>The scientific conclusion is narrower and more useful: representation choices have to be evaluated together with their workload and storage costs. The apparatus makes that question explicit. Final counter-backed measurements are the remaining step from a timing observation to a stronger cache-specific explanation.</a:t>
            </a:r>
          </a:p>
          <a:p>
            <a:endParaRPr/>
          </a:p>
          <a:p>
            <a:r>
              <a:t>VISUAL / CLICK CUES</a:t>
            </a:r>
          </a:p>
          <a:p>
            <a:r>
              <a:t>No timed animation. Explain the figure before advancing.</a:t>
            </a:r>
          </a:p>
          <a:p>
            <a:endParaRPr/>
          </a:p>
          <a:p>
            <a:r>
              <a:t>SOURCE BASIS</a:t>
            </a:r>
          </a:p>
          <a:p>
            <a:r>
              <a:t>https://github.com/BenniProbst/20260931-Overleaf-Diplomarbeit/blob/56a8fe08042c30f8ac5a7cad104c18b1a9202d56/kapitel/de/05_evaluation.tex</a:t>
            </a:r>
          </a:p>
          <a:p>
            <a:r>
              <a:t>https://github.com/BenniProbst/20260931-Overleaf-Diplomarbeit/blob/56a8fe08042c30f8ac5a7cad104c18b1a9202d56/anhang/de/A_measurements.tex</a:t>
            </a:r>
          </a:p>
          <a:p>
            <a:r>
              <a:t>Historical CSV: tier150_measurements_INDEX320_cowfix-v1_2026-06-18.csv; see pilot_audit.json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18:00–19:00 | 60 seconds</a:t>
            </a:r>
          </a:p>
          <a:p>
            <a:r>
              <a:t>THESIS: Active German sources, development @56a8fe08042c30f8ac5a7cad104c18b1a9202d56</a:t>
            </a:r>
          </a:p>
          <a:p>
            <a:endParaRPr/>
          </a:p>
          <a:p>
            <a:r>
              <a:t>The thesis turns a practical question about index performance into a structured experiment. Its concept is constructive: choose implementations along design axes, compose working organs, and wire those organs into a complete algorithm. The apparatus then compiles and compares those candidates under common contracts.</a:t>
            </a:r>
          </a:p>
          <a:p>
            <a:endParaRPr/>
          </a:p>
          <a:p>
            <a:r>
              <a:t>The three pilot comparisons illustrate why the result must stay attached to its context: node capacity is not monotonically beneficial, search-method effects change with the workload, and alignment is not a substitute for measuring representation cost.</a:t>
            </a:r>
          </a:p>
          <a:p>
            <a:endParaRPr/>
          </a:p>
          <a:p>
            <a:r>
              <a:t>The evidence boundary remains explicit. These are historical exploratory results, not the final rebuilt hardware validation. Implementing the apparatus and demonstrating a performance advantage are separate obligations.</a:t>
            </a:r>
          </a:p>
          <a:p>
            <a:endParaRPr/>
          </a:p>
          <a:p>
            <a:r>
              <a:t>The takeaway is a white-box approach to autotuning: make the pieces visible, assemble them into real algorithms, compare controlled compositions, and select what the measurements support. Thank you. I welcome your questions.</a:t>
            </a:r>
          </a:p>
          <a:p>
            <a:endParaRPr/>
          </a:p>
          <a:p>
            <a:r>
              <a:t>VISUAL / CLICK CUES</a:t>
            </a:r>
          </a:p>
          <a:p>
            <a:r>
              <a:t>No build. Stop at 19:00 and leave six minutes for questions.</a:t>
            </a:r>
          </a:p>
          <a:p>
            <a:endParaRPr/>
          </a:p>
          <a:p>
            <a:r>
              <a:t>SOURCE BASIS</a:t>
            </a:r>
          </a:p>
          <a:p>
            <a:r>
              <a:t>https://github.com/BenniProbst/20260931-Overleaf-Diplomarbeit/blob/56a8fe08042c30f8ac5a7cad104c18b1a9202d56/kapitel/de/03_messsystem_prtart.tex</a:t>
            </a:r>
          </a:p>
          <a:p>
            <a:r>
              <a:t>https://github.com/BenniProbst/20260931-Overleaf-Diplomarbeit/blob/56a8fe08042c30f8ac5a7cad104c18b1a9202d56/kapitel/de/04_implementierung.tex</a:t>
            </a:r>
          </a:p>
          <a:p>
            <a:r>
              <a:t>https://github.com/BenniProbst/20260931-Overleaf-Diplomarbeit/blob/56a8fe08042c30f8ac5a7cad104c18b1a9202d56/anhang/de/D_building_block_matrix.tex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Use only if asked about fidelity to the papers. The repository ART profile is a declared reconstruction. Never equate the profile count of 34 with 34 completed original-code measurements. Source: thesis §§3.2 and 5.1; art.profile.xml.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PRT-ART is the experimental plugin, not the historical starting story. These four requested features are retained, but do not replace the evaluation. Source: thesis §§3.5 and 4.2. Current plugin contract: comdare_pruefling.cmake.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Full slots retained outside the main route. The chapter-level categories were introduced before their alternatives. Sources: thesis Appendix D; lager_baum_writer.hpp. These 18 current slots must not be equated with the old June CSV schema.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interface family defines the externally promised problem class. Tier subclasses have their own compositions. The concept is separate from the E-layer and generation-stage views. Source: thesis §3.3.2, Appendix F.</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ONLY. Prof. Habich explicitly deprioritized Overleaf/PDF automation relative to scientific results. Four repository identities are retained: super application, framework, plugin and manuscript. Output automation is an engineering capability, not self-proof of the research hypothesis.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historical data cannot settle all cache hypotheses. In particular, do not interpret trigger counts as useful prefetches or inconsistent cache-line counters as CLU. The final campaign needs verified operational paths, platform identity and measured comparisons.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six-chapter order is taken from diplomarbeit.tex at 56a8fe08042c30f8ac5a7cad104c18b1a9202d56. This is a selective spoken rendering of the thesis, not an attempt to show every subsection. Rehearsal instruction: idea before detail; one consistent line; representative evaluation.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TERMINOLOGY AT TWO ABSTRACTION LEVELS. Not part of the 19-minute main route.</a:t>
            </a:r>
          </a:p>
          <a:p>
            <a:endParaRPr/>
          </a:p>
          <a:p>
            <a:r>
              <a:t>The active thesis uses Organ = Achse in the catalogue and glossary. In chapter 3, figures axis-organ and usage, it also calls the composition of node type T4, layout T5 and allocator T6 a Speicher-Organ, implemented as LayoutAwareChunkedStore. This is not a universal extra hierarchy layer and not an additional nineteenth composition slot. It is a concrete functional composition of existing choices, exposed through StorageOrgan. Anatomy denotes the required wiring among concrete components.</a:t>
            </a:r>
          </a:p>
          <a:p>
            <a:endParaRPr/>
          </a:p>
          <a:p>
            <a:r>
              <a:t>The optional prefetch and measurement hooks must not be drawn as unconditional dependencies. The concurrency-to-store edge is dotted and explicitly not yet wired in the cited source. Unrendered author comments ask for wider recursive axis/interface explanations; they are editorial requests, not proof that all such paths are complete.</a:t>
            </a:r>
          </a:p>
          <a:p>
            <a:endParaRPr/>
          </a:p>
          <a:p>
            <a:r>
              <a:t>SOURCE BASIS</a:t>
            </a:r>
          </a:p>
          <a:p>
            <a:r>
              <a:t>https://github.com/BenniProbst/20260931-Overleaf-Diplomarbeit/blob/56a8fe08042c30f8ac5a7cad104c18b1a9202d56/kapitel/de/03_messsystem_prtart.tex#L654-L723</a:t>
            </a:r>
          </a:p>
          <a:p>
            <a:r>
              <a:t>https://github.com/BenniProbst/20260931-Overleaf-Diplomarbeit/blob/56a8fe08042c30f8ac5a7cad104c18b1a9202d56/anhang/de/D_building_block_matrix.tex</a:t>
            </a:r>
          </a:p>
          <a:p>
            <a:r>
              <a:t>https://github.com/BenniProbst/20260931-Overleaf-Diplomarbeit/blob/56a8fe08042c30f8ac5a7cad104c18b1a9202d56/anhang/de/C_glossary.tex</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Rechteck 12">
            <a:extLst>
              <a:ext uri="{FF2B5EF4-FFF2-40B4-BE49-F238E27FC236}">
                <a16:creationId xmlns:a16="http://schemas.microsoft.com/office/drawing/2014/main" id="{78EB5448-CB43-4AB5-9896-966A304F24F6}"/>
              </a:ext>
            </a:extLst>
          </p:cNvPr>
          <p:cNvSpPr/>
          <p:nvPr userDrawn="1"/>
        </p:nvSpPr>
        <p:spPr>
          <a:xfrm>
            <a:off x="0" y="0"/>
            <a:ext cx="9144000" cy="3281516"/>
          </a:xfrm>
          <a:prstGeom prst="rect">
            <a:avLst/>
          </a:prstGeom>
          <a:solidFill>
            <a:srgbClr val="00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rgbClr val="D0E3F3"/>
              </a:solidFill>
            </a:endParaRPr>
          </a:p>
        </p:txBody>
      </p:sp>
      <p:sp>
        <p:nvSpPr>
          <p:cNvPr id="4" name="Title 1">
            <a:extLst>
              <a:ext uri="{FF2B5EF4-FFF2-40B4-BE49-F238E27FC236}">
                <a16:creationId xmlns:a16="http://schemas.microsoft.com/office/drawing/2014/main" id="{0A5810B3-36E7-45C1-B2D9-2390CFF36B4C}"/>
              </a:ext>
            </a:extLst>
          </p:cNvPr>
          <p:cNvSpPr>
            <a:spLocks noGrp="1"/>
          </p:cNvSpPr>
          <p:nvPr>
            <p:ph type="ctrTitle"/>
          </p:nvPr>
        </p:nvSpPr>
        <p:spPr>
          <a:xfrm>
            <a:off x="180000" y="3489836"/>
            <a:ext cx="7617519" cy="832726"/>
          </a:xfrm>
          <a:prstGeom prst="rect">
            <a:avLst/>
          </a:prstGeom>
          <a:ln>
            <a:noFill/>
          </a:ln>
        </p:spPr>
        <p:txBody>
          <a:bodyPr anchor="t"/>
          <a:lstStyle>
            <a:lvl1pPr algn="l">
              <a:defRPr sz="2800" b="1" cap="none" baseline="0">
                <a:solidFill>
                  <a:srgbClr val="001450"/>
                </a:solidFill>
                <a:latin typeface="Noto Sans" panose="020B0502040504020204" pitchFamily="34" charset="0"/>
                <a:ea typeface="Noto Sans" panose="020B0502040504020204" pitchFamily="34" charset="0"/>
                <a:cs typeface="Noto Sans" panose="020B0502040504020204" pitchFamily="34" charset="0"/>
              </a:defRPr>
            </a:lvl1pPr>
          </a:lstStyle>
          <a:p>
            <a:r>
              <a:rPr lang="de-DE" dirty="0"/>
              <a:t>Mastertitelformat bearbeiten</a:t>
            </a:r>
            <a:endParaRPr lang="en-US" dirty="0"/>
          </a:p>
        </p:txBody>
      </p:sp>
      <p:sp>
        <p:nvSpPr>
          <p:cNvPr id="5" name="Subtitle 2">
            <a:extLst>
              <a:ext uri="{FF2B5EF4-FFF2-40B4-BE49-F238E27FC236}">
                <a16:creationId xmlns:a16="http://schemas.microsoft.com/office/drawing/2014/main" id="{D7367903-E3EB-477B-A699-F45F3DE48D78}"/>
              </a:ext>
            </a:extLst>
          </p:cNvPr>
          <p:cNvSpPr>
            <a:spLocks noGrp="1"/>
          </p:cNvSpPr>
          <p:nvPr>
            <p:ph type="subTitle" idx="1"/>
          </p:nvPr>
        </p:nvSpPr>
        <p:spPr>
          <a:xfrm>
            <a:off x="180000" y="4403725"/>
            <a:ext cx="6840000" cy="324000"/>
          </a:xfrm>
          <a:prstGeom prst="rect">
            <a:avLst/>
          </a:prstGeom>
        </p:spPr>
        <p:txBody>
          <a:bodyPr/>
          <a:lstStyle>
            <a:lvl1pPr marL="0" indent="0" algn="l">
              <a:buNone/>
              <a:defRPr sz="1400">
                <a:solidFill>
                  <a:srgbClr val="000000"/>
                </a:solidFill>
                <a:latin typeface="Noto Sans" panose="020B0502040504020204" pitchFamily="34" charset="0"/>
                <a:ea typeface="Noto Sans" panose="020B0502040504020204" pitchFamily="34" charset="0"/>
                <a:cs typeface="Noto Sans" panose="020B05020405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pic>
        <p:nvPicPr>
          <p:cNvPr id="7" name="Grafik 6">
            <a:extLst>
              <a:ext uri="{FF2B5EF4-FFF2-40B4-BE49-F238E27FC236}">
                <a16:creationId xmlns:a16="http://schemas.microsoft.com/office/drawing/2014/main" id="{E8C41BBC-6449-4D54-AAE1-BA9DD757499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03336" y="151471"/>
            <a:ext cx="1392871" cy="579966"/>
          </a:xfrm>
          <a:prstGeom prst="rect">
            <a:avLst/>
          </a:prstGeom>
        </p:spPr>
      </p:pic>
      <p:pic>
        <p:nvPicPr>
          <p:cNvPr id="8" name="Grafik 7">
            <a:extLst>
              <a:ext uri="{FF2B5EF4-FFF2-40B4-BE49-F238E27FC236}">
                <a16:creationId xmlns:a16="http://schemas.microsoft.com/office/drawing/2014/main" id="{D0F23A0E-B856-46A2-AD26-40FDD3F8ACA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01236" y="235721"/>
            <a:ext cx="1183989" cy="411468"/>
          </a:xfrm>
          <a:prstGeom prst="rect">
            <a:avLst/>
          </a:prstGeom>
        </p:spPr>
      </p:pic>
      <p:grpSp>
        <p:nvGrpSpPr>
          <p:cNvPr id="12" name="Gruppieren 11">
            <a:extLst>
              <a:ext uri="{FF2B5EF4-FFF2-40B4-BE49-F238E27FC236}">
                <a16:creationId xmlns:a16="http://schemas.microsoft.com/office/drawing/2014/main" id="{A9DF8DB4-0052-40D0-95EE-CE0CE38DE526}"/>
              </a:ext>
            </a:extLst>
          </p:cNvPr>
          <p:cNvGrpSpPr/>
          <p:nvPr userDrawn="1"/>
        </p:nvGrpSpPr>
        <p:grpSpPr>
          <a:xfrm>
            <a:off x="0" y="-1"/>
            <a:ext cx="5969752" cy="3281517"/>
            <a:chOff x="23346" y="19454"/>
            <a:chExt cx="5969752" cy="3281517"/>
          </a:xfrm>
        </p:grpSpPr>
        <p:pic>
          <p:nvPicPr>
            <p:cNvPr id="14" name="Grafik 13">
              <a:extLst>
                <a:ext uri="{FF2B5EF4-FFF2-40B4-BE49-F238E27FC236}">
                  <a16:creationId xmlns:a16="http://schemas.microsoft.com/office/drawing/2014/main" id="{317DBEEB-21E6-4BCE-8C61-17F1336BB2C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50609" t="49971" r="-1" b="332"/>
            <a:stretch/>
          </p:blipFill>
          <p:spPr>
            <a:xfrm>
              <a:off x="23346" y="19454"/>
              <a:ext cx="1894048" cy="1905749"/>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15" name="Grafik 14">
              <a:extLst>
                <a:ext uri="{FF2B5EF4-FFF2-40B4-BE49-F238E27FC236}">
                  <a16:creationId xmlns:a16="http://schemas.microsoft.com/office/drawing/2014/main" id="{4AC1ED8C-70C9-43AA-A480-E9C857A0C275}"/>
                </a:ext>
              </a:extLst>
            </p:cNvPr>
            <p:cNvPicPr>
              <a:picLocks noChangeAspect="1"/>
            </p:cNvPicPr>
            <p:nvPr userDrawn="1"/>
          </p:nvPicPr>
          <p:blipFill rotWithShape="1">
            <a:blip>
              <a:extLst>
                <a:ext uri="{96DAC541-7B7A-43D3-8B79-37D633B846F1}">
                  <asvg:svgBlip xmlns:asvg="http://schemas.microsoft.com/office/drawing/2016/SVG/main" r:embed="rId5"/>
                </a:ext>
              </a:extLst>
            </a:blip>
            <a:srcRect t="-334" b="17173"/>
            <a:stretch/>
          </p:blipFill>
          <p:spPr>
            <a:xfrm>
              <a:off x="120458" y="111949"/>
              <a:ext cx="3834788" cy="3189022"/>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16" name="Grafik 15">
              <a:extLst>
                <a:ext uri="{FF2B5EF4-FFF2-40B4-BE49-F238E27FC236}">
                  <a16:creationId xmlns:a16="http://schemas.microsoft.com/office/drawing/2014/main" id="{FD9330AF-ACCE-4A8A-B17D-205B2DC7C233}"/>
                </a:ext>
              </a:extLst>
            </p:cNvPr>
            <p:cNvPicPr>
              <a:picLocks noChangeAspect="1"/>
            </p:cNvPicPr>
            <p:nvPr userDrawn="1"/>
          </p:nvPicPr>
          <p:blipFill rotWithShape="1">
            <a:blip>
              <a:extLst>
                <a:ext uri="{96DAC541-7B7A-43D3-8B79-37D633B846F1}">
                  <asvg:svgBlip xmlns:asvg="http://schemas.microsoft.com/office/drawing/2016/SVG/main" r:embed="rId6"/>
                </a:ext>
              </a:extLst>
            </a:blip>
            <a:srcRect l="49915" t="-334" b="70094"/>
            <a:stretch/>
          </p:blipFill>
          <p:spPr>
            <a:xfrm>
              <a:off x="23346" y="2141313"/>
              <a:ext cx="1920654" cy="1159658"/>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17" name="Grafik 16">
              <a:extLst>
                <a:ext uri="{FF2B5EF4-FFF2-40B4-BE49-F238E27FC236}">
                  <a16:creationId xmlns:a16="http://schemas.microsoft.com/office/drawing/2014/main" id="{BE78F5D6-9F34-4E07-9585-F1D8509E1021}"/>
                </a:ext>
              </a:extLst>
            </p:cNvPr>
            <p:cNvPicPr>
              <a:picLocks noChangeAspect="1"/>
            </p:cNvPicPr>
            <p:nvPr userDrawn="1"/>
          </p:nvPicPr>
          <p:blipFill rotWithShape="1">
            <a:blip>
              <a:extLst>
                <a:ext uri="{96DAC541-7B7A-43D3-8B79-37D633B846F1}">
                  <asvg:svgBlip xmlns:asvg="http://schemas.microsoft.com/office/drawing/2016/SVG/main" r:embed="rId7"/>
                </a:ext>
              </a:extLst>
            </a:blip>
            <a:srcRect t="-335" b="69891"/>
            <a:stretch/>
          </p:blipFill>
          <p:spPr>
            <a:xfrm>
              <a:off x="2158310" y="2133525"/>
              <a:ext cx="3834788" cy="1167446"/>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grpSp>
    </p:spTree>
    <p:extLst>
      <p:ext uri="{BB962C8B-B14F-4D97-AF65-F5344CB8AC3E}">
        <p14:creationId xmlns:p14="http://schemas.microsoft.com/office/powerpoint/2010/main" val="2731718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folie">
    <p:spTree>
      <p:nvGrpSpPr>
        <p:cNvPr id="1" name=""/>
        <p:cNvGrpSpPr/>
        <p:nvPr/>
      </p:nvGrpSpPr>
      <p:grpSpPr>
        <a:xfrm>
          <a:off x="0" y="0"/>
          <a:ext cx="0" cy="0"/>
          <a:chOff x="0" y="0"/>
          <a:chExt cx="0" cy="0"/>
        </a:xfrm>
      </p:grpSpPr>
      <p:sp>
        <p:nvSpPr>
          <p:cNvPr id="3" name="Rechteck 12">
            <a:extLst>
              <a:ext uri="{FF2B5EF4-FFF2-40B4-BE49-F238E27FC236}">
                <a16:creationId xmlns:a16="http://schemas.microsoft.com/office/drawing/2014/main" id="{78EB5448-CB43-4AB5-9896-966A304F24F6}"/>
              </a:ext>
            </a:extLst>
          </p:cNvPr>
          <p:cNvSpPr/>
          <p:nvPr userDrawn="1"/>
        </p:nvSpPr>
        <p:spPr>
          <a:xfrm>
            <a:off x="0" y="0"/>
            <a:ext cx="9144000" cy="3281516"/>
          </a:xfrm>
          <a:prstGeom prst="rect">
            <a:avLst/>
          </a:prstGeom>
          <a:solidFill>
            <a:srgbClr val="2F5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rgbClr val="D0E3F3"/>
              </a:solidFill>
            </a:endParaRPr>
          </a:p>
        </p:txBody>
      </p:sp>
      <p:sp>
        <p:nvSpPr>
          <p:cNvPr id="5" name="Subtitle 2">
            <a:extLst>
              <a:ext uri="{FF2B5EF4-FFF2-40B4-BE49-F238E27FC236}">
                <a16:creationId xmlns:a16="http://schemas.microsoft.com/office/drawing/2014/main" id="{D7367903-E3EB-477B-A699-F45F3DE48D78}"/>
              </a:ext>
            </a:extLst>
          </p:cNvPr>
          <p:cNvSpPr>
            <a:spLocks noGrp="1"/>
          </p:cNvSpPr>
          <p:nvPr>
            <p:ph type="subTitle" idx="1"/>
          </p:nvPr>
        </p:nvSpPr>
        <p:spPr>
          <a:xfrm>
            <a:off x="180000" y="4403725"/>
            <a:ext cx="6840000" cy="324000"/>
          </a:xfrm>
          <a:prstGeom prst="rect">
            <a:avLst/>
          </a:prstGeom>
        </p:spPr>
        <p:txBody>
          <a:bodyPr/>
          <a:lstStyle>
            <a:lvl1pPr marL="0" indent="0" algn="l">
              <a:buNone/>
              <a:defRPr sz="1400">
                <a:solidFill>
                  <a:srgbClr val="000000"/>
                </a:solidFill>
                <a:latin typeface="Noto Sans" panose="020B0502040504020204" pitchFamily="34" charset="0"/>
                <a:ea typeface="Noto Sans" panose="020B0502040504020204" pitchFamily="34" charset="0"/>
                <a:cs typeface="Noto Sans" panose="020B05020405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endParaRPr lang="en-US" dirty="0"/>
          </a:p>
        </p:txBody>
      </p:sp>
      <p:pic>
        <p:nvPicPr>
          <p:cNvPr id="7" name="Grafik 6">
            <a:extLst>
              <a:ext uri="{FF2B5EF4-FFF2-40B4-BE49-F238E27FC236}">
                <a16:creationId xmlns:a16="http://schemas.microsoft.com/office/drawing/2014/main" id="{E8C41BBC-6449-4D54-AAE1-BA9DD757499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03336" y="151471"/>
            <a:ext cx="1392871" cy="579966"/>
          </a:xfrm>
          <a:prstGeom prst="rect">
            <a:avLst/>
          </a:prstGeom>
        </p:spPr>
      </p:pic>
      <p:pic>
        <p:nvPicPr>
          <p:cNvPr id="8" name="Grafik 7">
            <a:extLst>
              <a:ext uri="{FF2B5EF4-FFF2-40B4-BE49-F238E27FC236}">
                <a16:creationId xmlns:a16="http://schemas.microsoft.com/office/drawing/2014/main" id="{D0F23A0E-B856-46A2-AD26-40FDD3F8ACA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01236" y="235721"/>
            <a:ext cx="1183989" cy="411468"/>
          </a:xfrm>
          <a:prstGeom prst="rect">
            <a:avLst/>
          </a:prstGeom>
        </p:spPr>
      </p:pic>
      <p:sp>
        <p:nvSpPr>
          <p:cNvPr id="4" name="Title 1">
            <a:extLst>
              <a:ext uri="{FF2B5EF4-FFF2-40B4-BE49-F238E27FC236}">
                <a16:creationId xmlns:a16="http://schemas.microsoft.com/office/drawing/2014/main" id="{0A5810B3-36E7-45C1-B2D9-2390CFF36B4C}"/>
              </a:ext>
            </a:extLst>
          </p:cNvPr>
          <p:cNvSpPr>
            <a:spLocks noGrp="1"/>
          </p:cNvSpPr>
          <p:nvPr>
            <p:ph type="ctrTitle"/>
          </p:nvPr>
        </p:nvSpPr>
        <p:spPr>
          <a:xfrm>
            <a:off x="180000" y="3489836"/>
            <a:ext cx="7617519" cy="832726"/>
          </a:xfrm>
          <a:prstGeom prst="rect">
            <a:avLst/>
          </a:prstGeom>
          <a:ln>
            <a:noFill/>
          </a:ln>
        </p:spPr>
        <p:txBody>
          <a:bodyPr anchor="t"/>
          <a:lstStyle>
            <a:lvl1pPr algn="l">
              <a:defRPr sz="2800" b="1"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stStyle>
          <a:p>
            <a:endParaRPr lang="en-US" dirty="0"/>
          </a:p>
        </p:txBody>
      </p:sp>
      <p:sp>
        <p:nvSpPr>
          <p:cNvPr id="31" name="Textfeld 5">
            <a:extLst>
              <a:ext uri="{FF2B5EF4-FFF2-40B4-BE49-F238E27FC236}">
                <a16:creationId xmlns:a16="http://schemas.microsoft.com/office/drawing/2014/main" id="{415E0A4B-2D60-4A02-BB55-0ABCFB2E0462}"/>
              </a:ext>
            </a:extLst>
          </p:cNvPr>
          <p:cNvSpPr txBox="1"/>
          <p:nvPr userDrawn="1"/>
        </p:nvSpPr>
        <p:spPr>
          <a:xfrm>
            <a:off x="133308" y="0"/>
            <a:ext cx="5139084" cy="4616648"/>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0000" b="1" dirty="0">
                <a:ln w="63500">
                  <a:noFill/>
                </a:ln>
                <a:solidFill>
                  <a:schemeClr val="bg1"/>
                </a:solidFill>
                <a:latin typeface="Noto Sans" panose="020B0502040504020204" pitchFamily="34" charset="0"/>
                <a:ea typeface="Noto Sans" panose="020B0502040504020204" pitchFamily="34" charset="0"/>
                <a:cs typeface="Noto Sans" panose="020B0502040504020204" pitchFamily="34" charset="0"/>
              </a:rPr>
              <a:t>3</a:t>
            </a:r>
            <a:endParaRPr lang="de-DE" sz="30000" b="1" dirty="0">
              <a:ln w="63500">
                <a:noFill/>
              </a:ln>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917983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schnittsüberschrift">
    <p:spTree>
      <p:nvGrpSpPr>
        <p:cNvPr id="1" name=""/>
        <p:cNvGrpSpPr/>
        <p:nvPr/>
      </p:nvGrpSpPr>
      <p:grpSpPr>
        <a:xfrm>
          <a:off x="0" y="0"/>
          <a:ext cx="0" cy="0"/>
          <a:chOff x="0" y="0"/>
          <a:chExt cx="0" cy="0"/>
        </a:xfrm>
      </p:grpSpPr>
      <p:sp>
        <p:nvSpPr>
          <p:cNvPr id="5" name="Rechteck 9">
            <a:extLst>
              <a:ext uri="{FF2B5EF4-FFF2-40B4-BE49-F238E27FC236}">
                <a16:creationId xmlns:a16="http://schemas.microsoft.com/office/drawing/2014/main" id="{156B425A-DC3F-4CA5-9A32-FC1A4F41BC32}"/>
              </a:ext>
            </a:extLst>
          </p:cNvPr>
          <p:cNvSpPr/>
          <p:nvPr userDrawn="1"/>
        </p:nvSpPr>
        <p:spPr>
          <a:xfrm>
            <a:off x="0" y="478350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3">
            <a:extLst>
              <a:ext uri="{FF2B5EF4-FFF2-40B4-BE49-F238E27FC236}">
                <a16:creationId xmlns:a16="http://schemas.microsoft.com/office/drawing/2014/main" id="{7F731D6F-1D08-497C-9B88-A950D5A1974B}"/>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7" name="Grafik 6">
            <a:extLst>
              <a:ext uri="{FF2B5EF4-FFF2-40B4-BE49-F238E27FC236}">
                <a16:creationId xmlns:a16="http://schemas.microsoft.com/office/drawing/2014/main" id="{AAB3FB9C-DEB1-4BC4-BDFC-2123B63146B6}"/>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
        <p:nvSpPr>
          <p:cNvPr id="8" name="Title 1">
            <a:extLst>
              <a:ext uri="{FF2B5EF4-FFF2-40B4-BE49-F238E27FC236}">
                <a16:creationId xmlns:a16="http://schemas.microsoft.com/office/drawing/2014/main" id="{637932E3-D133-477E-809F-5012C6A60D34}"/>
              </a:ext>
            </a:extLst>
          </p:cNvPr>
          <p:cNvSpPr>
            <a:spLocks noGrp="1"/>
          </p:cNvSpPr>
          <p:nvPr>
            <p:ph type="ctrTitle"/>
          </p:nvPr>
        </p:nvSpPr>
        <p:spPr>
          <a:xfrm>
            <a:off x="180000" y="3489836"/>
            <a:ext cx="7617519" cy="832726"/>
          </a:xfrm>
          <a:prstGeom prst="rect">
            <a:avLst/>
          </a:prstGeom>
          <a:ln>
            <a:noFill/>
          </a:ln>
        </p:spPr>
        <p:txBody>
          <a:bodyPr anchor="t"/>
          <a:lstStyle>
            <a:lvl1pPr algn="l">
              <a:defRPr sz="2400" b="1"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stStyle>
          <a:p>
            <a:endParaRPr lang="en-US" dirty="0"/>
          </a:p>
        </p:txBody>
      </p:sp>
      <p:sp>
        <p:nvSpPr>
          <p:cNvPr id="22" name="Rechteck 2">
            <a:extLst>
              <a:ext uri="{FF2B5EF4-FFF2-40B4-BE49-F238E27FC236}">
                <a16:creationId xmlns:a16="http://schemas.microsoft.com/office/drawing/2014/main" id="{FA0F772F-55F9-4F52-A39C-091B2FABCD1E}"/>
              </a:ext>
            </a:extLst>
          </p:cNvPr>
          <p:cNvSpPr/>
          <p:nvPr userDrawn="1"/>
        </p:nvSpPr>
        <p:spPr>
          <a:xfrm>
            <a:off x="0" y="820938"/>
            <a:ext cx="9144000" cy="2491571"/>
          </a:xfrm>
          <a:prstGeom prst="rect">
            <a:avLst/>
          </a:prstGeom>
          <a:solidFill>
            <a:srgbClr val="97C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44" name="Gruppieren 43">
            <a:extLst>
              <a:ext uri="{FF2B5EF4-FFF2-40B4-BE49-F238E27FC236}">
                <a16:creationId xmlns:a16="http://schemas.microsoft.com/office/drawing/2014/main" id="{6252AC84-014D-4AFD-9C9D-FFDAC39E1330}"/>
              </a:ext>
            </a:extLst>
          </p:cNvPr>
          <p:cNvGrpSpPr/>
          <p:nvPr userDrawn="1"/>
        </p:nvGrpSpPr>
        <p:grpSpPr>
          <a:xfrm>
            <a:off x="0" y="0"/>
            <a:ext cx="6031824" cy="3315637"/>
            <a:chOff x="23346" y="19454"/>
            <a:chExt cx="5969752" cy="3281517"/>
          </a:xfrm>
          <a:solidFill>
            <a:schemeClr val="bg1"/>
          </a:solidFill>
        </p:grpSpPr>
        <p:pic>
          <p:nvPicPr>
            <p:cNvPr id="45" name="Grafik 44">
              <a:extLst>
                <a:ext uri="{FF2B5EF4-FFF2-40B4-BE49-F238E27FC236}">
                  <a16:creationId xmlns:a16="http://schemas.microsoft.com/office/drawing/2014/main" id="{325737AF-D09D-4E17-B8F7-95C08F6E58B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50609" t="49971" r="-1" b="332"/>
            <a:stretch/>
          </p:blipFill>
          <p:spPr>
            <a:xfrm>
              <a:off x="23346" y="19454"/>
              <a:ext cx="1894048" cy="1905749"/>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46" name="Grafik 45">
              <a:extLst>
                <a:ext uri="{FF2B5EF4-FFF2-40B4-BE49-F238E27FC236}">
                  <a16:creationId xmlns:a16="http://schemas.microsoft.com/office/drawing/2014/main" id="{98E0A8F9-D015-4DEA-8888-2CFCC4809468}"/>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2533" t="-334" r="-1375" b="17173"/>
            <a:stretch/>
          </p:blipFill>
          <p:spPr>
            <a:xfrm>
              <a:off x="23346" y="111949"/>
              <a:ext cx="3984659" cy="3189022"/>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47" name="Grafik 46">
              <a:extLst>
                <a:ext uri="{FF2B5EF4-FFF2-40B4-BE49-F238E27FC236}">
                  <a16:creationId xmlns:a16="http://schemas.microsoft.com/office/drawing/2014/main" id="{2481B8EC-B85F-4461-AC06-5810AF63E0F3}"/>
                </a:ext>
              </a:extLst>
            </p:cNvPr>
            <p:cNvPicPr>
              <a:picLocks noChangeAspect="1"/>
            </p:cNvPicPr>
            <p:nvPr userDrawn="1"/>
          </p:nvPicPr>
          <p:blipFill rotWithShape="1">
            <a:blip>
              <a:extLst>
                <a:ext uri="{96DAC541-7B7A-43D3-8B79-37D633B846F1}">
                  <asvg:svgBlip xmlns:asvg="http://schemas.microsoft.com/office/drawing/2016/SVG/main" r:embed="rId5"/>
                </a:ext>
              </a:extLst>
            </a:blip>
            <a:srcRect l="49915" t="-1473" b="70094"/>
            <a:stretch/>
          </p:blipFill>
          <p:spPr>
            <a:xfrm>
              <a:off x="23346" y="2097609"/>
              <a:ext cx="1920654" cy="1203362"/>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48" name="Grafik 47">
              <a:extLst>
                <a:ext uri="{FF2B5EF4-FFF2-40B4-BE49-F238E27FC236}">
                  <a16:creationId xmlns:a16="http://schemas.microsoft.com/office/drawing/2014/main" id="{4F4B5570-069A-44ED-9D17-93BEED091ECC}"/>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335" b="69891"/>
            <a:stretch/>
          </p:blipFill>
          <p:spPr>
            <a:xfrm>
              <a:off x="2158310" y="2133525"/>
              <a:ext cx="3834788" cy="1167446"/>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grpSp>
    </p:spTree>
    <p:extLst>
      <p:ext uri="{BB962C8B-B14F-4D97-AF65-F5344CB8AC3E}">
        <p14:creationId xmlns:p14="http://schemas.microsoft.com/office/powerpoint/2010/main" val="1586065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1C76BFC-A0B5-41C2-9F46-18F42AD0D9FC}"/>
              </a:ext>
            </a:extLst>
          </p:cNvPr>
          <p:cNvSpPr>
            <a:spLocks noGrp="1"/>
          </p:cNvSpPr>
          <p:nvPr>
            <p:ph idx="1"/>
          </p:nvPr>
        </p:nvSpPr>
        <p:spPr>
          <a:xfrm>
            <a:off x="180000" y="918992"/>
            <a:ext cx="8784000" cy="3780000"/>
          </a:xfrm>
          <a:prstGeom prst="rect">
            <a:avLst/>
          </a:prstGeom>
          <a:ln>
            <a:noFill/>
          </a:ln>
        </p:spPr>
        <p:txBody>
          <a:bodyPr lIns="0"/>
          <a:lstStyle>
            <a:lvl1pPr marL="90488" indent="-90488">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b="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defRPr sz="1200" b="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buFont typeface="Arial" panose="020B0604020202020204" pitchFamily="34" charset="0"/>
              <a:buChar cha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10" name="Titel 9">
            <a:extLst>
              <a:ext uri="{FF2B5EF4-FFF2-40B4-BE49-F238E27FC236}">
                <a16:creationId xmlns:a16="http://schemas.microsoft.com/office/drawing/2014/main" id="{338D5B92-0678-4014-8144-A83886AB4271}"/>
              </a:ext>
            </a:extLst>
          </p:cNvPr>
          <p:cNvSpPr>
            <a:spLocks noGrp="1"/>
          </p:cNvSpPr>
          <p:nvPr>
            <p:ph type="title"/>
          </p:nvPr>
        </p:nvSpPr>
        <p:spPr>
          <a:xfrm>
            <a:off x="180000" y="255600"/>
            <a:ext cx="6480000" cy="432000"/>
          </a:xfrm>
          <a:prstGeom prst="rect">
            <a:avLst/>
          </a:prstGeom>
        </p:spPr>
        <p:txBody>
          <a:bodyPr anchor="t"/>
          <a:lstStyle>
            <a:lvl1pPr>
              <a:defRPr sz="2200" b="1">
                <a:solidFill>
                  <a:srgbClr val="000000"/>
                </a:solidFill>
              </a:defRPr>
            </a:lvl1pPr>
          </a:lstStyle>
          <a:p>
            <a:r>
              <a:rPr lang="de-DE"/>
              <a:t>Mastertitelformat bearbeiten</a:t>
            </a:r>
            <a:endParaRPr lang="de-DE" dirty="0"/>
          </a:p>
        </p:txBody>
      </p:sp>
      <p:sp>
        <p:nvSpPr>
          <p:cNvPr id="5" name="Rechteck 9">
            <a:extLst>
              <a:ext uri="{FF2B5EF4-FFF2-40B4-BE49-F238E27FC236}">
                <a16:creationId xmlns:a16="http://schemas.microsoft.com/office/drawing/2014/main" id="{8667E8E4-144C-4439-ACFF-8EAE1A912139}"/>
              </a:ext>
            </a:extLst>
          </p:cNvPr>
          <p:cNvSpPr/>
          <p:nvPr userDrawn="1"/>
        </p:nvSpPr>
        <p:spPr>
          <a:xfrm>
            <a:off x="0" y="478169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3">
            <a:extLst>
              <a:ext uri="{FF2B5EF4-FFF2-40B4-BE49-F238E27FC236}">
                <a16:creationId xmlns:a16="http://schemas.microsoft.com/office/drawing/2014/main" id="{58BC81EA-751F-4B73-877A-BA1B3F80CC16}"/>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7" name="Grafik 6">
            <a:extLst>
              <a:ext uri="{FF2B5EF4-FFF2-40B4-BE49-F238E27FC236}">
                <a16:creationId xmlns:a16="http://schemas.microsoft.com/office/drawing/2014/main" id="{E8FFADE0-5169-429A-80D3-48D8CFAB821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Tree>
    <p:extLst>
      <p:ext uri="{BB962C8B-B14F-4D97-AF65-F5344CB8AC3E}">
        <p14:creationId xmlns:p14="http://schemas.microsoft.com/office/powerpoint/2010/main" val="848736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324046-3C76-4DC2-BA67-A69839A06CE9}"/>
              </a:ext>
            </a:extLst>
          </p:cNvPr>
          <p:cNvSpPr>
            <a:spLocks noGrp="1"/>
          </p:cNvSpPr>
          <p:nvPr>
            <p:ph idx="1"/>
          </p:nvPr>
        </p:nvSpPr>
        <p:spPr>
          <a:xfrm>
            <a:off x="180000" y="918992"/>
            <a:ext cx="4248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tabLst>
                <a:tab pos="4124325" algn="l"/>
              </a:tabLst>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4" name="Content Placeholder 2">
            <a:extLst>
              <a:ext uri="{FF2B5EF4-FFF2-40B4-BE49-F238E27FC236}">
                <a16:creationId xmlns:a16="http://schemas.microsoft.com/office/drawing/2014/main" id="{00507A55-4D50-4BD2-A803-00062D16A6DD}"/>
              </a:ext>
            </a:extLst>
          </p:cNvPr>
          <p:cNvSpPr>
            <a:spLocks noGrp="1"/>
          </p:cNvSpPr>
          <p:nvPr>
            <p:ph idx="10"/>
          </p:nvPr>
        </p:nvSpPr>
        <p:spPr>
          <a:xfrm>
            <a:off x="4716000" y="918992"/>
            <a:ext cx="4248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normalizeH="0"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buFont typeface="Muli" panose="00000500000000000000" pitchFamily="2" charset="0"/>
              <a:buChar char="•"/>
              <a:defRPr sz="1200">
                <a:latin typeface="+mj-lt"/>
              </a:defRPr>
            </a:lvl4pPr>
            <a:lvl5pPr>
              <a:defRPr sz="1200">
                <a:latin typeface="+mj-lt"/>
              </a:defRPr>
            </a:lvl5pPr>
            <a:lvl6pPr>
              <a:defRPr sz="1200"/>
            </a:lvl6pPr>
            <a:lvl7pPr>
              <a:defRPr sz="1200"/>
            </a:lvl7pPr>
            <a:lvl8pPr>
              <a:defRPr sz="1200"/>
            </a:lvl8pPr>
            <a:lvl9pPr marL="2743200" indent="0">
              <a:buNone/>
              <a:defRPr sz="1200"/>
            </a:lvl9pPr>
          </a:lstStyle>
          <a:p>
            <a:pPr lvl="0"/>
            <a:r>
              <a:rPr lang="de-DE" dirty="0"/>
              <a:t>Mastertextformat bearbeiten</a:t>
            </a:r>
          </a:p>
          <a:p>
            <a:pPr lvl="1"/>
            <a:r>
              <a:rPr lang="de-DE" dirty="0"/>
              <a:t>Zweite Ebene</a:t>
            </a:r>
          </a:p>
          <a:p>
            <a:pPr lvl="2"/>
            <a:r>
              <a:rPr lang="de-DE" dirty="0"/>
              <a:t>Dritte Ebene</a:t>
            </a:r>
          </a:p>
        </p:txBody>
      </p:sp>
      <p:sp>
        <p:nvSpPr>
          <p:cNvPr id="8" name="Titel 7">
            <a:extLst>
              <a:ext uri="{FF2B5EF4-FFF2-40B4-BE49-F238E27FC236}">
                <a16:creationId xmlns:a16="http://schemas.microsoft.com/office/drawing/2014/main" id="{7776CB73-0C61-4C90-B5F8-7055FBF3E9E2}"/>
              </a:ext>
            </a:extLst>
          </p:cNvPr>
          <p:cNvSpPr>
            <a:spLocks noGrp="1"/>
          </p:cNvSpPr>
          <p:nvPr>
            <p:ph type="title"/>
          </p:nvPr>
        </p:nvSpPr>
        <p:spPr>
          <a:xfrm>
            <a:off x="180000" y="255600"/>
            <a:ext cx="6480000" cy="432000"/>
          </a:xfrm>
          <a:prstGeom prst="rect">
            <a:avLst/>
          </a:prstGeom>
        </p:spPr>
        <p:txBody>
          <a:bodyPr/>
          <a:lstStyle>
            <a:lvl1pPr>
              <a:defRPr sz="2200" b="1">
                <a:solidFill>
                  <a:srgbClr val="000000"/>
                </a:solidFill>
              </a:defRPr>
            </a:lvl1pPr>
          </a:lstStyle>
          <a:p>
            <a:r>
              <a:rPr lang="de-DE"/>
              <a:t>Mastertitelformat bearbeiten</a:t>
            </a:r>
          </a:p>
        </p:txBody>
      </p:sp>
      <p:sp>
        <p:nvSpPr>
          <p:cNvPr id="5" name="Rechteck 9">
            <a:extLst>
              <a:ext uri="{FF2B5EF4-FFF2-40B4-BE49-F238E27FC236}">
                <a16:creationId xmlns:a16="http://schemas.microsoft.com/office/drawing/2014/main" id="{411A694B-DC94-41DA-879E-BCF3F7CA8245}"/>
              </a:ext>
            </a:extLst>
          </p:cNvPr>
          <p:cNvSpPr/>
          <p:nvPr userDrawn="1"/>
        </p:nvSpPr>
        <p:spPr>
          <a:xfrm>
            <a:off x="0" y="478350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3">
            <a:extLst>
              <a:ext uri="{FF2B5EF4-FFF2-40B4-BE49-F238E27FC236}">
                <a16:creationId xmlns:a16="http://schemas.microsoft.com/office/drawing/2014/main" id="{2DEFAFCD-E91B-4F39-BD91-89E4E44EA446}"/>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7" name="Grafik 6">
            <a:extLst>
              <a:ext uri="{FF2B5EF4-FFF2-40B4-BE49-F238E27FC236}">
                <a16:creationId xmlns:a16="http://schemas.microsoft.com/office/drawing/2014/main" id="{FCEDD851-9A95-47FF-8CA0-17B9D2B3A6B8}"/>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Tree>
    <p:extLst>
      <p:ext uri="{BB962C8B-B14F-4D97-AF65-F5344CB8AC3E}">
        <p14:creationId xmlns:p14="http://schemas.microsoft.com/office/powerpoint/2010/main" val="2324679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F3B5BE-8D86-40AF-80CB-484B2DB69930}"/>
              </a:ext>
            </a:extLst>
          </p:cNvPr>
          <p:cNvSpPr>
            <a:spLocks noGrp="1"/>
          </p:cNvSpPr>
          <p:nvPr>
            <p:ph idx="1"/>
          </p:nvPr>
        </p:nvSpPr>
        <p:spPr>
          <a:xfrm>
            <a:off x="180000" y="918992"/>
            <a:ext cx="2772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4" name="Content Placeholder 2">
            <a:extLst>
              <a:ext uri="{FF2B5EF4-FFF2-40B4-BE49-F238E27FC236}">
                <a16:creationId xmlns:a16="http://schemas.microsoft.com/office/drawing/2014/main" id="{90013DE7-AF95-4097-9F10-23E9F5684809}"/>
              </a:ext>
            </a:extLst>
          </p:cNvPr>
          <p:cNvSpPr>
            <a:spLocks noGrp="1"/>
          </p:cNvSpPr>
          <p:nvPr>
            <p:ph idx="13"/>
          </p:nvPr>
        </p:nvSpPr>
        <p:spPr>
          <a:xfrm>
            <a:off x="6192000" y="918992"/>
            <a:ext cx="2772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tabLst>
                <a:tab pos="627063" algn="l"/>
              </a:tabLst>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5" name="Content Placeholder 2">
            <a:extLst>
              <a:ext uri="{FF2B5EF4-FFF2-40B4-BE49-F238E27FC236}">
                <a16:creationId xmlns:a16="http://schemas.microsoft.com/office/drawing/2014/main" id="{B4C04079-1F7D-474D-8317-327DB5F81513}"/>
              </a:ext>
            </a:extLst>
          </p:cNvPr>
          <p:cNvSpPr>
            <a:spLocks noGrp="1"/>
          </p:cNvSpPr>
          <p:nvPr>
            <p:ph idx="14"/>
          </p:nvPr>
        </p:nvSpPr>
        <p:spPr>
          <a:xfrm>
            <a:off x="3186000" y="918992"/>
            <a:ext cx="2772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9" name="Titel 8">
            <a:extLst>
              <a:ext uri="{FF2B5EF4-FFF2-40B4-BE49-F238E27FC236}">
                <a16:creationId xmlns:a16="http://schemas.microsoft.com/office/drawing/2014/main" id="{D40147BA-88B8-4FBA-A040-597C535DCC21}"/>
              </a:ext>
            </a:extLst>
          </p:cNvPr>
          <p:cNvSpPr>
            <a:spLocks noGrp="1"/>
          </p:cNvSpPr>
          <p:nvPr>
            <p:ph type="title"/>
          </p:nvPr>
        </p:nvSpPr>
        <p:spPr>
          <a:xfrm>
            <a:off x="180000" y="255600"/>
            <a:ext cx="6480000" cy="432000"/>
          </a:xfrm>
          <a:prstGeom prst="rect">
            <a:avLst/>
          </a:prstGeom>
        </p:spPr>
        <p:txBody>
          <a:bodyPr/>
          <a:lstStyle>
            <a:lvl1pPr>
              <a:defRPr sz="2200" b="1">
                <a:solidFill>
                  <a:srgbClr val="000000"/>
                </a:solidFill>
              </a:defRPr>
            </a:lvl1pPr>
          </a:lstStyle>
          <a:p>
            <a:r>
              <a:rPr lang="de-DE"/>
              <a:t>Mastertitelformat bearbeiten</a:t>
            </a:r>
          </a:p>
        </p:txBody>
      </p:sp>
      <p:sp>
        <p:nvSpPr>
          <p:cNvPr id="6" name="Rechteck 9">
            <a:extLst>
              <a:ext uri="{FF2B5EF4-FFF2-40B4-BE49-F238E27FC236}">
                <a16:creationId xmlns:a16="http://schemas.microsoft.com/office/drawing/2014/main" id="{BC64F559-082D-4C32-A896-BCEE81F8E129}"/>
              </a:ext>
            </a:extLst>
          </p:cNvPr>
          <p:cNvSpPr/>
          <p:nvPr userDrawn="1"/>
        </p:nvSpPr>
        <p:spPr>
          <a:xfrm>
            <a:off x="0" y="478169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3">
            <a:extLst>
              <a:ext uri="{FF2B5EF4-FFF2-40B4-BE49-F238E27FC236}">
                <a16:creationId xmlns:a16="http://schemas.microsoft.com/office/drawing/2014/main" id="{F8D25D59-BC91-4FAF-90C0-C1DEC867E6AE}"/>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8" name="Grafik 7">
            <a:extLst>
              <a:ext uri="{FF2B5EF4-FFF2-40B4-BE49-F238E27FC236}">
                <a16:creationId xmlns:a16="http://schemas.microsoft.com/office/drawing/2014/main" id="{1DA4E479-51B3-4D80-A442-6CDFAC05D868}"/>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Tree>
    <p:extLst>
      <p:ext uri="{BB962C8B-B14F-4D97-AF65-F5344CB8AC3E}">
        <p14:creationId xmlns:p14="http://schemas.microsoft.com/office/powerpoint/2010/main" val="1933695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ohne Inhalt">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BB9658CE-CA94-4DB0-B430-740791A3F6A2}"/>
              </a:ext>
            </a:extLst>
          </p:cNvPr>
          <p:cNvSpPr>
            <a:spLocks noGrp="1"/>
          </p:cNvSpPr>
          <p:nvPr>
            <p:ph type="title"/>
          </p:nvPr>
        </p:nvSpPr>
        <p:spPr>
          <a:xfrm>
            <a:off x="180000" y="255600"/>
            <a:ext cx="6480000" cy="432000"/>
          </a:xfrm>
          <a:prstGeom prst="rect">
            <a:avLst/>
          </a:prstGeom>
        </p:spPr>
        <p:txBody>
          <a:bodyPr/>
          <a:lstStyle>
            <a:lvl1pPr>
              <a:defRPr sz="2200" b="1">
                <a:solidFill>
                  <a:srgbClr val="000000"/>
                </a:solidFill>
              </a:defRPr>
            </a:lvl1pPr>
          </a:lstStyle>
          <a:p>
            <a:r>
              <a:rPr lang="de-DE"/>
              <a:t>Mastertitelformat bearbeiten</a:t>
            </a:r>
          </a:p>
        </p:txBody>
      </p:sp>
      <p:sp>
        <p:nvSpPr>
          <p:cNvPr id="3" name="Rechteck 9">
            <a:extLst>
              <a:ext uri="{FF2B5EF4-FFF2-40B4-BE49-F238E27FC236}">
                <a16:creationId xmlns:a16="http://schemas.microsoft.com/office/drawing/2014/main" id="{BEDCFD5B-7EBB-4CD6-ADC5-AEB13E60D3C9}"/>
              </a:ext>
            </a:extLst>
          </p:cNvPr>
          <p:cNvSpPr/>
          <p:nvPr userDrawn="1"/>
        </p:nvSpPr>
        <p:spPr>
          <a:xfrm>
            <a:off x="0" y="478169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7E1492E8-9584-48FE-8EC6-C4B33BF75D4E}"/>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5" name="Grafik 4">
            <a:extLst>
              <a:ext uri="{FF2B5EF4-FFF2-40B4-BE49-F238E27FC236}">
                <a16:creationId xmlns:a16="http://schemas.microsoft.com/office/drawing/2014/main" id="{4B5BAC9D-5689-45A3-A121-FDD89E8E6B6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Tree>
    <p:extLst>
      <p:ext uri="{BB962C8B-B14F-4D97-AF65-F5344CB8AC3E}">
        <p14:creationId xmlns:p14="http://schemas.microsoft.com/office/powerpoint/2010/main" val="714148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4891427B-DBAA-4EA4-9BD8-6A896CC8A209}"/>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01236" y="235721"/>
            <a:ext cx="1183989" cy="411469"/>
          </a:xfrm>
          <a:prstGeom prst="rect">
            <a:avLst/>
          </a:prstGeom>
        </p:spPr>
      </p:pic>
    </p:spTree>
    <p:extLst>
      <p:ext uri="{BB962C8B-B14F-4D97-AF65-F5344CB8AC3E}">
        <p14:creationId xmlns:p14="http://schemas.microsoft.com/office/powerpoint/2010/main" val="18247046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6" r:id="rId3"/>
    <p:sldLayoutId id="2147483673" r:id="rId4"/>
    <p:sldLayoutId id="2147483674" r:id="rId5"/>
    <p:sldLayoutId id="2147483675" r:id="rId6"/>
    <p:sldLayoutId id="2147483676" r:id="rId7"/>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608" y="3410712"/>
            <a:ext cx="8412480" cy="932688"/>
          </a:xfrm>
          <a:prstGeom prst="rect">
            <a:avLst/>
          </a:prstGeom>
          <a:noFill/>
        </p:spPr>
        <p:txBody>
          <a:bodyPr wrap="square" lIns="9144" tIns="0" rIns="9144" bIns="0" anchor="ctr">
            <a:spAutoFit/>
          </a:bodyPr>
          <a:lstStyle/>
          <a:p>
            <a:pPr algn="l">
              <a:spcBef>
                <a:spcPts val="0"/>
              </a:spcBef>
              <a:spcAft>
                <a:spcPts val="0"/>
              </a:spcAft>
              <a:defRPr sz="2300" b="1">
                <a:solidFill>
                  <a:srgbClr val="041447"/>
                </a:solidFill>
                <a:latin typeface="Noto Sans"/>
              </a:defRPr>
            </a:pPr>
            <a:r>
              <a:t>Active Cache-Aware Hardware Adaptation:</a:t>
            </a:r>
          </a:p>
          <a:p>
            <a:pPr algn="l">
              <a:spcBef>
                <a:spcPts val="0"/>
              </a:spcBef>
              <a:spcAft>
                <a:spcPts val="0"/>
              </a:spcAft>
              <a:defRPr sz="2300" b="1">
                <a:solidFill>
                  <a:srgbClr val="041447"/>
                </a:solidFill>
                <a:latin typeface="Noto Sans"/>
              </a:defRPr>
            </a:pPr>
            <a:r>
              <a:t>Cache Engine for Trie-Based Index Structures</a:t>
            </a:r>
          </a:p>
        </p:txBody>
      </p:sp>
      <p:sp>
        <p:nvSpPr>
          <p:cNvPr id="3" name="TextBox 2"/>
          <p:cNvSpPr txBox="1"/>
          <p:nvPr/>
        </p:nvSpPr>
        <p:spPr>
          <a:xfrm>
            <a:off x="310896" y="4462272"/>
            <a:ext cx="8321040" cy="265176"/>
          </a:xfrm>
          <a:prstGeom prst="rect">
            <a:avLst/>
          </a:prstGeom>
          <a:noFill/>
        </p:spPr>
        <p:txBody>
          <a:bodyPr wrap="square" lIns="9144" tIns="0" rIns="9144" bIns="0" anchor="ctr">
            <a:spAutoFit/>
          </a:bodyPr>
          <a:lstStyle/>
          <a:p>
            <a:pPr algn="l">
              <a:spcBef>
                <a:spcPts val="0"/>
              </a:spcBef>
              <a:spcAft>
                <a:spcPts val="0"/>
              </a:spcAft>
              <a:defRPr sz="1100" b="0">
                <a:solidFill>
                  <a:srgbClr val="192B43"/>
                </a:solidFill>
                <a:latin typeface="Noto Sans"/>
              </a:defRPr>
            </a:pPr>
            <a:r>
              <a:t>Benjamin-Elias Probst  |  Prof. Dirk Habich · Dr. Alexander Krause</a:t>
            </a:r>
          </a:p>
        </p:txBody>
      </p:sp>
      <p:sp>
        <p:nvSpPr>
          <p:cNvPr id="4" name="TextBox 3"/>
          <p:cNvSpPr txBox="1"/>
          <p:nvPr/>
        </p:nvSpPr>
        <p:spPr>
          <a:xfrm>
            <a:off x="5577840" y="1490472"/>
            <a:ext cx="3108960" cy="932688"/>
          </a:xfrm>
          <a:prstGeom prst="rect">
            <a:avLst/>
          </a:prstGeom>
          <a:noFill/>
        </p:spPr>
        <p:txBody>
          <a:bodyPr wrap="square" lIns="9144" tIns="0" rIns="9144" bIns="0" anchor="ctr">
            <a:spAutoFit/>
          </a:bodyPr>
          <a:lstStyle/>
          <a:p>
            <a:pPr algn="l">
              <a:spcBef>
                <a:spcPts val="0"/>
              </a:spcBef>
              <a:spcAft>
                <a:spcPts val="0"/>
              </a:spcAft>
              <a:defRPr sz="2300" b="1">
                <a:solidFill>
                  <a:srgbClr val="FFFFFF"/>
                </a:solidFill>
                <a:latin typeface="Noto Sans"/>
              </a:defRPr>
            </a:pPr>
            <a:r>
              <a:t>Index designs.</a:t>
            </a:r>
          </a:p>
          <a:p>
            <a:pPr algn="l">
              <a:spcBef>
                <a:spcPts val="0"/>
              </a:spcBef>
              <a:spcAft>
                <a:spcPts val="0"/>
              </a:spcAft>
              <a:defRPr sz="2300" b="1">
                <a:solidFill>
                  <a:srgbClr val="FFFFFF"/>
                </a:solidFill>
                <a:latin typeface="Noto Sans"/>
              </a:defRPr>
            </a:pPr>
            <a:r>
              <a:t>Controlled comparisons.</a:t>
            </a:r>
          </a:p>
        </p:txBody>
      </p:sp>
      <p:sp>
        <p:nvSpPr>
          <p:cNvPr id="5" name="TextBox 4"/>
          <p:cNvSpPr txBox="1"/>
          <p:nvPr/>
        </p:nvSpPr>
        <p:spPr>
          <a:xfrm>
            <a:off x="5577840" y="2587752"/>
            <a:ext cx="3017520" cy="365760"/>
          </a:xfrm>
          <a:prstGeom prst="rect">
            <a:avLst/>
          </a:prstGeom>
          <a:noFill/>
        </p:spPr>
        <p:txBody>
          <a:bodyPr wrap="square" lIns="9144" tIns="0" rIns="9144" bIns="0" anchor="ctr">
            <a:spAutoFit/>
          </a:bodyPr>
          <a:lstStyle/>
          <a:p>
            <a:pPr algn="l">
              <a:spcBef>
                <a:spcPts val="0"/>
              </a:spcBef>
              <a:spcAft>
                <a:spcPts val="0"/>
              </a:spcAft>
              <a:defRPr sz="1100" b="0">
                <a:solidFill>
                  <a:srgbClr val="A8C9E9"/>
                </a:solidFill>
                <a:latin typeface="Noto Sans"/>
              </a:defRPr>
            </a:pPr>
            <a:r>
              <a:t>Diploma thesis defense</a:t>
            </a:r>
          </a:p>
          <a:p>
            <a:pPr algn="l">
              <a:spcBef>
                <a:spcPts val="0"/>
              </a:spcBef>
              <a:spcAft>
                <a:spcPts val="0"/>
              </a:spcAft>
              <a:defRPr sz="1100" b="0">
                <a:solidFill>
                  <a:srgbClr val="A8C9E9"/>
                </a:solidFill>
                <a:latin typeface="Noto Sans"/>
              </a:defRPr>
            </a:pPr>
            <a:r>
              <a:t>28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What is an index for?</a:t>
            </a:r>
          </a:p>
        </p:txBody>
      </p:sp>
      <p:sp>
        <p:nvSpPr>
          <p:cNvPr id="3" name="Rectangle 2"/>
          <p:cNvSpPr/>
          <p:nvPr/>
        </p:nvSpPr>
        <p:spPr>
          <a:xfrm>
            <a:off x="310896" y="786384"/>
            <a:ext cx="1197864"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§§1.1–1.2, 2.1  |  Illustrative keys and records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2</a:t>
            </a:r>
          </a:p>
        </p:txBody>
      </p:sp>
      <p:sp>
        <p:nvSpPr>
          <p:cNvPr id="18" name="Rectangle 17"/>
          <p:cNvSpPr/>
          <p:nvPr/>
        </p:nvSpPr>
        <p:spPr>
          <a:xfrm>
            <a:off x="347472" y="1051560"/>
            <a:ext cx="1508760" cy="265176"/>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1065275"/>
            <a:ext cx="1435607"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REQUEST</a:t>
            </a:r>
          </a:p>
        </p:txBody>
      </p:sp>
      <p:sp>
        <p:nvSpPr>
          <p:cNvPr id="20" name="Rounded Rectangle 19"/>
          <p:cNvSpPr/>
          <p:nvPr/>
        </p:nvSpPr>
        <p:spPr>
          <a:xfrm>
            <a:off x="347472" y="1426464"/>
            <a:ext cx="1920240" cy="75895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47472" y="1426464"/>
            <a:ext cx="32004" cy="758952"/>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8056" y="1499616"/>
            <a:ext cx="1737360" cy="612647"/>
          </a:xfrm>
          <a:prstGeom prst="rect">
            <a:avLst/>
          </a:prstGeom>
          <a:noFill/>
        </p:spPr>
        <p:txBody>
          <a:bodyPr wrap="square" lIns="9144" tIns="0" rIns="9144" bIns="0" anchor="ctr">
            <a:spAutoFit/>
          </a:bodyPr>
          <a:lstStyle/>
          <a:p>
            <a:pPr algn="l">
              <a:spcBef>
                <a:spcPts val="0"/>
              </a:spcBef>
              <a:spcAft>
                <a:spcPts val="0"/>
              </a:spcAft>
              <a:defRPr sz="1900" b="1">
                <a:solidFill>
                  <a:srgbClr val="3178B9"/>
                </a:solidFill>
                <a:latin typeface="Noto Sans"/>
              </a:defRPr>
            </a:pPr>
            <a:r>
              <a:t>find("cat")</a:t>
            </a:r>
          </a:p>
        </p:txBody>
      </p:sp>
      <p:cxnSp>
        <p:nvCxnSpPr>
          <p:cNvPr id="23" name="Connector 22"/>
          <p:cNvCxnSpPr/>
          <p:nvPr/>
        </p:nvCxnSpPr>
        <p:spPr>
          <a:xfrm>
            <a:off x="2276856" y="1810512"/>
            <a:ext cx="512064" cy="0"/>
          </a:xfrm>
          <a:prstGeom prst="line">
            <a:avLst/>
          </a:prstGeom>
          <a:ln w="25400">
            <a:solidFill>
              <a:srgbClr val="3178B9"/>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788920" y="1307592"/>
            <a:ext cx="2834640" cy="205740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0" y="1362456"/>
            <a:ext cx="2560320" cy="274320"/>
          </a:xfrm>
          <a:prstGeom prst="rect">
            <a:avLst/>
          </a:prstGeom>
          <a:noFill/>
        </p:spPr>
        <p:txBody>
          <a:bodyPr wrap="square" lIns="9144" tIns="0" rIns="9144" bIns="0" anchor="ctr">
            <a:spAutoFit/>
          </a:bodyPr>
          <a:lstStyle/>
          <a:p>
            <a:pPr algn="l">
              <a:spcBef>
                <a:spcPts val="0"/>
              </a:spcBef>
              <a:spcAft>
                <a:spcPts val="0"/>
              </a:spcAft>
              <a:defRPr sz="1300" b="1">
                <a:solidFill>
                  <a:srgbClr val="008A96"/>
                </a:solidFill>
                <a:latin typeface="Noto Sans"/>
              </a:defRPr>
            </a:pPr>
            <a:r>
              <a:t>INDEX</a:t>
            </a:r>
          </a:p>
        </p:txBody>
      </p:sp>
      <p:sp>
        <p:nvSpPr>
          <p:cNvPr id="26" name="Rounded Rectangle 25"/>
          <p:cNvSpPr/>
          <p:nvPr/>
        </p:nvSpPr>
        <p:spPr>
          <a:xfrm>
            <a:off x="3767328" y="1755648"/>
            <a:ext cx="932688" cy="4114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767328" y="1755648"/>
            <a:ext cx="32004" cy="41148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67912" y="1828800"/>
            <a:ext cx="749808" cy="265176"/>
          </a:xfrm>
          <a:prstGeom prst="rect">
            <a:avLst/>
          </a:prstGeom>
          <a:noFill/>
        </p:spPr>
        <p:txBody>
          <a:bodyPr wrap="square" lIns="9144" tIns="0" rIns="9144" bIns="0" anchor="ctr">
            <a:spAutoFit/>
          </a:bodyPr>
          <a:lstStyle/>
          <a:p>
            <a:pPr algn="l">
              <a:spcBef>
                <a:spcPts val="0"/>
              </a:spcBef>
              <a:spcAft>
                <a:spcPts val="0"/>
              </a:spcAft>
              <a:defRPr sz="1700" b="1">
                <a:solidFill>
                  <a:srgbClr val="008A96"/>
                </a:solidFill>
                <a:latin typeface="Noto Sans"/>
              </a:defRPr>
            </a:pPr>
            <a:r>
              <a:t>ca</a:t>
            </a:r>
          </a:p>
        </p:txBody>
      </p:sp>
      <p:cxnSp>
        <p:nvCxnSpPr>
          <p:cNvPr id="29" name="Connector 28"/>
          <p:cNvCxnSpPr/>
          <p:nvPr/>
        </p:nvCxnSpPr>
        <p:spPr>
          <a:xfrm flipH="1">
            <a:off x="3538728" y="2185416"/>
            <a:ext cx="393192" cy="411480"/>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507992" y="2185416"/>
            <a:ext cx="338328" cy="411480"/>
          </a:xfrm>
          <a:prstGeom prst="line">
            <a:avLst/>
          </a:prstGeom>
          <a:ln w="25400">
            <a:solidFill>
              <a:srgbClr val="008A96"/>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118104" y="2651760"/>
            <a:ext cx="822960" cy="39319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118104" y="2651760"/>
            <a:ext cx="32004" cy="393192"/>
          </a:xfrm>
          <a:prstGeom prst="rect">
            <a:avLst/>
          </a:prstGeom>
          <a:solidFill>
            <a:srgbClr val="6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18688" y="2724912"/>
            <a:ext cx="640080" cy="246888"/>
          </a:xfrm>
          <a:prstGeom prst="rect">
            <a:avLst/>
          </a:prstGeom>
          <a:noFill/>
        </p:spPr>
        <p:txBody>
          <a:bodyPr wrap="square" lIns="9144" tIns="0" rIns="9144" bIns="0" anchor="ctr">
            <a:spAutoFit/>
          </a:bodyPr>
          <a:lstStyle/>
          <a:p>
            <a:pPr algn="l">
              <a:spcBef>
                <a:spcPts val="0"/>
              </a:spcBef>
              <a:spcAft>
                <a:spcPts val="0"/>
              </a:spcAft>
              <a:defRPr sz="1600" b="1">
                <a:solidFill>
                  <a:srgbClr val="607080"/>
                </a:solidFill>
                <a:latin typeface="Noto Sans"/>
              </a:defRPr>
            </a:pPr>
            <a:r>
              <a:t>r</a:t>
            </a:r>
          </a:p>
        </p:txBody>
      </p:sp>
      <p:sp>
        <p:nvSpPr>
          <p:cNvPr id="34" name="Rounded Rectangle 33"/>
          <p:cNvSpPr/>
          <p:nvPr/>
        </p:nvSpPr>
        <p:spPr>
          <a:xfrm>
            <a:off x="4489704" y="2651760"/>
            <a:ext cx="822960" cy="39319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489704" y="2651760"/>
            <a:ext cx="32004" cy="393192"/>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90288" y="2724912"/>
            <a:ext cx="640080" cy="246888"/>
          </a:xfrm>
          <a:prstGeom prst="rect">
            <a:avLst/>
          </a:prstGeom>
          <a:noFill/>
        </p:spPr>
        <p:txBody>
          <a:bodyPr wrap="square" lIns="9144" tIns="0" rIns="9144" bIns="0" anchor="ctr">
            <a:spAutoFit/>
          </a:bodyPr>
          <a:lstStyle/>
          <a:p>
            <a:pPr algn="l">
              <a:spcBef>
                <a:spcPts val="0"/>
              </a:spcBef>
              <a:spcAft>
                <a:spcPts val="0"/>
              </a:spcAft>
              <a:defRPr sz="1600" b="1">
                <a:solidFill>
                  <a:srgbClr val="008A96"/>
                </a:solidFill>
                <a:latin typeface="Noto Sans"/>
              </a:defRPr>
            </a:pPr>
            <a:r>
              <a:t>t</a:t>
            </a:r>
          </a:p>
        </p:txBody>
      </p:sp>
      <p:sp>
        <p:nvSpPr>
          <p:cNvPr id="38" name="Rectangle 37"/>
          <p:cNvSpPr/>
          <p:nvPr/>
        </p:nvSpPr>
        <p:spPr>
          <a:xfrm>
            <a:off x="6080760" y="1261872"/>
            <a:ext cx="2697480" cy="2139696"/>
          </a:xfrm>
          <a:prstGeom prst="rect">
            <a:avLst/>
          </a:prstGeom>
          <a:solidFill>
            <a:srgbClr val="FFFFFF"/>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080760" y="1261872"/>
            <a:ext cx="2697480"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17336" y="1275587"/>
            <a:ext cx="2624328"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DATA RECORDS</a:t>
            </a:r>
          </a:p>
        </p:txBody>
      </p:sp>
      <p:sp>
        <p:nvSpPr>
          <p:cNvPr id="41" name="Rectangle 40"/>
          <p:cNvSpPr/>
          <p:nvPr/>
        </p:nvSpPr>
        <p:spPr>
          <a:xfrm>
            <a:off x="6126480" y="1609344"/>
            <a:ext cx="2606040" cy="3657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81928" y="1609344"/>
            <a:ext cx="1261872"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car</a:t>
            </a:r>
          </a:p>
        </p:txBody>
      </p:sp>
      <p:sp>
        <p:nvSpPr>
          <p:cNvPr id="43" name="TextBox 42"/>
          <p:cNvSpPr txBox="1"/>
          <p:nvPr/>
        </p:nvSpPr>
        <p:spPr>
          <a:xfrm>
            <a:off x="7717536" y="1609344"/>
            <a:ext cx="822960"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17</a:t>
            </a:r>
          </a:p>
        </p:txBody>
      </p:sp>
      <p:sp>
        <p:nvSpPr>
          <p:cNvPr id="44" name="Rectangle 43"/>
          <p:cNvSpPr/>
          <p:nvPr/>
        </p:nvSpPr>
        <p:spPr>
          <a:xfrm>
            <a:off x="6126480" y="2020824"/>
            <a:ext cx="2606040" cy="365760"/>
          </a:xfrm>
          <a:prstGeom prst="rect">
            <a:avLst/>
          </a:prstGeom>
          <a:solidFill>
            <a:srgbClr val="D7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81928" y="2020824"/>
            <a:ext cx="1261872" cy="356616"/>
          </a:xfrm>
          <a:prstGeom prst="rect">
            <a:avLst/>
          </a:prstGeom>
          <a:noFill/>
        </p:spPr>
        <p:txBody>
          <a:bodyPr wrap="square" lIns="9144" tIns="0" rIns="9144" bIns="0" anchor="ctr">
            <a:spAutoFit/>
          </a:bodyPr>
          <a:lstStyle/>
          <a:p>
            <a:pPr algn="l">
              <a:spcBef>
                <a:spcPts val="0"/>
              </a:spcBef>
              <a:spcAft>
                <a:spcPts val="0"/>
              </a:spcAft>
              <a:defRPr sz="1500" b="1">
                <a:solidFill>
                  <a:srgbClr val="192B43"/>
                </a:solidFill>
                <a:latin typeface="Noto Sans"/>
              </a:defRPr>
            </a:pPr>
            <a:r>
              <a:t>cat</a:t>
            </a:r>
          </a:p>
        </p:txBody>
      </p:sp>
      <p:sp>
        <p:nvSpPr>
          <p:cNvPr id="46" name="TextBox 45"/>
          <p:cNvSpPr txBox="1"/>
          <p:nvPr/>
        </p:nvSpPr>
        <p:spPr>
          <a:xfrm>
            <a:off x="7717536" y="2020824"/>
            <a:ext cx="822960" cy="356616"/>
          </a:xfrm>
          <a:prstGeom prst="rect">
            <a:avLst/>
          </a:prstGeom>
          <a:noFill/>
        </p:spPr>
        <p:txBody>
          <a:bodyPr wrap="square" lIns="9144" tIns="0" rIns="9144" bIns="0" anchor="ctr">
            <a:spAutoFit/>
          </a:bodyPr>
          <a:lstStyle/>
          <a:p>
            <a:pPr algn="l">
              <a:spcBef>
                <a:spcPts val="0"/>
              </a:spcBef>
              <a:spcAft>
                <a:spcPts val="0"/>
              </a:spcAft>
              <a:defRPr sz="1500" b="1">
                <a:solidFill>
                  <a:srgbClr val="192B43"/>
                </a:solidFill>
                <a:latin typeface="Noto Sans"/>
              </a:defRPr>
            </a:pPr>
            <a:r>
              <a:t>42</a:t>
            </a:r>
          </a:p>
        </p:txBody>
      </p:sp>
      <p:sp>
        <p:nvSpPr>
          <p:cNvPr id="47" name="Rectangle 46"/>
          <p:cNvSpPr/>
          <p:nvPr/>
        </p:nvSpPr>
        <p:spPr>
          <a:xfrm>
            <a:off x="6126480" y="2432304"/>
            <a:ext cx="2606040" cy="3657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81928" y="2432304"/>
            <a:ext cx="1261872"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dog</a:t>
            </a:r>
          </a:p>
        </p:txBody>
      </p:sp>
      <p:sp>
        <p:nvSpPr>
          <p:cNvPr id="49" name="TextBox 48"/>
          <p:cNvSpPr txBox="1"/>
          <p:nvPr/>
        </p:nvSpPr>
        <p:spPr>
          <a:xfrm>
            <a:off x="7717536" y="2432304"/>
            <a:ext cx="822960"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63</a:t>
            </a:r>
          </a:p>
        </p:txBody>
      </p:sp>
      <p:sp>
        <p:nvSpPr>
          <p:cNvPr id="50" name="Rectangle 49"/>
          <p:cNvSpPr/>
          <p:nvPr/>
        </p:nvSpPr>
        <p:spPr>
          <a:xfrm>
            <a:off x="6126480" y="2843784"/>
            <a:ext cx="2606040" cy="3657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81928" y="2843784"/>
            <a:ext cx="1261872"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dot</a:t>
            </a:r>
          </a:p>
        </p:txBody>
      </p:sp>
      <p:sp>
        <p:nvSpPr>
          <p:cNvPr id="52" name="TextBox 51"/>
          <p:cNvSpPr txBox="1"/>
          <p:nvPr/>
        </p:nvSpPr>
        <p:spPr>
          <a:xfrm>
            <a:off x="7717536" y="2843784"/>
            <a:ext cx="822960"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91</a:t>
            </a:r>
          </a:p>
        </p:txBody>
      </p:sp>
      <p:sp>
        <p:nvSpPr>
          <p:cNvPr id="53" name="TextBox 52"/>
          <p:cNvSpPr txBox="1"/>
          <p:nvPr/>
        </p:nvSpPr>
        <p:spPr>
          <a:xfrm>
            <a:off x="365760" y="2807208"/>
            <a:ext cx="1920240" cy="493776"/>
          </a:xfrm>
          <a:prstGeom prst="rect">
            <a:avLst/>
          </a:prstGeom>
          <a:noFill/>
        </p:spPr>
        <p:txBody>
          <a:bodyPr wrap="square" lIns="9144" tIns="0" rIns="9144" bIns="0" anchor="ctr">
            <a:spAutoFit/>
          </a:bodyPr>
          <a:lstStyle/>
          <a:p>
            <a:pPr algn="l">
              <a:spcBef>
                <a:spcPts val="0"/>
              </a:spcBef>
              <a:spcAft>
                <a:spcPts val="0"/>
              </a:spcAft>
              <a:defRPr sz="1300" b="0">
                <a:solidFill>
                  <a:srgbClr val="607080"/>
                </a:solidFill>
                <a:latin typeface="Noto Sans"/>
              </a:defRPr>
            </a:pPr>
            <a:r>
              <a:t>Key → navigation</a:t>
            </a:r>
          </a:p>
          <a:p>
            <a:pPr algn="l">
              <a:spcBef>
                <a:spcPts val="0"/>
              </a:spcBef>
              <a:spcAft>
                <a:spcPts val="0"/>
              </a:spcAft>
              <a:defRPr sz="1300" b="0">
                <a:solidFill>
                  <a:srgbClr val="607080"/>
                </a:solidFill>
                <a:latin typeface="Noto Sans"/>
              </a:defRPr>
            </a:pPr>
            <a:r>
              <a:t>→ record reference</a:t>
            </a:r>
          </a:p>
        </p:txBody>
      </p:sp>
      <p:sp>
        <p:nvSpPr>
          <p:cNvPr id="54" name="Rounded Rectangle 53"/>
          <p:cNvSpPr/>
          <p:nvPr/>
        </p:nvSpPr>
        <p:spPr>
          <a:xfrm>
            <a:off x="594360" y="3602736"/>
            <a:ext cx="2103120" cy="34747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94360" y="3602736"/>
            <a:ext cx="32004" cy="347472"/>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94944" y="3675887"/>
            <a:ext cx="1920239" cy="201168"/>
          </a:xfrm>
          <a:prstGeom prst="rect">
            <a:avLst/>
          </a:prstGeom>
          <a:noFill/>
        </p:spPr>
        <p:txBody>
          <a:bodyPr wrap="square" lIns="9144" tIns="0" rIns="9144" bIns="0" anchor="ctr">
            <a:spAutoFit/>
          </a:bodyPr>
          <a:lstStyle/>
          <a:p>
            <a:pPr algn="l">
              <a:spcBef>
                <a:spcPts val="0"/>
              </a:spcBef>
              <a:spcAft>
                <a:spcPts val="0"/>
              </a:spcAft>
              <a:defRPr sz="1300" b="1">
                <a:solidFill>
                  <a:srgbClr val="3178B9"/>
                </a:solidFill>
                <a:latin typeface="Noto Sans"/>
              </a:defRPr>
            </a:pPr>
            <a:r>
              <a:t>Lookup</a:t>
            </a:r>
          </a:p>
        </p:txBody>
      </p:sp>
      <p:sp>
        <p:nvSpPr>
          <p:cNvPr id="57" name="Rounded Rectangle 56"/>
          <p:cNvSpPr/>
          <p:nvPr/>
        </p:nvSpPr>
        <p:spPr>
          <a:xfrm>
            <a:off x="3383280" y="3602736"/>
            <a:ext cx="2103120" cy="34747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3383280" y="3602736"/>
            <a:ext cx="32004" cy="347472"/>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83864" y="3675887"/>
            <a:ext cx="1920239" cy="201168"/>
          </a:xfrm>
          <a:prstGeom prst="rect">
            <a:avLst/>
          </a:prstGeom>
          <a:noFill/>
        </p:spPr>
        <p:txBody>
          <a:bodyPr wrap="square" lIns="9144" tIns="0" rIns="9144" bIns="0" anchor="ctr">
            <a:spAutoFit/>
          </a:bodyPr>
          <a:lstStyle/>
          <a:p>
            <a:pPr algn="l">
              <a:spcBef>
                <a:spcPts val="0"/>
              </a:spcBef>
              <a:spcAft>
                <a:spcPts val="0"/>
              </a:spcAft>
              <a:defRPr sz="1300" b="1">
                <a:solidFill>
                  <a:srgbClr val="3178B9"/>
                </a:solidFill>
                <a:latin typeface="Noto Sans"/>
              </a:defRPr>
            </a:pPr>
            <a:r>
              <a:t>Insert / delete</a:t>
            </a:r>
          </a:p>
        </p:txBody>
      </p:sp>
      <p:sp>
        <p:nvSpPr>
          <p:cNvPr id="60" name="Rounded Rectangle 59"/>
          <p:cNvSpPr/>
          <p:nvPr/>
        </p:nvSpPr>
        <p:spPr>
          <a:xfrm>
            <a:off x="6446520" y="3602736"/>
            <a:ext cx="2103120" cy="34747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446520" y="3602736"/>
            <a:ext cx="32004" cy="347472"/>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47104" y="3675887"/>
            <a:ext cx="1920239" cy="201168"/>
          </a:xfrm>
          <a:prstGeom prst="rect">
            <a:avLst/>
          </a:prstGeom>
          <a:noFill/>
        </p:spPr>
        <p:txBody>
          <a:bodyPr wrap="square" lIns="9144" tIns="0" rIns="9144" bIns="0" anchor="ctr">
            <a:spAutoFit/>
          </a:bodyPr>
          <a:lstStyle/>
          <a:p>
            <a:pPr algn="l">
              <a:spcBef>
                <a:spcPts val="0"/>
              </a:spcBef>
              <a:spcAft>
                <a:spcPts val="0"/>
              </a:spcAft>
              <a:defRPr sz="1300" b="1">
                <a:solidFill>
                  <a:srgbClr val="3178B9"/>
                </a:solidFill>
                <a:latin typeface="Noto Sans"/>
              </a:defRPr>
            </a:pPr>
            <a:r>
              <a:t>Ordered scan</a:t>
            </a:r>
          </a:p>
        </p:txBody>
      </p:sp>
      <p:sp>
        <p:nvSpPr>
          <p:cNvPr id="63" name="Rectangle 62"/>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Same external task — different internal paths through memory.</a:t>
            </a:r>
          </a:p>
        </p:txBody>
      </p:sp>
      <p:cxnSp>
        <p:nvCxnSpPr>
          <p:cNvPr id="65" name="Connector 64"/>
          <p:cNvCxnSpPr/>
          <p:nvPr/>
        </p:nvCxnSpPr>
        <p:spPr>
          <a:xfrm>
            <a:off x="5340096" y="2834640"/>
            <a:ext cx="292608" cy="0"/>
          </a:xfrm>
          <a:prstGeom prst="line">
            <a:avLst/>
          </a:prstGeom>
          <a:ln w="20955">
            <a:solidFill>
              <a:srgbClr val="2F745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632704" y="2203704"/>
            <a:ext cx="0" cy="630936"/>
          </a:xfrm>
          <a:prstGeom prst="line">
            <a:avLst/>
          </a:prstGeom>
          <a:ln w="20955">
            <a:solidFill>
              <a:srgbClr val="2F745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632704" y="2203704"/>
            <a:ext cx="438912" cy="0"/>
          </a:xfrm>
          <a:prstGeom prst="line">
            <a:avLst/>
          </a:prstGeom>
          <a:ln w="20955">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Roadmap — following the thesis</a:t>
            </a:r>
          </a:p>
        </p:txBody>
      </p:sp>
      <p:sp>
        <p:nvSpPr>
          <p:cNvPr id="3" name="Rectangle 2"/>
          <p:cNvSpPr/>
          <p:nvPr/>
        </p:nvSpPr>
        <p:spPr>
          <a:xfrm>
            <a:off x="310896" y="786384"/>
            <a:ext cx="1197864"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Structure of diplomarbeit.tex: six included main chapters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3</a:t>
            </a:r>
          </a:p>
        </p:txBody>
      </p:sp>
      <p:sp>
        <p:nvSpPr>
          <p:cNvPr id="18" name="Rectangle 17"/>
          <p:cNvSpPr/>
          <p:nvPr/>
        </p:nvSpPr>
        <p:spPr>
          <a:xfrm>
            <a:off x="420624" y="1060704"/>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1074419"/>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1</a:t>
            </a:r>
          </a:p>
        </p:txBody>
      </p:sp>
      <p:sp>
        <p:nvSpPr>
          <p:cNvPr id="20" name="TextBox 19"/>
          <p:cNvSpPr txBox="1"/>
          <p:nvPr/>
        </p:nvSpPr>
        <p:spPr>
          <a:xfrm>
            <a:off x="886968" y="1060704"/>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Introduction</a:t>
            </a:r>
          </a:p>
        </p:txBody>
      </p:sp>
      <p:sp>
        <p:nvSpPr>
          <p:cNvPr id="21" name="TextBox 20"/>
          <p:cNvSpPr txBox="1"/>
          <p:nvPr/>
        </p:nvSpPr>
        <p:spPr>
          <a:xfrm>
            <a:off x="5577840" y="1060704"/>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What is the question?</a:t>
            </a:r>
          </a:p>
        </p:txBody>
      </p:sp>
      <p:sp>
        <p:nvSpPr>
          <p:cNvPr id="22" name="Rectangle 21"/>
          <p:cNvSpPr/>
          <p:nvPr/>
        </p:nvSpPr>
        <p:spPr>
          <a:xfrm>
            <a:off x="420624" y="1554480"/>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1568195"/>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2</a:t>
            </a:r>
          </a:p>
        </p:txBody>
      </p:sp>
      <p:sp>
        <p:nvSpPr>
          <p:cNvPr id="24" name="TextBox 23"/>
          <p:cNvSpPr txBox="1"/>
          <p:nvPr/>
        </p:nvSpPr>
        <p:spPr>
          <a:xfrm>
            <a:off x="886968" y="1554480"/>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Search trees and foundations</a:t>
            </a:r>
          </a:p>
        </p:txBody>
      </p:sp>
      <p:sp>
        <p:nvSpPr>
          <p:cNvPr id="25" name="TextBox 24"/>
          <p:cNvSpPr txBox="1"/>
          <p:nvPr/>
        </p:nvSpPr>
        <p:spPr>
          <a:xfrm>
            <a:off x="5577840" y="1554480"/>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What does the literature provide?</a:t>
            </a:r>
          </a:p>
        </p:txBody>
      </p:sp>
      <p:sp>
        <p:nvSpPr>
          <p:cNvPr id="26" name="Rectangle 25"/>
          <p:cNvSpPr/>
          <p:nvPr/>
        </p:nvSpPr>
        <p:spPr>
          <a:xfrm>
            <a:off x="420624" y="2048256"/>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2061972"/>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3</a:t>
            </a:r>
          </a:p>
        </p:txBody>
      </p:sp>
      <p:sp>
        <p:nvSpPr>
          <p:cNvPr id="28" name="TextBox 27"/>
          <p:cNvSpPr txBox="1"/>
          <p:nvPr/>
        </p:nvSpPr>
        <p:spPr>
          <a:xfrm>
            <a:off x="886968" y="2048256"/>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Concepts of a cache-aware measurement system</a:t>
            </a:r>
          </a:p>
        </p:txBody>
      </p:sp>
      <p:sp>
        <p:nvSpPr>
          <p:cNvPr id="29" name="TextBox 28"/>
          <p:cNvSpPr txBox="1"/>
          <p:nvPr/>
        </p:nvSpPr>
        <p:spPr>
          <a:xfrm>
            <a:off x="5577840" y="2048256"/>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How are the decisions separated?</a:t>
            </a:r>
          </a:p>
        </p:txBody>
      </p:sp>
      <p:sp>
        <p:nvSpPr>
          <p:cNvPr id="30" name="Rectangle 29"/>
          <p:cNvSpPr/>
          <p:nvPr/>
        </p:nvSpPr>
        <p:spPr>
          <a:xfrm>
            <a:off x="420624" y="2542032"/>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2555748"/>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4</a:t>
            </a:r>
          </a:p>
        </p:txBody>
      </p:sp>
      <p:sp>
        <p:nvSpPr>
          <p:cNvPr id="32" name="TextBox 31"/>
          <p:cNvSpPr txBox="1"/>
          <p:nvPr/>
        </p:nvSpPr>
        <p:spPr>
          <a:xfrm>
            <a:off x="886968" y="2542032"/>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Implementation</a:t>
            </a:r>
          </a:p>
        </p:txBody>
      </p:sp>
      <p:sp>
        <p:nvSpPr>
          <p:cNvPr id="33" name="TextBox 32"/>
          <p:cNvSpPr txBox="1"/>
          <p:nvPr/>
        </p:nvSpPr>
        <p:spPr>
          <a:xfrm>
            <a:off x="5577840" y="2542032"/>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How does the apparatus execute the idea?</a:t>
            </a:r>
          </a:p>
        </p:txBody>
      </p:sp>
      <p:sp>
        <p:nvSpPr>
          <p:cNvPr id="34" name="Rectangle 33"/>
          <p:cNvSpPr/>
          <p:nvPr/>
        </p:nvSpPr>
        <p:spPr>
          <a:xfrm>
            <a:off x="420624" y="3035808"/>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3049524"/>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5</a:t>
            </a:r>
          </a:p>
        </p:txBody>
      </p:sp>
      <p:sp>
        <p:nvSpPr>
          <p:cNvPr id="36" name="TextBox 35"/>
          <p:cNvSpPr txBox="1"/>
          <p:nvPr/>
        </p:nvSpPr>
        <p:spPr>
          <a:xfrm>
            <a:off x="886968" y="3035808"/>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Evaluation</a:t>
            </a:r>
          </a:p>
        </p:txBody>
      </p:sp>
      <p:sp>
        <p:nvSpPr>
          <p:cNvPr id="37" name="TextBox 36"/>
          <p:cNvSpPr txBox="1"/>
          <p:nvPr/>
        </p:nvSpPr>
        <p:spPr>
          <a:xfrm>
            <a:off x="5577840" y="3035808"/>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What do the comparisons show?</a:t>
            </a:r>
          </a:p>
        </p:txBody>
      </p:sp>
      <p:sp>
        <p:nvSpPr>
          <p:cNvPr id="38" name="Rectangle 37"/>
          <p:cNvSpPr/>
          <p:nvPr/>
        </p:nvSpPr>
        <p:spPr>
          <a:xfrm>
            <a:off x="420624" y="3529584"/>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3543300"/>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6</a:t>
            </a:r>
          </a:p>
        </p:txBody>
      </p:sp>
      <p:sp>
        <p:nvSpPr>
          <p:cNvPr id="40" name="TextBox 39"/>
          <p:cNvSpPr txBox="1"/>
          <p:nvPr/>
        </p:nvSpPr>
        <p:spPr>
          <a:xfrm>
            <a:off x="886968" y="3529584"/>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Conclusion and outlook</a:t>
            </a:r>
          </a:p>
        </p:txBody>
      </p:sp>
      <p:sp>
        <p:nvSpPr>
          <p:cNvPr id="41" name="TextBox 40"/>
          <p:cNvSpPr txBox="1"/>
          <p:nvPr/>
        </p:nvSpPr>
        <p:spPr>
          <a:xfrm>
            <a:off x="5577840" y="3529584"/>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What follows from the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Existing indexes make different choices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§§2.1–2.2, Table 2.1  |  Mechanism sketches, not full implementations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4</a:t>
            </a:r>
          </a:p>
        </p:txBody>
      </p:sp>
      <p:sp>
        <p:nvSpPr>
          <p:cNvPr id="18" name="Rounded Rectangle 17"/>
          <p:cNvSpPr/>
          <p:nvPr/>
        </p:nvSpPr>
        <p:spPr>
          <a:xfrm>
            <a:off x="365760" y="1078992"/>
            <a:ext cx="1920240" cy="15087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1078992"/>
            <a:ext cx="32004" cy="1508760"/>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5488" y="1188720"/>
            <a:ext cx="1700784" cy="347472"/>
          </a:xfrm>
          <a:prstGeom prst="rect">
            <a:avLst/>
          </a:prstGeom>
          <a:noFill/>
        </p:spPr>
        <p:txBody>
          <a:bodyPr wrap="square" lIns="9144" tIns="0" rIns="9144" bIns="0" anchor="ctr">
            <a:spAutoFit/>
          </a:bodyPr>
          <a:lstStyle/>
          <a:p>
            <a:pPr algn="l">
              <a:spcBef>
                <a:spcPts val="0"/>
              </a:spcBef>
              <a:spcAft>
                <a:spcPts val="0"/>
              </a:spcAft>
              <a:defRPr sz="1800" b="1">
                <a:solidFill>
                  <a:srgbClr val="74589E"/>
                </a:solidFill>
                <a:latin typeface="Noto Sans"/>
              </a:defRPr>
            </a:pPr>
            <a:r>
              <a:t>CSS / CSB+</a:t>
            </a:r>
          </a:p>
        </p:txBody>
      </p:sp>
      <p:sp>
        <p:nvSpPr>
          <p:cNvPr id="21" name="TextBox 20"/>
          <p:cNvSpPr txBox="1"/>
          <p:nvPr/>
        </p:nvSpPr>
        <p:spPr>
          <a:xfrm>
            <a:off x="475488" y="2112264"/>
            <a:ext cx="1700784" cy="365760"/>
          </a:xfrm>
          <a:prstGeom prst="rect">
            <a:avLst/>
          </a:prstGeom>
          <a:noFill/>
        </p:spPr>
        <p:txBody>
          <a:bodyPr wrap="square" lIns="9144" tIns="0" rIns="9144" bIns="0" anchor="ctr">
            <a:spAutoFit/>
          </a:bodyPr>
          <a:lstStyle/>
          <a:p>
            <a:pPr algn="l">
              <a:spcBef>
                <a:spcPts val="0"/>
              </a:spcBef>
              <a:spcAft>
                <a:spcPts val="0"/>
              </a:spcAft>
              <a:defRPr sz="1140" b="0">
                <a:solidFill>
                  <a:srgbClr val="192B43"/>
                </a:solidFill>
                <a:latin typeface="Noto Sans"/>
              </a:defRPr>
            </a:pPr>
            <a:r>
              <a:t>directory / child groups</a:t>
            </a:r>
          </a:p>
        </p:txBody>
      </p:sp>
      <p:sp>
        <p:nvSpPr>
          <p:cNvPr id="22" name="Rounded Rectangle 21"/>
          <p:cNvSpPr/>
          <p:nvPr/>
        </p:nvSpPr>
        <p:spPr>
          <a:xfrm>
            <a:off x="2532888" y="1078992"/>
            <a:ext cx="1920240" cy="15087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532888" y="1078992"/>
            <a:ext cx="32004" cy="150876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42616" y="1188720"/>
            <a:ext cx="1700784" cy="347472"/>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ART</a:t>
            </a:r>
          </a:p>
        </p:txBody>
      </p:sp>
      <p:sp>
        <p:nvSpPr>
          <p:cNvPr id="25" name="TextBox 24"/>
          <p:cNvSpPr txBox="1"/>
          <p:nvPr/>
        </p:nvSpPr>
        <p:spPr>
          <a:xfrm>
            <a:off x="2642616" y="2112264"/>
            <a:ext cx="1700784" cy="365760"/>
          </a:xfrm>
          <a:prstGeom prst="rect">
            <a:avLst/>
          </a:prstGeom>
          <a:noFill/>
        </p:spPr>
        <p:txBody>
          <a:bodyPr wrap="square" lIns="9144" tIns="0" rIns="9144" bIns="0" anchor="ctr">
            <a:spAutoFit/>
          </a:bodyPr>
          <a:lstStyle/>
          <a:p>
            <a:pPr algn="l">
              <a:spcBef>
                <a:spcPts val="0"/>
              </a:spcBef>
              <a:spcAft>
                <a:spcPts val="0"/>
              </a:spcAft>
              <a:defRPr sz="1140" b="0">
                <a:solidFill>
                  <a:srgbClr val="192B43"/>
                </a:solidFill>
                <a:latin typeface="Noto Sans"/>
              </a:defRPr>
            </a:pPr>
            <a:r>
              <a:t>adaptive node formats</a:t>
            </a:r>
          </a:p>
        </p:txBody>
      </p:sp>
      <p:sp>
        <p:nvSpPr>
          <p:cNvPr id="26" name="Rounded Rectangle 25"/>
          <p:cNvSpPr/>
          <p:nvPr/>
        </p:nvSpPr>
        <p:spPr>
          <a:xfrm>
            <a:off x="4700016" y="1078992"/>
            <a:ext cx="1920240" cy="15087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00016" y="1078992"/>
            <a:ext cx="32004" cy="1508760"/>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09744" y="1188720"/>
            <a:ext cx="1700784" cy="347472"/>
          </a:xfrm>
          <a:prstGeom prst="rect">
            <a:avLst/>
          </a:prstGeom>
          <a:noFill/>
        </p:spPr>
        <p:txBody>
          <a:bodyPr wrap="square" lIns="9144" tIns="0" rIns="9144" bIns="0" anchor="ctr">
            <a:spAutoFit/>
          </a:bodyPr>
          <a:lstStyle/>
          <a:p>
            <a:pPr algn="l">
              <a:spcBef>
                <a:spcPts val="0"/>
              </a:spcBef>
              <a:spcAft>
                <a:spcPts val="0"/>
              </a:spcAft>
              <a:defRPr sz="1800" b="1">
                <a:solidFill>
                  <a:srgbClr val="3178B9"/>
                </a:solidFill>
                <a:latin typeface="Noto Sans"/>
              </a:defRPr>
            </a:pPr>
            <a:r>
              <a:t>HOT</a:t>
            </a:r>
          </a:p>
        </p:txBody>
      </p:sp>
      <p:sp>
        <p:nvSpPr>
          <p:cNvPr id="29" name="TextBox 28"/>
          <p:cNvSpPr txBox="1"/>
          <p:nvPr/>
        </p:nvSpPr>
        <p:spPr>
          <a:xfrm>
            <a:off x="4809744" y="2112264"/>
            <a:ext cx="1700784" cy="365760"/>
          </a:xfrm>
          <a:prstGeom prst="rect">
            <a:avLst/>
          </a:prstGeom>
          <a:noFill/>
        </p:spPr>
        <p:txBody>
          <a:bodyPr wrap="square" lIns="9144" tIns="0" rIns="9144" bIns="0" anchor="ctr">
            <a:spAutoFit/>
          </a:bodyPr>
          <a:lstStyle/>
          <a:p>
            <a:pPr algn="l">
              <a:spcBef>
                <a:spcPts val="0"/>
              </a:spcBef>
              <a:spcAft>
                <a:spcPts val="0"/>
              </a:spcAft>
              <a:defRPr sz="1140" b="0">
                <a:solidFill>
                  <a:srgbClr val="192B43"/>
                </a:solidFill>
                <a:latin typeface="Noto Sans"/>
              </a:defRPr>
            </a:pPr>
            <a:r>
              <a:t>discriminating bits</a:t>
            </a:r>
          </a:p>
        </p:txBody>
      </p:sp>
      <p:sp>
        <p:nvSpPr>
          <p:cNvPr id="30" name="Rounded Rectangle 29"/>
          <p:cNvSpPr/>
          <p:nvPr/>
        </p:nvSpPr>
        <p:spPr>
          <a:xfrm>
            <a:off x="6867144" y="1078992"/>
            <a:ext cx="1920240" cy="15087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867144" y="1078992"/>
            <a:ext cx="32004" cy="1508760"/>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76872" y="1188720"/>
            <a:ext cx="1700784" cy="347472"/>
          </a:xfrm>
          <a:prstGeom prst="rect">
            <a:avLst/>
          </a:prstGeom>
          <a:noFill/>
        </p:spPr>
        <p:txBody>
          <a:bodyPr wrap="square" lIns="9144" tIns="0" rIns="9144" bIns="0" anchor="ctr">
            <a:spAutoFit/>
          </a:bodyPr>
          <a:lstStyle/>
          <a:p>
            <a:pPr algn="l">
              <a:spcBef>
                <a:spcPts val="0"/>
              </a:spcBef>
              <a:spcAft>
                <a:spcPts val="0"/>
              </a:spcAft>
              <a:defRPr sz="1800" b="1">
                <a:solidFill>
                  <a:srgbClr val="A4770B"/>
                </a:solidFill>
                <a:latin typeface="Noto Sans"/>
              </a:defRPr>
            </a:pPr>
            <a:r>
              <a:t>Masstree</a:t>
            </a:r>
          </a:p>
        </p:txBody>
      </p:sp>
      <p:sp>
        <p:nvSpPr>
          <p:cNvPr id="33" name="TextBox 32"/>
          <p:cNvSpPr txBox="1"/>
          <p:nvPr/>
        </p:nvSpPr>
        <p:spPr>
          <a:xfrm>
            <a:off x="6976872" y="2112264"/>
            <a:ext cx="1700784" cy="365760"/>
          </a:xfrm>
          <a:prstGeom prst="rect">
            <a:avLst/>
          </a:prstGeom>
          <a:noFill/>
        </p:spPr>
        <p:txBody>
          <a:bodyPr wrap="square" lIns="9144" tIns="0" rIns="9144" bIns="0" anchor="ctr">
            <a:spAutoFit/>
          </a:bodyPr>
          <a:lstStyle/>
          <a:p>
            <a:pPr algn="l">
              <a:spcBef>
                <a:spcPts val="0"/>
              </a:spcBef>
              <a:spcAft>
                <a:spcPts val="0"/>
              </a:spcAft>
              <a:defRPr sz="1140" b="0">
                <a:solidFill>
                  <a:srgbClr val="192B43"/>
                </a:solidFill>
                <a:latin typeface="Noto Sans"/>
              </a:defRPr>
            </a:pPr>
            <a:r>
              <a:t>key slices + layers</a:t>
            </a:r>
          </a:p>
        </p:txBody>
      </p:sp>
      <p:cxnSp>
        <p:nvCxnSpPr>
          <p:cNvPr id="34" name="Connector 33"/>
          <p:cNvCxnSpPr/>
          <p:nvPr/>
        </p:nvCxnSpPr>
        <p:spPr>
          <a:xfrm>
            <a:off x="868680" y="1709928"/>
            <a:ext cx="0" cy="173736"/>
          </a:xfrm>
          <a:prstGeom prst="line">
            <a:avLst/>
          </a:prstGeom>
          <a:ln w="15240">
            <a:solidFill>
              <a:srgbClr val="7458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 y="1874519"/>
            <a:ext cx="850392" cy="0"/>
          </a:xfrm>
          <a:prstGeom prst="line">
            <a:avLst/>
          </a:prstGeom>
          <a:ln w="12700">
            <a:solidFill>
              <a:srgbClr val="74589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48640" y="1865376"/>
            <a:ext cx="274320" cy="14630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05256" y="1865376"/>
            <a:ext cx="274320" cy="14630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261872" y="1865376"/>
            <a:ext cx="274320" cy="14630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618488" y="1865376"/>
            <a:ext cx="274320" cy="14630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834640" y="1709928"/>
            <a:ext cx="219456" cy="2743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264408" y="1709928"/>
            <a:ext cx="329184" cy="2743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694176" y="1709928"/>
            <a:ext cx="457200" cy="2743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37760" y="1682496"/>
            <a:ext cx="1444752" cy="310896"/>
          </a:xfrm>
          <a:prstGeom prst="rect">
            <a:avLst/>
          </a:prstGeom>
          <a:noFill/>
        </p:spPr>
        <p:txBody>
          <a:bodyPr wrap="square" lIns="9144" tIns="0" rIns="9144" bIns="0" anchor="ctr">
            <a:spAutoFit/>
          </a:bodyPr>
          <a:lstStyle/>
          <a:p>
            <a:pPr algn="l">
              <a:spcBef>
                <a:spcPts val="0"/>
              </a:spcBef>
              <a:spcAft>
                <a:spcPts val="0"/>
              </a:spcAft>
              <a:defRPr sz="1900" b="1">
                <a:solidFill>
                  <a:srgbClr val="3178B9"/>
                </a:solidFill>
                <a:latin typeface="DejaVu Sans Mono"/>
              </a:defRPr>
            </a:pPr>
            <a:r>
              <a:t>0 1 0 1</a:t>
            </a:r>
          </a:p>
        </p:txBody>
      </p:sp>
      <p:sp>
        <p:nvSpPr>
          <p:cNvPr id="44" name="Rectangle 43"/>
          <p:cNvSpPr/>
          <p:nvPr/>
        </p:nvSpPr>
        <p:spPr>
          <a:xfrm>
            <a:off x="7123176" y="1645920"/>
            <a:ext cx="594360" cy="146304"/>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525512" y="1728216"/>
            <a:ext cx="594360" cy="146304"/>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927848" y="1810512"/>
            <a:ext cx="594360" cy="146304"/>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29768" y="2834640"/>
            <a:ext cx="2423160" cy="530352"/>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One memory transfer</a:t>
            </a:r>
          </a:p>
          <a:p>
            <a:pPr algn="l">
              <a:spcBef>
                <a:spcPts val="0"/>
              </a:spcBef>
              <a:spcAft>
                <a:spcPts val="0"/>
              </a:spcAft>
              <a:defRPr sz="1500" b="1">
                <a:solidFill>
                  <a:srgbClr val="041447"/>
                </a:solidFill>
                <a:latin typeface="Noto Sans"/>
              </a:defRPr>
            </a:pPr>
            <a:r>
              <a:t>fetches a whole line</a:t>
            </a:r>
          </a:p>
        </p:txBody>
      </p:sp>
      <p:sp>
        <p:nvSpPr>
          <p:cNvPr id="48" name="Rectangle 47"/>
          <p:cNvSpPr/>
          <p:nvPr/>
        </p:nvSpPr>
        <p:spPr>
          <a:xfrm>
            <a:off x="3227832" y="2834640"/>
            <a:ext cx="420624" cy="457200"/>
          </a:xfrm>
          <a:prstGeom prst="rect">
            <a:avLst/>
          </a:prstGeom>
          <a:solidFill>
            <a:srgbClr val="008A9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236976"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FFFFFF"/>
                </a:solidFill>
                <a:latin typeface="Noto Sans"/>
              </a:defRPr>
            </a:pPr>
            <a:r>
              <a:t>0</a:t>
            </a:r>
          </a:p>
        </p:txBody>
      </p:sp>
      <p:sp>
        <p:nvSpPr>
          <p:cNvPr id="50" name="Rectangle 49"/>
          <p:cNvSpPr/>
          <p:nvPr/>
        </p:nvSpPr>
        <p:spPr>
          <a:xfrm>
            <a:off x="3666744" y="2834640"/>
            <a:ext cx="420624" cy="457200"/>
          </a:xfrm>
          <a:prstGeom prst="rect">
            <a:avLst/>
          </a:prstGeom>
          <a:solidFill>
            <a:srgbClr val="008A9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75887"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FFFFFF"/>
                </a:solidFill>
                <a:latin typeface="Noto Sans"/>
              </a:defRPr>
            </a:pPr>
            <a:r>
              <a:t>1</a:t>
            </a:r>
          </a:p>
        </p:txBody>
      </p:sp>
      <p:sp>
        <p:nvSpPr>
          <p:cNvPr id="52" name="Rectangle 51"/>
          <p:cNvSpPr/>
          <p:nvPr/>
        </p:nvSpPr>
        <p:spPr>
          <a:xfrm>
            <a:off x="4105656" y="2834640"/>
            <a:ext cx="420624" cy="457200"/>
          </a:xfrm>
          <a:prstGeom prst="rect">
            <a:avLst/>
          </a:prstGeom>
          <a:solidFill>
            <a:srgbClr val="008A9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114800"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FFFFFF"/>
                </a:solidFill>
                <a:latin typeface="Noto Sans"/>
              </a:defRPr>
            </a:pPr>
            <a:r>
              <a:t>2</a:t>
            </a:r>
          </a:p>
        </p:txBody>
      </p:sp>
      <p:sp>
        <p:nvSpPr>
          <p:cNvPr id="54" name="Rectangle 53"/>
          <p:cNvSpPr/>
          <p:nvPr/>
        </p:nvSpPr>
        <p:spPr>
          <a:xfrm>
            <a:off x="4544568"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553712"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3</a:t>
            </a:r>
          </a:p>
        </p:txBody>
      </p:sp>
      <p:sp>
        <p:nvSpPr>
          <p:cNvPr id="56" name="Rectangle 55"/>
          <p:cNvSpPr/>
          <p:nvPr/>
        </p:nvSpPr>
        <p:spPr>
          <a:xfrm>
            <a:off x="4983479"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992624"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4</a:t>
            </a:r>
          </a:p>
        </p:txBody>
      </p:sp>
      <p:sp>
        <p:nvSpPr>
          <p:cNvPr id="58" name="Rectangle 57"/>
          <p:cNvSpPr/>
          <p:nvPr/>
        </p:nvSpPr>
        <p:spPr>
          <a:xfrm>
            <a:off x="5422392"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31536"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5</a:t>
            </a:r>
          </a:p>
        </p:txBody>
      </p:sp>
      <p:sp>
        <p:nvSpPr>
          <p:cNvPr id="60" name="Rectangle 59"/>
          <p:cNvSpPr/>
          <p:nvPr/>
        </p:nvSpPr>
        <p:spPr>
          <a:xfrm>
            <a:off x="5861304"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870448"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6</a:t>
            </a:r>
          </a:p>
        </p:txBody>
      </p:sp>
      <p:sp>
        <p:nvSpPr>
          <p:cNvPr id="62" name="Rectangle 61"/>
          <p:cNvSpPr/>
          <p:nvPr/>
        </p:nvSpPr>
        <p:spPr>
          <a:xfrm>
            <a:off x="6300216"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309360"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7</a:t>
            </a:r>
          </a:p>
        </p:txBody>
      </p:sp>
      <p:sp>
        <p:nvSpPr>
          <p:cNvPr id="64" name="TextBox 63"/>
          <p:cNvSpPr txBox="1"/>
          <p:nvPr/>
        </p:nvSpPr>
        <p:spPr>
          <a:xfrm>
            <a:off x="3236976" y="3383280"/>
            <a:ext cx="3657600" cy="283464"/>
          </a:xfrm>
          <a:prstGeom prst="rect">
            <a:avLst/>
          </a:prstGeom>
          <a:noFill/>
        </p:spPr>
        <p:txBody>
          <a:bodyPr wrap="square" lIns="9144" tIns="0" rIns="9144" bIns="0" anchor="ctr">
            <a:spAutoFit/>
          </a:bodyPr>
          <a:lstStyle/>
          <a:p>
            <a:pPr algn="l">
              <a:spcBef>
                <a:spcPts val="0"/>
              </a:spcBef>
              <a:spcAft>
                <a:spcPts val="0"/>
              </a:spcAft>
              <a:defRPr sz="1100" b="0">
                <a:solidFill>
                  <a:srgbClr val="607080"/>
                </a:solidFill>
                <a:latin typeface="Noto Sans"/>
              </a:defRPr>
            </a:pPr>
            <a:r>
              <a:t>64 B example · only highlighted fields used</a:t>
            </a:r>
          </a:p>
        </p:txBody>
      </p:sp>
      <p:sp>
        <p:nvSpPr>
          <p:cNvPr id="65" name="TextBox 64"/>
          <p:cNvSpPr txBox="1"/>
          <p:nvPr/>
        </p:nvSpPr>
        <p:spPr>
          <a:xfrm>
            <a:off x="7132320" y="2834640"/>
            <a:ext cx="1508760" cy="530352"/>
          </a:xfrm>
          <a:prstGeom prst="rect">
            <a:avLst/>
          </a:prstGeom>
          <a:noFill/>
        </p:spPr>
        <p:txBody>
          <a:bodyPr wrap="square" lIns="9144" tIns="0" rIns="9144" bIns="0" anchor="ctr">
            <a:spAutoFit/>
          </a:bodyPr>
          <a:lstStyle/>
          <a:p>
            <a:pPr algn="l">
              <a:spcBef>
                <a:spcPts val="0"/>
              </a:spcBef>
              <a:spcAft>
                <a:spcPts val="0"/>
              </a:spcAft>
              <a:defRPr sz="1400" b="1">
                <a:solidFill>
                  <a:srgbClr val="008A96"/>
                </a:solidFill>
                <a:latin typeface="Noto Sans"/>
              </a:defRPr>
            </a:pPr>
            <a:r>
              <a:t>Useful bytes</a:t>
            </a:r>
          </a:p>
          <a:p>
            <a:pPr algn="l">
              <a:spcBef>
                <a:spcPts val="0"/>
              </a:spcBef>
              <a:spcAft>
                <a:spcPts val="0"/>
              </a:spcAft>
              <a:defRPr sz="1400" b="1">
                <a:solidFill>
                  <a:srgbClr val="008A96"/>
                </a:solidFill>
                <a:latin typeface="Noto Sans"/>
              </a:defRPr>
            </a:pPr>
            <a:r>
              <a:t>≠ fetched bytes</a:t>
            </a:r>
          </a:p>
        </p:txBody>
      </p:sp>
      <p:sp>
        <p:nvSpPr>
          <p:cNvPr id="66" name="Rectangle 65"/>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Which part of a bundled design causes the measured difference?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From design axes to a storage organ</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§3.3.1 (axis-organ / usage); Appendix D, T4–T6  |  development @56a8fe08</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5</a:t>
            </a:r>
          </a:p>
        </p:txBody>
      </p:sp>
      <p:sp>
        <p:nvSpPr>
          <p:cNvPr id="18" name="Rounded Rectangle 17"/>
          <p:cNvSpPr/>
          <p:nvPr/>
        </p:nvSpPr>
        <p:spPr>
          <a:xfrm>
            <a:off x="393192" y="1005840"/>
            <a:ext cx="1572768" cy="265176"/>
          </a:xfrm>
          <a:prstGeom prst="roundRect">
            <a:avLst>
              <a:gd name="adj" fmla="val 6000"/>
            </a:avLst>
          </a:prstGeom>
          <a:solidFill>
            <a:srgbClr val="F1F5F8"/>
          </a:solidFill>
          <a:ln w="1524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05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6A57A1"/>
                </a:solidFill>
                <a:latin typeface="Noto Sans"/>
              </a:rPr>
              <a:t>Read path</a:t>
            </a:r>
          </a:p>
        </p:txBody>
      </p:sp>
      <p:sp>
        <p:nvSpPr>
          <p:cNvPr id="20" name="Rounded Rectangle 19"/>
          <p:cNvSpPr/>
          <p:nvPr/>
        </p:nvSpPr>
        <p:spPr>
          <a:xfrm>
            <a:off x="2084832" y="1005840"/>
            <a:ext cx="1572768" cy="265176"/>
          </a:xfrm>
          <a:prstGeom prst="roundRect">
            <a:avLst>
              <a:gd name="adj" fmla="val 6000"/>
            </a:avLst>
          </a:prstGeom>
          <a:solidFill>
            <a:srgbClr val="F1F5F8"/>
          </a:solidFill>
          <a:ln w="15240">
            <a:solidFill>
              <a:srgbClr val="34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0769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3468AA"/>
                </a:solidFill>
                <a:latin typeface="Noto Sans"/>
              </a:rPr>
              <a:t>Layout</a:t>
            </a:r>
          </a:p>
        </p:txBody>
      </p:sp>
      <p:sp>
        <p:nvSpPr>
          <p:cNvPr id="22" name="Rounded Rectangle 21"/>
          <p:cNvSpPr/>
          <p:nvPr/>
        </p:nvSpPr>
        <p:spPr>
          <a:xfrm>
            <a:off x="3776472" y="1005840"/>
            <a:ext cx="1572768" cy="265176"/>
          </a:xfrm>
          <a:prstGeom prst="roundRect">
            <a:avLst>
              <a:gd name="adj" fmla="val 6000"/>
            </a:avLst>
          </a:prstGeom>
          <a:solidFill>
            <a:srgbClr val="F1F5F8"/>
          </a:solidFill>
          <a:ln w="15240">
            <a:solidFill>
              <a:srgbClr val="AD73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9933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AD731A"/>
                </a:solidFill>
                <a:latin typeface="Noto Sans"/>
              </a:rPr>
              <a:t>Placement</a:t>
            </a:r>
          </a:p>
        </p:txBody>
      </p:sp>
      <p:sp>
        <p:nvSpPr>
          <p:cNvPr id="24" name="Rounded Rectangle 23"/>
          <p:cNvSpPr/>
          <p:nvPr/>
        </p:nvSpPr>
        <p:spPr>
          <a:xfrm>
            <a:off x="5468112" y="1005840"/>
            <a:ext cx="1572768" cy="265176"/>
          </a:xfrm>
          <a:prstGeom prst="roundRect">
            <a:avLst>
              <a:gd name="adj" fmla="val 6000"/>
            </a:avLst>
          </a:prstGeom>
          <a:solidFill>
            <a:srgbClr val="F1F5F8"/>
          </a:solidFill>
          <a:ln w="1524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9097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2F7458"/>
                </a:solidFill>
                <a:latin typeface="Noto Sans"/>
              </a:rPr>
              <a:t>Execution</a:t>
            </a:r>
          </a:p>
        </p:txBody>
      </p:sp>
      <p:sp>
        <p:nvSpPr>
          <p:cNvPr id="26" name="Rounded Rectangle 25"/>
          <p:cNvSpPr/>
          <p:nvPr/>
        </p:nvSpPr>
        <p:spPr>
          <a:xfrm>
            <a:off x="7159752" y="1005840"/>
            <a:ext cx="1572768" cy="265176"/>
          </a:xfrm>
          <a:prstGeom prst="roundRect">
            <a:avLst>
              <a:gd name="adj" fmla="val 6000"/>
            </a:avLst>
          </a:prstGeom>
          <a:solidFill>
            <a:srgbClr val="F1F5F8"/>
          </a:solidFill>
          <a:ln w="15240">
            <a:solidFill>
              <a:srgbClr val="6574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8261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657487"/>
                </a:solidFill>
                <a:latin typeface="Noto Sans"/>
              </a:rPr>
              <a:t>Write / I/O</a:t>
            </a:r>
          </a:p>
        </p:txBody>
      </p:sp>
      <p:sp>
        <p:nvSpPr>
          <p:cNvPr id="28" name="TextBox 27"/>
          <p:cNvSpPr txBox="1"/>
          <p:nvPr/>
        </p:nvSpPr>
        <p:spPr>
          <a:xfrm>
            <a:off x="393192" y="1371600"/>
            <a:ext cx="4206240" cy="210312"/>
          </a:xfrm>
          <a:prstGeom prst="rect">
            <a:avLst/>
          </a:prstGeom>
          <a:noFill/>
        </p:spPr>
        <p:txBody>
          <a:bodyPr wrap="square" lIns="22860" tIns="0" rIns="22860" bIns="0" anchor="ctr">
            <a:noAutofit/>
          </a:bodyPr>
          <a:lstStyle/>
          <a:p>
            <a:pPr algn="l">
              <a:lnSpc>
                <a:spcPct val="108000"/>
              </a:lnSpc>
              <a:spcBef>
                <a:spcPts val="0"/>
              </a:spcBef>
              <a:spcAft>
                <a:spcPts val="0"/>
              </a:spcAft>
            </a:pPr>
            <a:r>
              <a:rPr sz="1100" b="1">
                <a:solidFill>
                  <a:srgbClr val="041447"/>
                </a:solidFill>
                <a:latin typeface="Noto Sans"/>
              </a:rPr>
              <a:t>SELECT A VARIANT ON EACH AXIS</a:t>
            </a:r>
          </a:p>
        </p:txBody>
      </p:sp>
      <p:sp>
        <p:nvSpPr>
          <p:cNvPr id="29" name="TextBox 28"/>
          <p:cNvSpPr txBox="1"/>
          <p:nvPr/>
        </p:nvSpPr>
        <p:spPr>
          <a:xfrm>
            <a:off x="5166360" y="1371600"/>
            <a:ext cx="3291840" cy="210312"/>
          </a:xfrm>
          <a:prstGeom prst="rect">
            <a:avLst/>
          </a:prstGeom>
          <a:noFill/>
        </p:spPr>
        <p:txBody>
          <a:bodyPr wrap="square" lIns="22860" tIns="0" rIns="22860" bIns="0" anchor="ctr">
            <a:noAutofit/>
          </a:bodyPr>
          <a:lstStyle/>
          <a:p>
            <a:pPr algn="l">
              <a:lnSpc>
                <a:spcPct val="108000"/>
              </a:lnSpc>
              <a:spcBef>
                <a:spcPts val="0"/>
              </a:spcBef>
              <a:spcAft>
                <a:spcPts val="0"/>
              </a:spcAft>
            </a:pPr>
            <a:r>
              <a:rPr sz="1100" b="1">
                <a:solidFill>
                  <a:srgbClr val="041447"/>
                </a:solidFill>
                <a:latin typeface="Noto Sans"/>
              </a:rPr>
              <a:t>COMPOSE A FUNCTIONAL ORGAN</a:t>
            </a:r>
          </a:p>
        </p:txBody>
      </p:sp>
      <p:sp>
        <p:nvSpPr>
          <p:cNvPr id="30" name="TextBox 29"/>
          <p:cNvSpPr txBox="1"/>
          <p:nvPr/>
        </p:nvSpPr>
        <p:spPr>
          <a:xfrm>
            <a:off x="411480" y="1572768"/>
            <a:ext cx="3840480" cy="192024"/>
          </a:xfrm>
          <a:prstGeom prst="rect">
            <a:avLst/>
          </a:prstGeom>
          <a:noFill/>
        </p:spPr>
        <p:txBody>
          <a:bodyPr wrap="square" lIns="22860" tIns="0" rIns="22860" bIns="0" anchor="ctr">
            <a:noAutofit/>
          </a:bodyPr>
          <a:lstStyle/>
          <a:p>
            <a:pPr algn="l">
              <a:lnSpc>
                <a:spcPct val="108000"/>
              </a:lnSpc>
              <a:spcBef>
                <a:spcPts val="0"/>
              </a:spcBef>
              <a:spcAft>
                <a:spcPts val="0"/>
              </a:spcAft>
            </a:pPr>
            <a:r>
              <a:rPr sz="1150" b="1">
                <a:solidFill>
                  <a:srgbClr val="3468AA"/>
                </a:solidFill>
                <a:latin typeface="Noto Sans"/>
              </a:rPr>
              <a:t>T4  Node type</a:t>
            </a:r>
          </a:p>
        </p:txBody>
      </p:sp>
      <p:sp>
        <p:nvSpPr>
          <p:cNvPr id="31" name="Rounded Rectangle 30"/>
          <p:cNvSpPr/>
          <p:nvPr/>
        </p:nvSpPr>
        <p:spPr>
          <a:xfrm>
            <a:off x="420624" y="1810512"/>
            <a:ext cx="795528" cy="393192"/>
          </a:xfrm>
          <a:prstGeom prst="roundRect">
            <a:avLst>
              <a:gd name="adj" fmla="val 6000"/>
            </a:avLst>
          </a:prstGeom>
          <a:solidFill>
            <a:srgbClr val="EAF1F9"/>
          </a:solidFill>
          <a:ln w="15240">
            <a:solidFill>
              <a:srgbClr val="34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3484" y="1815084"/>
            <a:ext cx="749808"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1">
                <a:solidFill>
                  <a:srgbClr val="3468AA"/>
                </a:solidFill>
                <a:latin typeface="Noto Sans"/>
              </a:rPr>
              <a:t>Node4</a:t>
            </a:r>
          </a:p>
        </p:txBody>
      </p:sp>
      <p:sp>
        <p:nvSpPr>
          <p:cNvPr id="33" name="Rounded Rectangle 32"/>
          <p:cNvSpPr/>
          <p:nvPr/>
        </p:nvSpPr>
        <p:spPr>
          <a:xfrm>
            <a:off x="1284732" y="1810512"/>
            <a:ext cx="795528"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07592" y="1815084"/>
            <a:ext cx="749808"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Node16</a:t>
            </a:r>
          </a:p>
        </p:txBody>
      </p:sp>
      <p:sp>
        <p:nvSpPr>
          <p:cNvPr id="35" name="Rounded Rectangle 34"/>
          <p:cNvSpPr/>
          <p:nvPr/>
        </p:nvSpPr>
        <p:spPr>
          <a:xfrm>
            <a:off x="2148840" y="1810512"/>
            <a:ext cx="795528"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171700" y="1815084"/>
            <a:ext cx="749808"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Node48</a:t>
            </a:r>
          </a:p>
        </p:txBody>
      </p:sp>
      <p:sp>
        <p:nvSpPr>
          <p:cNvPr id="37" name="Rounded Rectangle 36"/>
          <p:cNvSpPr/>
          <p:nvPr/>
        </p:nvSpPr>
        <p:spPr>
          <a:xfrm>
            <a:off x="3012948" y="1810512"/>
            <a:ext cx="795528"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035808" y="1815084"/>
            <a:ext cx="749808"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Node256</a:t>
            </a:r>
          </a:p>
        </p:txBody>
      </p:sp>
      <p:sp>
        <p:nvSpPr>
          <p:cNvPr id="39" name="TextBox 38"/>
          <p:cNvSpPr txBox="1"/>
          <p:nvPr/>
        </p:nvSpPr>
        <p:spPr>
          <a:xfrm>
            <a:off x="411480" y="2350008"/>
            <a:ext cx="3840480" cy="192024"/>
          </a:xfrm>
          <a:prstGeom prst="rect">
            <a:avLst/>
          </a:prstGeom>
          <a:noFill/>
        </p:spPr>
        <p:txBody>
          <a:bodyPr wrap="square" lIns="22860" tIns="0" rIns="22860" bIns="0" anchor="ctr">
            <a:noAutofit/>
          </a:bodyPr>
          <a:lstStyle/>
          <a:p>
            <a:pPr algn="l">
              <a:lnSpc>
                <a:spcPct val="108000"/>
              </a:lnSpc>
              <a:spcBef>
                <a:spcPts val="0"/>
              </a:spcBef>
              <a:spcAft>
                <a:spcPts val="0"/>
              </a:spcAft>
            </a:pPr>
            <a:r>
              <a:rPr sz="1150" b="1">
                <a:solidFill>
                  <a:srgbClr val="00878C"/>
                </a:solidFill>
                <a:latin typeface="Noto Sans"/>
              </a:rPr>
              <a:t>T5  Layout</a:t>
            </a:r>
          </a:p>
        </p:txBody>
      </p:sp>
      <p:sp>
        <p:nvSpPr>
          <p:cNvPr id="40" name="Rounded Rectangle 39"/>
          <p:cNvSpPr/>
          <p:nvPr/>
        </p:nvSpPr>
        <p:spPr>
          <a:xfrm>
            <a:off x="420624" y="2587752"/>
            <a:ext cx="1060704" cy="393192"/>
          </a:xfrm>
          <a:prstGeom prst="roundRect">
            <a:avLst>
              <a:gd name="adj" fmla="val 6000"/>
            </a:avLst>
          </a:prstGeom>
          <a:solidFill>
            <a:srgbClr val="E7F4F3"/>
          </a:solidFill>
          <a:ln w="15240">
            <a:solidFill>
              <a:srgbClr val="0087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3484" y="259232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1">
                <a:solidFill>
                  <a:srgbClr val="00878C"/>
                </a:solidFill>
                <a:latin typeface="Noto Sans"/>
              </a:rPr>
              <a:t>Aligned</a:t>
            </a:r>
          </a:p>
        </p:txBody>
      </p:sp>
      <p:sp>
        <p:nvSpPr>
          <p:cNvPr id="42" name="Rounded Rectangle 41"/>
          <p:cNvSpPr/>
          <p:nvPr/>
        </p:nvSpPr>
        <p:spPr>
          <a:xfrm>
            <a:off x="1549907" y="2587752"/>
            <a:ext cx="1060704"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572767" y="259232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AoS</a:t>
            </a:r>
          </a:p>
        </p:txBody>
      </p:sp>
      <p:sp>
        <p:nvSpPr>
          <p:cNvPr id="44" name="Rounded Rectangle 43"/>
          <p:cNvSpPr/>
          <p:nvPr/>
        </p:nvSpPr>
        <p:spPr>
          <a:xfrm>
            <a:off x="2679191" y="2587752"/>
            <a:ext cx="1060704"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702051" y="259232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SoA</a:t>
            </a:r>
          </a:p>
        </p:txBody>
      </p:sp>
      <p:sp>
        <p:nvSpPr>
          <p:cNvPr id="46" name="TextBox 45"/>
          <p:cNvSpPr txBox="1"/>
          <p:nvPr/>
        </p:nvSpPr>
        <p:spPr>
          <a:xfrm>
            <a:off x="411480" y="3127248"/>
            <a:ext cx="3840480" cy="192024"/>
          </a:xfrm>
          <a:prstGeom prst="rect">
            <a:avLst/>
          </a:prstGeom>
          <a:noFill/>
        </p:spPr>
        <p:txBody>
          <a:bodyPr wrap="square" lIns="22860" tIns="0" rIns="22860" bIns="0" anchor="ctr">
            <a:noAutofit/>
          </a:bodyPr>
          <a:lstStyle/>
          <a:p>
            <a:pPr algn="l">
              <a:lnSpc>
                <a:spcPct val="108000"/>
              </a:lnSpc>
              <a:spcBef>
                <a:spcPts val="0"/>
              </a:spcBef>
              <a:spcAft>
                <a:spcPts val="0"/>
              </a:spcAft>
            </a:pPr>
            <a:r>
              <a:rPr sz="1150" b="1">
                <a:solidFill>
                  <a:srgbClr val="AD731A"/>
                </a:solidFill>
                <a:latin typeface="Noto Sans"/>
              </a:rPr>
              <a:t>T6  Allocator</a:t>
            </a:r>
          </a:p>
        </p:txBody>
      </p:sp>
      <p:sp>
        <p:nvSpPr>
          <p:cNvPr id="47" name="Rounded Rectangle 46"/>
          <p:cNvSpPr/>
          <p:nvPr/>
        </p:nvSpPr>
        <p:spPr>
          <a:xfrm>
            <a:off x="420624" y="3364992"/>
            <a:ext cx="1060704" cy="393192"/>
          </a:xfrm>
          <a:prstGeom prst="roundRect">
            <a:avLst>
              <a:gd name="adj" fmla="val 6000"/>
            </a:avLst>
          </a:prstGeom>
          <a:solidFill>
            <a:srgbClr val="FAF1DF"/>
          </a:solidFill>
          <a:ln w="15240">
            <a:solidFill>
              <a:srgbClr val="AD73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3484" y="336956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1">
                <a:solidFill>
                  <a:srgbClr val="AD731A"/>
                </a:solidFill>
                <a:latin typeface="Noto Sans"/>
              </a:rPr>
              <a:t>mimalloc</a:t>
            </a:r>
          </a:p>
        </p:txBody>
      </p:sp>
      <p:sp>
        <p:nvSpPr>
          <p:cNvPr id="49" name="Rounded Rectangle 48"/>
          <p:cNvSpPr/>
          <p:nvPr/>
        </p:nvSpPr>
        <p:spPr>
          <a:xfrm>
            <a:off x="1549907" y="3364992"/>
            <a:ext cx="1060704"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572767" y="336956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malloc</a:t>
            </a:r>
          </a:p>
        </p:txBody>
      </p:sp>
      <p:sp>
        <p:nvSpPr>
          <p:cNvPr id="51" name="Rounded Rectangle 50"/>
          <p:cNvSpPr/>
          <p:nvPr/>
        </p:nvSpPr>
        <p:spPr>
          <a:xfrm>
            <a:off x="2679191" y="3364992"/>
            <a:ext cx="1060704"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02051" y="336956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pool</a:t>
            </a:r>
          </a:p>
        </p:txBody>
      </p:sp>
      <p:grpSp>
        <p:nvGrpSpPr>
          <p:cNvPr id="75" name="ASSEMBLY: selected node, layout, allocator form storage"/>
          <p:cNvGrpSpPr/>
          <p:nvPr/>
        </p:nvGrpSpPr>
        <p:grpSpPr>
          <a:xfrm>
            <a:off x="818388" y="1801368"/>
            <a:ext cx="7840980" cy="2075688"/>
            <a:chOff x="818388" y="1801368"/>
            <a:chExt cx="7840980" cy="2075688"/>
          </a:xfrm>
        </p:grpSpPr>
        <p:cxnSp>
          <p:nvCxnSpPr>
            <p:cNvPr id="53" name="Connector 52"/>
            <p:cNvCxnSpPr/>
            <p:nvPr/>
          </p:nvCxnSpPr>
          <p:spPr>
            <a:xfrm>
              <a:off x="818388" y="2221992"/>
              <a:ext cx="0" cy="100584"/>
            </a:xfrm>
            <a:prstGeom prst="line">
              <a:avLst/>
            </a:prstGeom>
            <a:ln w="15875">
              <a:solidFill>
                <a:srgbClr val="3468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18388" y="2322576"/>
              <a:ext cx="3131820" cy="0"/>
            </a:xfrm>
            <a:prstGeom prst="line">
              <a:avLst/>
            </a:prstGeom>
            <a:ln w="15875">
              <a:solidFill>
                <a:srgbClr val="3468A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50208" y="2322576"/>
              <a:ext cx="859536" cy="384048"/>
            </a:xfrm>
            <a:prstGeom prst="line">
              <a:avLst/>
            </a:prstGeom>
            <a:ln w="21590">
              <a:solidFill>
                <a:srgbClr val="3468A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50976" y="2999232"/>
              <a:ext cx="0" cy="100584"/>
            </a:xfrm>
            <a:prstGeom prst="line">
              <a:avLst/>
            </a:prstGeom>
            <a:ln w="15875">
              <a:solidFill>
                <a:srgbClr val="00878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50976" y="3099816"/>
              <a:ext cx="2999232" cy="0"/>
            </a:xfrm>
            <a:prstGeom prst="line">
              <a:avLst/>
            </a:prstGeom>
            <a:ln w="15875">
              <a:solidFill>
                <a:srgbClr val="00878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950208" y="2706624"/>
              <a:ext cx="859536" cy="393192"/>
            </a:xfrm>
            <a:prstGeom prst="line">
              <a:avLst/>
            </a:prstGeom>
            <a:ln w="21590">
              <a:solidFill>
                <a:srgbClr val="00878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50976" y="3776472"/>
              <a:ext cx="0" cy="100584"/>
            </a:xfrm>
            <a:prstGeom prst="line">
              <a:avLst/>
            </a:prstGeom>
            <a:ln w="15875">
              <a:solidFill>
                <a:srgbClr val="AD73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50976" y="3877056"/>
              <a:ext cx="2999232" cy="0"/>
            </a:xfrm>
            <a:prstGeom prst="line">
              <a:avLst/>
            </a:prstGeom>
            <a:ln w="15875">
              <a:solidFill>
                <a:srgbClr val="AD73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950208" y="2706624"/>
              <a:ext cx="859536" cy="1170432"/>
            </a:xfrm>
            <a:prstGeom prst="line">
              <a:avLst/>
            </a:prstGeom>
            <a:ln w="21590">
              <a:solidFill>
                <a:srgbClr val="AD731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809744" y="2706624"/>
              <a:ext cx="356616" cy="0"/>
            </a:xfrm>
            <a:prstGeom prst="line">
              <a:avLst/>
            </a:prstGeom>
            <a:ln w="2286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5193792" y="1801368"/>
              <a:ext cx="3465576" cy="2020824"/>
            </a:xfrm>
            <a:prstGeom prst="roundRect">
              <a:avLst>
                <a:gd name="adj" fmla="val 6000"/>
              </a:avLst>
            </a:prstGeom>
            <a:solidFill>
              <a:srgbClr val="F1F5F8"/>
            </a:solidFill>
            <a:ln w="1651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340096" y="1892807"/>
              <a:ext cx="3154680"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700" b="1">
                  <a:solidFill>
                    <a:srgbClr val="041447"/>
                  </a:solidFill>
                  <a:latin typeface="Noto Sans"/>
                </a:rPr>
                <a:t>STORAGE ORGAN</a:t>
              </a:r>
            </a:p>
          </p:txBody>
        </p:sp>
        <p:sp>
          <p:nvSpPr>
            <p:cNvPr id="65" name="Freeform 64"/>
            <p:cNvSpPr/>
            <p:nvPr/>
          </p:nvSpPr>
          <p:spPr>
            <a:xfrm>
              <a:off x="5431536" y="2350008"/>
              <a:ext cx="1077163" cy="850392"/>
            </a:xfrm>
            <a:custGeom>
              <a:avLst/>
              <a:gdLst/>
              <a:ahLst/>
              <a:cxnLst/>
              <a:rect l="l" t="t" r="r" b="b"/>
              <a:pathLst>
                <a:path w="1178" h="930">
                  <a:moveTo>
                    <a:pt x="0" y="0"/>
                  </a:moveTo>
                  <a:lnTo>
                    <a:pt x="1057" y="0"/>
                  </a:lnTo>
                  <a:lnTo>
                    <a:pt x="1057" y="391"/>
                  </a:lnTo>
                  <a:lnTo>
                    <a:pt x="1084" y="405"/>
                  </a:lnTo>
                  <a:lnTo>
                    <a:pt x="1109" y="420"/>
                  </a:lnTo>
                  <a:lnTo>
                    <a:pt x="1132" y="434"/>
                  </a:lnTo>
                  <a:lnTo>
                    <a:pt x="1151" y="449"/>
                  </a:lnTo>
                  <a:lnTo>
                    <a:pt x="1166" y="464"/>
                  </a:lnTo>
                  <a:lnTo>
                    <a:pt x="1175" y="478"/>
                  </a:lnTo>
                  <a:lnTo>
                    <a:pt x="1178" y="493"/>
                  </a:lnTo>
                  <a:lnTo>
                    <a:pt x="1175" y="508"/>
                  </a:lnTo>
                  <a:lnTo>
                    <a:pt x="1166" y="522"/>
                  </a:lnTo>
                  <a:lnTo>
                    <a:pt x="1151" y="537"/>
                  </a:lnTo>
                  <a:lnTo>
                    <a:pt x="1132" y="551"/>
                  </a:lnTo>
                  <a:lnTo>
                    <a:pt x="1109" y="566"/>
                  </a:lnTo>
                  <a:lnTo>
                    <a:pt x="1084" y="581"/>
                  </a:lnTo>
                  <a:lnTo>
                    <a:pt x="1057" y="595"/>
                  </a:lnTo>
                  <a:lnTo>
                    <a:pt x="1057" y="930"/>
                  </a:lnTo>
                  <a:lnTo>
                    <a:pt x="0" y="930"/>
                  </a:lnTo>
                  <a:lnTo>
                    <a:pt x="0" y="595"/>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513832" y="2391156"/>
              <a:ext cx="838200" cy="221101"/>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T4</a:t>
              </a:r>
            </a:p>
          </p:txBody>
        </p:sp>
        <p:sp>
          <p:nvSpPr>
            <p:cNvPr id="67" name="TextBox 66"/>
            <p:cNvSpPr txBox="1"/>
            <p:nvPr/>
          </p:nvSpPr>
          <p:spPr>
            <a:xfrm>
              <a:off x="5472684" y="2639141"/>
              <a:ext cx="897636" cy="374172"/>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Node4</a:t>
              </a:r>
            </a:p>
          </p:txBody>
        </p:sp>
        <p:sp>
          <p:nvSpPr>
            <p:cNvPr id="68" name="Freeform 67"/>
            <p:cNvSpPr/>
            <p:nvPr/>
          </p:nvSpPr>
          <p:spPr>
            <a:xfrm>
              <a:off x="6397752" y="2350008"/>
              <a:ext cx="1077163" cy="850392"/>
            </a:xfrm>
            <a:custGeom>
              <a:avLst/>
              <a:gdLst/>
              <a:ahLst/>
              <a:cxnLst/>
              <a:rect l="l" t="t" r="r" b="b"/>
              <a:pathLst>
                <a:path w="1178" h="930">
                  <a:moveTo>
                    <a:pt x="0" y="0"/>
                  </a:moveTo>
                  <a:lnTo>
                    <a:pt x="1057" y="0"/>
                  </a:lnTo>
                  <a:lnTo>
                    <a:pt x="1057" y="391"/>
                  </a:lnTo>
                  <a:lnTo>
                    <a:pt x="1084" y="405"/>
                  </a:lnTo>
                  <a:lnTo>
                    <a:pt x="1109" y="420"/>
                  </a:lnTo>
                  <a:lnTo>
                    <a:pt x="1132" y="434"/>
                  </a:lnTo>
                  <a:lnTo>
                    <a:pt x="1151" y="449"/>
                  </a:lnTo>
                  <a:lnTo>
                    <a:pt x="1166" y="464"/>
                  </a:lnTo>
                  <a:lnTo>
                    <a:pt x="1175" y="478"/>
                  </a:lnTo>
                  <a:lnTo>
                    <a:pt x="1178" y="493"/>
                  </a:lnTo>
                  <a:lnTo>
                    <a:pt x="1175" y="508"/>
                  </a:lnTo>
                  <a:lnTo>
                    <a:pt x="1166" y="522"/>
                  </a:lnTo>
                  <a:lnTo>
                    <a:pt x="1151" y="537"/>
                  </a:lnTo>
                  <a:lnTo>
                    <a:pt x="1132" y="551"/>
                  </a:lnTo>
                  <a:lnTo>
                    <a:pt x="1109" y="566"/>
                  </a:lnTo>
                  <a:lnTo>
                    <a:pt x="1084" y="581"/>
                  </a:lnTo>
                  <a:lnTo>
                    <a:pt x="1057" y="595"/>
                  </a:lnTo>
                  <a:lnTo>
                    <a:pt x="1057" y="930"/>
                  </a:lnTo>
                  <a:lnTo>
                    <a:pt x="0" y="930"/>
                  </a:lnTo>
                  <a:lnTo>
                    <a:pt x="0" y="595"/>
                  </a:lnTo>
                  <a:lnTo>
                    <a:pt x="27" y="581"/>
                  </a:lnTo>
                  <a:lnTo>
                    <a:pt x="52" y="566"/>
                  </a:lnTo>
                  <a:lnTo>
                    <a:pt x="75" y="551"/>
                  </a:lnTo>
                  <a:lnTo>
                    <a:pt x="95" y="537"/>
                  </a:lnTo>
                  <a:lnTo>
                    <a:pt x="109" y="522"/>
                  </a:lnTo>
                  <a:lnTo>
                    <a:pt x="118" y="508"/>
                  </a:lnTo>
                  <a:lnTo>
                    <a:pt x="121" y="493"/>
                  </a:lnTo>
                  <a:lnTo>
                    <a:pt x="118" y="478"/>
                  </a:lnTo>
                  <a:lnTo>
                    <a:pt x="109" y="464"/>
                  </a:lnTo>
                  <a:lnTo>
                    <a:pt x="95" y="449"/>
                  </a:lnTo>
                  <a:lnTo>
                    <a:pt x="75" y="434"/>
                  </a:lnTo>
                  <a:lnTo>
                    <a:pt x="52" y="420"/>
                  </a:lnTo>
                  <a:lnTo>
                    <a:pt x="27" y="405"/>
                  </a:lnTo>
                  <a:lnTo>
                    <a:pt x="0" y="391"/>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480048" y="2391156"/>
              <a:ext cx="838200" cy="221101"/>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T5</a:t>
              </a:r>
            </a:p>
          </p:txBody>
        </p:sp>
        <p:sp>
          <p:nvSpPr>
            <p:cNvPr id="70" name="TextBox 69"/>
            <p:cNvSpPr txBox="1"/>
            <p:nvPr/>
          </p:nvSpPr>
          <p:spPr>
            <a:xfrm>
              <a:off x="6438900" y="2639141"/>
              <a:ext cx="897636" cy="374172"/>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Aligned</a:t>
              </a:r>
            </a:p>
          </p:txBody>
        </p:sp>
        <p:sp>
          <p:nvSpPr>
            <p:cNvPr id="71" name="Freeform 70"/>
            <p:cNvSpPr/>
            <p:nvPr/>
          </p:nvSpPr>
          <p:spPr>
            <a:xfrm>
              <a:off x="7363968" y="2350008"/>
              <a:ext cx="966521" cy="850392"/>
            </a:xfrm>
            <a:custGeom>
              <a:avLst/>
              <a:gdLst/>
              <a:ahLst/>
              <a:cxnLst/>
              <a:rect l="l" t="t" r="r" b="b"/>
              <a:pathLst>
                <a:path w="1057" h="930">
                  <a:moveTo>
                    <a:pt x="0" y="0"/>
                  </a:moveTo>
                  <a:lnTo>
                    <a:pt x="1057" y="0"/>
                  </a:lnTo>
                  <a:lnTo>
                    <a:pt x="1057" y="391"/>
                  </a:lnTo>
                  <a:lnTo>
                    <a:pt x="1057" y="930"/>
                  </a:lnTo>
                  <a:lnTo>
                    <a:pt x="0" y="930"/>
                  </a:lnTo>
                  <a:lnTo>
                    <a:pt x="0" y="595"/>
                  </a:lnTo>
                  <a:lnTo>
                    <a:pt x="27" y="581"/>
                  </a:lnTo>
                  <a:lnTo>
                    <a:pt x="52" y="566"/>
                  </a:lnTo>
                  <a:lnTo>
                    <a:pt x="75" y="551"/>
                  </a:lnTo>
                  <a:lnTo>
                    <a:pt x="95" y="537"/>
                  </a:lnTo>
                  <a:lnTo>
                    <a:pt x="109" y="522"/>
                  </a:lnTo>
                  <a:lnTo>
                    <a:pt x="118" y="508"/>
                  </a:lnTo>
                  <a:lnTo>
                    <a:pt x="121" y="493"/>
                  </a:lnTo>
                  <a:lnTo>
                    <a:pt x="118" y="478"/>
                  </a:lnTo>
                  <a:lnTo>
                    <a:pt x="109" y="464"/>
                  </a:lnTo>
                  <a:lnTo>
                    <a:pt x="95" y="449"/>
                  </a:lnTo>
                  <a:lnTo>
                    <a:pt x="75" y="434"/>
                  </a:lnTo>
                  <a:lnTo>
                    <a:pt x="52" y="420"/>
                  </a:lnTo>
                  <a:lnTo>
                    <a:pt x="27" y="405"/>
                  </a:lnTo>
                  <a:lnTo>
                    <a:pt x="0" y="391"/>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46264" y="2391156"/>
              <a:ext cx="838200" cy="221101"/>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T6</a:t>
              </a:r>
            </a:p>
          </p:txBody>
        </p:sp>
        <p:sp>
          <p:nvSpPr>
            <p:cNvPr id="73" name="TextBox 72"/>
            <p:cNvSpPr txBox="1"/>
            <p:nvPr/>
          </p:nvSpPr>
          <p:spPr>
            <a:xfrm>
              <a:off x="7405116" y="2639141"/>
              <a:ext cx="897636" cy="374172"/>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mimalloc</a:t>
              </a:r>
            </a:p>
          </p:txBody>
        </p:sp>
        <p:sp>
          <p:nvSpPr>
            <p:cNvPr id="74" name="TextBox 73"/>
            <p:cNvSpPr txBox="1"/>
            <p:nvPr/>
          </p:nvSpPr>
          <p:spPr>
            <a:xfrm>
              <a:off x="5394960" y="3282696"/>
              <a:ext cx="3026664" cy="219456"/>
            </a:xfrm>
            <a:prstGeom prst="rect">
              <a:avLst/>
            </a:prstGeom>
            <a:noFill/>
          </p:spPr>
          <p:txBody>
            <a:bodyPr wrap="square" lIns="22860" tIns="0" rIns="22860" bIns="0" anchor="ctr">
              <a:noAutofit/>
            </a:bodyPr>
            <a:lstStyle/>
            <a:p>
              <a:pPr algn="ctr">
                <a:lnSpc>
                  <a:spcPct val="108000"/>
                </a:lnSpc>
                <a:spcBef>
                  <a:spcPts val="0"/>
                </a:spcBef>
                <a:spcAft>
                  <a:spcPts val="0"/>
                </a:spcAft>
              </a:pPr>
              <a:r>
                <a:rPr sz="1080" b="0">
                  <a:solidFill>
                    <a:srgbClr val="23364B"/>
                  </a:solidFill>
                  <a:latin typeface="Noto Sans"/>
                </a:rPr>
                <a:t>capacity  +  layout  +  allocation</a:t>
              </a:r>
            </a:p>
          </p:txBody>
        </p:sp>
      </p:grpSp>
      <p:grpSp>
        <p:nvGrpSpPr>
          <p:cNvPr id="78" name="CONTRACT: composed storage exports StorageOrgan"/>
          <p:cNvGrpSpPr/>
          <p:nvPr/>
        </p:nvGrpSpPr>
        <p:grpSpPr>
          <a:xfrm>
            <a:off x="5879592" y="3584448"/>
            <a:ext cx="2075688" cy="301752"/>
            <a:chOff x="5879592" y="3584448"/>
            <a:chExt cx="2075688" cy="301752"/>
          </a:xfrm>
        </p:grpSpPr>
        <p:sp>
          <p:nvSpPr>
            <p:cNvPr id="76" name="Rounded Rectangle 75"/>
            <p:cNvSpPr/>
            <p:nvPr/>
          </p:nvSpPr>
          <p:spPr>
            <a:xfrm>
              <a:off x="5879592" y="3584448"/>
              <a:ext cx="2075688" cy="301752"/>
            </a:xfrm>
            <a:prstGeom prst="roundRect">
              <a:avLst>
                <a:gd name="adj" fmla="val 6000"/>
              </a:avLst>
            </a:prstGeom>
            <a:solidFill>
              <a:srgbClr val="FFFFFF"/>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902452" y="3589020"/>
              <a:ext cx="2029968"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100" b="1">
                  <a:solidFill>
                    <a:srgbClr val="041447"/>
                  </a:solidFill>
                  <a:latin typeface="Noto Sans"/>
                </a:rPr>
                <a:t>StorageOrgan interface</a:t>
              </a:r>
            </a:p>
          </p:txBody>
        </p:sp>
      </p:grpSp>
      <p:sp>
        <p:nvSpPr>
          <p:cNvPr id="79" name="Rectangle 78"/>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Node type + memory layout + allocator form a working storage organ.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75"/>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7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Wire organs into a complete algorithm</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§3.3.1, usage graph; §4.1; Appendix D, T4  |  Framework composition, not original ART</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6</a:t>
            </a:r>
          </a:p>
        </p:txBody>
      </p:sp>
      <p:sp>
        <p:nvSpPr>
          <p:cNvPr id="18" name="TextBox 17"/>
          <p:cNvSpPr txBox="1"/>
          <p:nvPr/>
        </p:nvSpPr>
        <p:spPr>
          <a:xfrm>
            <a:off x="438912" y="1024128"/>
            <a:ext cx="8211312"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00" b="1">
                <a:solidFill>
                  <a:srgbClr val="041447"/>
                </a:solidFill>
                <a:latin typeface="Noto Sans"/>
              </a:rPr>
              <a:t>THE SAME STORAGE ORGAN — NOW INSIDE THE ALGORITHM</a:t>
            </a:r>
          </a:p>
        </p:txBody>
      </p:sp>
      <p:sp>
        <p:nvSpPr>
          <p:cNvPr id="19" name="Rounded Rectangle 18"/>
          <p:cNvSpPr/>
          <p:nvPr/>
        </p:nvSpPr>
        <p:spPr>
          <a:xfrm>
            <a:off x="420624" y="2231136"/>
            <a:ext cx="1353312" cy="512064"/>
          </a:xfrm>
          <a:prstGeom prst="roundRect">
            <a:avLst>
              <a:gd name="adj" fmla="val 6000"/>
            </a:avLst>
          </a:prstGeom>
          <a:solidFill>
            <a:srgbClr val="FFFFFF"/>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3484" y="2235708"/>
            <a:ext cx="1307592" cy="502920"/>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041447"/>
                </a:solidFill>
                <a:latin typeface="Noto Sans"/>
              </a:rPr>
              <a:t>find("cat")</a:t>
            </a:r>
          </a:p>
        </p:txBody>
      </p:sp>
      <p:sp>
        <p:nvSpPr>
          <p:cNvPr id="21" name="Rounded Rectangle 20"/>
          <p:cNvSpPr/>
          <p:nvPr/>
        </p:nvSpPr>
        <p:spPr>
          <a:xfrm>
            <a:off x="7882127" y="2231136"/>
            <a:ext cx="896112" cy="512064"/>
          </a:xfrm>
          <a:prstGeom prst="roundRect">
            <a:avLst>
              <a:gd name="adj" fmla="val 6000"/>
            </a:avLst>
          </a:prstGeom>
          <a:solidFill>
            <a:srgbClr val="EFF7F2"/>
          </a:solidFill>
          <a:ln w="1524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04988" y="2235708"/>
            <a:ext cx="850392" cy="502920"/>
          </a:xfrm>
          <a:prstGeom prst="rect">
            <a:avLst/>
          </a:prstGeom>
          <a:noFill/>
        </p:spPr>
        <p:txBody>
          <a:bodyPr wrap="square" lIns="22860" tIns="0" rIns="22860" bIns="0" anchor="ctr">
            <a:noAutofit/>
          </a:bodyPr>
          <a:lstStyle/>
          <a:p>
            <a:pPr algn="ctr">
              <a:lnSpc>
                <a:spcPct val="108000"/>
              </a:lnSpc>
              <a:spcBef>
                <a:spcPts val="0"/>
              </a:spcBef>
              <a:spcAft>
                <a:spcPts val="0"/>
              </a:spcAft>
            </a:pPr>
            <a:r>
              <a:rPr sz="1900" b="1">
                <a:solidFill>
                  <a:srgbClr val="2F7458"/>
                </a:solidFill>
                <a:latin typeface="Noto Sans"/>
              </a:rPr>
              <a:t>42</a:t>
            </a:r>
          </a:p>
        </p:txBody>
      </p:sp>
      <p:sp>
        <p:nvSpPr>
          <p:cNvPr id="23" name="Rounded Rectangle 22"/>
          <p:cNvSpPr/>
          <p:nvPr/>
        </p:nvSpPr>
        <p:spPr>
          <a:xfrm>
            <a:off x="1984248" y="1463040"/>
            <a:ext cx="5577840" cy="2441448"/>
          </a:xfrm>
          <a:prstGeom prst="roundRect">
            <a:avLst>
              <a:gd name="adj" fmla="val 6000"/>
            </a:avLst>
          </a:prstGeom>
          <a:solidFill>
            <a:srgbClr val="F8FAFC"/>
          </a:solidFill>
          <a:ln w="1905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48840" y="1572768"/>
            <a:ext cx="5202936" cy="274320"/>
          </a:xfrm>
          <a:prstGeom prst="rect">
            <a:avLst/>
          </a:prstGeom>
          <a:noFill/>
        </p:spPr>
        <p:txBody>
          <a:bodyPr wrap="square" lIns="22860" tIns="0" rIns="22860" bIns="0" anchor="ctr">
            <a:noAutofit/>
          </a:bodyPr>
          <a:lstStyle/>
          <a:p>
            <a:pPr algn="ctr">
              <a:lnSpc>
                <a:spcPct val="108000"/>
              </a:lnSpc>
              <a:spcBef>
                <a:spcPts val="0"/>
              </a:spcBef>
              <a:spcAft>
                <a:spcPts val="0"/>
              </a:spcAft>
            </a:pPr>
            <a:r>
              <a:rPr sz="1220" b="1">
                <a:solidFill>
                  <a:srgbClr val="041447"/>
                </a:solidFill>
                <a:latin typeface="Noto Sans"/>
              </a:rPr>
              <a:t>SearchAlgorithm anatomy  |  fixed external Map contract</a:t>
            </a:r>
          </a:p>
        </p:txBody>
      </p:sp>
      <p:grpSp>
        <p:nvGrpSpPr>
          <p:cNvPr id="42" name="BODY: search, composed storage and value representation"/>
          <p:cNvGrpSpPr/>
          <p:nvPr/>
        </p:nvGrpSpPr>
        <p:grpSpPr>
          <a:xfrm>
            <a:off x="2249424" y="1956816"/>
            <a:ext cx="5047488" cy="1728216"/>
            <a:chOff x="2249424" y="1956816"/>
            <a:chExt cx="5047488" cy="1728216"/>
          </a:xfrm>
        </p:grpSpPr>
        <p:sp>
          <p:nvSpPr>
            <p:cNvPr id="25" name="Rounded Rectangle 24"/>
            <p:cNvSpPr/>
            <p:nvPr/>
          </p:nvSpPr>
          <p:spPr>
            <a:xfrm>
              <a:off x="2249424" y="2039112"/>
              <a:ext cx="1216152" cy="1088136"/>
            </a:xfrm>
            <a:prstGeom prst="roundRect">
              <a:avLst>
                <a:gd name="adj" fmla="val 6000"/>
              </a:avLst>
            </a:prstGeom>
            <a:solidFill>
              <a:srgbClr val="F0EDF7"/>
            </a:solidFill>
            <a:ln w="1143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304288" y="2121408"/>
              <a:ext cx="1106424"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6A57A1"/>
                  </a:solidFill>
                  <a:latin typeface="Noto Sans"/>
                </a:rPr>
                <a:t>Search</a:t>
              </a:r>
            </a:p>
            <a:p>
              <a:pPr algn="ctr">
                <a:lnSpc>
                  <a:spcPct val="108000"/>
                </a:lnSpc>
                <a:spcBef>
                  <a:spcPts val="0"/>
                </a:spcBef>
                <a:spcAft>
                  <a:spcPts val="0"/>
                </a:spcAft>
              </a:pPr>
              <a:r>
                <a:rPr sz="1300" b="1">
                  <a:solidFill>
                    <a:srgbClr val="6A57A1"/>
                  </a:solidFill>
                  <a:latin typeface="Noto Sans"/>
                </a:rPr>
                <a:t>T0</a:t>
              </a:r>
            </a:p>
          </p:txBody>
        </p:sp>
        <p:sp>
          <p:nvSpPr>
            <p:cNvPr id="27" name="TextBox 26"/>
            <p:cNvSpPr txBox="1"/>
            <p:nvPr/>
          </p:nvSpPr>
          <p:spPr>
            <a:xfrm>
              <a:off x="2322576" y="2651760"/>
              <a:ext cx="1069848"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150" b="0">
                  <a:solidFill>
                    <a:srgbClr val="6A57A1"/>
                  </a:solidFill>
                  <a:latin typeface="Noto Sans"/>
                </a:rPr>
                <a:t>ca → t</a:t>
              </a:r>
            </a:p>
          </p:txBody>
        </p:sp>
        <p:sp>
          <p:nvSpPr>
            <p:cNvPr id="28" name="Rounded Rectangle 27"/>
            <p:cNvSpPr/>
            <p:nvPr/>
          </p:nvSpPr>
          <p:spPr>
            <a:xfrm>
              <a:off x="3785615" y="1956816"/>
              <a:ext cx="2276856" cy="1298448"/>
            </a:xfrm>
            <a:prstGeom prst="roundRect">
              <a:avLst>
                <a:gd name="adj" fmla="val 6000"/>
              </a:avLst>
            </a:prstGeom>
            <a:solidFill>
              <a:srgbClr val="F1F5F8"/>
            </a:solidFill>
            <a:ln w="15875">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67912" y="2029968"/>
              <a:ext cx="2112264" cy="219456"/>
            </a:xfrm>
            <a:prstGeom prst="rect">
              <a:avLst/>
            </a:prstGeom>
            <a:noFill/>
          </p:spPr>
          <p:txBody>
            <a:bodyPr wrap="square" lIns="22860" tIns="0" rIns="22860" bIns="0" anchor="ctr">
              <a:noAutofit/>
            </a:bodyPr>
            <a:lstStyle/>
            <a:p>
              <a:pPr algn="ctr">
                <a:lnSpc>
                  <a:spcPct val="108000"/>
                </a:lnSpc>
                <a:spcBef>
                  <a:spcPts val="0"/>
                </a:spcBef>
                <a:spcAft>
                  <a:spcPts val="0"/>
                </a:spcAft>
              </a:pPr>
              <a:r>
                <a:rPr sz="1400" b="1">
                  <a:solidFill>
                    <a:srgbClr val="041447"/>
                  </a:solidFill>
                  <a:latin typeface="Noto Sans"/>
                </a:rPr>
                <a:t>Storage organ</a:t>
              </a:r>
            </a:p>
          </p:txBody>
        </p:sp>
        <p:sp>
          <p:nvSpPr>
            <p:cNvPr id="30" name="Freeform 29"/>
            <p:cNvSpPr/>
            <p:nvPr/>
          </p:nvSpPr>
          <p:spPr>
            <a:xfrm>
              <a:off x="3941063" y="2350008"/>
              <a:ext cx="715975" cy="630936"/>
            </a:xfrm>
            <a:custGeom>
              <a:avLst/>
              <a:gdLst/>
              <a:ahLst/>
              <a:cxnLst/>
              <a:rect l="l" t="t" r="r" b="b"/>
              <a:pathLst>
                <a:path w="783" h="690">
                  <a:moveTo>
                    <a:pt x="0" y="0"/>
                  </a:moveTo>
                  <a:lnTo>
                    <a:pt x="693" y="0"/>
                  </a:lnTo>
                  <a:lnTo>
                    <a:pt x="693" y="290"/>
                  </a:lnTo>
                  <a:lnTo>
                    <a:pt x="713" y="301"/>
                  </a:lnTo>
                  <a:lnTo>
                    <a:pt x="732" y="311"/>
                  </a:lnTo>
                  <a:lnTo>
                    <a:pt x="749" y="322"/>
                  </a:lnTo>
                  <a:lnTo>
                    <a:pt x="763" y="333"/>
                  </a:lnTo>
                  <a:lnTo>
                    <a:pt x="774" y="344"/>
                  </a:lnTo>
                  <a:lnTo>
                    <a:pt x="781" y="355"/>
                  </a:lnTo>
                  <a:lnTo>
                    <a:pt x="783" y="366"/>
                  </a:lnTo>
                  <a:lnTo>
                    <a:pt x="781" y="377"/>
                  </a:lnTo>
                  <a:lnTo>
                    <a:pt x="774" y="387"/>
                  </a:lnTo>
                  <a:lnTo>
                    <a:pt x="763" y="398"/>
                  </a:lnTo>
                  <a:lnTo>
                    <a:pt x="749" y="409"/>
                  </a:lnTo>
                  <a:lnTo>
                    <a:pt x="732" y="420"/>
                  </a:lnTo>
                  <a:lnTo>
                    <a:pt x="713" y="431"/>
                  </a:lnTo>
                  <a:lnTo>
                    <a:pt x="693" y="442"/>
                  </a:lnTo>
                  <a:lnTo>
                    <a:pt x="693" y="690"/>
                  </a:lnTo>
                  <a:lnTo>
                    <a:pt x="0" y="690"/>
                  </a:lnTo>
                  <a:lnTo>
                    <a:pt x="0" y="442"/>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023359" y="2391156"/>
              <a:ext cx="505968" cy="164043"/>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T4</a:t>
              </a:r>
            </a:p>
          </p:txBody>
        </p:sp>
        <p:sp>
          <p:nvSpPr>
            <p:cNvPr id="32" name="TextBox 31"/>
            <p:cNvSpPr txBox="1"/>
            <p:nvPr/>
          </p:nvSpPr>
          <p:spPr>
            <a:xfrm>
              <a:off x="3982211" y="2564526"/>
              <a:ext cx="565404" cy="277611"/>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Node4</a:t>
              </a:r>
            </a:p>
          </p:txBody>
        </p:sp>
        <p:sp>
          <p:nvSpPr>
            <p:cNvPr id="33" name="Freeform 32"/>
            <p:cNvSpPr/>
            <p:nvPr/>
          </p:nvSpPr>
          <p:spPr>
            <a:xfrm>
              <a:off x="4575048" y="2350008"/>
              <a:ext cx="715975" cy="630936"/>
            </a:xfrm>
            <a:custGeom>
              <a:avLst/>
              <a:gdLst/>
              <a:ahLst/>
              <a:cxnLst/>
              <a:rect l="l" t="t" r="r" b="b"/>
              <a:pathLst>
                <a:path w="783" h="690">
                  <a:moveTo>
                    <a:pt x="0" y="0"/>
                  </a:moveTo>
                  <a:lnTo>
                    <a:pt x="693" y="0"/>
                  </a:lnTo>
                  <a:lnTo>
                    <a:pt x="693" y="290"/>
                  </a:lnTo>
                  <a:lnTo>
                    <a:pt x="713" y="301"/>
                  </a:lnTo>
                  <a:lnTo>
                    <a:pt x="732" y="311"/>
                  </a:lnTo>
                  <a:lnTo>
                    <a:pt x="749" y="322"/>
                  </a:lnTo>
                  <a:lnTo>
                    <a:pt x="763" y="333"/>
                  </a:lnTo>
                  <a:lnTo>
                    <a:pt x="774" y="344"/>
                  </a:lnTo>
                  <a:lnTo>
                    <a:pt x="781" y="355"/>
                  </a:lnTo>
                  <a:lnTo>
                    <a:pt x="783" y="366"/>
                  </a:lnTo>
                  <a:lnTo>
                    <a:pt x="781" y="377"/>
                  </a:lnTo>
                  <a:lnTo>
                    <a:pt x="774" y="387"/>
                  </a:lnTo>
                  <a:lnTo>
                    <a:pt x="763" y="398"/>
                  </a:lnTo>
                  <a:lnTo>
                    <a:pt x="749" y="409"/>
                  </a:lnTo>
                  <a:lnTo>
                    <a:pt x="732" y="420"/>
                  </a:lnTo>
                  <a:lnTo>
                    <a:pt x="713" y="431"/>
                  </a:lnTo>
                  <a:lnTo>
                    <a:pt x="693" y="442"/>
                  </a:lnTo>
                  <a:lnTo>
                    <a:pt x="693" y="690"/>
                  </a:lnTo>
                  <a:lnTo>
                    <a:pt x="0" y="690"/>
                  </a:lnTo>
                  <a:lnTo>
                    <a:pt x="0" y="442"/>
                  </a:lnTo>
                  <a:lnTo>
                    <a:pt x="20" y="431"/>
                  </a:lnTo>
                  <a:lnTo>
                    <a:pt x="39" y="420"/>
                  </a:lnTo>
                  <a:lnTo>
                    <a:pt x="56" y="409"/>
                  </a:lnTo>
                  <a:lnTo>
                    <a:pt x="70" y="398"/>
                  </a:lnTo>
                  <a:lnTo>
                    <a:pt x="81" y="387"/>
                  </a:lnTo>
                  <a:lnTo>
                    <a:pt x="87" y="377"/>
                  </a:lnTo>
                  <a:lnTo>
                    <a:pt x="90" y="366"/>
                  </a:lnTo>
                  <a:lnTo>
                    <a:pt x="87" y="355"/>
                  </a:lnTo>
                  <a:lnTo>
                    <a:pt x="81" y="344"/>
                  </a:lnTo>
                  <a:lnTo>
                    <a:pt x="70" y="333"/>
                  </a:lnTo>
                  <a:lnTo>
                    <a:pt x="56" y="322"/>
                  </a:lnTo>
                  <a:lnTo>
                    <a:pt x="39" y="311"/>
                  </a:lnTo>
                  <a:lnTo>
                    <a:pt x="20" y="301"/>
                  </a:lnTo>
                  <a:lnTo>
                    <a:pt x="0" y="290"/>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57344" y="2391156"/>
              <a:ext cx="505968" cy="164043"/>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T5</a:t>
              </a:r>
            </a:p>
          </p:txBody>
        </p:sp>
        <p:sp>
          <p:nvSpPr>
            <p:cNvPr id="35" name="TextBox 34"/>
            <p:cNvSpPr txBox="1"/>
            <p:nvPr/>
          </p:nvSpPr>
          <p:spPr>
            <a:xfrm>
              <a:off x="4616196" y="2564526"/>
              <a:ext cx="565404" cy="277611"/>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Align</a:t>
              </a:r>
            </a:p>
          </p:txBody>
        </p:sp>
        <p:sp>
          <p:nvSpPr>
            <p:cNvPr id="36" name="Freeform 35"/>
            <p:cNvSpPr/>
            <p:nvPr/>
          </p:nvSpPr>
          <p:spPr>
            <a:xfrm>
              <a:off x="5209032" y="2350008"/>
              <a:ext cx="633679" cy="630936"/>
            </a:xfrm>
            <a:custGeom>
              <a:avLst/>
              <a:gdLst/>
              <a:ahLst/>
              <a:cxnLst/>
              <a:rect l="l" t="t" r="r" b="b"/>
              <a:pathLst>
                <a:path w="693" h="690">
                  <a:moveTo>
                    <a:pt x="0" y="0"/>
                  </a:moveTo>
                  <a:lnTo>
                    <a:pt x="693" y="0"/>
                  </a:lnTo>
                  <a:lnTo>
                    <a:pt x="693" y="290"/>
                  </a:lnTo>
                  <a:lnTo>
                    <a:pt x="693" y="690"/>
                  </a:lnTo>
                  <a:lnTo>
                    <a:pt x="0" y="690"/>
                  </a:lnTo>
                  <a:lnTo>
                    <a:pt x="0" y="442"/>
                  </a:lnTo>
                  <a:lnTo>
                    <a:pt x="20" y="431"/>
                  </a:lnTo>
                  <a:lnTo>
                    <a:pt x="39" y="420"/>
                  </a:lnTo>
                  <a:lnTo>
                    <a:pt x="56" y="409"/>
                  </a:lnTo>
                  <a:lnTo>
                    <a:pt x="70" y="398"/>
                  </a:lnTo>
                  <a:lnTo>
                    <a:pt x="81" y="387"/>
                  </a:lnTo>
                  <a:lnTo>
                    <a:pt x="87" y="377"/>
                  </a:lnTo>
                  <a:lnTo>
                    <a:pt x="90" y="366"/>
                  </a:lnTo>
                  <a:lnTo>
                    <a:pt x="87" y="355"/>
                  </a:lnTo>
                  <a:lnTo>
                    <a:pt x="81" y="344"/>
                  </a:lnTo>
                  <a:lnTo>
                    <a:pt x="70" y="333"/>
                  </a:lnTo>
                  <a:lnTo>
                    <a:pt x="56" y="322"/>
                  </a:lnTo>
                  <a:lnTo>
                    <a:pt x="39" y="311"/>
                  </a:lnTo>
                  <a:lnTo>
                    <a:pt x="20" y="301"/>
                  </a:lnTo>
                  <a:lnTo>
                    <a:pt x="0" y="290"/>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91328" y="2391156"/>
              <a:ext cx="505968" cy="164043"/>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T6</a:t>
              </a:r>
            </a:p>
          </p:txBody>
        </p:sp>
        <p:sp>
          <p:nvSpPr>
            <p:cNvPr id="38" name="TextBox 37"/>
            <p:cNvSpPr txBox="1"/>
            <p:nvPr/>
          </p:nvSpPr>
          <p:spPr>
            <a:xfrm>
              <a:off x="5250180" y="2564526"/>
              <a:ext cx="565404" cy="277611"/>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Alloc.</a:t>
              </a:r>
            </a:p>
          </p:txBody>
        </p:sp>
        <p:sp>
          <p:nvSpPr>
            <p:cNvPr id="39" name="Rounded Rectangle 38"/>
            <p:cNvSpPr/>
            <p:nvPr/>
          </p:nvSpPr>
          <p:spPr>
            <a:xfrm>
              <a:off x="6382512" y="2066543"/>
              <a:ext cx="914400" cy="1060704"/>
            </a:xfrm>
            <a:prstGeom prst="roundRect">
              <a:avLst>
                <a:gd name="adj" fmla="val 6000"/>
              </a:avLst>
            </a:prstGeom>
            <a:solidFill>
              <a:srgbClr val="EFF7F2"/>
            </a:solidFill>
            <a:ln w="1143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19088" y="2185416"/>
              <a:ext cx="841248" cy="585216"/>
            </a:xfrm>
            <a:prstGeom prst="rect">
              <a:avLst/>
            </a:prstGeom>
            <a:noFill/>
          </p:spPr>
          <p:txBody>
            <a:bodyPr wrap="square" lIns="22860" tIns="0" rIns="22860" bIns="0" anchor="ctr">
              <a:noAutofit/>
            </a:bodyPr>
            <a:lstStyle/>
            <a:p>
              <a:pPr algn="ctr">
                <a:lnSpc>
                  <a:spcPct val="108000"/>
                </a:lnSpc>
                <a:spcBef>
                  <a:spcPts val="0"/>
                </a:spcBef>
                <a:spcAft>
                  <a:spcPts val="0"/>
                </a:spcAft>
              </a:pPr>
              <a:r>
                <a:rPr sz="1130" b="1">
                  <a:solidFill>
                    <a:srgbClr val="2F7458"/>
                  </a:solidFill>
                  <a:latin typeface="Noto Sans"/>
                </a:rPr>
                <a:t>Value</a:t>
              </a:r>
            </a:p>
            <a:p>
              <a:pPr algn="ctr">
                <a:lnSpc>
                  <a:spcPct val="108000"/>
                </a:lnSpc>
                <a:spcBef>
                  <a:spcPts val="0"/>
                </a:spcBef>
                <a:spcAft>
                  <a:spcPts val="0"/>
                </a:spcAft>
              </a:pPr>
              <a:r>
                <a:rPr sz="1130" b="1">
                  <a:solidFill>
                    <a:srgbClr val="2F7458"/>
                  </a:solidFill>
                  <a:latin typeface="Noto Sans"/>
                </a:rPr>
                <a:t>handle</a:t>
              </a:r>
            </a:p>
            <a:p>
              <a:pPr algn="ctr">
                <a:lnSpc>
                  <a:spcPct val="108000"/>
                </a:lnSpc>
                <a:spcBef>
                  <a:spcPts val="0"/>
                </a:spcBef>
                <a:spcAft>
                  <a:spcPts val="0"/>
                </a:spcAft>
              </a:pPr>
              <a:r>
                <a:rPr sz="1130" b="1">
                  <a:solidFill>
                    <a:srgbClr val="2F7458"/>
                  </a:solidFill>
                  <a:latin typeface="Noto Sans"/>
                </a:rPr>
                <a:t>T10</a:t>
              </a:r>
            </a:p>
          </p:txBody>
        </p:sp>
        <p:sp>
          <p:nvSpPr>
            <p:cNvPr id="41" name="TextBox 40"/>
            <p:cNvSpPr txBox="1"/>
            <p:nvPr/>
          </p:nvSpPr>
          <p:spPr>
            <a:xfrm>
              <a:off x="2276856" y="3456432"/>
              <a:ext cx="4983480" cy="228600"/>
            </a:xfrm>
            <a:prstGeom prst="rect">
              <a:avLst/>
            </a:prstGeom>
            <a:noFill/>
          </p:spPr>
          <p:txBody>
            <a:bodyPr wrap="square" lIns="22860" tIns="0" rIns="22860" bIns="0" anchor="ctr">
              <a:noAutofit/>
            </a:bodyPr>
            <a:lstStyle/>
            <a:p>
              <a:pPr algn="ctr">
                <a:lnSpc>
                  <a:spcPct val="108000"/>
                </a:lnSpc>
                <a:spcBef>
                  <a:spcPts val="0"/>
                </a:spcBef>
                <a:spcAft>
                  <a:spcPts val="0"/>
                </a:spcAft>
              </a:pPr>
              <a:r>
                <a:rPr sz="1100" b="0">
                  <a:solidFill>
                    <a:srgbClr val="657487"/>
                  </a:solidFill>
                  <a:latin typeface="Noto Sans"/>
                </a:rPr>
                <a:t>Remaining organ slots are bound, not omitted.</a:t>
              </a:r>
            </a:p>
          </p:txBody>
        </p:sp>
      </p:grpSp>
      <p:grpSp>
        <p:nvGrpSpPr>
          <p:cNvPr id="49" name="WIRING: lookup must use the chosen storage organ"/>
          <p:cNvGrpSpPr/>
          <p:nvPr/>
        </p:nvGrpSpPr>
        <p:grpSpPr>
          <a:xfrm>
            <a:off x="1792224" y="2423160"/>
            <a:ext cx="6062472" cy="777240"/>
            <a:chOff x="1792224" y="2423160"/>
            <a:chExt cx="6062472" cy="777240"/>
          </a:xfrm>
        </p:grpSpPr>
        <p:cxnSp>
          <p:nvCxnSpPr>
            <p:cNvPr id="43" name="Connector 42"/>
            <p:cNvCxnSpPr/>
            <p:nvPr/>
          </p:nvCxnSpPr>
          <p:spPr>
            <a:xfrm>
              <a:off x="1792224" y="2487168"/>
              <a:ext cx="429768" cy="0"/>
            </a:xfrm>
            <a:prstGeom prst="line">
              <a:avLst/>
            </a:prstGeom>
            <a:ln w="2286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483864" y="2487168"/>
              <a:ext cx="283464" cy="0"/>
            </a:xfrm>
            <a:prstGeom prst="line">
              <a:avLst/>
            </a:prstGeom>
            <a:ln w="22860">
              <a:solidFill>
                <a:srgbClr val="6A57A1"/>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3749039" y="2423160"/>
              <a:ext cx="73152" cy="128016"/>
            </a:xfrm>
            <a:prstGeom prst="rect">
              <a:avLst/>
            </a:prstGeom>
            <a:solidFill>
              <a:srgbClr val="FFFFFF"/>
            </a:solidFill>
            <a:ln w="1397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877056" y="3008376"/>
              <a:ext cx="2057400" cy="192024"/>
            </a:xfrm>
            <a:prstGeom prst="rect">
              <a:avLst/>
            </a:prstGeom>
            <a:noFill/>
          </p:spPr>
          <p:txBody>
            <a:bodyPr wrap="square" lIns="22860" tIns="0" rIns="22860" bIns="0" anchor="ctr">
              <a:noAutofit/>
            </a:bodyPr>
            <a:lstStyle/>
            <a:p>
              <a:pPr algn="ctr">
                <a:lnSpc>
                  <a:spcPct val="108000"/>
                </a:lnSpc>
                <a:spcBef>
                  <a:spcPts val="0"/>
                </a:spcBef>
                <a:spcAft>
                  <a:spcPts val="0"/>
                </a:spcAft>
              </a:pPr>
              <a:r>
                <a:rPr sz="969" b="0">
                  <a:solidFill>
                    <a:srgbClr val="041447"/>
                  </a:solidFill>
                  <a:latin typeface="Noto Sans"/>
                </a:rPr>
                <a:t>StorageOrgan interface</a:t>
              </a:r>
            </a:p>
          </p:txBody>
        </p:sp>
        <p:cxnSp>
          <p:nvCxnSpPr>
            <p:cNvPr id="47" name="Connector 46"/>
            <p:cNvCxnSpPr/>
            <p:nvPr/>
          </p:nvCxnSpPr>
          <p:spPr>
            <a:xfrm>
              <a:off x="6080760" y="2487168"/>
              <a:ext cx="274320" cy="0"/>
            </a:xfrm>
            <a:prstGeom prst="line">
              <a:avLst/>
            </a:prstGeom>
            <a:ln w="22860">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315200" y="2487168"/>
              <a:ext cx="539496" cy="0"/>
            </a:xfrm>
            <a:prstGeom prst="line">
              <a:avLst/>
            </a:prstGeom>
            <a:ln w="22860">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50" name="Rectangle 49"/>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Anatomy is the assembled body AND its interface wiring—not a list of options.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42"/>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4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Three design spaces, two binding times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§3.4.1: organ, system and measurement decisions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7</a:t>
            </a:r>
          </a:p>
        </p:txBody>
      </p:sp>
      <p:sp>
        <p:nvSpPr>
          <p:cNvPr id="18" name="TextBox 17"/>
          <p:cNvSpPr txBox="1"/>
          <p:nvPr/>
        </p:nvSpPr>
        <p:spPr>
          <a:xfrm>
            <a:off x="2103120" y="1060704"/>
            <a:ext cx="3017520" cy="274320"/>
          </a:xfrm>
          <a:prstGeom prst="rect">
            <a:avLst/>
          </a:prstGeom>
          <a:noFill/>
        </p:spPr>
        <p:txBody>
          <a:bodyPr wrap="square" lIns="9144" tIns="0" rIns="9144" bIns="0" anchor="ctr">
            <a:spAutoFit/>
          </a:bodyPr>
          <a:lstStyle/>
          <a:p>
            <a:pPr algn="l">
              <a:spcBef>
                <a:spcPts val="0"/>
              </a:spcBef>
              <a:spcAft>
                <a:spcPts val="0"/>
              </a:spcAft>
              <a:defRPr sz="1200" b="1">
                <a:solidFill>
                  <a:srgbClr val="041447"/>
                </a:solidFill>
                <a:latin typeface="Noto Sans"/>
              </a:defRPr>
            </a:pPr>
            <a:r>
              <a:t>MAIN CHOICES · COMPILE TIME</a:t>
            </a:r>
          </a:p>
        </p:txBody>
      </p:sp>
      <p:sp>
        <p:nvSpPr>
          <p:cNvPr id="19" name="TextBox 18"/>
          <p:cNvSpPr txBox="1"/>
          <p:nvPr/>
        </p:nvSpPr>
        <p:spPr>
          <a:xfrm>
            <a:off x="5550408" y="1060704"/>
            <a:ext cx="3017520" cy="274320"/>
          </a:xfrm>
          <a:prstGeom prst="rect">
            <a:avLst/>
          </a:prstGeom>
          <a:noFill/>
        </p:spPr>
        <p:txBody>
          <a:bodyPr wrap="square" lIns="9144" tIns="0" rIns="9144" bIns="0" anchor="ctr">
            <a:spAutoFit/>
          </a:bodyPr>
          <a:lstStyle/>
          <a:p>
            <a:pPr algn="l">
              <a:spcBef>
                <a:spcPts val="0"/>
              </a:spcBef>
              <a:spcAft>
                <a:spcPts val="0"/>
              </a:spcAft>
              <a:defRPr sz="1200" b="1">
                <a:solidFill>
                  <a:srgbClr val="041447"/>
                </a:solidFill>
                <a:latin typeface="Noto Sans"/>
              </a:defRPr>
            </a:pPr>
            <a:r>
              <a:t>SUB-AXES · RUNTIME</a:t>
            </a:r>
          </a:p>
        </p:txBody>
      </p:sp>
      <p:sp>
        <p:nvSpPr>
          <p:cNvPr id="20" name="Rectangle 19"/>
          <p:cNvSpPr/>
          <p:nvPr/>
        </p:nvSpPr>
        <p:spPr>
          <a:xfrm>
            <a:off x="411480" y="1664208"/>
            <a:ext cx="136245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8056" y="1677924"/>
            <a:ext cx="1289304" cy="228600"/>
          </a:xfrm>
          <a:prstGeom prst="rect">
            <a:avLst/>
          </a:prstGeom>
          <a:noFill/>
        </p:spPr>
        <p:txBody>
          <a:bodyPr wrap="square" lIns="9144" tIns="0" rIns="9144" bIns="0" anchor="ctr">
            <a:spAutoFit/>
          </a:bodyPr>
          <a:lstStyle/>
          <a:p>
            <a:pPr algn="l">
              <a:spcBef>
                <a:spcPts val="0"/>
              </a:spcBef>
              <a:spcAft>
                <a:spcPts val="0"/>
              </a:spcAft>
              <a:defRPr sz="1400" b="1">
                <a:solidFill>
                  <a:srgbClr val="FFFFFF"/>
                </a:solidFill>
                <a:latin typeface="Noto Sans"/>
              </a:defRPr>
            </a:pPr>
            <a:r>
              <a:t>Organ</a:t>
            </a:r>
          </a:p>
        </p:txBody>
      </p:sp>
      <p:sp>
        <p:nvSpPr>
          <p:cNvPr id="22" name="Rectangle 21"/>
          <p:cNvSpPr/>
          <p:nvPr/>
        </p:nvSpPr>
        <p:spPr>
          <a:xfrm>
            <a:off x="1947672" y="1572768"/>
            <a:ext cx="309981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93976" y="1613916"/>
            <a:ext cx="2834640" cy="420624"/>
          </a:xfrm>
          <a:prstGeom prst="rect">
            <a:avLst/>
          </a:prstGeom>
          <a:noFill/>
        </p:spPr>
        <p:txBody>
          <a:bodyPr wrap="square" lIns="9144" tIns="0" rIns="9144" bIns="0" anchor="ctr">
            <a:spAutoFit/>
          </a:bodyPr>
          <a:lstStyle/>
          <a:p>
            <a:pPr algn="l">
              <a:spcBef>
                <a:spcPts val="0"/>
              </a:spcBef>
              <a:spcAft>
                <a:spcPts val="0"/>
              </a:spcAft>
              <a:defRPr sz="1400" b="0">
                <a:solidFill>
                  <a:srgbClr val="192B43"/>
                </a:solidFill>
                <a:latin typeface="Noto Sans"/>
              </a:defRPr>
            </a:pPr>
            <a:r>
              <a:t>node / layout strategy</a:t>
            </a:r>
          </a:p>
        </p:txBody>
      </p:sp>
      <p:cxnSp>
        <p:nvCxnSpPr>
          <p:cNvPr id="24" name="Connector 23"/>
          <p:cNvCxnSpPr/>
          <p:nvPr/>
        </p:nvCxnSpPr>
        <p:spPr>
          <a:xfrm>
            <a:off x="5111496" y="1828800"/>
            <a:ext cx="320040" cy="0"/>
          </a:xfrm>
          <a:prstGeom prst="line">
            <a:avLst/>
          </a:prstGeom>
          <a:ln w="22860">
            <a:solidFill>
              <a:srgbClr val="008A96"/>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495544" y="1572768"/>
            <a:ext cx="319125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32704" y="1613916"/>
            <a:ext cx="2926080" cy="420624"/>
          </a:xfrm>
          <a:prstGeom prst="rect">
            <a:avLst/>
          </a:prstGeom>
          <a:noFill/>
        </p:spPr>
        <p:txBody>
          <a:bodyPr wrap="square" lIns="9144" tIns="0" rIns="9144" bIns="0" anchor="ctr">
            <a:spAutoFit/>
          </a:bodyPr>
          <a:lstStyle/>
          <a:p>
            <a:pPr algn="l">
              <a:spcBef>
                <a:spcPts val="0"/>
              </a:spcBef>
              <a:spcAft>
                <a:spcPts val="0"/>
              </a:spcAft>
              <a:defRPr sz="1340" b="0">
                <a:solidFill>
                  <a:srgbClr val="192B43"/>
                </a:solidFill>
                <a:latin typeface="Noto Sans"/>
              </a:defRPr>
            </a:pPr>
            <a:r>
              <a:t>permitted distance or budget</a:t>
            </a:r>
          </a:p>
        </p:txBody>
      </p:sp>
      <p:sp>
        <p:nvSpPr>
          <p:cNvPr id="27" name="Rectangle 26"/>
          <p:cNvSpPr/>
          <p:nvPr/>
        </p:nvSpPr>
        <p:spPr>
          <a:xfrm>
            <a:off x="411480" y="2368296"/>
            <a:ext cx="1362456" cy="265176"/>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056" y="2382012"/>
            <a:ext cx="1289304" cy="228600"/>
          </a:xfrm>
          <a:prstGeom prst="rect">
            <a:avLst/>
          </a:prstGeom>
          <a:noFill/>
        </p:spPr>
        <p:txBody>
          <a:bodyPr wrap="square" lIns="9144" tIns="0" rIns="9144" bIns="0" anchor="ctr">
            <a:spAutoFit/>
          </a:bodyPr>
          <a:lstStyle/>
          <a:p>
            <a:pPr algn="l">
              <a:spcBef>
                <a:spcPts val="0"/>
              </a:spcBef>
              <a:spcAft>
                <a:spcPts val="0"/>
              </a:spcAft>
              <a:defRPr sz="1400" b="1">
                <a:solidFill>
                  <a:srgbClr val="FFFFFF"/>
                </a:solidFill>
                <a:latin typeface="Noto Sans"/>
              </a:defRPr>
            </a:pPr>
            <a:r>
              <a:t>System</a:t>
            </a:r>
          </a:p>
        </p:txBody>
      </p:sp>
      <p:sp>
        <p:nvSpPr>
          <p:cNvPr id="29" name="Rectangle 28"/>
          <p:cNvSpPr/>
          <p:nvPr/>
        </p:nvSpPr>
        <p:spPr>
          <a:xfrm>
            <a:off x="1947672" y="2276856"/>
            <a:ext cx="309981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93976" y="2318004"/>
            <a:ext cx="2834640" cy="420624"/>
          </a:xfrm>
          <a:prstGeom prst="rect">
            <a:avLst/>
          </a:prstGeom>
          <a:noFill/>
        </p:spPr>
        <p:txBody>
          <a:bodyPr wrap="square" lIns="9144" tIns="0" rIns="9144" bIns="0" anchor="ctr">
            <a:spAutoFit/>
          </a:bodyPr>
          <a:lstStyle/>
          <a:p>
            <a:pPr algn="l">
              <a:spcBef>
                <a:spcPts val="0"/>
              </a:spcBef>
              <a:spcAft>
                <a:spcPts val="0"/>
              </a:spcAft>
              <a:defRPr sz="1400" b="0">
                <a:solidFill>
                  <a:srgbClr val="192B43"/>
                </a:solidFill>
                <a:latin typeface="Noto Sans"/>
              </a:defRPr>
            </a:pPr>
            <a:r>
              <a:t>ISA · OS · toolchain</a:t>
            </a:r>
          </a:p>
        </p:txBody>
      </p:sp>
      <p:cxnSp>
        <p:nvCxnSpPr>
          <p:cNvPr id="31" name="Connector 30"/>
          <p:cNvCxnSpPr/>
          <p:nvPr/>
        </p:nvCxnSpPr>
        <p:spPr>
          <a:xfrm>
            <a:off x="5111496" y="2532888"/>
            <a:ext cx="320040" cy="0"/>
          </a:xfrm>
          <a:prstGeom prst="line">
            <a:avLst/>
          </a:prstGeom>
          <a:ln w="22860">
            <a:solidFill>
              <a:srgbClr val="3178B9"/>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495544" y="2276856"/>
            <a:ext cx="319125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32704" y="2318004"/>
            <a:ext cx="2926080" cy="420624"/>
          </a:xfrm>
          <a:prstGeom prst="rect">
            <a:avLst/>
          </a:prstGeom>
          <a:noFill/>
        </p:spPr>
        <p:txBody>
          <a:bodyPr wrap="square" lIns="9144" tIns="0" rIns="9144" bIns="0" anchor="ctr">
            <a:spAutoFit/>
          </a:bodyPr>
          <a:lstStyle/>
          <a:p>
            <a:pPr algn="l">
              <a:spcBef>
                <a:spcPts val="0"/>
              </a:spcBef>
              <a:spcAft>
                <a:spcPts val="0"/>
              </a:spcAft>
              <a:defRPr sz="1340" b="0">
                <a:solidFill>
                  <a:srgbClr val="192B43"/>
                </a:solidFill>
                <a:latin typeface="Noto Sans"/>
              </a:defRPr>
            </a:pPr>
            <a:r>
              <a:t>core / NUMA settings</a:t>
            </a:r>
          </a:p>
        </p:txBody>
      </p:sp>
      <p:sp>
        <p:nvSpPr>
          <p:cNvPr id="34" name="Rectangle 33"/>
          <p:cNvSpPr/>
          <p:nvPr/>
        </p:nvSpPr>
        <p:spPr>
          <a:xfrm>
            <a:off x="411480" y="3072384"/>
            <a:ext cx="1362456" cy="265176"/>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3086100"/>
            <a:ext cx="1289304" cy="228600"/>
          </a:xfrm>
          <a:prstGeom prst="rect">
            <a:avLst/>
          </a:prstGeom>
          <a:noFill/>
        </p:spPr>
        <p:txBody>
          <a:bodyPr wrap="square" lIns="9144" tIns="0" rIns="9144" bIns="0" anchor="ctr">
            <a:spAutoFit/>
          </a:bodyPr>
          <a:lstStyle/>
          <a:p>
            <a:pPr algn="l">
              <a:spcBef>
                <a:spcPts val="0"/>
              </a:spcBef>
              <a:spcAft>
                <a:spcPts val="0"/>
              </a:spcAft>
              <a:defRPr sz="1400" b="1">
                <a:solidFill>
                  <a:srgbClr val="FFFFFF"/>
                </a:solidFill>
                <a:latin typeface="Noto Sans"/>
              </a:defRPr>
            </a:pPr>
            <a:r>
              <a:t>Measurement</a:t>
            </a:r>
          </a:p>
        </p:txBody>
      </p:sp>
      <p:sp>
        <p:nvSpPr>
          <p:cNvPr id="36" name="Rectangle 35"/>
          <p:cNvSpPr/>
          <p:nvPr/>
        </p:nvSpPr>
        <p:spPr>
          <a:xfrm>
            <a:off x="1947672" y="2980944"/>
            <a:ext cx="309981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093976" y="3022091"/>
            <a:ext cx="2834640" cy="420624"/>
          </a:xfrm>
          <a:prstGeom prst="rect">
            <a:avLst/>
          </a:prstGeom>
          <a:noFill/>
        </p:spPr>
        <p:txBody>
          <a:bodyPr wrap="square" lIns="9144" tIns="0" rIns="9144" bIns="0" anchor="ctr">
            <a:spAutoFit/>
          </a:bodyPr>
          <a:lstStyle/>
          <a:p>
            <a:pPr algn="l">
              <a:spcBef>
                <a:spcPts val="0"/>
              </a:spcBef>
              <a:spcAft>
                <a:spcPts val="0"/>
              </a:spcAft>
              <a:defRPr sz="1400" b="0">
                <a:solidFill>
                  <a:srgbClr val="192B43"/>
                </a:solidFill>
                <a:latin typeface="Noto Sans"/>
              </a:defRPr>
            </a:pPr>
            <a:r>
              <a:t>instrumentation mode</a:t>
            </a:r>
          </a:p>
        </p:txBody>
      </p:sp>
      <p:cxnSp>
        <p:nvCxnSpPr>
          <p:cNvPr id="38" name="Connector 37"/>
          <p:cNvCxnSpPr/>
          <p:nvPr/>
        </p:nvCxnSpPr>
        <p:spPr>
          <a:xfrm>
            <a:off x="5111496" y="3236976"/>
            <a:ext cx="320040" cy="0"/>
          </a:xfrm>
          <a:prstGeom prst="line">
            <a:avLst/>
          </a:prstGeom>
          <a:ln w="22860">
            <a:solidFill>
              <a:srgbClr val="74589E"/>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495544" y="2980944"/>
            <a:ext cx="319125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632704" y="3022091"/>
            <a:ext cx="2926080" cy="420624"/>
          </a:xfrm>
          <a:prstGeom prst="rect">
            <a:avLst/>
          </a:prstGeom>
          <a:noFill/>
        </p:spPr>
        <p:txBody>
          <a:bodyPr wrap="square" lIns="9144" tIns="0" rIns="9144" bIns="0" anchor="ctr">
            <a:spAutoFit/>
          </a:bodyPr>
          <a:lstStyle/>
          <a:p>
            <a:pPr algn="l">
              <a:spcBef>
                <a:spcPts val="0"/>
              </a:spcBef>
              <a:spcAft>
                <a:spcPts val="0"/>
              </a:spcAft>
              <a:defRPr sz="1340" b="0">
                <a:solidFill>
                  <a:srgbClr val="192B43"/>
                </a:solidFill>
                <a:latin typeface="Noto Sans"/>
              </a:defRPr>
            </a:pPr>
            <a:r>
              <a:t>dataset · workload · repetitions</a:t>
            </a:r>
          </a:p>
        </p:txBody>
      </p:sp>
      <p:sp>
        <p:nvSpPr>
          <p:cNvPr id="41" name="Rectangle 40"/>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Compose at build time. Parameterize at runtime. Select from measurements.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The profile binds the pieces of the anatomy</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Repository art.profile.xml: selected fields  |  Assembly drawing: thesis §3.3.1 / §4.1</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8</a:t>
            </a:r>
          </a:p>
        </p:txBody>
      </p:sp>
      <p:sp>
        <p:nvSpPr>
          <p:cNvPr id="18" name="TextBox 17"/>
          <p:cNvSpPr txBox="1"/>
          <p:nvPr/>
        </p:nvSpPr>
        <p:spPr>
          <a:xfrm>
            <a:off x="420624" y="1005840"/>
            <a:ext cx="4846320"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060" b="1">
                <a:solidFill>
                  <a:srgbClr val="041447"/>
                </a:solidFill>
                <a:latin typeface="Noto Sans"/>
              </a:rPr>
              <a:t>PERSISTED PROFILE  ·  SELECTED-FIELD EXTRACT</a:t>
            </a:r>
          </a:p>
        </p:txBody>
      </p:sp>
      <p:sp>
        <p:nvSpPr>
          <p:cNvPr id="19" name="Rounded Rectangle 18"/>
          <p:cNvSpPr/>
          <p:nvPr/>
        </p:nvSpPr>
        <p:spPr>
          <a:xfrm>
            <a:off x="420624" y="1362456"/>
            <a:ext cx="4892040" cy="2496312"/>
          </a:xfrm>
          <a:prstGeom prst="roundRect">
            <a:avLst>
              <a:gd name="adj" fmla="val 6000"/>
            </a:avLst>
          </a:prstGeom>
          <a:solidFill>
            <a:srgbClr val="F5F7FA"/>
          </a:solidFill>
          <a:ln w="1143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6072" y="1517904"/>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&lt;comdare_algorithm_profile</a:t>
            </a:r>
          </a:p>
        </p:txBody>
      </p:sp>
      <p:sp>
        <p:nvSpPr>
          <p:cNvPr id="21" name="TextBox 20"/>
          <p:cNvSpPr txBox="1"/>
          <p:nvPr/>
        </p:nvSpPr>
        <p:spPr>
          <a:xfrm>
            <a:off x="576072" y="1747418"/>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    id="art" paper_ref="P01"&gt;</a:t>
            </a:r>
          </a:p>
        </p:txBody>
      </p:sp>
      <p:sp>
        <p:nvSpPr>
          <p:cNvPr id="22" name="TextBox 21"/>
          <p:cNvSpPr txBox="1"/>
          <p:nvPr/>
        </p:nvSpPr>
        <p:spPr>
          <a:xfrm>
            <a:off x="576072" y="1976932"/>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  &lt;axes&gt;</a:t>
            </a:r>
          </a:p>
        </p:txBody>
      </p:sp>
      <p:sp>
        <p:nvSpPr>
          <p:cNvPr id="23" name="TextBox 22"/>
          <p:cNvSpPr txBox="1"/>
          <p:nvPr/>
        </p:nvSpPr>
        <p:spPr>
          <a:xfrm>
            <a:off x="576072" y="2206447"/>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1">
                <a:solidFill>
                  <a:srgbClr val="3468AA"/>
                </a:solidFill>
                <a:latin typeface="DejaVu Sans Mono"/>
              </a:rPr>
              <a:t>    &lt;node&gt;SPARSE_NODE4_ART&lt;/node&gt;</a:t>
            </a:r>
          </a:p>
        </p:txBody>
      </p:sp>
      <p:sp>
        <p:nvSpPr>
          <p:cNvPr id="24" name="TextBox 23"/>
          <p:cNvSpPr txBox="1"/>
          <p:nvPr/>
        </p:nvSpPr>
        <p:spPr>
          <a:xfrm>
            <a:off x="576072" y="2435961"/>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1">
                <a:solidFill>
                  <a:srgbClr val="00878C"/>
                </a:solidFill>
                <a:latin typeface="DejaVu Sans Mono"/>
              </a:rPr>
              <a:t>    &lt;layout&gt;CACHE_LINE_ALIGNED&lt;/layout&gt;</a:t>
            </a:r>
          </a:p>
        </p:txBody>
      </p:sp>
      <p:sp>
        <p:nvSpPr>
          <p:cNvPr id="25" name="TextBox 24"/>
          <p:cNvSpPr txBox="1"/>
          <p:nvPr/>
        </p:nvSpPr>
        <p:spPr>
          <a:xfrm>
            <a:off x="576072" y="2665476"/>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1">
                <a:solidFill>
                  <a:srgbClr val="AD731A"/>
                </a:solidFill>
                <a:latin typeface="DejaVu Sans Mono"/>
              </a:rPr>
              <a:t>    &lt;allocator&gt;MIMALLOC&lt;/allocator&gt;</a:t>
            </a:r>
          </a:p>
        </p:txBody>
      </p:sp>
      <p:sp>
        <p:nvSpPr>
          <p:cNvPr id="26" name="TextBox 25"/>
          <p:cNvSpPr txBox="1"/>
          <p:nvPr/>
        </p:nvSpPr>
        <p:spPr>
          <a:xfrm>
            <a:off x="576072" y="2894990"/>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657487"/>
                </a:solidFill>
                <a:latin typeface="DejaVu Sans Mono"/>
              </a:rPr>
              <a:t>    &lt;!-- other fields omitted --&gt;</a:t>
            </a:r>
          </a:p>
        </p:txBody>
      </p:sp>
      <p:sp>
        <p:nvSpPr>
          <p:cNvPr id="27" name="TextBox 26"/>
          <p:cNvSpPr txBox="1"/>
          <p:nvPr/>
        </p:nvSpPr>
        <p:spPr>
          <a:xfrm>
            <a:off x="576072" y="3124504"/>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  &lt;/axes&gt;</a:t>
            </a:r>
          </a:p>
        </p:txBody>
      </p:sp>
      <p:sp>
        <p:nvSpPr>
          <p:cNvPr id="28" name="TextBox 27"/>
          <p:cNvSpPr txBox="1"/>
          <p:nvPr/>
        </p:nvSpPr>
        <p:spPr>
          <a:xfrm>
            <a:off x="576072" y="3354019"/>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&lt;/comdare_algorithm_profile&gt;</a:t>
            </a:r>
          </a:p>
        </p:txBody>
      </p:sp>
      <p:sp>
        <p:nvSpPr>
          <p:cNvPr id="29" name="TextBox 28"/>
          <p:cNvSpPr txBox="1"/>
          <p:nvPr/>
        </p:nvSpPr>
        <p:spPr>
          <a:xfrm>
            <a:off x="5650992" y="1005840"/>
            <a:ext cx="3072384"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060" b="1">
                <a:solidFill>
                  <a:srgbClr val="041447"/>
                </a:solidFill>
                <a:latin typeface="Noto Sans"/>
              </a:rPr>
              <a:t>COMPOSE → WIRE → COMPILE</a:t>
            </a:r>
          </a:p>
        </p:txBody>
      </p:sp>
      <p:grpSp>
        <p:nvGrpSpPr>
          <p:cNvPr id="42" name="BINDING: XML values instantiate the same storage organ"/>
          <p:cNvGrpSpPr/>
          <p:nvPr/>
        </p:nvGrpSpPr>
        <p:grpSpPr>
          <a:xfrm>
            <a:off x="5330952" y="1362456"/>
            <a:ext cx="3364992" cy="1097280"/>
            <a:chOff x="5330952" y="1362456"/>
            <a:chExt cx="3364992" cy="1097280"/>
          </a:xfrm>
        </p:grpSpPr>
        <p:sp>
          <p:nvSpPr>
            <p:cNvPr id="30" name="Rounded Rectangle 29"/>
            <p:cNvSpPr/>
            <p:nvPr/>
          </p:nvSpPr>
          <p:spPr>
            <a:xfrm>
              <a:off x="5650992" y="1362456"/>
              <a:ext cx="3044952" cy="1097280"/>
            </a:xfrm>
            <a:prstGeom prst="roundRect">
              <a:avLst>
                <a:gd name="adj" fmla="val 6000"/>
              </a:avLst>
            </a:prstGeom>
            <a:solidFill>
              <a:srgbClr val="F1F5F8"/>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760720" y="1444752"/>
              <a:ext cx="2816352" cy="237744"/>
            </a:xfrm>
            <a:prstGeom prst="rect">
              <a:avLst/>
            </a:prstGeom>
            <a:noFill/>
          </p:spPr>
          <p:txBody>
            <a:bodyPr wrap="square" lIns="22860" tIns="0" rIns="22860" bIns="0" anchor="ctr">
              <a:noAutofit/>
            </a:bodyPr>
            <a:lstStyle/>
            <a:p>
              <a:pPr algn="ctr">
                <a:lnSpc>
                  <a:spcPct val="108000"/>
                </a:lnSpc>
                <a:spcBef>
                  <a:spcPts val="0"/>
                </a:spcBef>
                <a:spcAft>
                  <a:spcPts val="0"/>
                </a:spcAft>
              </a:pPr>
              <a:r>
                <a:rPr sz="1340" b="1">
                  <a:solidFill>
                    <a:srgbClr val="041447"/>
                  </a:solidFill>
                  <a:latin typeface="Noto Sans"/>
                </a:rPr>
                <a:t>The same storage organ</a:t>
              </a:r>
            </a:p>
          </p:txBody>
        </p:sp>
        <p:sp>
          <p:nvSpPr>
            <p:cNvPr id="32" name="Freeform 31"/>
            <p:cNvSpPr/>
            <p:nvPr/>
          </p:nvSpPr>
          <p:spPr>
            <a:xfrm>
              <a:off x="5907024" y="1810512"/>
              <a:ext cx="899770" cy="475488"/>
            </a:xfrm>
            <a:custGeom>
              <a:avLst/>
              <a:gdLst/>
              <a:ahLst/>
              <a:cxnLst/>
              <a:rect l="l" t="t" r="r" b="b"/>
              <a:pathLst>
                <a:path w="984" h="520">
                  <a:moveTo>
                    <a:pt x="0" y="0"/>
                  </a:moveTo>
                  <a:lnTo>
                    <a:pt x="917" y="0"/>
                  </a:lnTo>
                  <a:lnTo>
                    <a:pt x="917" y="218"/>
                  </a:lnTo>
                  <a:lnTo>
                    <a:pt x="932" y="227"/>
                  </a:lnTo>
                  <a:lnTo>
                    <a:pt x="946" y="235"/>
                  </a:lnTo>
                  <a:lnTo>
                    <a:pt x="959" y="243"/>
                  </a:lnTo>
                  <a:lnTo>
                    <a:pt x="970" y="251"/>
                  </a:lnTo>
                  <a:lnTo>
                    <a:pt x="978" y="259"/>
                  </a:lnTo>
                  <a:lnTo>
                    <a:pt x="983" y="267"/>
                  </a:lnTo>
                  <a:lnTo>
                    <a:pt x="984" y="276"/>
                  </a:lnTo>
                  <a:lnTo>
                    <a:pt x="983" y="284"/>
                  </a:lnTo>
                  <a:lnTo>
                    <a:pt x="978" y="292"/>
                  </a:lnTo>
                  <a:lnTo>
                    <a:pt x="970" y="300"/>
                  </a:lnTo>
                  <a:lnTo>
                    <a:pt x="959" y="308"/>
                  </a:lnTo>
                  <a:lnTo>
                    <a:pt x="946" y="316"/>
                  </a:lnTo>
                  <a:lnTo>
                    <a:pt x="932" y="325"/>
                  </a:lnTo>
                  <a:lnTo>
                    <a:pt x="917" y="333"/>
                  </a:lnTo>
                  <a:lnTo>
                    <a:pt x="917" y="520"/>
                  </a:lnTo>
                  <a:lnTo>
                    <a:pt x="0" y="520"/>
                  </a:lnTo>
                  <a:lnTo>
                    <a:pt x="0" y="333"/>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89320" y="1851660"/>
              <a:ext cx="710184"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T4</a:t>
              </a:r>
            </a:p>
          </p:txBody>
        </p:sp>
        <p:sp>
          <p:nvSpPr>
            <p:cNvPr id="34" name="TextBox 33"/>
            <p:cNvSpPr txBox="1"/>
            <p:nvPr/>
          </p:nvSpPr>
          <p:spPr>
            <a:xfrm>
              <a:off x="5948172" y="1972177"/>
              <a:ext cx="769620"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Node4</a:t>
              </a:r>
            </a:p>
          </p:txBody>
        </p:sp>
        <p:sp>
          <p:nvSpPr>
            <p:cNvPr id="35" name="Freeform 34"/>
            <p:cNvSpPr/>
            <p:nvPr/>
          </p:nvSpPr>
          <p:spPr>
            <a:xfrm>
              <a:off x="6745224" y="1810512"/>
              <a:ext cx="899770" cy="475488"/>
            </a:xfrm>
            <a:custGeom>
              <a:avLst/>
              <a:gdLst/>
              <a:ahLst/>
              <a:cxnLst/>
              <a:rect l="l" t="t" r="r" b="b"/>
              <a:pathLst>
                <a:path w="984" h="520">
                  <a:moveTo>
                    <a:pt x="0" y="0"/>
                  </a:moveTo>
                  <a:lnTo>
                    <a:pt x="917" y="0"/>
                  </a:lnTo>
                  <a:lnTo>
                    <a:pt x="917" y="218"/>
                  </a:lnTo>
                  <a:lnTo>
                    <a:pt x="932" y="227"/>
                  </a:lnTo>
                  <a:lnTo>
                    <a:pt x="946" y="235"/>
                  </a:lnTo>
                  <a:lnTo>
                    <a:pt x="959" y="243"/>
                  </a:lnTo>
                  <a:lnTo>
                    <a:pt x="970" y="251"/>
                  </a:lnTo>
                  <a:lnTo>
                    <a:pt x="978" y="259"/>
                  </a:lnTo>
                  <a:lnTo>
                    <a:pt x="983" y="267"/>
                  </a:lnTo>
                  <a:lnTo>
                    <a:pt x="984" y="276"/>
                  </a:lnTo>
                  <a:lnTo>
                    <a:pt x="983" y="284"/>
                  </a:lnTo>
                  <a:lnTo>
                    <a:pt x="978" y="292"/>
                  </a:lnTo>
                  <a:lnTo>
                    <a:pt x="970" y="300"/>
                  </a:lnTo>
                  <a:lnTo>
                    <a:pt x="959" y="308"/>
                  </a:lnTo>
                  <a:lnTo>
                    <a:pt x="946" y="316"/>
                  </a:lnTo>
                  <a:lnTo>
                    <a:pt x="932" y="325"/>
                  </a:lnTo>
                  <a:lnTo>
                    <a:pt x="917" y="333"/>
                  </a:lnTo>
                  <a:lnTo>
                    <a:pt x="917" y="520"/>
                  </a:lnTo>
                  <a:lnTo>
                    <a:pt x="0" y="520"/>
                  </a:lnTo>
                  <a:lnTo>
                    <a:pt x="0" y="333"/>
                  </a:lnTo>
                  <a:lnTo>
                    <a:pt x="15" y="325"/>
                  </a:lnTo>
                  <a:lnTo>
                    <a:pt x="29" y="316"/>
                  </a:lnTo>
                  <a:lnTo>
                    <a:pt x="42" y="308"/>
                  </a:lnTo>
                  <a:lnTo>
                    <a:pt x="53" y="300"/>
                  </a:lnTo>
                  <a:lnTo>
                    <a:pt x="61" y="292"/>
                  </a:lnTo>
                  <a:lnTo>
                    <a:pt x="66" y="284"/>
                  </a:lnTo>
                  <a:lnTo>
                    <a:pt x="68" y="276"/>
                  </a:lnTo>
                  <a:lnTo>
                    <a:pt x="66" y="267"/>
                  </a:lnTo>
                  <a:lnTo>
                    <a:pt x="61" y="259"/>
                  </a:lnTo>
                  <a:lnTo>
                    <a:pt x="53" y="251"/>
                  </a:lnTo>
                  <a:lnTo>
                    <a:pt x="42" y="243"/>
                  </a:lnTo>
                  <a:lnTo>
                    <a:pt x="29" y="235"/>
                  </a:lnTo>
                  <a:lnTo>
                    <a:pt x="15" y="227"/>
                  </a:lnTo>
                  <a:lnTo>
                    <a:pt x="0" y="218"/>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27520" y="1851660"/>
              <a:ext cx="710184"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T5</a:t>
              </a:r>
            </a:p>
          </p:txBody>
        </p:sp>
        <p:sp>
          <p:nvSpPr>
            <p:cNvPr id="37" name="TextBox 36"/>
            <p:cNvSpPr txBox="1"/>
            <p:nvPr/>
          </p:nvSpPr>
          <p:spPr>
            <a:xfrm>
              <a:off x="6786372" y="1972177"/>
              <a:ext cx="769620"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Align</a:t>
              </a:r>
            </a:p>
          </p:txBody>
        </p:sp>
        <p:sp>
          <p:nvSpPr>
            <p:cNvPr id="38" name="Freeform 37"/>
            <p:cNvSpPr/>
            <p:nvPr/>
          </p:nvSpPr>
          <p:spPr>
            <a:xfrm>
              <a:off x="7583424" y="1810512"/>
              <a:ext cx="838505" cy="475488"/>
            </a:xfrm>
            <a:custGeom>
              <a:avLst/>
              <a:gdLst/>
              <a:ahLst/>
              <a:cxnLst/>
              <a:rect l="l" t="t" r="r" b="b"/>
              <a:pathLst>
                <a:path w="917" h="520">
                  <a:moveTo>
                    <a:pt x="0" y="0"/>
                  </a:moveTo>
                  <a:lnTo>
                    <a:pt x="917" y="0"/>
                  </a:lnTo>
                  <a:lnTo>
                    <a:pt x="917" y="218"/>
                  </a:lnTo>
                  <a:lnTo>
                    <a:pt x="917" y="520"/>
                  </a:lnTo>
                  <a:lnTo>
                    <a:pt x="0" y="520"/>
                  </a:lnTo>
                  <a:lnTo>
                    <a:pt x="0" y="333"/>
                  </a:lnTo>
                  <a:lnTo>
                    <a:pt x="15" y="325"/>
                  </a:lnTo>
                  <a:lnTo>
                    <a:pt x="29" y="316"/>
                  </a:lnTo>
                  <a:lnTo>
                    <a:pt x="42" y="308"/>
                  </a:lnTo>
                  <a:lnTo>
                    <a:pt x="53" y="300"/>
                  </a:lnTo>
                  <a:lnTo>
                    <a:pt x="61" y="292"/>
                  </a:lnTo>
                  <a:lnTo>
                    <a:pt x="66" y="284"/>
                  </a:lnTo>
                  <a:lnTo>
                    <a:pt x="68" y="276"/>
                  </a:lnTo>
                  <a:lnTo>
                    <a:pt x="66" y="267"/>
                  </a:lnTo>
                  <a:lnTo>
                    <a:pt x="61" y="259"/>
                  </a:lnTo>
                  <a:lnTo>
                    <a:pt x="53" y="251"/>
                  </a:lnTo>
                  <a:lnTo>
                    <a:pt x="42" y="243"/>
                  </a:lnTo>
                  <a:lnTo>
                    <a:pt x="29" y="235"/>
                  </a:lnTo>
                  <a:lnTo>
                    <a:pt x="15" y="227"/>
                  </a:lnTo>
                  <a:lnTo>
                    <a:pt x="0" y="218"/>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65720" y="1851660"/>
              <a:ext cx="710184"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T6</a:t>
              </a:r>
            </a:p>
          </p:txBody>
        </p:sp>
        <p:sp>
          <p:nvSpPr>
            <p:cNvPr id="40" name="TextBox 39"/>
            <p:cNvSpPr txBox="1"/>
            <p:nvPr/>
          </p:nvSpPr>
          <p:spPr>
            <a:xfrm>
              <a:off x="7624572" y="1972177"/>
              <a:ext cx="769620"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Alloc.</a:t>
              </a:r>
            </a:p>
          </p:txBody>
        </p:sp>
        <p:cxnSp>
          <p:nvCxnSpPr>
            <p:cNvPr id="41" name="Connector 40"/>
            <p:cNvCxnSpPr/>
            <p:nvPr/>
          </p:nvCxnSpPr>
          <p:spPr>
            <a:xfrm>
              <a:off x="5330952" y="1993392"/>
              <a:ext cx="283464" cy="0"/>
            </a:xfrm>
            <a:prstGeom prst="line">
              <a:avLst/>
            </a:prstGeom>
            <a:ln w="2159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54" name="MATERIALISE: the wired composition becomes a candidate binary"/>
          <p:cNvGrpSpPr/>
          <p:nvPr/>
        </p:nvGrpSpPr>
        <p:grpSpPr>
          <a:xfrm>
            <a:off x="5650992" y="2496312"/>
            <a:ext cx="3044952" cy="1335024"/>
            <a:chOff x="5650992" y="2496312"/>
            <a:chExt cx="3044952" cy="1335024"/>
          </a:xfrm>
        </p:grpSpPr>
        <p:cxnSp>
          <p:nvCxnSpPr>
            <p:cNvPr id="43" name="Connector 42"/>
            <p:cNvCxnSpPr/>
            <p:nvPr/>
          </p:nvCxnSpPr>
          <p:spPr>
            <a:xfrm>
              <a:off x="7168896" y="2496312"/>
              <a:ext cx="0" cy="228600"/>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650992" y="2779776"/>
              <a:ext cx="3044952" cy="1051560"/>
            </a:xfrm>
            <a:prstGeom prst="roundRect">
              <a:avLst>
                <a:gd name="adj" fmla="val 6000"/>
              </a:avLst>
            </a:prstGeom>
            <a:solidFill>
              <a:srgbClr val="FFFFFF"/>
            </a:solidFill>
            <a:ln w="1651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751576" y="2852928"/>
              <a:ext cx="2834640" cy="246888"/>
            </a:xfrm>
            <a:prstGeom prst="rect">
              <a:avLst/>
            </a:prstGeom>
            <a:noFill/>
          </p:spPr>
          <p:txBody>
            <a:bodyPr wrap="square" lIns="22860" tIns="0" rIns="22860" bIns="0" anchor="ctr">
              <a:noAutofit/>
            </a:bodyPr>
            <a:lstStyle/>
            <a:p>
              <a:pPr algn="ctr">
                <a:lnSpc>
                  <a:spcPct val="108000"/>
                </a:lnSpc>
                <a:spcBef>
                  <a:spcPts val="0"/>
                </a:spcBef>
                <a:spcAft>
                  <a:spcPts val="0"/>
                </a:spcAft>
              </a:pPr>
              <a:r>
                <a:rPr sz="1400" b="1">
                  <a:solidFill>
                    <a:srgbClr val="041447"/>
                  </a:solidFill>
                  <a:latin typeface="Noto Sans"/>
                </a:rPr>
                <a:t>One compiled candidate</a:t>
              </a:r>
            </a:p>
          </p:txBody>
        </p:sp>
        <p:sp>
          <p:nvSpPr>
            <p:cNvPr id="46" name="Rounded Rectangle 45"/>
            <p:cNvSpPr/>
            <p:nvPr/>
          </p:nvSpPr>
          <p:spPr>
            <a:xfrm>
              <a:off x="5824728" y="3236976"/>
              <a:ext cx="713232" cy="310896"/>
            </a:xfrm>
            <a:prstGeom prst="roundRect">
              <a:avLst>
                <a:gd name="adj" fmla="val 6000"/>
              </a:avLst>
            </a:prstGeom>
            <a:solidFill>
              <a:srgbClr val="F0EDF7"/>
            </a:solidFill>
            <a:ln w="1524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47588" y="3241548"/>
              <a:ext cx="667512" cy="301752"/>
            </a:xfrm>
            <a:prstGeom prst="rect">
              <a:avLst/>
            </a:prstGeom>
            <a:noFill/>
          </p:spPr>
          <p:txBody>
            <a:bodyPr wrap="square" lIns="22860" tIns="0" rIns="22860" bIns="0" anchor="ctr">
              <a:noAutofit/>
            </a:bodyPr>
            <a:lstStyle/>
            <a:p>
              <a:pPr algn="ctr">
                <a:lnSpc>
                  <a:spcPct val="108000"/>
                </a:lnSpc>
                <a:spcBef>
                  <a:spcPts val="0"/>
                </a:spcBef>
                <a:spcAft>
                  <a:spcPts val="0"/>
                </a:spcAft>
              </a:pPr>
              <a:r>
                <a:rPr sz="1040" b="1">
                  <a:solidFill>
                    <a:srgbClr val="6A57A1"/>
                  </a:solidFill>
                  <a:latin typeface="Noto Sans"/>
                </a:rPr>
                <a:t>Search</a:t>
              </a:r>
            </a:p>
          </p:txBody>
        </p:sp>
        <p:sp>
          <p:nvSpPr>
            <p:cNvPr id="48" name="Rounded Rectangle 47"/>
            <p:cNvSpPr/>
            <p:nvPr/>
          </p:nvSpPr>
          <p:spPr>
            <a:xfrm>
              <a:off x="6620256" y="3236976"/>
              <a:ext cx="932688" cy="310896"/>
            </a:xfrm>
            <a:prstGeom prst="roundRect">
              <a:avLst>
                <a:gd name="adj" fmla="val 6000"/>
              </a:avLst>
            </a:prstGeom>
            <a:solidFill>
              <a:srgbClr val="F1F5F8"/>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43116" y="3241548"/>
              <a:ext cx="886968" cy="301752"/>
            </a:xfrm>
            <a:prstGeom prst="rect">
              <a:avLst/>
            </a:prstGeom>
            <a:noFill/>
          </p:spPr>
          <p:txBody>
            <a:bodyPr wrap="square" lIns="22860" tIns="0" rIns="22860" bIns="0" anchor="ctr">
              <a:noAutofit/>
            </a:bodyPr>
            <a:lstStyle/>
            <a:p>
              <a:pPr algn="ctr">
                <a:lnSpc>
                  <a:spcPct val="108000"/>
                </a:lnSpc>
                <a:spcBef>
                  <a:spcPts val="0"/>
                </a:spcBef>
                <a:spcAft>
                  <a:spcPts val="0"/>
                </a:spcAft>
              </a:pPr>
              <a:r>
                <a:rPr sz="1040" b="1">
                  <a:solidFill>
                    <a:srgbClr val="041447"/>
                  </a:solidFill>
                  <a:latin typeface="Noto Sans"/>
                </a:rPr>
                <a:t>Storage</a:t>
              </a:r>
            </a:p>
          </p:txBody>
        </p:sp>
        <p:sp>
          <p:nvSpPr>
            <p:cNvPr id="50" name="Rounded Rectangle 49"/>
            <p:cNvSpPr/>
            <p:nvPr/>
          </p:nvSpPr>
          <p:spPr>
            <a:xfrm>
              <a:off x="7635240" y="3236976"/>
              <a:ext cx="832104" cy="310896"/>
            </a:xfrm>
            <a:prstGeom prst="roundRect">
              <a:avLst>
                <a:gd name="adj" fmla="val 6000"/>
              </a:avLst>
            </a:prstGeom>
            <a:solidFill>
              <a:srgbClr val="EFF7F2"/>
            </a:solidFill>
            <a:ln w="1524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58100" y="3241548"/>
              <a:ext cx="786384" cy="301752"/>
            </a:xfrm>
            <a:prstGeom prst="rect">
              <a:avLst/>
            </a:prstGeom>
            <a:noFill/>
          </p:spPr>
          <p:txBody>
            <a:bodyPr wrap="square" lIns="22860" tIns="0" rIns="22860" bIns="0" anchor="ctr">
              <a:noAutofit/>
            </a:bodyPr>
            <a:lstStyle/>
            <a:p>
              <a:pPr algn="ctr">
                <a:lnSpc>
                  <a:spcPct val="108000"/>
                </a:lnSpc>
                <a:spcBef>
                  <a:spcPts val="0"/>
                </a:spcBef>
                <a:spcAft>
                  <a:spcPts val="0"/>
                </a:spcAft>
              </a:pPr>
              <a:r>
                <a:rPr sz="1040" b="1">
                  <a:solidFill>
                    <a:srgbClr val="2F7458"/>
                  </a:solidFill>
                  <a:latin typeface="Noto Sans"/>
                </a:rPr>
                <a:t>Values</a:t>
              </a:r>
            </a:p>
          </p:txBody>
        </p:sp>
        <p:cxnSp>
          <p:nvCxnSpPr>
            <p:cNvPr id="52" name="Connector 51"/>
            <p:cNvCxnSpPr/>
            <p:nvPr/>
          </p:nvCxnSpPr>
          <p:spPr>
            <a:xfrm>
              <a:off x="6537960" y="3392424"/>
              <a:ext cx="82296" cy="0"/>
            </a:xfrm>
            <a:prstGeom prst="line">
              <a:avLst/>
            </a:prstGeom>
            <a:ln w="1270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2944" y="3392424"/>
              <a:ext cx="82296" cy="0"/>
            </a:xfrm>
            <a:prstGeom prst="line">
              <a:avLst/>
            </a:prstGeom>
            <a:ln w="1270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55" name="Rectangle 54"/>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XML selects the pieces; composition and interface wiring produce the algorithm.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42"/>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Build and measure the assembled algorithm</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§§3.4–4.3  |  The construction step is part of the experiment, not a separate story</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9</a:t>
            </a:r>
          </a:p>
        </p:txBody>
      </p:sp>
      <p:sp>
        <p:nvSpPr>
          <p:cNvPr id="18" name="Rounded Rectangle 17"/>
          <p:cNvSpPr/>
          <p:nvPr/>
        </p:nvSpPr>
        <p:spPr>
          <a:xfrm>
            <a:off x="393192" y="1280160"/>
            <a:ext cx="1188720" cy="1033271"/>
          </a:xfrm>
          <a:prstGeom prst="roundRect">
            <a:avLst>
              <a:gd name="adj" fmla="val 6000"/>
            </a:avLst>
          </a:prstGeom>
          <a:solidFill>
            <a:srgbClr val="F1F5F8"/>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1380744"/>
            <a:ext cx="1060704"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600" b="1">
                <a:solidFill>
                  <a:srgbClr val="041447"/>
                </a:solidFill>
                <a:latin typeface="Noto Sans"/>
              </a:rPr>
              <a:t>XML</a:t>
            </a:r>
          </a:p>
        </p:txBody>
      </p:sp>
      <p:sp>
        <p:nvSpPr>
          <p:cNvPr id="20" name="TextBox 19"/>
          <p:cNvSpPr txBox="1"/>
          <p:nvPr/>
        </p:nvSpPr>
        <p:spPr>
          <a:xfrm>
            <a:off x="438912" y="1755648"/>
            <a:ext cx="1097280" cy="393192"/>
          </a:xfrm>
          <a:prstGeom prst="rect">
            <a:avLst/>
          </a:prstGeom>
          <a:noFill/>
        </p:spPr>
        <p:txBody>
          <a:bodyPr wrap="square" lIns="22860" tIns="0" rIns="22860" bIns="0" anchor="ctr">
            <a:noAutofit/>
          </a:bodyPr>
          <a:lstStyle/>
          <a:p>
            <a:pPr algn="ctr">
              <a:lnSpc>
                <a:spcPct val="108000"/>
              </a:lnSpc>
              <a:spcBef>
                <a:spcPts val="0"/>
              </a:spcBef>
              <a:spcAft>
                <a:spcPts val="0"/>
              </a:spcAft>
            </a:pPr>
            <a:r>
              <a:rPr sz="1120" b="0">
                <a:solidFill>
                  <a:srgbClr val="23364B"/>
                </a:solidFill>
                <a:latin typeface="Noto Sans"/>
              </a:rPr>
              <a:t>experiment</a:t>
            </a:r>
          </a:p>
        </p:txBody>
      </p:sp>
      <p:sp>
        <p:nvSpPr>
          <p:cNvPr id="21" name="Rounded Rectangle 20"/>
          <p:cNvSpPr/>
          <p:nvPr/>
        </p:nvSpPr>
        <p:spPr>
          <a:xfrm>
            <a:off x="1901952" y="1280160"/>
            <a:ext cx="1554480" cy="1033271"/>
          </a:xfrm>
          <a:prstGeom prst="roundRect">
            <a:avLst>
              <a:gd name="adj" fmla="val 6000"/>
            </a:avLst>
          </a:prstGeom>
          <a:solidFill>
            <a:srgbClr val="F1F5F8"/>
          </a:solidFill>
          <a:ln w="11430">
            <a:solidFill>
              <a:srgbClr val="34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65960" y="1380744"/>
            <a:ext cx="1426464"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600" b="1">
                <a:solidFill>
                  <a:srgbClr val="3468AA"/>
                </a:solidFill>
                <a:latin typeface="Noto Sans"/>
              </a:rPr>
              <a:t>Planner</a:t>
            </a:r>
          </a:p>
        </p:txBody>
      </p:sp>
      <p:sp>
        <p:nvSpPr>
          <p:cNvPr id="23" name="TextBox 22"/>
          <p:cNvSpPr txBox="1"/>
          <p:nvPr/>
        </p:nvSpPr>
        <p:spPr>
          <a:xfrm>
            <a:off x="1947672" y="1755648"/>
            <a:ext cx="1463039" cy="393192"/>
          </a:xfrm>
          <a:prstGeom prst="rect">
            <a:avLst/>
          </a:prstGeom>
          <a:noFill/>
        </p:spPr>
        <p:txBody>
          <a:bodyPr wrap="square" lIns="22860" tIns="0" rIns="22860" bIns="0" anchor="ctr">
            <a:noAutofit/>
          </a:bodyPr>
          <a:lstStyle/>
          <a:p>
            <a:pPr algn="ctr">
              <a:lnSpc>
                <a:spcPct val="108000"/>
              </a:lnSpc>
              <a:spcBef>
                <a:spcPts val="0"/>
              </a:spcBef>
              <a:spcAft>
                <a:spcPts val="0"/>
              </a:spcAft>
            </a:pPr>
            <a:r>
              <a:rPr sz="1120" b="0">
                <a:solidFill>
                  <a:srgbClr val="23364B"/>
                </a:solidFill>
                <a:latin typeface="Noto Sans"/>
              </a:rPr>
              <a:t>validate + plan</a:t>
            </a:r>
          </a:p>
        </p:txBody>
      </p:sp>
      <p:sp>
        <p:nvSpPr>
          <p:cNvPr id="24" name="Rounded Rectangle 23"/>
          <p:cNvSpPr/>
          <p:nvPr/>
        </p:nvSpPr>
        <p:spPr>
          <a:xfrm>
            <a:off x="3813048" y="1280160"/>
            <a:ext cx="1554480" cy="1033271"/>
          </a:xfrm>
          <a:prstGeom prst="roundRect">
            <a:avLst>
              <a:gd name="adj" fmla="val 6000"/>
            </a:avLst>
          </a:prstGeom>
          <a:solidFill>
            <a:srgbClr val="F1F5F8"/>
          </a:solidFill>
          <a:ln w="1143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77056" y="1380744"/>
            <a:ext cx="1426464"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600" b="1">
                <a:solidFill>
                  <a:srgbClr val="6A57A1"/>
                </a:solidFill>
                <a:latin typeface="Noto Sans"/>
              </a:rPr>
              <a:t>CEB</a:t>
            </a:r>
          </a:p>
        </p:txBody>
      </p:sp>
      <p:sp>
        <p:nvSpPr>
          <p:cNvPr id="26" name="TextBox 25"/>
          <p:cNvSpPr txBox="1"/>
          <p:nvPr/>
        </p:nvSpPr>
        <p:spPr>
          <a:xfrm>
            <a:off x="3858768" y="1755648"/>
            <a:ext cx="1463039" cy="393192"/>
          </a:xfrm>
          <a:prstGeom prst="rect">
            <a:avLst/>
          </a:prstGeom>
          <a:noFill/>
        </p:spPr>
        <p:txBody>
          <a:bodyPr wrap="square" lIns="22860" tIns="0" rIns="22860" bIns="0" anchor="ctr">
            <a:noAutofit/>
          </a:bodyPr>
          <a:lstStyle/>
          <a:p>
            <a:pPr algn="ctr">
              <a:lnSpc>
                <a:spcPct val="108000"/>
              </a:lnSpc>
              <a:spcBef>
                <a:spcPts val="0"/>
              </a:spcBef>
              <a:spcAft>
                <a:spcPts val="0"/>
              </a:spcAft>
            </a:pPr>
            <a:r>
              <a:rPr sz="1120" b="0">
                <a:solidFill>
                  <a:srgbClr val="23364B"/>
                </a:solidFill>
                <a:latin typeface="Noto Sans"/>
              </a:rPr>
              <a:t>compose + build</a:t>
            </a:r>
          </a:p>
        </p:txBody>
      </p:sp>
      <p:cxnSp>
        <p:nvCxnSpPr>
          <p:cNvPr id="27" name="Connector 26"/>
          <p:cNvCxnSpPr/>
          <p:nvPr/>
        </p:nvCxnSpPr>
        <p:spPr>
          <a:xfrm>
            <a:off x="1609344" y="1801368"/>
            <a:ext cx="265175" cy="0"/>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93008" y="1801368"/>
            <a:ext cx="283464" cy="0"/>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733288" y="1115568"/>
            <a:ext cx="2980944" cy="1554480"/>
          </a:xfrm>
          <a:prstGeom prst="roundRect">
            <a:avLst>
              <a:gd name="adj" fmla="val 6000"/>
            </a:avLst>
          </a:prstGeom>
          <a:solidFill>
            <a:srgbClr val="FFFFFF"/>
          </a:solidFill>
          <a:ln w="1778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861304" y="1197864"/>
            <a:ext cx="2724912" cy="274320"/>
          </a:xfrm>
          <a:prstGeom prst="rect">
            <a:avLst/>
          </a:prstGeom>
          <a:noFill/>
        </p:spPr>
        <p:txBody>
          <a:bodyPr wrap="square" lIns="22860" tIns="0" rIns="22860" bIns="0" anchor="ctr">
            <a:noAutofit/>
          </a:bodyPr>
          <a:lstStyle/>
          <a:p>
            <a:pPr algn="ctr">
              <a:lnSpc>
                <a:spcPct val="108000"/>
              </a:lnSpc>
              <a:spcBef>
                <a:spcPts val="0"/>
              </a:spcBef>
              <a:spcAft>
                <a:spcPts val="0"/>
              </a:spcAft>
            </a:pPr>
            <a:r>
              <a:rPr sz="1600" b="1">
                <a:solidFill>
                  <a:srgbClr val="041447"/>
                </a:solidFill>
                <a:latin typeface="Noto Sans"/>
              </a:rPr>
              <a:t>TIER BINARY</a:t>
            </a:r>
          </a:p>
        </p:txBody>
      </p:sp>
      <p:sp>
        <p:nvSpPr>
          <p:cNvPr id="31" name="Rounded Rectangle 30"/>
          <p:cNvSpPr/>
          <p:nvPr/>
        </p:nvSpPr>
        <p:spPr>
          <a:xfrm>
            <a:off x="5907024" y="1737360"/>
            <a:ext cx="640080" cy="457200"/>
          </a:xfrm>
          <a:prstGeom prst="roundRect">
            <a:avLst>
              <a:gd name="adj" fmla="val 6000"/>
            </a:avLst>
          </a:prstGeom>
          <a:solidFill>
            <a:srgbClr val="F0EDF7"/>
          </a:solidFill>
          <a:ln w="1524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29884" y="1741931"/>
            <a:ext cx="594359" cy="448056"/>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6A57A1"/>
                </a:solidFill>
                <a:latin typeface="Noto Sans"/>
              </a:rPr>
              <a:t>T0</a:t>
            </a:r>
          </a:p>
        </p:txBody>
      </p:sp>
      <p:sp>
        <p:nvSpPr>
          <p:cNvPr id="33" name="Freeform 32"/>
          <p:cNvSpPr/>
          <p:nvPr/>
        </p:nvSpPr>
        <p:spPr>
          <a:xfrm>
            <a:off x="6720840" y="1728216"/>
            <a:ext cx="619963" cy="475488"/>
          </a:xfrm>
          <a:custGeom>
            <a:avLst/>
            <a:gdLst/>
            <a:ahLst/>
            <a:cxnLst/>
            <a:rect l="l" t="t" r="r" b="b"/>
            <a:pathLst>
              <a:path w="678" h="520">
                <a:moveTo>
                  <a:pt x="0" y="0"/>
                </a:moveTo>
                <a:lnTo>
                  <a:pt x="610" y="0"/>
                </a:lnTo>
                <a:lnTo>
                  <a:pt x="610" y="218"/>
                </a:lnTo>
                <a:lnTo>
                  <a:pt x="625" y="227"/>
                </a:lnTo>
                <a:lnTo>
                  <a:pt x="639" y="235"/>
                </a:lnTo>
                <a:lnTo>
                  <a:pt x="652" y="243"/>
                </a:lnTo>
                <a:lnTo>
                  <a:pt x="663" y="251"/>
                </a:lnTo>
                <a:lnTo>
                  <a:pt x="671" y="259"/>
                </a:lnTo>
                <a:lnTo>
                  <a:pt x="676" y="267"/>
                </a:lnTo>
                <a:lnTo>
                  <a:pt x="678" y="276"/>
                </a:lnTo>
                <a:lnTo>
                  <a:pt x="676" y="284"/>
                </a:lnTo>
                <a:lnTo>
                  <a:pt x="671" y="292"/>
                </a:lnTo>
                <a:lnTo>
                  <a:pt x="663" y="300"/>
                </a:lnTo>
                <a:lnTo>
                  <a:pt x="652" y="308"/>
                </a:lnTo>
                <a:lnTo>
                  <a:pt x="639" y="316"/>
                </a:lnTo>
                <a:lnTo>
                  <a:pt x="625" y="325"/>
                </a:lnTo>
                <a:lnTo>
                  <a:pt x="610" y="333"/>
                </a:lnTo>
                <a:lnTo>
                  <a:pt x="610" y="520"/>
                </a:lnTo>
                <a:lnTo>
                  <a:pt x="0" y="520"/>
                </a:lnTo>
                <a:lnTo>
                  <a:pt x="0" y="333"/>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03136" y="1769363"/>
            <a:ext cx="429768"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T4</a:t>
            </a:r>
          </a:p>
        </p:txBody>
      </p:sp>
      <p:sp>
        <p:nvSpPr>
          <p:cNvPr id="35" name="TextBox 34"/>
          <p:cNvSpPr txBox="1"/>
          <p:nvPr/>
        </p:nvSpPr>
        <p:spPr>
          <a:xfrm>
            <a:off x="6761988" y="1889881"/>
            <a:ext cx="489204"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Node4</a:t>
            </a:r>
          </a:p>
        </p:txBody>
      </p:sp>
      <p:sp>
        <p:nvSpPr>
          <p:cNvPr id="36" name="Freeform 35"/>
          <p:cNvSpPr/>
          <p:nvPr/>
        </p:nvSpPr>
        <p:spPr>
          <a:xfrm>
            <a:off x="7278624" y="1728216"/>
            <a:ext cx="619963" cy="475488"/>
          </a:xfrm>
          <a:custGeom>
            <a:avLst/>
            <a:gdLst/>
            <a:ahLst/>
            <a:cxnLst/>
            <a:rect l="l" t="t" r="r" b="b"/>
            <a:pathLst>
              <a:path w="678" h="520">
                <a:moveTo>
                  <a:pt x="0" y="0"/>
                </a:moveTo>
                <a:lnTo>
                  <a:pt x="610" y="0"/>
                </a:lnTo>
                <a:lnTo>
                  <a:pt x="610" y="218"/>
                </a:lnTo>
                <a:lnTo>
                  <a:pt x="625" y="227"/>
                </a:lnTo>
                <a:lnTo>
                  <a:pt x="639" y="235"/>
                </a:lnTo>
                <a:lnTo>
                  <a:pt x="652" y="243"/>
                </a:lnTo>
                <a:lnTo>
                  <a:pt x="663" y="251"/>
                </a:lnTo>
                <a:lnTo>
                  <a:pt x="671" y="259"/>
                </a:lnTo>
                <a:lnTo>
                  <a:pt x="676" y="267"/>
                </a:lnTo>
                <a:lnTo>
                  <a:pt x="678" y="276"/>
                </a:lnTo>
                <a:lnTo>
                  <a:pt x="676" y="284"/>
                </a:lnTo>
                <a:lnTo>
                  <a:pt x="671" y="292"/>
                </a:lnTo>
                <a:lnTo>
                  <a:pt x="663" y="300"/>
                </a:lnTo>
                <a:lnTo>
                  <a:pt x="652" y="308"/>
                </a:lnTo>
                <a:lnTo>
                  <a:pt x="639" y="316"/>
                </a:lnTo>
                <a:lnTo>
                  <a:pt x="625" y="325"/>
                </a:lnTo>
                <a:lnTo>
                  <a:pt x="610" y="333"/>
                </a:lnTo>
                <a:lnTo>
                  <a:pt x="610" y="520"/>
                </a:lnTo>
                <a:lnTo>
                  <a:pt x="0" y="520"/>
                </a:lnTo>
                <a:lnTo>
                  <a:pt x="0" y="333"/>
                </a:lnTo>
                <a:lnTo>
                  <a:pt x="15" y="325"/>
                </a:lnTo>
                <a:lnTo>
                  <a:pt x="29" y="316"/>
                </a:lnTo>
                <a:lnTo>
                  <a:pt x="42" y="308"/>
                </a:lnTo>
                <a:lnTo>
                  <a:pt x="53" y="300"/>
                </a:lnTo>
                <a:lnTo>
                  <a:pt x="61" y="292"/>
                </a:lnTo>
                <a:lnTo>
                  <a:pt x="66" y="284"/>
                </a:lnTo>
                <a:lnTo>
                  <a:pt x="68" y="276"/>
                </a:lnTo>
                <a:lnTo>
                  <a:pt x="66" y="267"/>
                </a:lnTo>
                <a:lnTo>
                  <a:pt x="61" y="259"/>
                </a:lnTo>
                <a:lnTo>
                  <a:pt x="53" y="251"/>
                </a:lnTo>
                <a:lnTo>
                  <a:pt x="42" y="243"/>
                </a:lnTo>
                <a:lnTo>
                  <a:pt x="29" y="235"/>
                </a:lnTo>
                <a:lnTo>
                  <a:pt x="15" y="227"/>
                </a:lnTo>
                <a:lnTo>
                  <a:pt x="0" y="218"/>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360920" y="1769363"/>
            <a:ext cx="429768"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T5</a:t>
            </a:r>
          </a:p>
        </p:txBody>
      </p:sp>
      <p:sp>
        <p:nvSpPr>
          <p:cNvPr id="38" name="TextBox 37"/>
          <p:cNvSpPr txBox="1"/>
          <p:nvPr/>
        </p:nvSpPr>
        <p:spPr>
          <a:xfrm>
            <a:off x="7319772" y="1889881"/>
            <a:ext cx="489204"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Align</a:t>
            </a:r>
          </a:p>
        </p:txBody>
      </p:sp>
      <p:sp>
        <p:nvSpPr>
          <p:cNvPr id="39" name="Freeform 38"/>
          <p:cNvSpPr/>
          <p:nvPr/>
        </p:nvSpPr>
        <p:spPr>
          <a:xfrm>
            <a:off x="7836408" y="1728216"/>
            <a:ext cx="557784" cy="475488"/>
          </a:xfrm>
          <a:custGeom>
            <a:avLst/>
            <a:gdLst/>
            <a:ahLst/>
            <a:cxnLst/>
            <a:rect l="l" t="t" r="r" b="b"/>
            <a:pathLst>
              <a:path w="610" h="520">
                <a:moveTo>
                  <a:pt x="0" y="0"/>
                </a:moveTo>
                <a:lnTo>
                  <a:pt x="610" y="0"/>
                </a:lnTo>
                <a:lnTo>
                  <a:pt x="610" y="218"/>
                </a:lnTo>
                <a:lnTo>
                  <a:pt x="610" y="520"/>
                </a:lnTo>
                <a:lnTo>
                  <a:pt x="0" y="520"/>
                </a:lnTo>
                <a:lnTo>
                  <a:pt x="0" y="333"/>
                </a:lnTo>
                <a:lnTo>
                  <a:pt x="15" y="325"/>
                </a:lnTo>
                <a:lnTo>
                  <a:pt x="29" y="316"/>
                </a:lnTo>
                <a:lnTo>
                  <a:pt x="42" y="308"/>
                </a:lnTo>
                <a:lnTo>
                  <a:pt x="53" y="300"/>
                </a:lnTo>
                <a:lnTo>
                  <a:pt x="61" y="292"/>
                </a:lnTo>
                <a:lnTo>
                  <a:pt x="66" y="284"/>
                </a:lnTo>
                <a:lnTo>
                  <a:pt x="68" y="276"/>
                </a:lnTo>
                <a:lnTo>
                  <a:pt x="66" y="267"/>
                </a:lnTo>
                <a:lnTo>
                  <a:pt x="61" y="259"/>
                </a:lnTo>
                <a:lnTo>
                  <a:pt x="53" y="251"/>
                </a:lnTo>
                <a:lnTo>
                  <a:pt x="42" y="243"/>
                </a:lnTo>
                <a:lnTo>
                  <a:pt x="29" y="235"/>
                </a:lnTo>
                <a:lnTo>
                  <a:pt x="15" y="227"/>
                </a:lnTo>
                <a:lnTo>
                  <a:pt x="0" y="218"/>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18704" y="1769363"/>
            <a:ext cx="429768"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T6</a:t>
            </a:r>
          </a:p>
        </p:txBody>
      </p:sp>
      <p:sp>
        <p:nvSpPr>
          <p:cNvPr id="41" name="TextBox 40"/>
          <p:cNvSpPr txBox="1"/>
          <p:nvPr/>
        </p:nvSpPr>
        <p:spPr>
          <a:xfrm>
            <a:off x="7877556" y="1889881"/>
            <a:ext cx="489204"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Alloc.</a:t>
            </a:r>
          </a:p>
        </p:txBody>
      </p:sp>
      <p:cxnSp>
        <p:nvCxnSpPr>
          <p:cNvPr id="42" name="Connector 41"/>
          <p:cNvCxnSpPr/>
          <p:nvPr/>
        </p:nvCxnSpPr>
        <p:spPr>
          <a:xfrm>
            <a:off x="6565392" y="1956816"/>
            <a:ext cx="146304" cy="0"/>
          </a:xfrm>
          <a:prstGeom prst="line">
            <a:avLst/>
          </a:prstGeom>
          <a:ln w="19050">
            <a:solidFill>
              <a:srgbClr val="6A57A1"/>
            </a:solidFill>
            <a:tailEnd type="triangle" w="sm" len="sm"/>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925312" y="2322576"/>
            <a:ext cx="2569464" cy="201168"/>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0">
                <a:solidFill>
                  <a:srgbClr val="657487"/>
                </a:solidFill>
                <a:latin typeface="Noto Sans"/>
              </a:rPr>
              <a:t>One body; all strategy slots bound.</a:t>
            </a:r>
          </a:p>
        </p:txBody>
      </p:sp>
      <p:cxnSp>
        <p:nvCxnSpPr>
          <p:cNvPr id="44" name="Connector 43"/>
          <p:cNvCxnSpPr/>
          <p:nvPr/>
        </p:nvCxnSpPr>
        <p:spPr>
          <a:xfrm>
            <a:off x="5394960" y="1801368"/>
            <a:ext cx="301752" cy="0"/>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3401568" y="2596896"/>
            <a:ext cx="2286000" cy="320040"/>
          </a:xfrm>
          <a:prstGeom prst="roundRect">
            <a:avLst>
              <a:gd name="adj" fmla="val 6000"/>
            </a:avLst>
          </a:prstGeom>
          <a:solidFill>
            <a:srgbClr val="FFFFFF"/>
          </a:solidFill>
          <a:ln w="15240">
            <a:solidFill>
              <a:srgbClr val="6574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424428" y="2601468"/>
            <a:ext cx="2240280" cy="310896"/>
          </a:xfrm>
          <a:prstGeom prst="rect">
            <a:avLst/>
          </a:prstGeom>
          <a:noFill/>
        </p:spPr>
        <p:txBody>
          <a:bodyPr wrap="square" lIns="22860" tIns="0" rIns="22860" bIns="0" anchor="ctr">
            <a:noAutofit/>
          </a:bodyPr>
          <a:lstStyle/>
          <a:p>
            <a:pPr algn="ctr">
              <a:lnSpc>
                <a:spcPct val="108000"/>
              </a:lnSpc>
              <a:spcBef>
                <a:spcPts val="0"/>
              </a:spcBef>
              <a:spcAft>
                <a:spcPts val="0"/>
              </a:spcAft>
            </a:pPr>
            <a:r>
              <a:rPr sz="1060" b="0">
                <a:solidFill>
                  <a:srgbClr val="657487"/>
                </a:solidFill>
                <a:latin typeface="Noto Sans"/>
              </a:rPr>
              <a:t>Component library + plugin</a:t>
            </a:r>
          </a:p>
        </p:txBody>
      </p:sp>
      <p:cxnSp>
        <p:nvCxnSpPr>
          <p:cNvPr id="47" name="Connector 46"/>
          <p:cNvCxnSpPr/>
          <p:nvPr/>
        </p:nvCxnSpPr>
        <p:spPr>
          <a:xfrm flipV="1">
            <a:off x="4581144" y="2340864"/>
            <a:ext cx="0" cy="256032"/>
          </a:xfrm>
          <a:prstGeom prst="line">
            <a:avLst/>
          </a:prstGeom>
          <a:ln w="13335">
            <a:solidFill>
              <a:srgbClr val="657487"/>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56" name="MEASURE: check and exercise the complete candidate"/>
          <p:cNvGrpSpPr/>
          <p:nvPr/>
        </p:nvGrpSpPr>
        <p:grpSpPr>
          <a:xfrm>
            <a:off x="3593592" y="2688336"/>
            <a:ext cx="5120640" cy="1152144"/>
            <a:chOff x="3593592" y="2688336"/>
            <a:chExt cx="5120640" cy="1152144"/>
          </a:xfrm>
        </p:grpSpPr>
        <p:cxnSp>
          <p:nvCxnSpPr>
            <p:cNvPr id="48" name="Connector 47"/>
            <p:cNvCxnSpPr/>
            <p:nvPr/>
          </p:nvCxnSpPr>
          <p:spPr>
            <a:xfrm>
              <a:off x="7223760" y="2688336"/>
              <a:ext cx="0" cy="347472"/>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5961888" y="3072384"/>
              <a:ext cx="2752344" cy="768096"/>
            </a:xfrm>
            <a:prstGeom prst="roundRect">
              <a:avLst>
                <a:gd name="adj" fmla="val 6000"/>
              </a:avLst>
            </a:prstGeom>
            <a:solidFill>
              <a:srgbClr val="EFF7F2"/>
            </a:solidFill>
            <a:ln w="1143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053328" y="3136392"/>
              <a:ext cx="2569464" cy="283464"/>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2F7458"/>
                  </a:solidFill>
                  <a:latin typeface="Noto Sans"/>
                </a:rPr>
                <a:t>Conform → drive → observe</a:t>
              </a:r>
            </a:p>
          </p:txBody>
        </p:sp>
        <p:sp>
          <p:nvSpPr>
            <p:cNvPr id="51" name="TextBox 50"/>
            <p:cNvSpPr txBox="1"/>
            <p:nvPr/>
          </p:nvSpPr>
          <p:spPr>
            <a:xfrm>
              <a:off x="6053328" y="3502152"/>
              <a:ext cx="2569464" cy="210312"/>
            </a:xfrm>
            <a:prstGeom prst="rect">
              <a:avLst/>
            </a:prstGeom>
            <a:noFill/>
          </p:spPr>
          <p:txBody>
            <a:bodyPr wrap="square" lIns="22860" tIns="0" rIns="22860" bIns="0" anchor="ctr">
              <a:noAutofit/>
            </a:bodyPr>
            <a:lstStyle/>
            <a:p>
              <a:pPr algn="ctr">
                <a:lnSpc>
                  <a:spcPct val="108000"/>
                </a:lnSpc>
                <a:spcBef>
                  <a:spcPts val="0"/>
                </a:spcBef>
                <a:spcAft>
                  <a:spcPts val="0"/>
                </a:spcAft>
              </a:pPr>
              <a:r>
                <a:rPr sz="1070" b="0">
                  <a:solidFill>
                    <a:srgbClr val="23364B"/>
                  </a:solidFill>
                  <a:latin typeface="Noto Sans"/>
                </a:rPr>
                <a:t>same inputs · checked result</a:t>
              </a:r>
            </a:p>
          </p:txBody>
        </p:sp>
        <p:sp>
          <p:nvSpPr>
            <p:cNvPr id="52" name="Rounded Rectangle 51"/>
            <p:cNvSpPr/>
            <p:nvPr/>
          </p:nvSpPr>
          <p:spPr>
            <a:xfrm>
              <a:off x="3593592" y="3072384"/>
              <a:ext cx="2039112" cy="768096"/>
            </a:xfrm>
            <a:prstGeom prst="roundRect">
              <a:avLst>
                <a:gd name="adj" fmla="val 6000"/>
              </a:avLst>
            </a:prstGeom>
            <a:solidFill>
              <a:srgbClr val="F1F5F8"/>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666744" y="3145536"/>
              <a:ext cx="1892807" cy="265176"/>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041447"/>
                  </a:solidFill>
                  <a:latin typeface="Noto Sans"/>
                </a:rPr>
                <a:t>Valid measurement</a:t>
              </a:r>
            </a:p>
          </p:txBody>
        </p:sp>
        <p:sp>
          <p:nvSpPr>
            <p:cNvPr id="54" name="TextBox 53"/>
            <p:cNvSpPr txBox="1"/>
            <p:nvPr/>
          </p:nvSpPr>
          <p:spPr>
            <a:xfrm>
              <a:off x="3666744" y="3511296"/>
              <a:ext cx="1892807" cy="201168"/>
            </a:xfrm>
            <a:prstGeom prst="rect">
              <a:avLst/>
            </a:prstGeom>
            <a:noFill/>
          </p:spPr>
          <p:txBody>
            <a:bodyPr wrap="square" lIns="22860" tIns="0" rIns="22860" bIns="0" anchor="ctr">
              <a:noAutofit/>
            </a:bodyPr>
            <a:lstStyle/>
            <a:p>
              <a:pPr algn="ctr">
                <a:lnSpc>
                  <a:spcPct val="108000"/>
                </a:lnSpc>
                <a:spcBef>
                  <a:spcPts val="0"/>
                </a:spcBef>
                <a:spcAft>
                  <a:spcPts val="0"/>
                </a:spcAft>
              </a:pPr>
              <a:r>
                <a:rPr sz="1019" b="0">
                  <a:solidFill>
                    <a:srgbClr val="23364B"/>
                  </a:solidFill>
                  <a:latin typeface="Noto Sans"/>
                </a:rPr>
                <a:t>identity + settings + cost</a:t>
              </a:r>
            </a:p>
          </p:txBody>
        </p:sp>
        <p:cxnSp>
          <p:nvCxnSpPr>
            <p:cNvPr id="55" name="Connector 54"/>
            <p:cNvCxnSpPr/>
            <p:nvPr/>
          </p:nvCxnSpPr>
          <p:spPr>
            <a:xfrm flipH="1">
              <a:off x="5660136" y="3456432"/>
              <a:ext cx="274320" cy="0"/>
            </a:xfrm>
            <a:prstGeom prst="line">
              <a:avLst/>
            </a:prstGeom>
            <a:ln w="19050">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61" name="EVALUATE: compare assembled candidates, not disconnected micro-kernels"/>
          <p:cNvGrpSpPr/>
          <p:nvPr/>
        </p:nvGrpSpPr>
        <p:grpSpPr>
          <a:xfrm>
            <a:off x="393192" y="3072384"/>
            <a:ext cx="3172968" cy="768096"/>
            <a:chOff x="393192" y="3072384"/>
            <a:chExt cx="3172968" cy="768096"/>
          </a:xfrm>
        </p:grpSpPr>
        <p:sp>
          <p:nvSpPr>
            <p:cNvPr id="57" name="Rounded Rectangle 56"/>
            <p:cNvSpPr/>
            <p:nvPr/>
          </p:nvSpPr>
          <p:spPr>
            <a:xfrm>
              <a:off x="393192" y="3072384"/>
              <a:ext cx="2852928" cy="768096"/>
            </a:xfrm>
            <a:prstGeom prst="roundRect">
              <a:avLst>
                <a:gd name="adj" fmla="val 6000"/>
              </a:avLst>
            </a:prstGeom>
            <a:solidFill>
              <a:srgbClr val="F0EDF7"/>
            </a:solidFill>
            <a:ln w="1143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93776" y="3145536"/>
              <a:ext cx="2651760" cy="274320"/>
            </a:xfrm>
            <a:prstGeom prst="rect">
              <a:avLst/>
            </a:prstGeom>
            <a:noFill/>
          </p:spPr>
          <p:txBody>
            <a:bodyPr wrap="square" lIns="22860" tIns="0" rIns="22860" bIns="0" anchor="ctr">
              <a:noAutofit/>
            </a:bodyPr>
            <a:lstStyle/>
            <a:p>
              <a:pPr algn="ctr">
                <a:lnSpc>
                  <a:spcPct val="108000"/>
                </a:lnSpc>
                <a:spcBef>
                  <a:spcPts val="0"/>
                </a:spcBef>
                <a:spcAft>
                  <a:spcPts val="0"/>
                </a:spcAft>
              </a:pPr>
              <a:r>
                <a:rPr sz="1400" b="1">
                  <a:solidFill>
                    <a:srgbClr val="6A57A1"/>
                  </a:solidFill>
                  <a:latin typeface="Noto Sans"/>
                </a:rPr>
                <a:t>Compare / select</a:t>
              </a:r>
            </a:p>
          </p:txBody>
        </p:sp>
        <p:sp>
          <p:nvSpPr>
            <p:cNvPr id="59" name="TextBox 58"/>
            <p:cNvSpPr txBox="1"/>
            <p:nvPr/>
          </p:nvSpPr>
          <p:spPr>
            <a:xfrm>
              <a:off x="493776" y="3502152"/>
              <a:ext cx="2651760" cy="201168"/>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0">
                  <a:solidFill>
                    <a:srgbClr val="23364B"/>
                  </a:solidFill>
                  <a:latin typeface="Noto Sans"/>
                </a:rPr>
                <a:t>which composition fits the workload?</a:t>
              </a:r>
            </a:p>
          </p:txBody>
        </p:sp>
        <p:cxnSp>
          <p:nvCxnSpPr>
            <p:cNvPr id="60" name="Connector 59"/>
            <p:cNvCxnSpPr/>
            <p:nvPr/>
          </p:nvCxnSpPr>
          <p:spPr>
            <a:xfrm flipH="1">
              <a:off x="3273552" y="3456432"/>
              <a:ext cx="292608" cy="0"/>
            </a:xfrm>
            <a:prstGeom prst="line">
              <a:avLst/>
            </a:prstGeom>
            <a:ln w="19050">
              <a:solidFill>
                <a:srgbClr val="6A57A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62" name="Rectangle 61"/>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Each candidate differs by a declared choice; its entire wired algorithm is measured.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56"/>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6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Measure the algorithm and its organs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§§3.3.1, 3.4 and 4.3–4.4  |  The same storage organ reappears at each scale</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10</a:t>
            </a:r>
          </a:p>
        </p:txBody>
      </p:sp>
      <p:sp>
        <p:nvSpPr>
          <p:cNvPr id="18" name="Rounded Rectangle 17"/>
          <p:cNvSpPr/>
          <p:nvPr/>
        </p:nvSpPr>
        <p:spPr>
          <a:xfrm>
            <a:off x="429768" y="1115568"/>
            <a:ext cx="5852160" cy="2807208"/>
          </a:xfrm>
          <a:prstGeom prst="roundRect">
            <a:avLst>
              <a:gd name="adj" fmla="val 6000"/>
            </a:avLst>
          </a:prstGeom>
          <a:solidFill>
            <a:srgbClr val="F7F9FC"/>
          </a:solidFill>
          <a:ln w="1651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504" y="1216152"/>
            <a:ext cx="5422392" cy="274320"/>
          </a:xfrm>
          <a:prstGeom prst="rect">
            <a:avLst/>
          </a:prstGeom>
          <a:noFill/>
        </p:spPr>
        <p:txBody>
          <a:bodyPr wrap="square" lIns="22860" tIns="0" rIns="22860" bIns="0" anchor="ctr">
            <a:noAutofit/>
          </a:bodyPr>
          <a:lstStyle/>
          <a:p>
            <a:pPr algn="l">
              <a:lnSpc>
                <a:spcPct val="108000"/>
              </a:lnSpc>
              <a:spcBef>
                <a:spcPts val="0"/>
              </a:spcBef>
              <a:spcAft>
                <a:spcPts val="0"/>
              </a:spcAft>
            </a:pPr>
            <a:r>
              <a:rPr sz="1600" b="1">
                <a:solidFill>
                  <a:srgbClr val="041447"/>
                </a:solidFill>
                <a:latin typeface="Noto Sans"/>
              </a:rPr>
              <a:t>Whole workload  ·  request sequence</a:t>
            </a:r>
          </a:p>
        </p:txBody>
      </p:sp>
      <p:sp>
        <p:nvSpPr>
          <p:cNvPr id="20" name="Rounded Rectangle 19"/>
          <p:cNvSpPr/>
          <p:nvPr/>
        </p:nvSpPr>
        <p:spPr>
          <a:xfrm>
            <a:off x="740664" y="1792224"/>
            <a:ext cx="5230368" cy="1892807"/>
          </a:xfrm>
          <a:prstGeom prst="roundRect">
            <a:avLst>
              <a:gd name="adj" fmla="val 6000"/>
            </a:avLst>
          </a:prstGeom>
          <a:solidFill>
            <a:srgbClr val="FFFFFF"/>
          </a:solidFill>
          <a:ln w="13970">
            <a:solidFill>
              <a:srgbClr val="34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1883664"/>
            <a:ext cx="4791456" cy="274320"/>
          </a:xfrm>
          <a:prstGeom prst="rect">
            <a:avLst/>
          </a:prstGeom>
          <a:noFill/>
        </p:spPr>
        <p:txBody>
          <a:bodyPr wrap="square" lIns="22860" tIns="0" rIns="22860" bIns="0" anchor="ctr">
            <a:noAutofit/>
          </a:bodyPr>
          <a:lstStyle/>
          <a:p>
            <a:pPr algn="l">
              <a:lnSpc>
                <a:spcPct val="108000"/>
              </a:lnSpc>
              <a:spcBef>
                <a:spcPts val="0"/>
              </a:spcBef>
              <a:spcAft>
                <a:spcPts val="0"/>
              </a:spcAft>
            </a:pPr>
            <a:r>
              <a:rPr sz="1400" b="1">
                <a:solidFill>
                  <a:srgbClr val="3468AA"/>
                </a:solidFill>
                <a:latin typeface="Noto Sans"/>
              </a:rPr>
              <a:t>Interface operation  ·  find("cat")</a:t>
            </a:r>
          </a:p>
        </p:txBody>
      </p:sp>
      <p:sp>
        <p:nvSpPr>
          <p:cNvPr id="22" name="Rounded Rectangle 21"/>
          <p:cNvSpPr/>
          <p:nvPr/>
        </p:nvSpPr>
        <p:spPr>
          <a:xfrm>
            <a:off x="941832" y="2633472"/>
            <a:ext cx="1152144" cy="676656"/>
          </a:xfrm>
          <a:prstGeom prst="roundRect">
            <a:avLst>
              <a:gd name="adj" fmla="val 6000"/>
            </a:avLst>
          </a:prstGeom>
          <a:solidFill>
            <a:srgbClr val="F0EDF7"/>
          </a:solidFill>
          <a:ln w="1524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4692" y="2638044"/>
            <a:ext cx="1106424" cy="667512"/>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6A57A1"/>
                </a:solidFill>
                <a:latin typeface="Noto Sans"/>
              </a:rPr>
              <a:t>Search</a:t>
            </a:r>
          </a:p>
          <a:p>
            <a:pPr algn="ctr">
              <a:lnSpc>
                <a:spcPct val="108000"/>
              </a:lnSpc>
              <a:spcBef>
                <a:spcPts val="0"/>
              </a:spcBef>
              <a:spcAft>
                <a:spcPts val="0"/>
              </a:spcAft>
            </a:pPr>
            <a:r>
              <a:rPr sz="1300" b="1">
                <a:solidFill>
                  <a:srgbClr val="6A57A1"/>
                </a:solidFill>
                <a:latin typeface="Noto Sans"/>
              </a:rPr>
              <a:t>T0</a:t>
            </a:r>
          </a:p>
        </p:txBody>
      </p:sp>
      <p:sp>
        <p:nvSpPr>
          <p:cNvPr id="24" name="Rounded Rectangle 23"/>
          <p:cNvSpPr/>
          <p:nvPr/>
        </p:nvSpPr>
        <p:spPr>
          <a:xfrm>
            <a:off x="2542032" y="2377440"/>
            <a:ext cx="3035808" cy="1069848"/>
          </a:xfrm>
          <a:prstGeom prst="roundRect">
            <a:avLst>
              <a:gd name="adj" fmla="val 6000"/>
            </a:avLst>
          </a:prstGeom>
          <a:solidFill>
            <a:srgbClr val="F1F5F8"/>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660904" y="2450592"/>
            <a:ext cx="2807208" cy="210312"/>
          </a:xfrm>
          <a:prstGeom prst="rect">
            <a:avLst/>
          </a:prstGeom>
          <a:noFill/>
        </p:spPr>
        <p:txBody>
          <a:bodyPr wrap="square" lIns="22860" tIns="0" rIns="22860" bIns="0" anchor="ctr">
            <a:noAutofit/>
          </a:bodyPr>
          <a:lstStyle/>
          <a:p>
            <a:pPr algn="ctr">
              <a:lnSpc>
                <a:spcPct val="108000"/>
              </a:lnSpc>
              <a:spcBef>
                <a:spcPts val="0"/>
              </a:spcBef>
              <a:spcAft>
                <a:spcPts val="0"/>
              </a:spcAft>
            </a:pPr>
            <a:r>
              <a:rPr sz="1320" b="1">
                <a:solidFill>
                  <a:srgbClr val="041447"/>
                </a:solidFill>
                <a:latin typeface="Noto Sans"/>
              </a:rPr>
              <a:t>Storage organ</a:t>
            </a:r>
          </a:p>
        </p:txBody>
      </p:sp>
      <p:sp>
        <p:nvSpPr>
          <p:cNvPr id="26" name="Freeform 25"/>
          <p:cNvSpPr/>
          <p:nvPr/>
        </p:nvSpPr>
        <p:spPr>
          <a:xfrm>
            <a:off x="2761488" y="2816352"/>
            <a:ext cx="920801" cy="448056"/>
          </a:xfrm>
          <a:custGeom>
            <a:avLst/>
            <a:gdLst/>
            <a:ahLst/>
            <a:cxnLst/>
            <a:rect l="l" t="t" r="r" b="b"/>
            <a:pathLst>
              <a:path w="1007" h="490">
                <a:moveTo>
                  <a:pt x="0" y="0"/>
                </a:moveTo>
                <a:lnTo>
                  <a:pt x="943" y="0"/>
                </a:lnTo>
                <a:lnTo>
                  <a:pt x="943" y="206"/>
                </a:lnTo>
                <a:lnTo>
                  <a:pt x="958" y="214"/>
                </a:lnTo>
                <a:lnTo>
                  <a:pt x="971" y="221"/>
                </a:lnTo>
                <a:lnTo>
                  <a:pt x="983" y="229"/>
                </a:lnTo>
                <a:lnTo>
                  <a:pt x="993" y="237"/>
                </a:lnTo>
                <a:lnTo>
                  <a:pt x="1001" y="244"/>
                </a:lnTo>
                <a:lnTo>
                  <a:pt x="1005" y="252"/>
                </a:lnTo>
                <a:lnTo>
                  <a:pt x="1007" y="260"/>
                </a:lnTo>
                <a:lnTo>
                  <a:pt x="1005" y="267"/>
                </a:lnTo>
                <a:lnTo>
                  <a:pt x="1001" y="275"/>
                </a:lnTo>
                <a:lnTo>
                  <a:pt x="993" y="283"/>
                </a:lnTo>
                <a:lnTo>
                  <a:pt x="983" y="290"/>
                </a:lnTo>
                <a:lnTo>
                  <a:pt x="971" y="298"/>
                </a:lnTo>
                <a:lnTo>
                  <a:pt x="958" y="306"/>
                </a:lnTo>
                <a:lnTo>
                  <a:pt x="943" y="314"/>
                </a:lnTo>
                <a:lnTo>
                  <a:pt x="943" y="490"/>
                </a:lnTo>
                <a:lnTo>
                  <a:pt x="0" y="490"/>
                </a:lnTo>
                <a:lnTo>
                  <a:pt x="0" y="314"/>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843784" y="2857500"/>
            <a:ext cx="734568" cy="116494"/>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T4</a:t>
            </a:r>
          </a:p>
        </p:txBody>
      </p:sp>
      <p:sp>
        <p:nvSpPr>
          <p:cNvPr id="28" name="TextBox 27"/>
          <p:cNvSpPr txBox="1"/>
          <p:nvPr/>
        </p:nvSpPr>
        <p:spPr>
          <a:xfrm>
            <a:off x="2802636" y="2968691"/>
            <a:ext cx="794004" cy="19714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Node4</a:t>
            </a:r>
          </a:p>
        </p:txBody>
      </p:sp>
      <p:sp>
        <p:nvSpPr>
          <p:cNvPr id="29" name="Freeform 28"/>
          <p:cNvSpPr/>
          <p:nvPr/>
        </p:nvSpPr>
        <p:spPr>
          <a:xfrm>
            <a:off x="3624072" y="2816352"/>
            <a:ext cx="920801" cy="448056"/>
          </a:xfrm>
          <a:custGeom>
            <a:avLst/>
            <a:gdLst/>
            <a:ahLst/>
            <a:cxnLst/>
            <a:rect l="l" t="t" r="r" b="b"/>
            <a:pathLst>
              <a:path w="1007" h="490">
                <a:moveTo>
                  <a:pt x="0" y="0"/>
                </a:moveTo>
                <a:lnTo>
                  <a:pt x="943" y="0"/>
                </a:lnTo>
                <a:lnTo>
                  <a:pt x="943" y="206"/>
                </a:lnTo>
                <a:lnTo>
                  <a:pt x="958" y="214"/>
                </a:lnTo>
                <a:lnTo>
                  <a:pt x="971" y="221"/>
                </a:lnTo>
                <a:lnTo>
                  <a:pt x="983" y="229"/>
                </a:lnTo>
                <a:lnTo>
                  <a:pt x="993" y="237"/>
                </a:lnTo>
                <a:lnTo>
                  <a:pt x="1001" y="244"/>
                </a:lnTo>
                <a:lnTo>
                  <a:pt x="1005" y="252"/>
                </a:lnTo>
                <a:lnTo>
                  <a:pt x="1007" y="260"/>
                </a:lnTo>
                <a:lnTo>
                  <a:pt x="1005" y="267"/>
                </a:lnTo>
                <a:lnTo>
                  <a:pt x="1001" y="275"/>
                </a:lnTo>
                <a:lnTo>
                  <a:pt x="993" y="283"/>
                </a:lnTo>
                <a:lnTo>
                  <a:pt x="983" y="290"/>
                </a:lnTo>
                <a:lnTo>
                  <a:pt x="971" y="298"/>
                </a:lnTo>
                <a:lnTo>
                  <a:pt x="958" y="306"/>
                </a:lnTo>
                <a:lnTo>
                  <a:pt x="943" y="314"/>
                </a:lnTo>
                <a:lnTo>
                  <a:pt x="943" y="490"/>
                </a:lnTo>
                <a:lnTo>
                  <a:pt x="0" y="490"/>
                </a:lnTo>
                <a:lnTo>
                  <a:pt x="0" y="314"/>
                </a:lnTo>
                <a:lnTo>
                  <a:pt x="14" y="306"/>
                </a:lnTo>
                <a:lnTo>
                  <a:pt x="28" y="298"/>
                </a:lnTo>
                <a:lnTo>
                  <a:pt x="40" y="290"/>
                </a:lnTo>
                <a:lnTo>
                  <a:pt x="50" y="283"/>
                </a:lnTo>
                <a:lnTo>
                  <a:pt x="57" y="275"/>
                </a:lnTo>
                <a:lnTo>
                  <a:pt x="62" y="267"/>
                </a:lnTo>
                <a:lnTo>
                  <a:pt x="64" y="260"/>
                </a:lnTo>
                <a:lnTo>
                  <a:pt x="62" y="252"/>
                </a:lnTo>
                <a:lnTo>
                  <a:pt x="57" y="244"/>
                </a:lnTo>
                <a:lnTo>
                  <a:pt x="50" y="237"/>
                </a:lnTo>
                <a:lnTo>
                  <a:pt x="40" y="229"/>
                </a:lnTo>
                <a:lnTo>
                  <a:pt x="28" y="221"/>
                </a:lnTo>
                <a:lnTo>
                  <a:pt x="14" y="213"/>
                </a:lnTo>
                <a:lnTo>
                  <a:pt x="0" y="206"/>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06368" y="2857500"/>
            <a:ext cx="734568" cy="116494"/>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T5</a:t>
            </a:r>
          </a:p>
        </p:txBody>
      </p:sp>
      <p:sp>
        <p:nvSpPr>
          <p:cNvPr id="31" name="TextBox 30"/>
          <p:cNvSpPr txBox="1"/>
          <p:nvPr/>
        </p:nvSpPr>
        <p:spPr>
          <a:xfrm>
            <a:off x="3665220" y="2968691"/>
            <a:ext cx="794004" cy="19714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Align</a:t>
            </a:r>
          </a:p>
        </p:txBody>
      </p:sp>
      <p:sp>
        <p:nvSpPr>
          <p:cNvPr id="32" name="Freeform 31"/>
          <p:cNvSpPr/>
          <p:nvPr/>
        </p:nvSpPr>
        <p:spPr>
          <a:xfrm>
            <a:off x="4486656" y="2816352"/>
            <a:ext cx="862279" cy="448056"/>
          </a:xfrm>
          <a:custGeom>
            <a:avLst/>
            <a:gdLst/>
            <a:ahLst/>
            <a:cxnLst/>
            <a:rect l="l" t="t" r="r" b="b"/>
            <a:pathLst>
              <a:path w="943" h="490">
                <a:moveTo>
                  <a:pt x="0" y="0"/>
                </a:moveTo>
                <a:lnTo>
                  <a:pt x="943" y="0"/>
                </a:lnTo>
                <a:lnTo>
                  <a:pt x="943" y="206"/>
                </a:lnTo>
                <a:lnTo>
                  <a:pt x="943" y="490"/>
                </a:lnTo>
                <a:lnTo>
                  <a:pt x="0" y="490"/>
                </a:lnTo>
                <a:lnTo>
                  <a:pt x="0" y="314"/>
                </a:lnTo>
                <a:lnTo>
                  <a:pt x="14" y="306"/>
                </a:lnTo>
                <a:lnTo>
                  <a:pt x="28" y="298"/>
                </a:lnTo>
                <a:lnTo>
                  <a:pt x="40" y="290"/>
                </a:lnTo>
                <a:lnTo>
                  <a:pt x="50" y="283"/>
                </a:lnTo>
                <a:lnTo>
                  <a:pt x="57" y="275"/>
                </a:lnTo>
                <a:lnTo>
                  <a:pt x="62" y="267"/>
                </a:lnTo>
                <a:lnTo>
                  <a:pt x="64" y="260"/>
                </a:lnTo>
                <a:lnTo>
                  <a:pt x="62" y="252"/>
                </a:lnTo>
                <a:lnTo>
                  <a:pt x="57" y="244"/>
                </a:lnTo>
                <a:lnTo>
                  <a:pt x="50" y="237"/>
                </a:lnTo>
                <a:lnTo>
                  <a:pt x="40" y="229"/>
                </a:lnTo>
                <a:lnTo>
                  <a:pt x="28" y="221"/>
                </a:lnTo>
                <a:lnTo>
                  <a:pt x="14" y="213"/>
                </a:lnTo>
                <a:lnTo>
                  <a:pt x="0" y="206"/>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68951" y="2857500"/>
            <a:ext cx="734568" cy="116494"/>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T6</a:t>
            </a:r>
          </a:p>
        </p:txBody>
      </p:sp>
      <p:sp>
        <p:nvSpPr>
          <p:cNvPr id="34" name="TextBox 33"/>
          <p:cNvSpPr txBox="1"/>
          <p:nvPr/>
        </p:nvSpPr>
        <p:spPr>
          <a:xfrm>
            <a:off x="4527804" y="2968691"/>
            <a:ext cx="794004" cy="19714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Alloc.</a:t>
            </a:r>
          </a:p>
        </p:txBody>
      </p:sp>
      <p:cxnSp>
        <p:nvCxnSpPr>
          <p:cNvPr id="35" name="Connector 34"/>
          <p:cNvCxnSpPr/>
          <p:nvPr/>
        </p:nvCxnSpPr>
        <p:spPr>
          <a:xfrm>
            <a:off x="2112264" y="2962656"/>
            <a:ext cx="402336" cy="0"/>
          </a:xfrm>
          <a:prstGeom prst="line">
            <a:avLst/>
          </a:prstGeom>
          <a:ln w="21590">
            <a:solidFill>
              <a:srgbClr val="6A57A1"/>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647688" y="1307592"/>
            <a:ext cx="2066543" cy="950976"/>
          </a:xfrm>
          <a:prstGeom prst="roundRect">
            <a:avLst>
              <a:gd name="adj" fmla="val 6000"/>
            </a:avLst>
          </a:prstGeom>
          <a:solidFill>
            <a:srgbClr val="FFFFFF"/>
          </a:solidFill>
          <a:ln w="1143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66560" y="1380744"/>
            <a:ext cx="1828800" cy="310896"/>
          </a:xfrm>
          <a:prstGeom prst="rect">
            <a:avLst/>
          </a:prstGeom>
          <a:noFill/>
        </p:spPr>
        <p:txBody>
          <a:bodyPr wrap="square" lIns="22860" tIns="0" rIns="22860" bIns="0" anchor="ctr">
            <a:noAutofit/>
          </a:bodyPr>
          <a:lstStyle/>
          <a:p>
            <a:pPr algn="ctr">
              <a:lnSpc>
                <a:spcPct val="108000"/>
              </a:lnSpc>
              <a:spcBef>
                <a:spcPts val="0"/>
              </a:spcBef>
              <a:spcAft>
                <a:spcPts val="0"/>
              </a:spcAft>
            </a:pPr>
            <a:r>
              <a:rPr sz="1400" b="1">
                <a:solidFill>
                  <a:srgbClr val="2F7458"/>
                </a:solidFill>
                <a:latin typeface="Noto Sans"/>
              </a:rPr>
              <a:t>Drive + observe</a:t>
            </a:r>
          </a:p>
        </p:txBody>
      </p:sp>
      <p:sp>
        <p:nvSpPr>
          <p:cNvPr id="38" name="TextBox 37"/>
          <p:cNvSpPr txBox="1"/>
          <p:nvPr/>
        </p:nvSpPr>
        <p:spPr>
          <a:xfrm>
            <a:off x="6766560" y="1783080"/>
            <a:ext cx="1828800" cy="310896"/>
          </a:xfrm>
          <a:prstGeom prst="rect">
            <a:avLst/>
          </a:prstGeom>
          <a:noFill/>
        </p:spPr>
        <p:txBody>
          <a:bodyPr wrap="square" lIns="22860" tIns="0" rIns="22860" bIns="0" anchor="ctr">
            <a:noAutofit/>
          </a:bodyPr>
          <a:lstStyle/>
          <a:p>
            <a:pPr algn="ctr">
              <a:lnSpc>
                <a:spcPct val="108000"/>
              </a:lnSpc>
              <a:spcBef>
                <a:spcPts val="0"/>
              </a:spcBef>
              <a:spcAft>
                <a:spcPts val="0"/>
              </a:spcAft>
            </a:pPr>
            <a:r>
              <a:rPr sz="1120" b="0">
                <a:solidFill>
                  <a:srgbClr val="23364B"/>
                </a:solidFill>
                <a:latin typeface="Noto Sans"/>
              </a:rPr>
              <a:t>common test dock</a:t>
            </a:r>
          </a:p>
        </p:txBody>
      </p:sp>
      <p:cxnSp>
        <p:nvCxnSpPr>
          <p:cNvPr id="39" name="Connector 38"/>
          <p:cNvCxnSpPr/>
          <p:nvPr/>
        </p:nvCxnSpPr>
        <p:spPr>
          <a:xfrm>
            <a:off x="6309360" y="1773936"/>
            <a:ext cx="310896" cy="0"/>
          </a:xfrm>
          <a:prstGeom prst="line">
            <a:avLst/>
          </a:prstGeom>
          <a:ln w="17780">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647688" y="2706624"/>
            <a:ext cx="2066543" cy="960120"/>
          </a:xfrm>
          <a:prstGeom prst="roundRect">
            <a:avLst>
              <a:gd name="adj" fmla="val 6000"/>
            </a:avLst>
          </a:prstGeom>
          <a:solidFill>
            <a:srgbClr val="FFFFFF"/>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748272" y="2788920"/>
            <a:ext cx="1865376" cy="310896"/>
          </a:xfrm>
          <a:prstGeom prst="rect">
            <a:avLst/>
          </a:prstGeom>
          <a:noFill/>
        </p:spPr>
        <p:txBody>
          <a:bodyPr wrap="square" lIns="22860" tIns="0" rIns="22860" bIns="0" anchor="ctr">
            <a:noAutofit/>
          </a:bodyPr>
          <a:lstStyle/>
          <a:p>
            <a:pPr algn="ctr">
              <a:lnSpc>
                <a:spcPct val="108000"/>
              </a:lnSpc>
              <a:spcBef>
                <a:spcPts val="0"/>
              </a:spcBef>
              <a:spcAft>
                <a:spcPts val="0"/>
              </a:spcAft>
            </a:pPr>
            <a:r>
              <a:rPr sz="1280" b="1">
                <a:solidFill>
                  <a:srgbClr val="041447"/>
                </a:solidFill>
                <a:latin typeface="Noto Sans"/>
              </a:rPr>
              <a:t>Interpret together</a:t>
            </a:r>
          </a:p>
        </p:txBody>
      </p:sp>
      <p:sp>
        <p:nvSpPr>
          <p:cNvPr id="42" name="TextBox 41"/>
          <p:cNvSpPr txBox="1"/>
          <p:nvPr/>
        </p:nvSpPr>
        <p:spPr>
          <a:xfrm>
            <a:off x="6748272" y="3200400"/>
            <a:ext cx="1865376"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080" b="0">
                <a:solidFill>
                  <a:srgbClr val="23364B"/>
                </a:solidFill>
                <a:latin typeface="Noto Sans"/>
              </a:rPr>
              <a:t>component cost ≠</a:t>
            </a:r>
          </a:p>
          <a:p>
            <a:pPr algn="ctr">
              <a:lnSpc>
                <a:spcPct val="108000"/>
              </a:lnSpc>
              <a:spcBef>
                <a:spcPts val="0"/>
              </a:spcBef>
              <a:spcAft>
                <a:spcPts val="0"/>
              </a:spcAft>
            </a:pPr>
            <a:r>
              <a:rPr sz="1080" b="0">
                <a:solidFill>
                  <a:srgbClr val="23364B"/>
                </a:solidFill>
                <a:latin typeface="Noto Sans"/>
              </a:rPr>
              <a:t>whole-workload cost</a:t>
            </a:r>
          </a:p>
        </p:txBody>
      </p:sp>
      <p:sp>
        <p:nvSpPr>
          <p:cNvPr id="43" name="Rectangle 42"/>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Measure the assembled candidate; explain costs through its internal composition.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Evaluation: define the comparison first</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§5.1 / Appendix A  |  18 Jun 2026 pilot; final post-rebuild run not supplied</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11</a:t>
            </a:r>
          </a:p>
        </p:txBody>
      </p:sp>
      <p:sp>
        <p:nvSpPr>
          <p:cNvPr id="18" name="TextBox 17"/>
          <p:cNvSpPr txBox="1"/>
          <p:nvPr/>
        </p:nvSpPr>
        <p:spPr>
          <a:xfrm>
            <a:off x="466344" y="1124712"/>
            <a:ext cx="2432304" cy="576072"/>
          </a:xfrm>
          <a:prstGeom prst="rect">
            <a:avLst/>
          </a:prstGeom>
          <a:noFill/>
        </p:spPr>
        <p:txBody>
          <a:bodyPr wrap="square" lIns="9144" tIns="0" rIns="9144" bIns="0" anchor="ctr">
            <a:spAutoFit/>
          </a:bodyPr>
          <a:lstStyle/>
          <a:p>
            <a:pPr algn="ctr">
              <a:spcBef>
                <a:spcPts val="0"/>
              </a:spcBef>
              <a:spcAft>
                <a:spcPts val="0"/>
              </a:spcAft>
              <a:defRPr sz="3300" b="1">
                <a:solidFill>
                  <a:srgbClr val="008A96"/>
                </a:solidFill>
                <a:latin typeface="Noto Sans"/>
              </a:defRPr>
            </a:pPr>
            <a:r>
              <a:t>320</a:t>
            </a:r>
          </a:p>
        </p:txBody>
      </p:sp>
      <p:sp>
        <p:nvSpPr>
          <p:cNvPr id="19" name="TextBox 18"/>
          <p:cNvSpPr txBox="1"/>
          <p:nvPr/>
        </p:nvSpPr>
        <p:spPr>
          <a:xfrm>
            <a:off x="466344" y="1719072"/>
            <a:ext cx="2432304" cy="301752"/>
          </a:xfrm>
          <a:prstGeom prst="rect">
            <a:avLst/>
          </a:prstGeom>
          <a:noFill/>
        </p:spPr>
        <p:txBody>
          <a:bodyPr wrap="square" lIns="9144" tIns="0" rIns="9144" bIns="0" anchor="ctr">
            <a:spAutoFit/>
          </a:bodyPr>
          <a:lstStyle/>
          <a:p>
            <a:pPr algn="ctr">
              <a:spcBef>
                <a:spcPts val="0"/>
              </a:spcBef>
              <a:spcAft>
                <a:spcPts val="0"/>
              </a:spcAft>
              <a:defRPr sz="1320" b="0">
                <a:solidFill>
                  <a:srgbClr val="192B43"/>
                </a:solidFill>
                <a:latin typeface="Noto Sans"/>
              </a:defRPr>
            </a:pPr>
            <a:r>
              <a:t>candidate binaries</a:t>
            </a:r>
          </a:p>
        </p:txBody>
      </p:sp>
      <p:sp>
        <p:nvSpPr>
          <p:cNvPr id="20" name="TextBox 19"/>
          <p:cNvSpPr txBox="1"/>
          <p:nvPr/>
        </p:nvSpPr>
        <p:spPr>
          <a:xfrm>
            <a:off x="3337560" y="1124712"/>
            <a:ext cx="2432304" cy="576072"/>
          </a:xfrm>
          <a:prstGeom prst="rect">
            <a:avLst/>
          </a:prstGeom>
          <a:noFill/>
        </p:spPr>
        <p:txBody>
          <a:bodyPr wrap="square" lIns="9144" tIns="0" rIns="9144" bIns="0" anchor="ctr">
            <a:spAutoFit/>
          </a:bodyPr>
          <a:lstStyle/>
          <a:p>
            <a:pPr algn="ctr">
              <a:spcBef>
                <a:spcPts val="0"/>
              </a:spcBef>
              <a:spcAft>
                <a:spcPts val="0"/>
              </a:spcAft>
              <a:defRPr sz="3300" b="1">
                <a:solidFill>
                  <a:srgbClr val="008A96"/>
                </a:solidFill>
                <a:latin typeface="Noto Sans"/>
              </a:defRPr>
            </a:pPr>
            <a:r>
              <a:t>3</a:t>
            </a:r>
          </a:p>
        </p:txBody>
      </p:sp>
      <p:sp>
        <p:nvSpPr>
          <p:cNvPr id="21" name="TextBox 20"/>
          <p:cNvSpPr txBox="1"/>
          <p:nvPr/>
        </p:nvSpPr>
        <p:spPr>
          <a:xfrm>
            <a:off x="3337560" y="1719072"/>
            <a:ext cx="2432304" cy="301752"/>
          </a:xfrm>
          <a:prstGeom prst="rect">
            <a:avLst/>
          </a:prstGeom>
          <a:noFill/>
        </p:spPr>
        <p:txBody>
          <a:bodyPr wrap="square" lIns="9144" tIns="0" rIns="9144" bIns="0" anchor="ctr">
            <a:spAutoFit/>
          </a:bodyPr>
          <a:lstStyle/>
          <a:p>
            <a:pPr algn="ctr">
              <a:spcBef>
                <a:spcPts val="0"/>
              </a:spcBef>
              <a:spcAft>
                <a:spcPts val="0"/>
              </a:spcAft>
              <a:defRPr sz="1320" b="0">
                <a:solidFill>
                  <a:srgbClr val="192B43"/>
                </a:solidFill>
                <a:latin typeface="Noto Sans"/>
              </a:defRPr>
            </a:pPr>
            <a:r>
              <a:t>separate repetitions</a:t>
            </a:r>
          </a:p>
        </p:txBody>
      </p:sp>
      <p:sp>
        <p:nvSpPr>
          <p:cNvPr id="22" name="TextBox 21"/>
          <p:cNvSpPr txBox="1"/>
          <p:nvPr/>
        </p:nvSpPr>
        <p:spPr>
          <a:xfrm>
            <a:off x="6208776" y="1124712"/>
            <a:ext cx="2432304" cy="576072"/>
          </a:xfrm>
          <a:prstGeom prst="rect">
            <a:avLst/>
          </a:prstGeom>
          <a:noFill/>
        </p:spPr>
        <p:txBody>
          <a:bodyPr wrap="square" lIns="9144" tIns="0" rIns="9144" bIns="0" anchor="ctr">
            <a:spAutoFit/>
          </a:bodyPr>
          <a:lstStyle/>
          <a:p>
            <a:pPr algn="ctr">
              <a:spcBef>
                <a:spcPts val="0"/>
              </a:spcBef>
              <a:spcAft>
                <a:spcPts val="0"/>
              </a:spcAft>
              <a:defRPr sz="3300" b="1">
                <a:solidFill>
                  <a:srgbClr val="008A96"/>
                </a:solidFill>
                <a:latin typeface="Noto Sans"/>
              </a:defRPr>
            </a:pPr>
            <a:r>
              <a:t>3</a:t>
            </a:r>
          </a:p>
        </p:txBody>
      </p:sp>
      <p:sp>
        <p:nvSpPr>
          <p:cNvPr id="23" name="TextBox 22"/>
          <p:cNvSpPr txBox="1"/>
          <p:nvPr/>
        </p:nvSpPr>
        <p:spPr>
          <a:xfrm>
            <a:off x="6208776" y="1719072"/>
            <a:ext cx="2432304" cy="301752"/>
          </a:xfrm>
          <a:prstGeom prst="rect">
            <a:avLst/>
          </a:prstGeom>
          <a:noFill/>
        </p:spPr>
        <p:txBody>
          <a:bodyPr wrap="square" lIns="9144" tIns="0" rIns="9144" bIns="0" anchor="ctr">
            <a:spAutoFit/>
          </a:bodyPr>
          <a:lstStyle/>
          <a:p>
            <a:pPr algn="ctr">
              <a:spcBef>
                <a:spcPts val="0"/>
              </a:spcBef>
              <a:spcAft>
                <a:spcPts val="0"/>
              </a:spcAft>
              <a:defRPr sz="1320" b="0">
                <a:solidFill>
                  <a:srgbClr val="192B43"/>
                </a:solidFill>
                <a:latin typeface="Noto Sans"/>
              </a:defRPr>
            </a:pPr>
            <a:r>
              <a:t>representative contrasts</a:t>
            </a:r>
          </a:p>
        </p:txBody>
      </p:sp>
      <p:sp>
        <p:nvSpPr>
          <p:cNvPr id="24" name="Rectangle 23"/>
          <p:cNvSpPr/>
          <p:nvPr/>
        </p:nvSpPr>
        <p:spPr>
          <a:xfrm>
            <a:off x="475488" y="2350008"/>
            <a:ext cx="1060704"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2064" y="2363724"/>
            <a:ext cx="987551"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MATCH</a:t>
            </a:r>
          </a:p>
        </p:txBody>
      </p:sp>
      <p:sp>
        <p:nvSpPr>
          <p:cNvPr id="26" name="TextBox 25"/>
          <p:cNvSpPr txBox="1"/>
          <p:nvPr/>
        </p:nvSpPr>
        <p:spPr>
          <a:xfrm>
            <a:off x="1746504" y="2350008"/>
            <a:ext cx="6885432" cy="274320"/>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other axes + settings + workload + repetition</a:t>
            </a:r>
          </a:p>
        </p:txBody>
      </p:sp>
      <p:sp>
        <p:nvSpPr>
          <p:cNvPr id="27" name="Rectangle 26"/>
          <p:cNvSpPr/>
          <p:nvPr/>
        </p:nvSpPr>
        <p:spPr>
          <a:xfrm>
            <a:off x="475488" y="2807208"/>
            <a:ext cx="1060704"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12064" y="2820924"/>
            <a:ext cx="987551"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VARY</a:t>
            </a:r>
          </a:p>
        </p:txBody>
      </p:sp>
      <p:sp>
        <p:nvSpPr>
          <p:cNvPr id="29" name="TextBox 28"/>
          <p:cNvSpPr txBox="1"/>
          <p:nvPr/>
        </p:nvSpPr>
        <p:spPr>
          <a:xfrm>
            <a:off x="1746504" y="2807208"/>
            <a:ext cx="6885432" cy="274320"/>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one selected component decision</a:t>
            </a:r>
          </a:p>
        </p:txBody>
      </p:sp>
      <p:sp>
        <p:nvSpPr>
          <p:cNvPr id="30" name="Rectangle 29"/>
          <p:cNvSpPr/>
          <p:nvPr/>
        </p:nvSpPr>
        <p:spPr>
          <a:xfrm>
            <a:off x="475488" y="3264408"/>
            <a:ext cx="1060704"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2064" y="3278124"/>
            <a:ext cx="987551"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REPORT</a:t>
            </a:r>
          </a:p>
        </p:txBody>
      </p:sp>
      <p:sp>
        <p:nvSpPr>
          <p:cNvPr id="32" name="TextBox 31"/>
          <p:cNvSpPr txBox="1"/>
          <p:nvPr/>
        </p:nvSpPr>
        <p:spPr>
          <a:xfrm>
            <a:off x="1746504" y="3264408"/>
            <a:ext cx="6885432" cy="274320"/>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one paired median per repetition; no confidence interval</a:t>
            </a:r>
          </a:p>
        </p:txBody>
      </p:sp>
      <p:sp>
        <p:nvSpPr>
          <p:cNvPr id="33" name="Rectangle 32"/>
          <p:cNvSpPr/>
          <p:nvPr/>
        </p:nvSpPr>
        <p:spPr>
          <a:xfrm>
            <a:off x="329184" y="4096512"/>
            <a:ext cx="8458200" cy="356616"/>
          </a:xfrm>
          <a:prstGeom prst="rect">
            <a:avLst/>
          </a:prstGeom>
          <a:solidFill>
            <a:srgbClr val="A4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Historical pilot, not final validation. Timing differences ≠ a cache-causal proof.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Experiment 1: node capacity</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HISTORICAL PILOT · NOT FINAL  |  480 matched pairs per run / variant  |  No causal cache attribution</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12</a:t>
            </a:r>
          </a:p>
        </p:txBody>
      </p:sp>
      <p:sp>
        <p:nvSpPr>
          <p:cNvPr id="18" name="TextBox 17"/>
          <p:cNvSpPr txBox="1"/>
          <p:nvPr/>
        </p:nvSpPr>
        <p:spPr>
          <a:xfrm>
            <a:off x="457200" y="1060704"/>
            <a:ext cx="6492240" cy="292608"/>
          </a:xfrm>
          <a:prstGeom prst="rect">
            <a:avLst/>
          </a:prstGeom>
          <a:noFill/>
        </p:spPr>
        <p:txBody>
          <a:bodyPr wrap="square" lIns="9144" tIns="0" rIns="9144" bIns="0" anchor="ctr">
            <a:spAutoFit/>
          </a:bodyPr>
          <a:lstStyle/>
          <a:p>
            <a:pPr algn="l">
              <a:spcBef>
                <a:spcPts val="0"/>
              </a:spcBef>
              <a:spcAft>
                <a:spcPts val="0"/>
              </a:spcAft>
              <a:defRPr sz="1350" b="1">
                <a:solidFill>
                  <a:srgbClr val="041447"/>
                </a:solidFill>
                <a:latin typeface="Noto Sans"/>
              </a:defRPr>
            </a:pPr>
            <a:r>
              <a:t>YCSB-C label · lookup p50 · reference: Node4</a:t>
            </a:r>
          </a:p>
        </p:txBody>
      </p:sp>
      <p:sp>
        <p:nvSpPr>
          <p:cNvPr id="19" name="Oval 18"/>
          <p:cNvSpPr/>
          <p:nvPr/>
        </p:nvSpPr>
        <p:spPr>
          <a:xfrm>
            <a:off x="7040880" y="1097280"/>
            <a:ext cx="82296" cy="82296"/>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5060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1</a:t>
            </a:r>
          </a:p>
        </p:txBody>
      </p:sp>
      <p:sp>
        <p:nvSpPr>
          <p:cNvPr id="21" name="Diamond 20"/>
          <p:cNvSpPr/>
          <p:nvPr/>
        </p:nvSpPr>
        <p:spPr>
          <a:xfrm>
            <a:off x="7543800" y="1097280"/>
            <a:ext cx="82296" cy="82296"/>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53527"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2</a:t>
            </a:r>
          </a:p>
        </p:txBody>
      </p:sp>
      <p:sp>
        <p:nvSpPr>
          <p:cNvPr id="23" name="Isosceles Triangle 22"/>
          <p:cNvSpPr/>
          <p:nvPr/>
        </p:nvSpPr>
        <p:spPr>
          <a:xfrm>
            <a:off x="8046720" y="1097280"/>
            <a:ext cx="82296" cy="82296"/>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5644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3</a:t>
            </a:r>
          </a:p>
        </p:txBody>
      </p:sp>
      <p:sp>
        <p:nvSpPr>
          <p:cNvPr id="25" name="TextBox 24"/>
          <p:cNvSpPr txBox="1"/>
          <p:nvPr/>
        </p:nvSpPr>
        <p:spPr>
          <a:xfrm>
            <a:off x="6601968" y="1060704"/>
            <a:ext cx="393192"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Run</a:t>
            </a:r>
          </a:p>
        </p:txBody>
      </p:sp>
      <p:cxnSp>
        <p:nvCxnSpPr>
          <p:cNvPr id="26" name="Connector 25"/>
          <p:cNvCxnSpPr/>
          <p:nvPr/>
        </p:nvCxnSpPr>
        <p:spPr>
          <a:xfrm>
            <a:off x="2487168"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276856"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-15</a:t>
            </a:r>
          </a:p>
        </p:txBody>
      </p:sp>
      <p:cxnSp>
        <p:nvCxnSpPr>
          <p:cNvPr id="28" name="Connector 27"/>
          <p:cNvCxnSpPr/>
          <p:nvPr/>
        </p:nvCxnSpPr>
        <p:spPr>
          <a:xfrm>
            <a:off x="3633825"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423513"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-10</a:t>
            </a:r>
          </a:p>
        </p:txBody>
      </p:sp>
      <p:cxnSp>
        <p:nvCxnSpPr>
          <p:cNvPr id="30" name="Connector 29"/>
          <p:cNvCxnSpPr/>
          <p:nvPr/>
        </p:nvCxnSpPr>
        <p:spPr>
          <a:xfrm>
            <a:off x="4780483"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0171"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-5</a:t>
            </a:r>
          </a:p>
        </p:txBody>
      </p:sp>
      <p:cxnSp>
        <p:nvCxnSpPr>
          <p:cNvPr id="32" name="Connector 31"/>
          <p:cNvCxnSpPr/>
          <p:nvPr/>
        </p:nvCxnSpPr>
        <p:spPr>
          <a:xfrm>
            <a:off x="5927140" y="1618488"/>
            <a:ext cx="0" cy="1572768"/>
          </a:xfrm>
          <a:prstGeom prst="line">
            <a:avLst/>
          </a:prstGeom>
          <a:ln w="12065">
            <a:solidFill>
              <a:srgbClr val="008A96"/>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716828"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0</a:t>
            </a:r>
          </a:p>
        </p:txBody>
      </p:sp>
      <p:cxnSp>
        <p:nvCxnSpPr>
          <p:cNvPr id="34" name="Connector 33"/>
          <p:cNvCxnSpPr/>
          <p:nvPr/>
        </p:nvCxnSpPr>
        <p:spPr>
          <a:xfrm>
            <a:off x="7073798"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63486"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5</a:t>
            </a:r>
          </a:p>
        </p:txBody>
      </p:sp>
      <p:cxnSp>
        <p:nvCxnSpPr>
          <p:cNvPr id="36" name="Connector 35"/>
          <p:cNvCxnSpPr/>
          <p:nvPr/>
        </p:nvCxnSpPr>
        <p:spPr>
          <a:xfrm>
            <a:off x="8220456"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10144"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10</a:t>
            </a:r>
          </a:p>
        </p:txBody>
      </p:sp>
      <p:sp>
        <p:nvSpPr>
          <p:cNvPr id="38" name="TextBox 37"/>
          <p:cNvSpPr txBox="1"/>
          <p:nvPr/>
        </p:nvSpPr>
        <p:spPr>
          <a:xfrm>
            <a:off x="438912" y="1655064"/>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Node16</a:t>
            </a:r>
          </a:p>
        </p:txBody>
      </p:sp>
      <p:sp>
        <p:nvSpPr>
          <p:cNvPr id="39" name="TextBox 38"/>
          <p:cNvSpPr txBox="1"/>
          <p:nvPr/>
        </p:nvSpPr>
        <p:spPr>
          <a:xfrm>
            <a:off x="438912" y="2203704"/>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Node48</a:t>
            </a:r>
          </a:p>
        </p:txBody>
      </p:sp>
      <p:sp>
        <p:nvSpPr>
          <p:cNvPr id="40" name="TextBox 39"/>
          <p:cNvSpPr txBox="1"/>
          <p:nvPr/>
        </p:nvSpPr>
        <p:spPr>
          <a:xfrm>
            <a:off x="438912" y="2752344"/>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Node256</a:t>
            </a:r>
          </a:p>
        </p:txBody>
      </p:sp>
      <p:sp>
        <p:nvSpPr>
          <p:cNvPr id="41" name="TextBox 40"/>
          <p:cNvSpPr txBox="1"/>
          <p:nvPr/>
        </p:nvSpPr>
        <p:spPr>
          <a:xfrm>
            <a:off x="2487168" y="3511296"/>
            <a:ext cx="5733288" cy="24688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Change in lookup p50 relative to Node4 (%)</a:t>
            </a:r>
          </a:p>
        </p:txBody>
      </p:sp>
      <p:cxnSp>
        <p:nvCxnSpPr>
          <p:cNvPr id="42" name="Connector 41"/>
          <p:cNvCxnSpPr/>
          <p:nvPr/>
        </p:nvCxnSpPr>
        <p:spPr>
          <a:xfrm>
            <a:off x="3743031" y="1828800"/>
            <a:ext cx="373597"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700968" y="1722729"/>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Diamond 43"/>
          <p:cNvSpPr/>
          <p:nvPr/>
        </p:nvSpPr>
        <p:spPr>
          <a:xfrm>
            <a:off x="3999808" y="1786737"/>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Isosceles Triangle 44"/>
          <p:cNvSpPr/>
          <p:nvPr/>
        </p:nvSpPr>
        <p:spPr>
          <a:xfrm>
            <a:off x="4074566" y="1850745"/>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Connector 45"/>
          <p:cNvCxnSpPr/>
          <p:nvPr/>
        </p:nvCxnSpPr>
        <p:spPr>
          <a:xfrm>
            <a:off x="5071378" y="2377440"/>
            <a:ext cx="64964"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5094280" y="2271369"/>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Diamond 47"/>
          <p:cNvSpPr/>
          <p:nvPr/>
        </p:nvSpPr>
        <p:spPr>
          <a:xfrm>
            <a:off x="5035702" y="2335377"/>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Isosceles Triangle 48"/>
          <p:cNvSpPr/>
          <p:nvPr/>
        </p:nvSpPr>
        <p:spPr>
          <a:xfrm>
            <a:off x="5029316" y="2399385"/>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a:off x="6776516" y="2926080"/>
            <a:ext cx="16334"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6734454" y="2820009"/>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Diamond 51"/>
          <p:cNvSpPr/>
          <p:nvPr/>
        </p:nvSpPr>
        <p:spPr>
          <a:xfrm>
            <a:off x="6734454" y="2884017"/>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a:off x="6750788" y="2948025"/>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Observed: medium-capacity candidates beat both extremes in this pilot slice.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Experiment 2: workload changes the ranking</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HISTORICAL PILOT · NOT FINAL  |  480 matched pairs per run / workload / variant</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13</a:t>
            </a:r>
          </a:p>
        </p:txBody>
      </p:sp>
      <p:sp>
        <p:nvSpPr>
          <p:cNvPr id="18" name="TextBox 17"/>
          <p:cNvSpPr txBox="1"/>
          <p:nvPr/>
        </p:nvSpPr>
        <p:spPr>
          <a:xfrm>
            <a:off x="457200" y="1060704"/>
            <a:ext cx="6492240" cy="292608"/>
          </a:xfrm>
          <a:prstGeom prst="rect">
            <a:avLst/>
          </a:prstGeom>
          <a:noFill/>
        </p:spPr>
        <p:txBody>
          <a:bodyPr wrap="square" lIns="9144" tIns="0" rIns="9144" bIns="0" anchor="ctr">
            <a:spAutoFit/>
          </a:bodyPr>
          <a:lstStyle/>
          <a:p>
            <a:pPr algn="l">
              <a:spcBef>
                <a:spcPts val="0"/>
              </a:spcBef>
              <a:spcAft>
                <a:spcPts val="0"/>
              </a:spcAft>
              <a:defRPr sz="1350" b="1">
                <a:solidFill>
                  <a:srgbClr val="041447"/>
                </a:solidFill>
                <a:latin typeface="Noto Sans"/>
              </a:defRPr>
            </a:pPr>
            <a:r>
              <a:t>YCSB-C and YCSB-A labels · reference: linear scan</a:t>
            </a:r>
          </a:p>
        </p:txBody>
      </p:sp>
      <p:sp>
        <p:nvSpPr>
          <p:cNvPr id="19" name="Oval 18"/>
          <p:cNvSpPr/>
          <p:nvPr/>
        </p:nvSpPr>
        <p:spPr>
          <a:xfrm>
            <a:off x="7040880" y="1097280"/>
            <a:ext cx="82296" cy="82296"/>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5060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1</a:t>
            </a:r>
          </a:p>
        </p:txBody>
      </p:sp>
      <p:sp>
        <p:nvSpPr>
          <p:cNvPr id="21" name="Diamond 20"/>
          <p:cNvSpPr/>
          <p:nvPr/>
        </p:nvSpPr>
        <p:spPr>
          <a:xfrm>
            <a:off x="7543800" y="1097280"/>
            <a:ext cx="82296" cy="82296"/>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53527"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2</a:t>
            </a:r>
          </a:p>
        </p:txBody>
      </p:sp>
      <p:sp>
        <p:nvSpPr>
          <p:cNvPr id="23" name="Isosceles Triangle 22"/>
          <p:cNvSpPr/>
          <p:nvPr/>
        </p:nvSpPr>
        <p:spPr>
          <a:xfrm>
            <a:off x="8046720" y="1097280"/>
            <a:ext cx="82296" cy="82296"/>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5644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3</a:t>
            </a:r>
          </a:p>
        </p:txBody>
      </p:sp>
      <p:sp>
        <p:nvSpPr>
          <p:cNvPr id="25" name="TextBox 24"/>
          <p:cNvSpPr txBox="1"/>
          <p:nvPr/>
        </p:nvSpPr>
        <p:spPr>
          <a:xfrm>
            <a:off x="6601968" y="1060704"/>
            <a:ext cx="393192"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Run</a:t>
            </a:r>
          </a:p>
        </p:txBody>
      </p:sp>
      <p:cxnSp>
        <p:nvCxnSpPr>
          <p:cNvPr id="26" name="Connector 25"/>
          <p:cNvCxnSpPr/>
          <p:nvPr/>
        </p:nvCxnSpPr>
        <p:spPr>
          <a:xfrm>
            <a:off x="2487168" y="1463040"/>
            <a:ext cx="0" cy="19385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276856"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-100</a:t>
            </a:r>
          </a:p>
        </p:txBody>
      </p:sp>
      <p:cxnSp>
        <p:nvCxnSpPr>
          <p:cNvPr id="28" name="Connector 27"/>
          <p:cNvCxnSpPr/>
          <p:nvPr/>
        </p:nvCxnSpPr>
        <p:spPr>
          <a:xfrm>
            <a:off x="3920489" y="1463040"/>
            <a:ext cx="0" cy="1938528"/>
          </a:xfrm>
          <a:prstGeom prst="line">
            <a:avLst/>
          </a:prstGeom>
          <a:ln w="12065">
            <a:solidFill>
              <a:srgbClr val="008A96"/>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710177"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0</a:t>
            </a:r>
          </a:p>
        </p:txBody>
      </p:sp>
      <p:cxnSp>
        <p:nvCxnSpPr>
          <p:cNvPr id="30" name="Connector 29"/>
          <p:cNvCxnSpPr/>
          <p:nvPr/>
        </p:nvCxnSpPr>
        <p:spPr>
          <a:xfrm>
            <a:off x="5353812" y="1463040"/>
            <a:ext cx="0" cy="19385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143500"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100</a:t>
            </a:r>
          </a:p>
        </p:txBody>
      </p:sp>
      <p:cxnSp>
        <p:nvCxnSpPr>
          <p:cNvPr id="32" name="Connector 31"/>
          <p:cNvCxnSpPr/>
          <p:nvPr/>
        </p:nvCxnSpPr>
        <p:spPr>
          <a:xfrm>
            <a:off x="6787133" y="1463040"/>
            <a:ext cx="0" cy="19385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576821"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200</a:t>
            </a:r>
          </a:p>
        </p:txBody>
      </p:sp>
      <p:cxnSp>
        <p:nvCxnSpPr>
          <p:cNvPr id="34" name="Connector 33"/>
          <p:cNvCxnSpPr/>
          <p:nvPr/>
        </p:nvCxnSpPr>
        <p:spPr>
          <a:xfrm>
            <a:off x="8220456" y="1463040"/>
            <a:ext cx="0" cy="19385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010144"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300</a:t>
            </a:r>
          </a:p>
        </p:txBody>
      </p:sp>
      <p:sp>
        <p:nvSpPr>
          <p:cNvPr id="36" name="TextBox 35"/>
          <p:cNvSpPr txBox="1"/>
          <p:nvPr/>
        </p:nvSpPr>
        <p:spPr>
          <a:xfrm>
            <a:off x="438912" y="149961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Eytzinger · C</a:t>
            </a:r>
          </a:p>
        </p:txBody>
      </p:sp>
      <p:sp>
        <p:nvSpPr>
          <p:cNvPr id="37" name="TextBox 36"/>
          <p:cNvSpPr txBox="1"/>
          <p:nvPr/>
        </p:nvSpPr>
        <p:spPr>
          <a:xfrm>
            <a:off x="438912" y="1792224"/>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Interpolation · C</a:t>
            </a:r>
          </a:p>
        </p:txBody>
      </p:sp>
      <p:sp>
        <p:nvSpPr>
          <p:cNvPr id="38" name="TextBox 37"/>
          <p:cNvSpPr txBox="1"/>
          <p:nvPr/>
        </p:nvSpPr>
        <p:spPr>
          <a:xfrm>
            <a:off x="438912" y="2084832"/>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k-ary · C</a:t>
            </a:r>
          </a:p>
        </p:txBody>
      </p:sp>
      <p:sp>
        <p:nvSpPr>
          <p:cNvPr id="39" name="TextBox 38"/>
          <p:cNvSpPr txBox="1"/>
          <p:nvPr/>
        </p:nvSpPr>
        <p:spPr>
          <a:xfrm>
            <a:off x="438912" y="2377440"/>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Eytzinger · A</a:t>
            </a:r>
          </a:p>
        </p:txBody>
      </p:sp>
      <p:sp>
        <p:nvSpPr>
          <p:cNvPr id="40" name="TextBox 39"/>
          <p:cNvSpPr txBox="1"/>
          <p:nvPr/>
        </p:nvSpPr>
        <p:spPr>
          <a:xfrm>
            <a:off x="438912" y="2670048"/>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Interpolation · A</a:t>
            </a:r>
          </a:p>
        </p:txBody>
      </p:sp>
      <p:sp>
        <p:nvSpPr>
          <p:cNvPr id="41" name="TextBox 40"/>
          <p:cNvSpPr txBox="1"/>
          <p:nvPr/>
        </p:nvSpPr>
        <p:spPr>
          <a:xfrm>
            <a:off x="438912" y="296265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k-ary · A</a:t>
            </a:r>
          </a:p>
        </p:txBody>
      </p:sp>
      <p:sp>
        <p:nvSpPr>
          <p:cNvPr id="42" name="TextBox 41"/>
          <p:cNvSpPr txBox="1"/>
          <p:nvPr/>
        </p:nvSpPr>
        <p:spPr>
          <a:xfrm>
            <a:off x="2487168" y="3721608"/>
            <a:ext cx="5733288" cy="24688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Change in total ns/op relative to linear scan (%)</a:t>
            </a:r>
          </a:p>
        </p:txBody>
      </p:sp>
      <p:cxnSp>
        <p:nvCxnSpPr>
          <p:cNvPr id="43" name="Connector 42"/>
          <p:cNvCxnSpPr/>
          <p:nvPr/>
        </p:nvCxnSpPr>
        <p:spPr>
          <a:xfrm>
            <a:off x="3105862" y="1673352"/>
            <a:ext cx="2071"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3063799" y="156728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Diamond 44"/>
          <p:cNvSpPr/>
          <p:nvPr/>
        </p:nvSpPr>
        <p:spPr>
          <a:xfrm>
            <a:off x="3064357" y="163128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Isosceles Triangle 45"/>
          <p:cNvSpPr/>
          <p:nvPr/>
        </p:nvSpPr>
        <p:spPr>
          <a:xfrm>
            <a:off x="3065871" y="169529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7" name="Connector 46"/>
          <p:cNvCxnSpPr/>
          <p:nvPr/>
        </p:nvCxnSpPr>
        <p:spPr>
          <a:xfrm>
            <a:off x="2971759" y="1965960"/>
            <a:ext cx="5951"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2929697" y="1859889"/>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Diamond 48"/>
          <p:cNvSpPr/>
          <p:nvPr/>
        </p:nvSpPr>
        <p:spPr>
          <a:xfrm>
            <a:off x="2935648" y="1923897"/>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Isosceles Triangle 49"/>
          <p:cNvSpPr/>
          <p:nvPr/>
        </p:nvSpPr>
        <p:spPr>
          <a:xfrm>
            <a:off x="2932501" y="1987905"/>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2837180" y="2258568"/>
            <a:ext cx="6241"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2801358" y="2152497"/>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Diamond 52"/>
          <p:cNvSpPr/>
          <p:nvPr/>
        </p:nvSpPr>
        <p:spPr>
          <a:xfrm>
            <a:off x="2795118" y="2216505"/>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Isosceles Triangle 53"/>
          <p:cNvSpPr/>
          <p:nvPr/>
        </p:nvSpPr>
        <p:spPr>
          <a:xfrm>
            <a:off x="2800550" y="2280513"/>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7653299" y="2551176"/>
            <a:ext cx="13665"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7611237" y="2445105"/>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Diamond 56"/>
          <p:cNvSpPr/>
          <p:nvPr/>
        </p:nvSpPr>
        <p:spPr>
          <a:xfrm>
            <a:off x="7624902" y="2509113"/>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Isosceles Triangle 57"/>
          <p:cNvSpPr/>
          <p:nvPr/>
        </p:nvSpPr>
        <p:spPr>
          <a:xfrm>
            <a:off x="7624874" y="2573121"/>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6820016" y="2843784"/>
            <a:ext cx="195856"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6973809" y="2737713"/>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Diamond 60"/>
          <p:cNvSpPr/>
          <p:nvPr/>
        </p:nvSpPr>
        <p:spPr>
          <a:xfrm>
            <a:off x="6777953" y="2801721"/>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Isosceles Triangle 61"/>
          <p:cNvSpPr/>
          <p:nvPr/>
        </p:nvSpPr>
        <p:spPr>
          <a:xfrm>
            <a:off x="6853241" y="2865729"/>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3" name="Connector 62"/>
          <p:cNvCxnSpPr/>
          <p:nvPr/>
        </p:nvCxnSpPr>
        <p:spPr>
          <a:xfrm>
            <a:off x="5274968" y="3136392"/>
            <a:ext cx="25494"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5232905" y="303032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Diamond 64"/>
          <p:cNvSpPr/>
          <p:nvPr/>
        </p:nvSpPr>
        <p:spPr>
          <a:xfrm>
            <a:off x="5252119" y="309432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Isosceles Triangle 65"/>
          <p:cNvSpPr/>
          <p:nvPr/>
        </p:nvSpPr>
        <p:spPr>
          <a:xfrm>
            <a:off x="5258400" y="315833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Observed: an advantage under the read label reverses under the mixed label.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Experiment 3: alignment has a cost</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HISTORICAL PILOT · NOT FINAL  |  384 matched pairs per run / workload / variant</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14</a:t>
            </a:r>
          </a:p>
        </p:txBody>
      </p:sp>
      <p:sp>
        <p:nvSpPr>
          <p:cNvPr id="18" name="TextBox 17"/>
          <p:cNvSpPr txBox="1"/>
          <p:nvPr/>
        </p:nvSpPr>
        <p:spPr>
          <a:xfrm>
            <a:off x="457200" y="1060704"/>
            <a:ext cx="6492240" cy="292608"/>
          </a:xfrm>
          <a:prstGeom prst="rect">
            <a:avLst/>
          </a:prstGeom>
          <a:noFill/>
        </p:spPr>
        <p:txBody>
          <a:bodyPr wrap="square" lIns="9144" tIns="0" rIns="9144" bIns="0" anchor="ctr">
            <a:spAutoFit/>
          </a:bodyPr>
          <a:lstStyle/>
          <a:p>
            <a:pPr algn="l">
              <a:spcBef>
                <a:spcPts val="0"/>
              </a:spcBef>
              <a:spcAft>
                <a:spcPts val="0"/>
              </a:spcAft>
              <a:defRPr sz="1350" b="1">
                <a:solidFill>
                  <a:srgbClr val="041447"/>
                </a:solidFill>
                <a:latin typeface="Noto Sans"/>
              </a:defRPr>
            </a:pPr>
            <a:r>
              <a:t>YCSB-C and YCSB-A labels · reference: AoSStrict</a:t>
            </a:r>
          </a:p>
        </p:txBody>
      </p:sp>
      <p:sp>
        <p:nvSpPr>
          <p:cNvPr id="19" name="Oval 18"/>
          <p:cNvSpPr/>
          <p:nvPr/>
        </p:nvSpPr>
        <p:spPr>
          <a:xfrm>
            <a:off x="7040880" y="1097280"/>
            <a:ext cx="82296" cy="82296"/>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5060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1</a:t>
            </a:r>
          </a:p>
        </p:txBody>
      </p:sp>
      <p:sp>
        <p:nvSpPr>
          <p:cNvPr id="21" name="Diamond 20"/>
          <p:cNvSpPr/>
          <p:nvPr/>
        </p:nvSpPr>
        <p:spPr>
          <a:xfrm>
            <a:off x="7543800" y="1097280"/>
            <a:ext cx="82296" cy="82296"/>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53527"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2</a:t>
            </a:r>
          </a:p>
        </p:txBody>
      </p:sp>
      <p:sp>
        <p:nvSpPr>
          <p:cNvPr id="23" name="Isosceles Triangle 22"/>
          <p:cNvSpPr/>
          <p:nvPr/>
        </p:nvSpPr>
        <p:spPr>
          <a:xfrm>
            <a:off x="8046720" y="1097280"/>
            <a:ext cx="82296" cy="82296"/>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5644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3</a:t>
            </a:r>
          </a:p>
        </p:txBody>
      </p:sp>
      <p:sp>
        <p:nvSpPr>
          <p:cNvPr id="25" name="TextBox 24"/>
          <p:cNvSpPr txBox="1"/>
          <p:nvPr/>
        </p:nvSpPr>
        <p:spPr>
          <a:xfrm>
            <a:off x="6601968" y="1060704"/>
            <a:ext cx="393192"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Run</a:t>
            </a:r>
          </a:p>
        </p:txBody>
      </p:sp>
      <p:cxnSp>
        <p:nvCxnSpPr>
          <p:cNvPr id="26" name="Connector 25"/>
          <p:cNvCxnSpPr/>
          <p:nvPr/>
        </p:nvCxnSpPr>
        <p:spPr>
          <a:xfrm>
            <a:off x="2487168" y="1554480"/>
            <a:ext cx="0" cy="17099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276856"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-10</a:t>
            </a:r>
          </a:p>
        </p:txBody>
      </p:sp>
      <p:cxnSp>
        <p:nvCxnSpPr>
          <p:cNvPr id="28" name="Connector 27"/>
          <p:cNvCxnSpPr/>
          <p:nvPr/>
        </p:nvCxnSpPr>
        <p:spPr>
          <a:xfrm>
            <a:off x="3920489" y="1554480"/>
            <a:ext cx="0" cy="1709928"/>
          </a:xfrm>
          <a:prstGeom prst="line">
            <a:avLst/>
          </a:prstGeom>
          <a:ln w="12065">
            <a:solidFill>
              <a:srgbClr val="008A96"/>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710177"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0</a:t>
            </a:r>
          </a:p>
        </p:txBody>
      </p:sp>
      <p:cxnSp>
        <p:nvCxnSpPr>
          <p:cNvPr id="30" name="Connector 29"/>
          <p:cNvCxnSpPr/>
          <p:nvPr/>
        </p:nvCxnSpPr>
        <p:spPr>
          <a:xfrm>
            <a:off x="5353812" y="1554480"/>
            <a:ext cx="0" cy="17099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143500"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10</a:t>
            </a:r>
          </a:p>
        </p:txBody>
      </p:sp>
      <p:cxnSp>
        <p:nvCxnSpPr>
          <p:cNvPr id="32" name="Connector 31"/>
          <p:cNvCxnSpPr/>
          <p:nvPr/>
        </p:nvCxnSpPr>
        <p:spPr>
          <a:xfrm>
            <a:off x="6787133" y="1554480"/>
            <a:ext cx="0" cy="17099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576821"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20</a:t>
            </a:r>
          </a:p>
        </p:txBody>
      </p:sp>
      <p:cxnSp>
        <p:nvCxnSpPr>
          <p:cNvPr id="34" name="Connector 33"/>
          <p:cNvCxnSpPr/>
          <p:nvPr/>
        </p:nvCxnSpPr>
        <p:spPr>
          <a:xfrm>
            <a:off x="8220456" y="1554480"/>
            <a:ext cx="0" cy="17099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010144"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30</a:t>
            </a:r>
          </a:p>
        </p:txBody>
      </p:sp>
      <p:sp>
        <p:nvSpPr>
          <p:cNvPr id="36" name="TextBox 35"/>
          <p:cNvSpPr txBox="1"/>
          <p:nvPr/>
        </p:nvSpPr>
        <p:spPr>
          <a:xfrm>
            <a:off x="438912" y="159105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Aligned · C</a:t>
            </a:r>
          </a:p>
        </p:txBody>
      </p:sp>
      <p:sp>
        <p:nvSpPr>
          <p:cNvPr id="37" name="TextBox 36"/>
          <p:cNvSpPr txBox="1"/>
          <p:nvPr/>
        </p:nvSpPr>
        <p:spPr>
          <a:xfrm>
            <a:off x="438912" y="200253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Aligned · A</a:t>
            </a:r>
          </a:p>
        </p:txBody>
      </p:sp>
      <p:sp>
        <p:nvSpPr>
          <p:cNvPr id="38" name="TextBox 37"/>
          <p:cNvSpPr txBox="1"/>
          <p:nvPr/>
        </p:nvSpPr>
        <p:spPr>
          <a:xfrm>
            <a:off x="438912" y="241401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PackedBitmap · C</a:t>
            </a:r>
          </a:p>
        </p:txBody>
      </p:sp>
      <p:sp>
        <p:nvSpPr>
          <p:cNvPr id="39" name="TextBox 38"/>
          <p:cNvSpPr txBox="1"/>
          <p:nvPr/>
        </p:nvSpPr>
        <p:spPr>
          <a:xfrm>
            <a:off x="438912" y="282549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PackedBitmap · A</a:t>
            </a:r>
          </a:p>
        </p:txBody>
      </p:sp>
      <p:sp>
        <p:nvSpPr>
          <p:cNvPr id="40" name="TextBox 39"/>
          <p:cNvSpPr txBox="1"/>
          <p:nvPr/>
        </p:nvSpPr>
        <p:spPr>
          <a:xfrm>
            <a:off x="2487168" y="3584448"/>
            <a:ext cx="5733288" cy="24688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Change in total ns/op relative to AoSStrict (%)</a:t>
            </a:r>
          </a:p>
        </p:txBody>
      </p:sp>
      <p:cxnSp>
        <p:nvCxnSpPr>
          <p:cNvPr id="41" name="Connector 40"/>
          <p:cNvCxnSpPr/>
          <p:nvPr/>
        </p:nvCxnSpPr>
        <p:spPr>
          <a:xfrm>
            <a:off x="3726236" y="1764792"/>
            <a:ext cx="218625"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3684174" y="165872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Diamond 42"/>
          <p:cNvSpPr/>
          <p:nvPr/>
        </p:nvSpPr>
        <p:spPr>
          <a:xfrm>
            <a:off x="3902798" y="172272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Isosceles Triangle 43"/>
          <p:cNvSpPr/>
          <p:nvPr/>
        </p:nvSpPr>
        <p:spPr>
          <a:xfrm>
            <a:off x="3787593" y="178673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a:off x="6884837" y="2176272"/>
            <a:ext cx="486098"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6842774" y="207020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Diamond 46"/>
          <p:cNvSpPr/>
          <p:nvPr/>
        </p:nvSpPr>
        <p:spPr>
          <a:xfrm>
            <a:off x="7148599" y="213420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Isosceles Triangle 47"/>
          <p:cNvSpPr/>
          <p:nvPr/>
        </p:nvSpPr>
        <p:spPr>
          <a:xfrm>
            <a:off x="7328873" y="219821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48"/>
          <p:cNvCxnSpPr/>
          <p:nvPr/>
        </p:nvCxnSpPr>
        <p:spPr>
          <a:xfrm>
            <a:off x="3328262" y="2587752"/>
            <a:ext cx="346097"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3286200" y="248168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Diamond 50"/>
          <p:cNvSpPr/>
          <p:nvPr/>
        </p:nvSpPr>
        <p:spPr>
          <a:xfrm>
            <a:off x="3358088" y="254568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a:off x="3632296" y="260969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 name="Connector 52"/>
          <p:cNvCxnSpPr/>
          <p:nvPr/>
        </p:nvCxnSpPr>
        <p:spPr>
          <a:xfrm>
            <a:off x="3619080" y="2999232"/>
            <a:ext cx="129447"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3577017" y="289316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Diamond 54"/>
          <p:cNvSpPr/>
          <p:nvPr/>
        </p:nvSpPr>
        <p:spPr>
          <a:xfrm>
            <a:off x="3639987" y="295716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Isosceles Triangle 55"/>
          <p:cNvSpPr/>
          <p:nvPr/>
        </p:nvSpPr>
        <p:spPr>
          <a:xfrm>
            <a:off x="3706464" y="302117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Observed: an “aligned” label alone does not predict the better configuration.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Conclusion: test cache-aware design choices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§§6.1–6.3  |  Framework evidence and performance evidence remain separate</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15</a:t>
            </a:r>
          </a:p>
        </p:txBody>
      </p:sp>
      <p:sp>
        <p:nvSpPr>
          <p:cNvPr id="18" name="Rounded Rectangle 17"/>
          <p:cNvSpPr/>
          <p:nvPr/>
        </p:nvSpPr>
        <p:spPr>
          <a:xfrm>
            <a:off x="457200" y="1170432"/>
            <a:ext cx="2441448" cy="106984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1170432"/>
            <a:ext cx="32004" cy="1069848"/>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 y="1243584"/>
            <a:ext cx="2258568" cy="365760"/>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COMPOSE</a:t>
            </a:r>
          </a:p>
        </p:txBody>
      </p:sp>
      <p:sp>
        <p:nvSpPr>
          <p:cNvPr id="21" name="TextBox 20"/>
          <p:cNvSpPr txBox="1"/>
          <p:nvPr/>
        </p:nvSpPr>
        <p:spPr>
          <a:xfrm>
            <a:off x="557784" y="1636776"/>
            <a:ext cx="2258568" cy="530352"/>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axes → organs → algorithm</a:t>
            </a:r>
          </a:p>
        </p:txBody>
      </p:sp>
      <p:sp>
        <p:nvSpPr>
          <p:cNvPr id="22" name="Rounded Rectangle 21"/>
          <p:cNvSpPr/>
          <p:nvPr/>
        </p:nvSpPr>
        <p:spPr>
          <a:xfrm>
            <a:off x="3364992" y="1170432"/>
            <a:ext cx="2441448" cy="106984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364992" y="1170432"/>
            <a:ext cx="32004" cy="1069848"/>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65576" y="1243584"/>
            <a:ext cx="2258568" cy="365760"/>
          </a:xfrm>
          <a:prstGeom prst="rect">
            <a:avLst/>
          </a:prstGeom>
          <a:noFill/>
        </p:spPr>
        <p:txBody>
          <a:bodyPr wrap="square" lIns="9144" tIns="0" rIns="9144" bIns="0" anchor="ctr">
            <a:spAutoFit/>
          </a:bodyPr>
          <a:lstStyle/>
          <a:p>
            <a:pPr algn="l">
              <a:spcBef>
                <a:spcPts val="0"/>
              </a:spcBef>
              <a:spcAft>
                <a:spcPts val="0"/>
              </a:spcAft>
              <a:defRPr sz="1800" b="1">
                <a:solidFill>
                  <a:srgbClr val="3178B9"/>
                </a:solidFill>
                <a:latin typeface="Noto Sans"/>
              </a:defRPr>
            </a:pPr>
            <a:r>
              <a:t>COMPARE</a:t>
            </a:r>
          </a:p>
        </p:txBody>
      </p:sp>
      <p:sp>
        <p:nvSpPr>
          <p:cNvPr id="25" name="TextBox 24"/>
          <p:cNvSpPr txBox="1"/>
          <p:nvPr/>
        </p:nvSpPr>
        <p:spPr>
          <a:xfrm>
            <a:off x="3465576" y="1636776"/>
            <a:ext cx="2258568" cy="530352"/>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controlled contexts</a:t>
            </a:r>
          </a:p>
        </p:txBody>
      </p:sp>
      <p:sp>
        <p:nvSpPr>
          <p:cNvPr id="26" name="Rounded Rectangle 25"/>
          <p:cNvSpPr/>
          <p:nvPr/>
        </p:nvSpPr>
        <p:spPr>
          <a:xfrm>
            <a:off x="6272784" y="1170432"/>
            <a:ext cx="2441448" cy="106984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72784" y="1170432"/>
            <a:ext cx="32004" cy="1069848"/>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73368" y="1243584"/>
            <a:ext cx="2258568" cy="365760"/>
          </a:xfrm>
          <a:prstGeom prst="rect">
            <a:avLst/>
          </a:prstGeom>
          <a:noFill/>
        </p:spPr>
        <p:txBody>
          <a:bodyPr wrap="square" lIns="9144" tIns="0" rIns="9144" bIns="0" anchor="ctr">
            <a:spAutoFit/>
          </a:bodyPr>
          <a:lstStyle/>
          <a:p>
            <a:pPr algn="l">
              <a:spcBef>
                <a:spcPts val="0"/>
              </a:spcBef>
              <a:spcAft>
                <a:spcPts val="0"/>
              </a:spcAft>
              <a:defRPr sz="1800" b="1">
                <a:solidFill>
                  <a:srgbClr val="74589E"/>
                </a:solidFill>
                <a:latin typeface="Noto Sans"/>
              </a:defRPr>
            </a:pPr>
            <a:r>
              <a:t>SELECT</a:t>
            </a:r>
          </a:p>
        </p:txBody>
      </p:sp>
      <p:sp>
        <p:nvSpPr>
          <p:cNvPr id="29" name="TextBox 28"/>
          <p:cNvSpPr txBox="1"/>
          <p:nvPr/>
        </p:nvSpPr>
        <p:spPr>
          <a:xfrm>
            <a:off x="6373368" y="1636776"/>
            <a:ext cx="2258568" cy="530352"/>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supported choices</a:t>
            </a:r>
          </a:p>
        </p:txBody>
      </p:sp>
      <p:cxnSp>
        <p:nvCxnSpPr>
          <p:cNvPr id="30" name="Connector 29"/>
          <p:cNvCxnSpPr/>
          <p:nvPr/>
        </p:nvCxnSpPr>
        <p:spPr>
          <a:xfrm>
            <a:off x="2926080" y="1700784"/>
            <a:ext cx="374904" cy="0"/>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833872" y="1700784"/>
            <a:ext cx="374904" cy="0"/>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21207" y="2642616"/>
            <a:ext cx="8193024" cy="420624"/>
          </a:xfrm>
          <a:prstGeom prst="rect">
            <a:avLst/>
          </a:prstGeom>
          <a:noFill/>
        </p:spPr>
        <p:txBody>
          <a:bodyPr wrap="square" lIns="9144" tIns="0" rIns="9144" bIns="0" anchor="ctr">
            <a:spAutoFit/>
          </a:bodyPr>
          <a:lstStyle/>
          <a:p>
            <a:pPr algn="l">
              <a:spcBef>
                <a:spcPts val="0"/>
              </a:spcBef>
              <a:spcAft>
                <a:spcPts val="0"/>
              </a:spcAft>
              <a:defRPr sz="2000" b="1">
                <a:solidFill>
                  <a:srgbClr val="041447"/>
                </a:solidFill>
                <a:latin typeface="Noto Sans"/>
              </a:defRPr>
            </a:pPr>
            <a:r>
              <a:t>A white-box approach to autotuning index structures.</a:t>
            </a:r>
          </a:p>
        </p:txBody>
      </p:sp>
      <p:sp>
        <p:nvSpPr>
          <p:cNvPr id="33" name="Rounded Rectangle 32"/>
          <p:cNvSpPr/>
          <p:nvPr/>
        </p:nvSpPr>
        <p:spPr>
          <a:xfrm>
            <a:off x="521207" y="3282696"/>
            <a:ext cx="3849624" cy="60350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1207" y="3282696"/>
            <a:ext cx="32004" cy="603504"/>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1792" y="3314700"/>
            <a:ext cx="3666744" cy="283464"/>
          </a:xfrm>
          <a:prstGeom prst="rect">
            <a:avLst/>
          </a:prstGeom>
          <a:noFill/>
        </p:spPr>
        <p:txBody>
          <a:bodyPr wrap="square" lIns="9144" tIns="0" rIns="9144" bIns="0" anchor="ctr">
            <a:spAutoFit/>
          </a:bodyPr>
          <a:lstStyle/>
          <a:p>
            <a:pPr algn="l">
              <a:spcBef>
                <a:spcPts val="0"/>
              </a:spcBef>
              <a:spcAft>
                <a:spcPts val="0"/>
              </a:spcAft>
              <a:defRPr sz="1300" b="1">
                <a:solidFill>
                  <a:srgbClr val="008A96"/>
                </a:solidFill>
                <a:latin typeface="Noto Sans"/>
              </a:defRPr>
            </a:pPr>
            <a:r>
              <a:t>Demonstrated</a:t>
            </a:r>
          </a:p>
        </p:txBody>
      </p:sp>
      <p:sp>
        <p:nvSpPr>
          <p:cNvPr id="36" name="TextBox 35"/>
          <p:cNvSpPr txBox="1"/>
          <p:nvPr/>
        </p:nvSpPr>
        <p:spPr>
          <a:xfrm>
            <a:off x="621792" y="3616452"/>
            <a:ext cx="3666744" cy="246888"/>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apparatus + exploratory contrasts</a:t>
            </a:r>
          </a:p>
        </p:txBody>
      </p:sp>
      <p:sp>
        <p:nvSpPr>
          <p:cNvPr id="37" name="Rounded Rectangle 36"/>
          <p:cNvSpPr/>
          <p:nvPr/>
        </p:nvSpPr>
        <p:spPr>
          <a:xfrm>
            <a:off x="4636008" y="3282696"/>
            <a:ext cx="3931920" cy="60350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636008" y="3282696"/>
            <a:ext cx="32004" cy="603504"/>
          </a:xfrm>
          <a:prstGeom prst="rect">
            <a:avLst/>
          </a:prstGeom>
          <a:solidFill>
            <a:srgbClr val="A4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36592" y="3314700"/>
            <a:ext cx="3749039" cy="283464"/>
          </a:xfrm>
          <a:prstGeom prst="rect">
            <a:avLst/>
          </a:prstGeom>
          <a:noFill/>
        </p:spPr>
        <p:txBody>
          <a:bodyPr wrap="square" lIns="9144" tIns="0" rIns="9144" bIns="0" anchor="ctr">
            <a:spAutoFit/>
          </a:bodyPr>
          <a:lstStyle/>
          <a:p>
            <a:pPr algn="l">
              <a:spcBef>
                <a:spcPts val="0"/>
              </a:spcBef>
              <a:spcAft>
                <a:spcPts val="0"/>
              </a:spcAft>
              <a:defRPr sz="1300" b="1">
                <a:solidFill>
                  <a:srgbClr val="A44335"/>
                </a:solidFill>
                <a:latin typeface="Noto Sans"/>
              </a:defRPr>
            </a:pPr>
            <a:r>
              <a:t>Still to validate</a:t>
            </a:r>
          </a:p>
        </p:txBody>
      </p:sp>
      <p:sp>
        <p:nvSpPr>
          <p:cNvPr id="40" name="TextBox 39"/>
          <p:cNvSpPr txBox="1"/>
          <p:nvPr/>
        </p:nvSpPr>
        <p:spPr>
          <a:xfrm>
            <a:off x="4736592" y="3616452"/>
            <a:ext cx="3749039" cy="246888"/>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rebuilt results + cache-causal evidence</a:t>
            </a:r>
          </a:p>
        </p:txBody>
      </p:sp>
      <p:sp>
        <p:nvSpPr>
          <p:cNvPr id="41" name="Rectangle 40"/>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Questions · approximately 6 minutes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B1 · Three different kinds of comparison</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§§3.2, 5.1  |  Keep the provenance labels distinct</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B1</a:t>
            </a:r>
          </a:p>
        </p:txBody>
      </p:sp>
      <p:sp>
        <p:nvSpPr>
          <p:cNvPr id="18" name="Rounded Rectangle 17"/>
          <p:cNvSpPr/>
          <p:nvPr/>
        </p:nvSpPr>
        <p:spPr>
          <a:xfrm>
            <a:off x="457200" y="1325880"/>
            <a:ext cx="2423160" cy="170078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1325880"/>
            <a:ext cx="32004" cy="1700784"/>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 y="1399032"/>
            <a:ext cx="2240279" cy="365760"/>
          </a:xfrm>
          <a:prstGeom prst="rect">
            <a:avLst/>
          </a:prstGeom>
          <a:noFill/>
        </p:spPr>
        <p:txBody>
          <a:bodyPr wrap="square" lIns="9144" tIns="0" rIns="9144" bIns="0" anchor="ctr">
            <a:spAutoFit/>
          </a:bodyPr>
          <a:lstStyle/>
          <a:p>
            <a:pPr algn="l">
              <a:spcBef>
                <a:spcPts val="0"/>
              </a:spcBef>
              <a:spcAft>
                <a:spcPts val="0"/>
              </a:spcAft>
              <a:defRPr sz="1700" b="1">
                <a:solidFill>
                  <a:srgbClr val="3178B9"/>
                </a:solidFill>
                <a:latin typeface="Noto Sans"/>
              </a:defRPr>
            </a:pPr>
            <a:r>
              <a:t>Original code</a:t>
            </a:r>
          </a:p>
        </p:txBody>
      </p:sp>
      <p:sp>
        <p:nvSpPr>
          <p:cNvPr id="21" name="TextBox 20"/>
          <p:cNvSpPr txBox="1"/>
          <p:nvPr/>
        </p:nvSpPr>
        <p:spPr>
          <a:xfrm>
            <a:off x="557784" y="1792224"/>
            <a:ext cx="2240279" cy="116128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paper implementation</a:t>
            </a:r>
          </a:p>
          <a:p>
            <a:pPr algn="l">
              <a:spcBef>
                <a:spcPts val="0"/>
              </a:spcBef>
              <a:spcAft>
                <a:spcPts val="0"/>
              </a:spcAft>
              <a:defRPr sz="1200" b="0">
                <a:solidFill>
                  <a:srgbClr val="192B43"/>
                </a:solidFill>
                <a:latin typeface="Noto Sans"/>
              </a:defRPr>
            </a:pPr>
            <a:r>
              <a:t>+ original provenance</a:t>
            </a:r>
          </a:p>
        </p:txBody>
      </p:sp>
      <p:sp>
        <p:nvSpPr>
          <p:cNvPr id="22" name="Rounded Rectangle 21"/>
          <p:cNvSpPr/>
          <p:nvPr/>
        </p:nvSpPr>
        <p:spPr>
          <a:xfrm>
            <a:off x="3364992" y="1325880"/>
            <a:ext cx="2423160" cy="170078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364992" y="1325880"/>
            <a:ext cx="32004" cy="1700784"/>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65576" y="1399032"/>
            <a:ext cx="2240279" cy="365760"/>
          </a:xfrm>
          <a:prstGeom prst="rect">
            <a:avLst/>
          </a:prstGeom>
          <a:noFill/>
        </p:spPr>
        <p:txBody>
          <a:bodyPr wrap="square" lIns="9144" tIns="0" rIns="9144" bIns="0" anchor="ctr">
            <a:spAutoFit/>
          </a:bodyPr>
          <a:lstStyle/>
          <a:p>
            <a:pPr algn="l">
              <a:spcBef>
                <a:spcPts val="0"/>
              </a:spcBef>
              <a:spcAft>
                <a:spcPts val="0"/>
              </a:spcAft>
              <a:defRPr sz="1700" b="1">
                <a:solidFill>
                  <a:srgbClr val="008A96"/>
                </a:solidFill>
                <a:latin typeface="Noto Sans"/>
              </a:defRPr>
            </a:pPr>
            <a:r>
              <a:t>Reconstructed profile</a:t>
            </a:r>
          </a:p>
        </p:txBody>
      </p:sp>
      <p:sp>
        <p:nvSpPr>
          <p:cNvPr id="25" name="TextBox 24"/>
          <p:cNvSpPr txBox="1"/>
          <p:nvPr/>
        </p:nvSpPr>
        <p:spPr>
          <a:xfrm>
            <a:off x="3465576" y="1792224"/>
            <a:ext cx="2240279" cy="116128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declared components</a:t>
            </a:r>
          </a:p>
          <a:p>
            <a:pPr algn="l">
              <a:spcBef>
                <a:spcPts val="0"/>
              </a:spcBef>
              <a:spcAft>
                <a:spcPts val="0"/>
              </a:spcAft>
              <a:defRPr sz="1200" b="0">
                <a:solidFill>
                  <a:srgbClr val="192B43"/>
                </a:solidFill>
                <a:latin typeface="Noto Sans"/>
              </a:defRPr>
            </a:pPr>
            <a:r>
              <a:t>+ validated capabilities</a:t>
            </a:r>
          </a:p>
        </p:txBody>
      </p:sp>
      <p:sp>
        <p:nvSpPr>
          <p:cNvPr id="26" name="Rounded Rectangle 25"/>
          <p:cNvSpPr/>
          <p:nvPr/>
        </p:nvSpPr>
        <p:spPr>
          <a:xfrm>
            <a:off x="6272784" y="1325880"/>
            <a:ext cx="2423160" cy="170078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72784" y="1325880"/>
            <a:ext cx="32004" cy="170078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73368" y="1399032"/>
            <a:ext cx="2240279" cy="365760"/>
          </a:xfrm>
          <a:prstGeom prst="rect">
            <a:avLst/>
          </a:prstGeom>
          <a:noFill/>
        </p:spPr>
        <p:txBody>
          <a:bodyPr wrap="square" lIns="9144" tIns="0" rIns="9144" bIns="0" anchor="ctr">
            <a:spAutoFit/>
          </a:bodyPr>
          <a:lstStyle/>
          <a:p>
            <a:pPr algn="l">
              <a:spcBef>
                <a:spcPts val="0"/>
              </a:spcBef>
              <a:spcAft>
                <a:spcPts val="0"/>
              </a:spcAft>
              <a:defRPr sz="1700" b="1">
                <a:solidFill>
                  <a:srgbClr val="74589E"/>
                </a:solidFill>
                <a:latin typeface="Noto Sans"/>
              </a:defRPr>
            </a:pPr>
            <a:r>
              <a:t>Axis contrast</a:t>
            </a:r>
          </a:p>
        </p:txBody>
      </p:sp>
      <p:sp>
        <p:nvSpPr>
          <p:cNvPr id="29" name="TextBox 28"/>
          <p:cNvSpPr txBox="1"/>
          <p:nvPr/>
        </p:nvSpPr>
        <p:spPr>
          <a:xfrm>
            <a:off x="6373368" y="1792224"/>
            <a:ext cx="2240279" cy="116128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one varied decision</a:t>
            </a:r>
          </a:p>
          <a:p>
            <a:pPr algn="l">
              <a:spcBef>
                <a:spcPts val="0"/>
              </a:spcBef>
              <a:spcAft>
                <a:spcPts val="0"/>
              </a:spcAft>
              <a:defRPr sz="1200" b="0">
                <a:solidFill>
                  <a:srgbClr val="192B43"/>
                </a:solidFill>
                <a:latin typeface="Noto Sans"/>
              </a:defRPr>
            </a:pPr>
            <a:r>
              <a:t>+ matched surroundings</a:t>
            </a:r>
          </a:p>
        </p:txBody>
      </p:sp>
      <p:sp>
        <p:nvSpPr>
          <p:cNvPr id="30" name="Rectangle 29"/>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A stored paper profile is not proof of an original-code benchmark.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B2 · PRT-ART: the extension probe</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§§3.5, 4.2  |  Plugin contributions enter the same contracts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B2</a:t>
            </a:r>
          </a:p>
        </p:txBody>
      </p:sp>
      <p:sp>
        <p:nvSpPr>
          <p:cNvPr id="18" name="Rounded Rectangle 17"/>
          <p:cNvSpPr/>
          <p:nvPr/>
        </p:nvSpPr>
        <p:spPr>
          <a:xfrm>
            <a:off x="548640" y="1234440"/>
            <a:ext cx="3657600" cy="96926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1234440"/>
            <a:ext cx="32004" cy="96926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 y="1307592"/>
            <a:ext cx="3474720" cy="365760"/>
          </a:xfrm>
          <a:prstGeom prst="rect">
            <a:avLst/>
          </a:prstGeom>
          <a:noFill/>
        </p:spPr>
        <p:txBody>
          <a:bodyPr wrap="square" lIns="9144" tIns="0" rIns="9144" bIns="0" anchor="ctr">
            <a:spAutoFit/>
          </a:bodyPr>
          <a:lstStyle/>
          <a:p>
            <a:pPr algn="l">
              <a:spcBef>
                <a:spcPts val="0"/>
              </a:spcBef>
              <a:spcAft>
                <a:spcPts val="0"/>
              </a:spcAft>
              <a:defRPr sz="1800" b="1">
                <a:solidFill>
                  <a:srgbClr val="74589E"/>
                </a:solidFill>
                <a:latin typeface="Noto Sans"/>
              </a:defRPr>
            </a:pPr>
            <a:r>
              <a:t>Allocation</a:t>
            </a:r>
          </a:p>
        </p:txBody>
      </p:sp>
      <p:sp>
        <p:nvSpPr>
          <p:cNvPr id="21" name="TextBox 20"/>
          <p:cNvSpPr txBox="1"/>
          <p:nvPr/>
        </p:nvSpPr>
        <p:spPr>
          <a:xfrm>
            <a:off x="649224" y="1700784"/>
            <a:ext cx="3474720" cy="42976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pool / size-class policy</a:t>
            </a:r>
          </a:p>
        </p:txBody>
      </p:sp>
      <p:sp>
        <p:nvSpPr>
          <p:cNvPr id="22" name="Rounded Rectangle 21"/>
          <p:cNvSpPr/>
          <p:nvPr/>
        </p:nvSpPr>
        <p:spPr>
          <a:xfrm>
            <a:off x="4663440" y="1234440"/>
            <a:ext cx="3657600" cy="96926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663440" y="1234440"/>
            <a:ext cx="32004" cy="969264"/>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64024" y="1307592"/>
            <a:ext cx="3474720" cy="365760"/>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Redirects</a:t>
            </a:r>
          </a:p>
        </p:txBody>
      </p:sp>
      <p:sp>
        <p:nvSpPr>
          <p:cNvPr id="25" name="TextBox 24"/>
          <p:cNvSpPr txBox="1"/>
          <p:nvPr/>
        </p:nvSpPr>
        <p:spPr>
          <a:xfrm>
            <a:off x="4764024" y="1700784"/>
            <a:ext cx="3474720" cy="42976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compressed prefix paths</a:t>
            </a:r>
          </a:p>
        </p:txBody>
      </p:sp>
      <p:sp>
        <p:nvSpPr>
          <p:cNvPr id="26" name="Rounded Rectangle 25"/>
          <p:cNvSpPr/>
          <p:nvPr/>
        </p:nvSpPr>
        <p:spPr>
          <a:xfrm>
            <a:off x="548640" y="2478024"/>
            <a:ext cx="3657600" cy="96926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2478024"/>
            <a:ext cx="32004" cy="969264"/>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 y="2551176"/>
            <a:ext cx="3474720" cy="365760"/>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Multi-level layout</a:t>
            </a:r>
          </a:p>
        </p:txBody>
      </p:sp>
      <p:sp>
        <p:nvSpPr>
          <p:cNvPr id="29" name="TextBox 28"/>
          <p:cNvSpPr txBox="1"/>
          <p:nvPr/>
        </p:nvSpPr>
        <p:spPr>
          <a:xfrm>
            <a:off x="649224" y="2944368"/>
            <a:ext cx="3474720" cy="42976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related navigation placement</a:t>
            </a:r>
          </a:p>
        </p:txBody>
      </p:sp>
      <p:sp>
        <p:nvSpPr>
          <p:cNvPr id="30" name="Rounded Rectangle 29"/>
          <p:cNvSpPr/>
          <p:nvPr/>
        </p:nvSpPr>
        <p:spPr>
          <a:xfrm>
            <a:off x="4663440" y="2478024"/>
            <a:ext cx="3657600" cy="96926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663440" y="2478024"/>
            <a:ext cx="32004" cy="969264"/>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64024" y="2551176"/>
            <a:ext cx="3474720" cy="365760"/>
          </a:xfrm>
          <a:prstGeom prst="rect">
            <a:avLst/>
          </a:prstGeom>
          <a:noFill/>
        </p:spPr>
        <p:txBody>
          <a:bodyPr wrap="square" lIns="9144" tIns="0" rIns="9144" bIns="0" anchor="ctr">
            <a:spAutoFit/>
          </a:bodyPr>
          <a:lstStyle/>
          <a:p>
            <a:pPr algn="l">
              <a:spcBef>
                <a:spcPts val="0"/>
              </a:spcBef>
              <a:spcAft>
                <a:spcPts val="0"/>
              </a:spcAft>
              <a:defRPr sz="1800" b="1">
                <a:solidFill>
                  <a:srgbClr val="A4770B"/>
                </a:solidFill>
                <a:latin typeface="Noto Sans"/>
              </a:defRPr>
            </a:pPr>
            <a:r>
              <a:t>Bundle prefetch</a:t>
            </a:r>
          </a:p>
        </p:txBody>
      </p:sp>
      <p:sp>
        <p:nvSpPr>
          <p:cNvPr id="33" name="TextBox 32"/>
          <p:cNvSpPr txBox="1"/>
          <p:nvPr/>
        </p:nvSpPr>
        <p:spPr>
          <a:xfrm>
            <a:off x="4764024" y="2944368"/>
            <a:ext cx="3474720" cy="42976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candidate future addresses</a:t>
            </a:r>
          </a:p>
        </p:txBody>
      </p:sp>
      <p:sp>
        <p:nvSpPr>
          <p:cNvPr id="34" name="Rectangle 33"/>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Declare contribution → check compatibility → compose candidate → measure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B3 · The full organ inventory</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Appendix D / source grouping; 18 organ slots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B3</a:t>
            </a:r>
          </a:p>
        </p:txBody>
      </p:sp>
      <p:sp>
        <p:nvSpPr>
          <p:cNvPr id="18" name="Rounded Rectangle 17"/>
          <p:cNvSpPr/>
          <p:nvPr/>
        </p:nvSpPr>
        <p:spPr>
          <a:xfrm>
            <a:off x="365760"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1143000"/>
            <a:ext cx="32004" cy="2468880"/>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6A57A1"/>
                </a:solidFill>
                <a:latin typeface="Noto Sans"/>
              </a:defRPr>
            </a:pPr>
            <a:r>
              <a:rPr>
                <a:solidFill>
                  <a:srgbClr val="6A57A1"/>
                </a:solidFill>
              </a:rPr>
              <a:t>Read path</a:t>
            </a:r>
          </a:p>
        </p:txBody>
      </p:sp>
      <p:sp>
        <p:nvSpPr>
          <p:cNvPr id="21" name="TextBox 20"/>
          <p:cNvSpPr txBox="1"/>
          <p:nvPr/>
        </p:nvSpPr>
        <p:spPr>
          <a:xfrm>
            <a:off x="457200"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search​_algo</a:t>
            </a:r>
          </a:p>
        </p:txBody>
      </p:sp>
      <p:sp>
        <p:nvSpPr>
          <p:cNvPr id="22" name="TextBox 21"/>
          <p:cNvSpPr txBox="1"/>
          <p:nvPr/>
        </p:nvSpPr>
        <p:spPr>
          <a:xfrm>
            <a:off x="457200"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cache​_traversal</a:t>
            </a:r>
          </a:p>
        </p:txBody>
      </p:sp>
      <p:sp>
        <p:nvSpPr>
          <p:cNvPr id="23" name="Rounded Rectangle 22"/>
          <p:cNvSpPr/>
          <p:nvPr/>
        </p:nvSpPr>
        <p:spPr>
          <a:xfrm>
            <a:off x="2084831"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84831" y="1143000"/>
            <a:ext cx="32004" cy="246888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176272"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3468AA"/>
                </a:solidFill>
                <a:latin typeface="Noto Sans"/>
              </a:defRPr>
            </a:pPr>
            <a:r>
              <a:rPr>
                <a:solidFill>
                  <a:srgbClr val="3468AA"/>
                </a:solidFill>
              </a:rPr>
              <a:t>Layout</a:t>
            </a:r>
          </a:p>
        </p:txBody>
      </p:sp>
      <p:sp>
        <p:nvSpPr>
          <p:cNvPr id="26" name="TextBox 25"/>
          <p:cNvSpPr txBox="1"/>
          <p:nvPr/>
        </p:nvSpPr>
        <p:spPr>
          <a:xfrm>
            <a:off x="2176272"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node​_type</a:t>
            </a:r>
          </a:p>
        </p:txBody>
      </p:sp>
      <p:sp>
        <p:nvSpPr>
          <p:cNvPr id="27" name="TextBox 26"/>
          <p:cNvSpPr txBox="1"/>
          <p:nvPr/>
        </p:nvSpPr>
        <p:spPr>
          <a:xfrm>
            <a:off x="2176272"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memory​_layout</a:t>
            </a:r>
          </a:p>
        </p:txBody>
      </p:sp>
      <p:sp>
        <p:nvSpPr>
          <p:cNvPr id="28" name="TextBox 27"/>
          <p:cNvSpPr txBox="1"/>
          <p:nvPr/>
        </p:nvSpPr>
        <p:spPr>
          <a:xfrm>
            <a:off x="2176272" y="2432304"/>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path​_compression</a:t>
            </a:r>
          </a:p>
        </p:txBody>
      </p:sp>
      <p:sp>
        <p:nvSpPr>
          <p:cNvPr id="29" name="TextBox 28"/>
          <p:cNvSpPr txBox="1"/>
          <p:nvPr/>
        </p:nvSpPr>
        <p:spPr>
          <a:xfrm>
            <a:off x="2176272" y="2761488"/>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filter</a:t>
            </a:r>
          </a:p>
        </p:txBody>
      </p:sp>
      <p:sp>
        <p:nvSpPr>
          <p:cNvPr id="30" name="TextBox 29"/>
          <p:cNvSpPr txBox="1"/>
          <p:nvPr/>
        </p:nvSpPr>
        <p:spPr>
          <a:xfrm>
            <a:off x="2176272" y="3090672"/>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serialization</a:t>
            </a:r>
          </a:p>
        </p:txBody>
      </p:sp>
      <p:sp>
        <p:nvSpPr>
          <p:cNvPr id="31" name="Rounded Rectangle 30"/>
          <p:cNvSpPr/>
          <p:nvPr/>
        </p:nvSpPr>
        <p:spPr>
          <a:xfrm>
            <a:off x="3803904"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803904" y="1143000"/>
            <a:ext cx="32004" cy="2468880"/>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95344"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AD731A"/>
                </a:solidFill>
                <a:latin typeface="Noto Sans"/>
              </a:defRPr>
            </a:pPr>
            <a:r>
              <a:rPr>
                <a:solidFill>
                  <a:srgbClr val="AD731A"/>
                </a:solidFill>
              </a:rPr>
              <a:t>Placement</a:t>
            </a:r>
          </a:p>
        </p:txBody>
      </p:sp>
      <p:sp>
        <p:nvSpPr>
          <p:cNvPr id="34" name="TextBox 33"/>
          <p:cNvSpPr txBox="1"/>
          <p:nvPr/>
        </p:nvSpPr>
        <p:spPr>
          <a:xfrm>
            <a:off x="3895344"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mapping</a:t>
            </a:r>
          </a:p>
        </p:txBody>
      </p:sp>
      <p:sp>
        <p:nvSpPr>
          <p:cNvPr id="35" name="TextBox 34"/>
          <p:cNvSpPr txBox="1"/>
          <p:nvPr/>
        </p:nvSpPr>
        <p:spPr>
          <a:xfrm>
            <a:off x="3895344"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allocator</a:t>
            </a:r>
          </a:p>
        </p:txBody>
      </p:sp>
      <p:sp>
        <p:nvSpPr>
          <p:cNvPr id="36" name="TextBox 35"/>
          <p:cNvSpPr txBox="1"/>
          <p:nvPr/>
        </p:nvSpPr>
        <p:spPr>
          <a:xfrm>
            <a:off x="3895344" y="2432304"/>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value​_handle</a:t>
            </a:r>
          </a:p>
        </p:txBody>
      </p:sp>
      <p:sp>
        <p:nvSpPr>
          <p:cNvPr id="37" name="TextBox 36"/>
          <p:cNvSpPr txBox="1"/>
          <p:nvPr/>
        </p:nvSpPr>
        <p:spPr>
          <a:xfrm>
            <a:off x="3895344" y="2761488"/>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index​_organization</a:t>
            </a:r>
          </a:p>
        </p:txBody>
      </p:sp>
      <p:sp>
        <p:nvSpPr>
          <p:cNvPr id="38" name="TextBox 37"/>
          <p:cNvSpPr txBox="1"/>
          <p:nvPr/>
        </p:nvSpPr>
        <p:spPr>
          <a:xfrm>
            <a:off x="3895344" y="3090672"/>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migration​_policy</a:t>
            </a:r>
          </a:p>
        </p:txBody>
      </p:sp>
      <p:sp>
        <p:nvSpPr>
          <p:cNvPr id="39" name="Rounded Rectangle 38"/>
          <p:cNvSpPr/>
          <p:nvPr/>
        </p:nvSpPr>
        <p:spPr>
          <a:xfrm>
            <a:off x="5522976"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522976" y="1143000"/>
            <a:ext cx="32004" cy="2468880"/>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614416"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2F7458"/>
                </a:solidFill>
                <a:latin typeface="Noto Sans"/>
              </a:defRPr>
            </a:pPr>
            <a:r>
              <a:rPr>
                <a:solidFill>
                  <a:srgbClr val="2F7458"/>
                </a:solidFill>
              </a:rPr>
              <a:t>Execution</a:t>
            </a:r>
          </a:p>
        </p:txBody>
      </p:sp>
      <p:sp>
        <p:nvSpPr>
          <p:cNvPr id="42" name="TextBox 41"/>
          <p:cNvSpPr txBox="1"/>
          <p:nvPr/>
        </p:nvSpPr>
        <p:spPr>
          <a:xfrm>
            <a:off x="5614416"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concurrency</a:t>
            </a:r>
          </a:p>
        </p:txBody>
      </p:sp>
      <p:sp>
        <p:nvSpPr>
          <p:cNvPr id="43" name="TextBox 42"/>
          <p:cNvSpPr txBox="1"/>
          <p:nvPr/>
        </p:nvSpPr>
        <p:spPr>
          <a:xfrm>
            <a:off x="5614416"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prefetch</a:t>
            </a:r>
          </a:p>
        </p:txBody>
      </p:sp>
      <p:sp>
        <p:nvSpPr>
          <p:cNvPr id="44" name="Rounded Rectangle 43"/>
          <p:cNvSpPr/>
          <p:nvPr/>
        </p:nvSpPr>
        <p:spPr>
          <a:xfrm>
            <a:off x="7242048"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242048" y="1143000"/>
            <a:ext cx="32004" cy="2468880"/>
          </a:xfrm>
          <a:prstGeom prst="rect">
            <a:avLst/>
          </a:prstGeom>
          <a:solidFill>
            <a:srgbClr val="BB6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333488"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657487"/>
                </a:solidFill>
                <a:latin typeface="Noto Sans"/>
              </a:defRPr>
            </a:pPr>
            <a:r>
              <a:rPr>
                <a:solidFill>
                  <a:srgbClr val="657487"/>
                </a:solidFill>
              </a:rPr>
              <a:t>Write / I/O</a:t>
            </a:r>
          </a:p>
        </p:txBody>
      </p:sp>
      <p:sp>
        <p:nvSpPr>
          <p:cNvPr id="47" name="TextBox 46"/>
          <p:cNvSpPr txBox="1"/>
          <p:nvPr/>
        </p:nvSpPr>
        <p:spPr>
          <a:xfrm>
            <a:off x="7333488"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queuing​_q1</a:t>
            </a:r>
          </a:p>
        </p:txBody>
      </p:sp>
      <p:sp>
        <p:nvSpPr>
          <p:cNvPr id="48" name="TextBox 47"/>
          <p:cNvSpPr txBox="1"/>
          <p:nvPr/>
        </p:nvSpPr>
        <p:spPr>
          <a:xfrm>
            <a:off x="7333488"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queuing​_q2</a:t>
            </a:r>
          </a:p>
        </p:txBody>
      </p:sp>
      <p:sp>
        <p:nvSpPr>
          <p:cNvPr id="49" name="TextBox 48"/>
          <p:cNvSpPr txBox="1"/>
          <p:nvPr/>
        </p:nvSpPr>
        <p:spPr>
          <a:xfrm>
            <a:off x="7333488" y="2432304"/>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io​_dispatch</a:t>
            </a:r>
          </a:p>
        </p:txBody>
      </p:sp>
      <p:sp>
        <p:nvSpPr>
          <p:cNvPr id="50" name="TextBox 49"/>
          <p:cNvSpPr txBox="1"/>
          <p:nvPr/>
        </p:nvSpPr>
        <p:spPr>
          <a:xfrm>
            <a:off x="7333488" y="2761488"/>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persistence​_target</a:t>
            </a:r>
          </a:p>
        </p:txBody>
      </p:sp>
      <p:sp>
        <p:nvSpPr>
          <p:cNvPr id="51" name="Rectangle 50"/>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Category grouping is not the same as binding time or interface family.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B4 · Interface families and compositions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§3.3.2  |  Distinct from the planner/build/measurement stages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B4</a:t>
            </a:r>
          </a:p>
        </p:txBody>
      </p:sp>
      <p:sp>
        <p:nvSpPr>
          <p:cNvPr id="18" name="Rounded Rectangle 17"/>
          <p:cNvSpPr/>
          <p:nvPr/>
        </p:nvSpPr>
        <p:spPr>
          <a:xfrm>
            <a:off x="530352" y="1197864"/>
            <a:ext cx="3767328" cy="65836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30352" y="1197864"/>
            <a:ext cx="32004" cy="658368"/>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 y="1271016"/>
            <a:ext cx="3584448" cy="512063"/>
          </a:xfrm>
          <a:prstGeom prst="rect">
            <a:avLst/>
          </a:prstGeom>
          <a:noFill/>
        </p:spPr>
        <p:txBody>
          <a:bodyPr wrap="square" lIns="9144" tIns="0" rIns="9144" bIns="0" anchor="ctr">
            <a:spAutoFit/>
          </a:bodyPr>
          <a:lstStyle/>
          <a:p>
            <a:pPr algn="l">
              <a:spcBef>
                <a:spcPts val="0"/>
              </a:spcBef>
              <a:spcAft>
                <a:spcPts val="0"/>
              </a:spcAft>
              <a:defRPr sz="1900" b="1">
                <a:solidFill>
                  <a:srgbClr val="3178B9"/>
                </a:solidFill>
                <a:latin typeface="Noto Sans"/>
              </a:defRPr>
            </a:pPr>
            <a:r>
              <a:t>Map interface family</a:t>
            </a:r>
          </a:p>
        </p:txBody>
      </p:sp>
      <p:sp>
        <p:nvSpPr>
          <p:cNvPr id="21" name="Rounded Rectangle 20"/>
          <p:cNvSpPr/>
          <p:nvPr/>
        </p:nvSpPr>
        <p:spPr>
          <a:xfrm>
            <a:off x="4754880" y="1197864"/>
            <a:ext cx="3767328" cy="65836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754880" y="1197864"/>
            <a:ext cx="32004" cy="658368"/>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55464" y="1271016"/>
            <a:ext cx="3584448" cy="512063"/>
          </a:xfrm>
          <a:prstGeom prst="rect">
            <a:avLst/>
          </a:prstGeom>
          <a:noFill/>
        </p:spPr>
        <p:txBody>
          <a:bodyPr wrap="square" lIns="9144" tIns="0" rIns="9144" bIns="0" anchor="ctr">
            <a:spAutoFit/>
          </a:bodyPr>
          <a:lstStyle/>
          <a:p>
            <a:pPr algn="l">
              <a:spcBef>
                <a:spcPts val="0"/>
              </a:spcBef>
              <a:spcAft>
                <a:spcPts val="0"/>
              </a:spcAft>
              <a:defRPr sz="1900" b="1">
                <a:solidFill>
                  <a:srgbClr val="74589E"/>
                </a:solidFill>
                <a:latin typeface="Noto Sans"/>
              </a:defRPr>
            </a:pPr>
            <a:r>
              <a:t>Container interface family</a:t>
            </a:r>
          </a:p>
        </p:txBody>
      </p:sp>
      <p:cxnSp>
        <p:nvCxnSpPr>
          <p:cNvPr id="24" name="Connector 23"/>
          <p:cNvCxnSpPr/>
          <p:nvPr/>
        </p:nvCxnSpPr>
        <p:spPr>
          <a:xfrm>
            <a:off x="2404872" y="1883664"/>
            <a:ext cx="0" cy="384048"/>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29400" y="1883664"/>
            <a:ext cx="0" cy="384048"/>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30352" y="2322576"/>
            <a:ext cx="3767328" cy="1225296"/>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30352" y="2322576"/>
            <a:ext cx="32004" cy="122529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6" y="2395728"/>
            <a:ext cx="3584448" cy="365760"/>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SearchAlgorithm</a:t>
            </a:r>
          </a:p>
        </p:txBody>
      </p:sp>
      <p:sp>
        <p:nvSpPr>
          <p:cNvPr id="29" name="TextBox 28"/>
          <p:cNvSpPr txBox="1"/>
          <p:nvPr/>
        </p:nvSpPr>
        <p:spPr>
          <a:xfrm>
            <a:off x="630936" y="2788920"/>
            <a:ext cx="3584448" cy="685800"/>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candidate-specific organ composition</a:t>
            </a:r>
          </a:p>
        </p:txBody>
      </p:sp>
      <p:sp>
        <p:nvSpPr>
          <p:cNvPr id="30" name="Rounded Rectangle 29"/>
          <p:cNvSpPr/>
          <p:nvPr/>
        </p:nvSpPr>
        <p:spPr>
          <a:xfrm>
            <a:off x="4754880" y="2322576"/>
            <a:ext cx="3767328" cy="1225296"/>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754880" y="2322576"/>
            <a:ext cx="32004" cy="1225296"/>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55464" y="2395728"/>
            <a:ext cx="3584448" cy="365760"/>
          </a:xfrm>
          <a:prstGeom prst="rect">
            <a:avLst/>
          </a:prstGeom>
          <a:noFill/>
        </p:spPr>
        <p:txBody>
          <a:bodyPr wrap="square" lIns="9144" tIns="0" rIns="9144" bIns="0" anchor="ctr">
            <a:spAutoFit/>
          </a:bodyPr>
          <a:lstStyle/>
          <a:p>
            <a:pPr algn="l">
              <a:spcBef>
                <a:spcPts val="0"/>
              </a:spcBef>
              <a:spcAft>
                <a:spcPts val="0"/>
              </a:spcAft>
              <a:defRPr sz="1500" b="1">
                <a:solidFill>
                  <a:srgbClr val="74589E"/>
                </a:solidFill>
                <a:latin typeface="Noto Sans"/>
              </a:defRPr>
            </a:pPr>
            <a:r>
              <a:t>Set / Sequence / Adapter / View</a:t>
            </a:r>
          </a:p>
        </p:txBody>
      </p:sp>
      <p:sp>
        <p:nvSpPr>
          <p:cNvPr id="33" name="TextBox 32"/>
          <p:cNvSpPr txBox="1"/>
          <p:nvPr/>
        </p:nvSpPr>
        <p:spPr>
          <a:xfrm>
            <a:off x="4855464" y="2788920"/>
            <a:ext cx="3584448" cy="685800"/>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their own contracts and compositions</a:t>
            </a:r>
          </a:p>
        </p:txBody>
      </p:sp>
      <p:sp>
        <p:nvSpPr>
          <p:cNvPr id="34" name="Rectangle 33"/>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Do not force every container into the Map candidate’s 18-slot anatomy.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B5 · Application and publication output</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Moved to backup as requested in the rehearsal</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B5</a:t>
            </a:r>
          </a:p>
        </p:txBody>
      </p:sp>
      <p:sp>
        <p:nvSpPr>
          <p:cNvPr id="18" name="Rounded Rectangle 17"/>
          <p:cNvSpPr/>
          <p:nvPr/>
        </p:nvSpPr>
        <p:spPr>
          <a:xfrm>
            <a:off x="2606040" y="1060704"/>
            <a:ext cx="3931920" cy="70408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606040" y="1060704"/>
            <a:ext cx="32004" cy="704088"/>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06624" y="1092707"/>
            <a:ext cx="3749039" cy="283464"/>
          </a:xfrm>
          <a:prstGeom prst="rect">
            <a:avLst/>
          </a:prstGeom>
          <a:noFill/>
        </p:spPr>
        <p:txBody>
          <a:bodyPr wrap="square" lIns="9144" tIns="0" rIns="9144" bIns="0" anchor="ctr">
            <a:spAutoFit/>
          </a:bodyPr>
          <a:lstStyle/>
          <a:p>
            <a:pPr algn="l">
              <a:spcBef>
                <a:spcPts val="0"/>
              </a:spcBef>
              <a:spcAft>
                <a:spcPts val="0"/>
              </a:spcAft>
              <a:defRPr sz="1800" b="1">
                <a:solidFill>
                  <a:srgbClr val="041447"/>
                </a:solidFill>
                <a:latin typeface="Noto Sans"/>
              </a:defRPr>
            </a:pPr>
            <a:r>
              <a:t>Super-project</a:t>
            </a:r>
          </a:p>
        </p:txBody>
      </p:sp>
      <p:sp>
        <p:nvSpPr>
          <p:cNvPr id="21" name="TextBox 20"/>
          <p:cNvSpPr txBox="1"/>
          <p:nvPr/>
        </p:nvSpPr>
        <p:spPr>
          <a:xfrm>
            <a:off x="2706624" y="1394460"/>
            <a:ext cx="3749039" cy="347472"/>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reference experiment application</a:t>
            </a:r>
          </a:p>
        </p:txBody>
      </p:sp>
      <p:sp>
        <p:nvSpPr>
          <p:cNvPr id="22" name="Rounded Rectangle 21"/>
          <p:cNvSpPr/>
          <p:nvPr/>
        </p:nvSpPr>
        <p:spPr>
          <a:xfrm>
            <a:off x="502920" y="2130552"/>
            <a:ext cx="3730752" cy="8229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2130552"/>
            <a:ext cx="32004" cy="82296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 y="2162556"/>
            <a:ext cx="3547872" cy="283464"/>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Cache Engine</a:t>
            </a:r>
          </a:p>
        </p:txBody>
      </p:sp>
      <p:sp>
        <p:nvSpPr>
          <p:cNvPr id="25" name="TextBox 24"/>
          <p:cNvSpPr txBox="1"/>
          <p:nvPr/>
        </p:nvSpPr>
        <p:spPr>
          <a:xfrm>
            <a:off x="603504" y="2464308"/>
            <a:ext cx="3547872" cy="466344"/>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reusable experiment framework</a:t>
            </a:r>
          </a:p>
        </p:txBody>
      </p:sp>
      <p:sp>
        <p:nvSpPr>
          <p:cNvPr id="26" name="Rounded Rectangle 25"/>
          <p:cNvSpPr/>
          <p:nvPr/>
        </p:nvSpPr>
        <p:spPr>
          <a:xfrm>
            <a:off x="4910328" y="2130552"/>
            <a:ext cx="3730752" cy="8229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910328" y="2130552"/>
            <a:ext cx="32004" cy="822960"/>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10912" y="2162556"/>
            <a:ext cx="3547872" cy="283464"/>
          </a:xfrm>
          <a:prstGeom prst="rect">
            <a:avLst/>
          </a:prstGeom>
          <a:noFill/>
        </p:spPr>
        <p:txBody>
          <a:bodyPr wrap="square" lIns="9144" tIns="0" rIns="9144" bIns="0" anchor="ctr">
            <a:spAutoFit/>
          </a:bodyPr>
          <a:lstStyle/>
          <a:p>
            <a:pPr algn="l">
              <a:spcBef>
                <a:spcPts val="0"/>
              </a:spcBef>
              <a:spcAft>
                <a:spcPts val="0"/>
              </a:spcAft>
              <a:defRPr sz="1800" b="1">
                <a:solidFill>
                  <a:srgbClr val="74589E"/>
                </a:solidFill>
                <a:latin typeface="Noto Sans"/>
              </a:defRPr>
            </a:pPr>
            <a:r>
              <a:t>PRT-ART</a:t>
            </a:r>
          </a:p>
        </p:txBody>
      </p:sp>
      <p:sp>
        <p:nvSpPr>
          <p:cNvPr id="29" name="TextBox 28"/>
          <p:cNvSpPr txBox="1"/>
          <p:nvPr/>
        </p:nvSpPr>
        <p:spPr>
          <a:xfrm>
            <a:off x="5010912" y="2464308"/>
            <a:ext cx="3547872" cy="466344"/>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experimental plugin</a:t>
            </a:r>
          </a:p>
        </p:txBody>
      </p:sp>
      <p:cxnSp>
        <p:nvCxnSpPr>
          <p:cNvPr id="30" name="Connector 29"/>
          <p:cNvCxnSpPr/>
          <p:nvPr/>
        </p:nvCxnSpPr>
        <p:spPr>
          <a:xfrm flipH="1">
            <a:off x="2377440" y="1792224"/>
            <a:ext cx="731520" cy="283464"/>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035040" y="1792224"/>
            <a:ext cx="731520" cy="283464"/>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615184" y="3392424"/>
            <a:ext cx="3913632" cy="70408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615184" y="3392424"/>
            <a:ext cx="32004" cy="704088"/>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715768" y="3424428"/>
            <a:ext cx="3730752" cy="283464"/>
          </a:xfrm>
          <a:prstGeom prst="rect">
            <a:avLst/>
          </a:prstGeom>
          <a:noFill/>
        </p:spPr>
        <p:txBody>
          <a:bodyPr wrap="square" lIns="9144" tIns="0" rIns="9144" bIns="0" anchor="ctr">
            <a:spAutoFit/>
          </a:bodyPr>
          <a:lstStyle/>
          <a:p>
            <a:pPr algn="l">
              <a:spcBef>
                <a:spcPts val="0"/>
              </a:spcBef>
              <a:spcAft>
                <a:spcPts val="0"/>
              </a:spcAft>
              <a:defRPr sz="1800" b="1">
                <a:solidFill>
                  <a:srgbClr val="3178B9"/>
                </a:solidFill>
                <a:latin typeface="Noto Sans"/>
              </a:defRPr>
            </a:pPr>
            <a:r>
              <a:t>Overleaf thesis</a:t>
            </a:r>
          </a:p>
        </p:txBody>
      </p:sp>
      <p:sp>
        <p:nvSpPr>
          <p:cNvPr id="35" name="TextBox 34"/>
          <p:cNvSpPr txBox="1"/>
          <p:nvPr/>
        </p:nvSpPr>
        <p:spPr>
          <a:xfrm>
            <a:off x="2715768" y="3726180"/>
            <a:ext cx="3730752" cy="347472"/>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text + generated tables / diagrams</a:t>
            </a:r>
          </a:p>
        </p:txBody>
      </p:sp>
      <p:cxnSp>
        <p:nvCxnSpPr>
          <p:cNvPr id="36" name="Connector 35"/>
          <p:cNvCxnSpPr/>
          <p:nvPr/>
        </p:nvCxnSpPr>
        <p:spPr>
          <a:xfrm>
            <a:off x="2377440" y="2980944"/>
            <a:ext cx="1298447" cy="384048"/>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605272" y="2980944"/>
            <a:ext cx="1170432" cy="384048"/>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B6 · From pilot data to final evidence</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No final run was supplied with the rehearsal recording</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B6</a:t>
            </a:r>
          </a:p>
        </p:txBody>
      </p:sp>
      <p:sp>
        <p:nvSpPr>
          <p:cNvPr id="18" name="Rectangle 17"/>
          <p:cNvSpPr/>
          <p:nvPr/>
        </p:nvSpPr>
        <p:spPr>
          <a:xfrm>
            <a:off x="457200" y="1133856"/>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1147572"/>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Identity</a:t>
            </a:r>
          </a:p>
        </p:txBody>
      </p:sp>
      <p:sp>
        <p:nvSpPr>
          <p:cNvPr id="20" name="TextBox 19"/>
          <p:cNvSpPr txBox="1"/>
          <p:nvPr/>
        </p:nvSpPr>
        <p:spPr>
          <a:xfrm>
            <a:off x="2121408" y="1133856"/>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exact source / binary / platform / dataset stamps</a:t>
            </a:r>
          </a:p>
        </p:txBody>
      </p:sp>
      <p:sp>
        <p:nvSpPr>
          <p:cNvPr id="21" name="Rectangle 20"/>
          <p:cNvSpPr/>
          <p:nvPr/>
        </p:nvSpPr>
        <p:spPr>
          <a:xfrm>
            <a:off x="457200" y="1655064"/>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3776" y="1668780"/>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Correctness</a:t>
            </a:r>
          </a:p>
        </p:txBody>
      </p:sp>
      <p:sp>
        <p:nvSpPr>
          <p:cNvPr id="23" name="TextBox 22"/>
          <p:cNvSpPr txBox="1"/>
          <p:nvPr/>
        </p:nvSpPr>
        <p:spPr>
          <a:xfrm>
            <a:off x="2121408" y="1655064"/>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operation semantics; no scan no-ops</a:t>
            </a:r>
          </a:p>
        </p:txBody>
      </p:sp>
      <p:sp>
        <p:nvSpPr>
          <p:cNvPr id="24" name="Rectangle 23"/>
          <p:cNvSpPr/>
          <p:nvPr/>
        </p:nvSpPr>
        <p:spPr>
          <a:xfrm>
            <a:off x="457200" y="2176272"/>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3776" y="2189988"/>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Comparison</a:t>
            </a:r>
          </a:p>
        </p:txBody>
      </p:sp>
      <p:sp>
        <p:nvSpPr>
          <p:cNvPr id="26" name="TextBox 25"/>
          <p:cNvSpPr txBox="1"/>
          <p:nvPr/>
        </p:nvSpPr>
        <p:spPr>
          <a:xfrm>
            <a:off x="2121408" y="2176272"/>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same contexts, actual repetitions, stated exclusions</a:t>
            </a:r>
          </a:p>
        </p:txBody>
      </p:sp>
      <p:sp>
        <p:nvSpPr>
          <p:cNvPr id="27" name="Rectangle 26"/>
          <p:cNvSpPr/>
          <p:nvPr/>
        </p:nvSpPr>
        <p:spPr>
          <a:xfrm>
            <a:off x="457200" y="2697480"/>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3776" y="2711196"/>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Cache claim</a:t>
            </a:r>
          </a:p>
        </p:txBody>
      </p:sp>
      <p:sp>
        <p:nvSpPr>
          <p:cNvPr id="29" name="TextBox 28"/>
          <p:cNvSpPr txBox="1"/>
          <p:nvPr/>
        </p:nvSpPr>
        <p:spPr>
          <a:xfrm>
            <a:off x="2121408" y="2697480"/>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validated line-count semantics or real counters</a:t>
            </a:r>
          </a:p>
        </p:txBody>
      </p:sp>
      <p:sp>
        <p:nvSpPr>
          <p:cNvPr id="30" name="Rectangle 29"/>
          <p:cNvSpPr/>
          <p:nvPr/>
        </p:nvSpPr>
        <p:spPr>
          <a:xfrm>
            <a:off x="457200" y="3218687"/>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3776" y="3232403"/>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Release</a:t>
            </a:r>
          </a:p>
        </p:txBody>
      </p:sp>
      <p:sp>
        <p:nvSpPr>
          <p:cNvPr id="32" name="TextBox 31"/>
          <p:cNvSpPr txBox="1"/>
          <p:nvPr/>
        </p:nvSpPr>
        <p:spPr>
          <a:xfrm>
            <a:off x="2121408" y="3218687"/>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selected artifact linked to the evidence</a:t>
            </a:r>
          </a:p>
        </p:txBody>
      </p:sp>
      <p:sp>
        <p:nvSpPr>
          <p:cNvPr id="33" name="Rectangle 32"/>
          <p:cNvSpPr/>
          <p:nvPr/>
        </p:nvSpPr>
        <p:spPr>
          <a:xfrm>
            <a:off x="329184" y="4096512"/>
            <a:ext cx="8458200" cy="356616"/>
          </a:xfrm>
          <a:prstGeom prst="rect">
            <a:avLst/>
          </a:prstGeom>
          <a:solidFill>
            <a:srgbClr val="A4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A clean rerun is needed; renaming old measurements “final” is not acceptable.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B7 · Thesis-to-talk crosswalk</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Main route: 19:00; question budget: about 6:00</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B7</a:t>
            </a:r>
          </a:p>
        </p:txBody>
      </p:sp>
      <p:sp>
        <p:nvSpPr>
          <p:cNvPr id="18" name="TextBox 17"/>
          <p:cNvSpPr txBox="1"/>
          <p:nvPr/>
        </p:nvSpPr>
        <p:spPr>
          <a:xfrm>
            <a:off x="521207" y="1097280"/>
            <a:ext cx="6839712" cy="292608"/>
          </a:xfrm>
          <a:prstGeom prst="rect">
            <a:avLst/>
          </a:prstGeom>
          <a:noFill/>
        </p:spPr>
        <p:txBody>
          <a:bodyPr wrap="square" lIns="9144" tIns="0" rIns="9144" bIns="0" anchor="ctr">
            <a:spAutoFit/>
          </a:bodyPr>
          <a:lstStyle/>
          <a:p>
            <a:pPr algn="l">
              <a:spcBef>
                <a:spcPts val="0"/>
              </a:spcBef>
              <a:spcAft>
                <a:spcPts val="0"/>
              </a:spcAft>
              <a:defRPr sz="1500" b="0">
                <a:solidFill>
                  <a:srgbClr val="041447"/>
                </a:solidFill>
                <a:latin typeface="Noto Sans"/>
              </a:defRPr>
            </a:pPr>
            <a:r>
              <a:t>1 Introduction</a:t>
            </a:r>
          </a:p>
        </p:txBody>
      </p:sp>
      <p:sp>
        <p:nvSpPr>
          <p:cNvPr id="19" name="Rectangle 18"/>
          <p:cNvSpPr/>
          <p:nvPr/>
        </p:nvSpPr>
        <p:spPr>
          <a:xfrm>
            <a:off x="7479792" y="1097280"/>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16367" y="1110995"/>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1–3</a:t>
            </a:r>
          </a:p>
        </p:txBody>
      </p:sp>
      <p:sp>
        <p:nvSpPr>
          <p:cNvPr id="21" name="TextBox 20"/>
          <p:cNvSpPr txBox="1"/>
          <p:nvPr/>
        </p:nvSpPr>
        <p:spPr>
          <a:xfrm>
            <a:off x="521207" y="1581912"/>
            <a:ext cx="6839712" cy="292608"/>
          </a:xfrm>
          <a:prstGeom prst="rect">
            <a:avLst/>
          </a:prstGeom>
          <a:noFill/>
        </p:spPr>
        <p:txBody>
          <a:bodyPr wrap="square" lIns="9144" tIns="0" rIns="9144" bIns="0" anchor="ctr">
            <a:spAutoFit/>
          </a:bodyPr>
          <a:lstStyle/>
          <a:p>
            <a:pPr algn="l">
              <a:spcBef>
                <a:spcPts val="0"/>
              </a:spcBef>
              <a:spcAft>
                <a:spcPts val="0"/>
              </a:spcAft>
              <a:defRPr sz="1500" b="0">
                <a:solidFill>
                  <a:srgbClr val="041447"/>
                </a:solidFill>
                <a:latin typeface="Noto Sans"/>
              </a:defRPr>
            </a:pPr>
            <a:r>
              <a:t>2 Search trees and foundations</a:t>
            </a:r>
          </a:p>
        </p:txBody>
      </p:sp>
      <p:sp>
        <p:nvSpPr>
          <p:cNvPr id="22" name="Rectangle 21"/>
          <p:cNvSpPr/>
          <p:nvPr/>
        </p:nvSpPr>
        <p:spPr>
          <a:xfrm>
            <a:off x="7479792" y="1581912"/>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16367" y="1595628"/>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4</a:t>
            </a:r>
          </a:p>
        </p:txBody>
      </p:sp>
      <p:sp>
        <p:nvSpPr>
          <p:cNvPr id="24" name="TextBox 23"/>
          <p:cNvSpPr txBox="1"/>
          <p:nvPr/>
        </p:nvSpPr>
        <p:spPr>
          <a:xfrm>
            <a:off x="521207" y="2066543"/>
            <a:ext cx="6839712" cy="292608"/>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3 Concepts of a cache-aware measurement system</a:t>
            </a:r>
          </a:p>
        </p:txBody>
      </p:sp>
      <p:sp>
        <p:nvSpPr>
          <p:cNvPr id="25" name="Rectangle 24"/>
          <p:cNvSpPr/>
          <p:nvPr/>
        </p:nvSpPr>
        <p:spPr>
          <a:xfrm>
            <a:off x="7479792" y="2066543"/>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16367" y="2080260"/>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5–7</a:t>
            </a:r>
          </a:p>
        </p:txBody>
      </p:sp>
      <p:sp>
        <p:nvSpPr>
          <p:cNvPr id="27" name="TextBox 26"/>
          <p:cNvSpPr txBox="1"/>
          <p:nvPr/>
        </p:nvSpPr>
        <p:spPr>
          <a:xfrm>
            <a:off x="521207" y="2551176"/>
            <a:ext cx="6839712" cy="292608"/>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4 Implementation</a:t>
            </a:r>
          </a:p>
        </p:txBody>
      </p:sp>
      <p:sp>
        <p:nvSpPr>
          <p:cNvPr id="28" name="Rectangle 27"/>
          <p:cNvSpPr/>
          <p:nvPr/>
        </p:nvSpPr>
        <p:spPr>
          <a:xfrm>
            <a:off x="7479792" y="2551176"/>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16367" y="2564892"/>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8–10</a:t>
            </a:r>
          </a:p>
        </p:txBody>
      </p:sp>
      <p:sp>
        <p:nvSpPr>
          <p:cNvPr id="30" name="TextBox 29"/>
          <p:cNvSpPr txBox="1"/>
          <p:nvPr/>
        </p:nvSpPr>
        <p:spPr>
          <a:xfrm>
            <a:off x="521207" y="3035808"/>
            <a:ext cx="6839712" cy="292608"/>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5 Evaluation</a:t>
            </a:r>
          </a:p>
        </p:txBody>
      </p:sp>
      <p:sp>
        <p:nvSpPr>
          <p:cNvPr id="31" name="Rectangle 30"/>
          <p:cNvSpPr/>
          <p:nvPr/>
        </p:nvSpPr>
        <p:spPr>
          <a:xfrm>
            <a:off x="7479792" y="3035808"/>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16367" y="3049524"/>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11–14</a:t>
            </a:r>
          </a:p>
        </p:txBody>
      </p:sp>
      <p:sp>
        <p:nvSpPr>
          <p:cNvPr id="33" name="TextBox 32"/>
          <p:cNvSpPr txBox="1"/>
          <p:nvPr/>
        </p:nvSpPr>
        <p:spPr>
          <a:xfrm>
            <a:off x="521207" y="3520440"/>
            <a:ext cx="6839712" cy="292608"/>
          </a:xfrm>
          <a:prstGeom prst="rect">
            <a:avLst/>
          </a:prstGeom>
          <a:noFill/>
        </p:spPr>
        <p:txBody>
          <a:bodyPr wrap="square" lIns="9144" tIns="0" rIns="9144" bIns="0" anchor="ctr">
            <a:spAutoFit/>
          </a:bodyPr>
          <a:lstStyle/>
          <a:p>
            <a:pPr algn="l">
              <a:spcBef>
                <a:spcPts val="0"/>
              </a:spcBef>
              <a:spcAft>
                <a:spcPts val="0"/>
              </a:spcAft>
              <a:defRPr sz="1500" b="0">
                <a:solidFill>
                  <a:srgbClr val="041447"/>
                </a:solidFill>
                <a:latin typeface="Noto Sans"/>
              </a:defRPr>
            </a:pPr>
            <a:r>
              <a:t>6 Conclusion and outlook</a:t>
            </a:r>
          </a:p>
        </p:txBody>
      </p:sp>
      <p:sp>
        <p:nvSpPr>
          <p:cNvPr id="34" name="Rectangle 33"/>
          <p:cNvSpPr/>
          <p:nvPr/>
        </p:nvSpPr>
        <p:spPr>
          <a:xfrm>
            <a:off x="7479792" y="3520440"/>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516367" y="3534156"/>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15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B8 · An organ can itself be composed</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§3.3.1, fig:usage; Appendix D, T4; Appendix C  |  Different abstraction levels, not extra slots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r>
              <a:t>B8</a:t>
            </a:r>
          </a:p>
        </p:txBody>
      </p:sp>
      <p:sp>
        <p:nvSpPr>
          <p:cNvPr id="18" name="Rounded Rectangle 17"/>
          <p:cNvSpPr/>
          <p:nvPr/>
        </p:nvSpPr>
        <p:spPr>
          <a:xfrm>
            <a:off x="438912" y="1143000"/>
            <a:ext cx="3822191" cy="2688336"/>
          </a:xfrm>
          <a:prstGeom prst="roundRect">
            <a:avLst>
              <a:gd name="adj" fmla="val 6000"/>
            </a:avLst>
          </a:prstGeom>
          <a:solidFill>
            <a:srgbClr val="FFFFFF"/>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504" y="1252728"/>
            <a:ext cx="3493008" cy="320040"/>
          </a:xfrm>
          <a:prstGeom prst="rect">
            <a:avLst/>
          </a:prstGeom>
          <a:noFill/>
        </p:spPr>
        <p:txBody>
          <a:bodyPr wrap="square" lIns="22860" tIns="0" rIns="22860" bIns="0" anchor="ctr">
            <a:noAutofit/>
          </a:bodyPr>
          <a:lstStyle/>
          <a:p>
            <a:pPr algn="l">
              <a:lnSpc>
                <a:spcPct val="108000"/>
              </a:lnSpc>
              <a:spcBef>
                <a:spcPts val="0"/>
              </a:spcBef>
              <a:spcAft>
                <a:spcPts val="0"/>
              </a:spcAft>
            </a:pPr>
            <a:r>
              <a:rPr sz="1600" b="1">
                <a:solidFill>
                  <a:srgbClr val="041447"/>
                </a:solidFill>
                <a:latin typeface="Noto Sans"/>
              </a:rPr>
              <a:t>Catalogue terminology</a:t>
            </a:r>
          </a:p>
        </p:txBody>
      </p:sp>
      <p:sp>
        <p:nvSpPr>
          <p:cNvPr id="20" name="TextBox 19"/>
          <p:cNvSpPr txBox="1"/>
          <p:nvPr/>
        </p:nvSpPr>
        <p:spPr>
          <a:xfrm>
            <a:off x="621792" y="1783080"/>
            <a:ext cx="3419856" cy="502920"/>
          </a:xfrm>
          <a:prstGeom prst="rect">
            <a:avLst/>
          </a:prstGeom>
          <a:noFill/>
        </p:spPr>
        <p:txBody>
          <a:bodyPr wrap="square" lIns="22860" tIns="0" rIns="22860" bIns="0" anchor="ctr">
            <a:noAutofit/>
          </a:bodyPr>
          <a:lstStyle/>
          <a:p>
            <a:pPr algn="l">
              <a:lnSpc>
                <a:spcPct val="108000"/>
              </a:lnSpc>
              <a:spcBef>
                <a:spcPts val="0"/>
              </a:spcBef>
              <a:spcAft>
                <a:spcPts val="0"/>
              </a:spcAft>
            </a:pPr>
            <a:r>
              <a:rPr sz="1400" b="0">
                <a:solidFill>
                  <a:srgbClr val="23364B"/>
                </a:solidFill>
                <a:latin typeface="Noto Sans"/>
              </a:rPr>
              <a:t>Axis / organ slot</a:t>
            </a:r>
          </a:p>
          <a:p>
            <a:pPr algn="l">
              <a:lnSpc>
                <a:spcPct val="108000"/>
              </a:lnSpc>
              <a:spcBef>
                <a:spcPts val="0"/>
              </a:spcBef>
              <a:spcAft>
                <a:spcPts val="0"/>
              </a:spcAft>
            </a:pPr>
            <a:r>
              <a:rPr sz="1400" b="0">
                <a:solidFill>
                  <a:srgbClr val="23364B"/>
                </a:solidFill>
                <a:latin typeface="Noto Sans"/>
              </a:rPr>
              <a:t>→ one selected strategy</a:t>
            </a:r>
          </a:p>
        </p:txBody>
      </p:sp>
      <p:sp>
        <p:nvSpPr>
          <p:cNvPr id="21" name="TextBox 20"/>
          <p:cNvSpPr txBox="1"/>
          <p:nvPr/>
        </p:nvSpPr>
        <p:spPr>
          <a:xfrm>
            <a:off x="621792" y="2551176"/>
            <a:ext cx="3419856" cy="521207"/>
          </a:xfrm>
          <a:prstGeom prst="rect">
            <a:avLst/>
          </a:prstGeom>
          <a:noFill/>
        </p:spPr>
        <p:txBody>
          <a:bodyPr wrap="square" lIns="22860" tIns="0" rIns="22860" bIns="0" anchor="ctr">
            <a:noAutofit/>
          </a:bodyPr>
          <a:lstStyle/>
          <a:p>
            <a:pPr algn="l">
              <a:lnSpc>
                <a:spcPct val="108000"/>
              </a:lnSpc>
              <a:spcBef>
                <a:spcPts val="0"/>
              </a:spcBef>
              <a:spcAft>
                <a:spcPts val="0"/>
              </a:spcAft>
            </a:pPr>
            <a:r>
              <a:rPr sz="1230" b="0">
                <a:solidFill>
                  <a:srgbClr val="23364B"/>
                </a:solidFill>
                <a:latin typeface="Noto Sans"/>
              </a:rPr>
              <a:t>18 identity-forming organ slots</a:t>
            </a:r>
          </a:p>
          <a:p>
            <a:pPr algn="l">
              <a:lnSpc>
                <a:spcPct val="108000"/>
              </a:lnSpc>
              <a:spcBef>
                <a:spcPts val="0"/>
              </a:spcBef>
              <a:spcAft>
                <a:spcPts val="0"/>
              </a:spcAft>
            </a:pPr>
            <a:r>
              <a:rPr sz="1230" b="0">
                <a:solidFill>
                  <a:srgbClr val="23364B"/>
                </a:solidFill>
                <a:latin typeface="Noto Sans"/>
              </a:rPr>
              <a:t>The five groups only organise them.</a:t>
            </a:r>
          </a:p>
        </p:txBody>
      </p:sp>
      <p:sp>
        <p:nvSpPr>
          <p:cNvPr id="22" name="TextBox 21"/>
          <p:cNvSpPr txBox="1"/>
          <p:nvPr/>
        </p:nvSpPr>
        <p:spPr>
          <a:xfrm>
            <a:off x="621792" y="3282696"/>
            <a:ext cx="3419856" cy="320040"/>
          </a:xfrm>
          <a:prstGeom prst="rect">
            <a:avLst/>
          </a:prstGeom>
          <a:noFill/>
        </p:spPr>
        <p:txBody>
          <a:bodyPr wrap="square" lIns="22860" tIns="0" rIns="22860" bIns="0" anchor="ctr">
            <a:noAutofit/>
          </a:bodyPr>
          <a:lstStyle/>
          <a:p>
            <a:pPr algn="l">
              <a:lnSpc>
                <a:spcPct val="108000"/>
              </a:lnSpc>
              <a:spcBef>
                <a:spcPts val="0"/>
              </a:spcBef>
              <a:spcAft>
                <a:spcPts val="0"/>
              </a:spcAft>
            </a:pPr>
            <a:r>
              <a:rPr sz="1040" b="0">
                <a:solidFill>
                  <a:srgbClr val="657487"/>
                </a:solidFill>
                <a:latin typeface="Noto Sans"/>
              </a:rPr>
              <a:t>Appendix C / Appendix D opening</a:t>
            </a:r>
          </a:p>
        </p:txBody>
      </p:sp>
      <p:sp>
        <p:nvSpPr>
          <p:cNvPr id="23" name="Rounded Rectangle 22"/>
          <p:cNvSpPr/>
          <p:nvPr/>
        </p:nvSpPr>
        <p:spPr>
          <a:xfrm>
            <a:off x="4590288" y="1143000"/>
            <a:ext cx="4096512" cy="2688336"/>
          </a:xfrm>
          <a:prstGeom prst="roundRect">
            <a:avLst>
              <a:gd name="adj" fmla="val 6000"/>
            </a:avLst>
          </a:prstGeom>
          <a:solidFill>
            <a:srgbClr val="F1F5F8"/>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36592" y="1261872"/>
            <a:ext cx="3767328" cy="301752"/>
          </a:xfrm>
          <a:prstGeom prst="rect">
            <a:avLst/>
          </a:prstGeom>
          <a:noFill/>
        </p:spPr>
        <p:txBody>
          <a:bodyPr wrap="square" lIns="22860" tIns="0" rIns="22860" bIns="0" anchor="ctr">
            <a:noAutofit/>
          </a:bodyPr>
          <a:lstStyle/>
          <a:p>
            <a:pPr algn="l">
              <a:lnSpc>
                <a:spcPct val="108000"/>
              </a:lnSpc>
              <a:spcBef>
                <a:spcPts val="0"/>
              </a:spcBef>
              <a:spcAft>
                <a:spcPts val="0"/>
              </a:spcAft>
            </a:pPr>
            <a:r>
              <a:rPr sz="1600" b="1">
                <a:solidFill>
                  <a:srgbClr val="041447"/>
                </a:solidFill>
                <a:latin typeface="Noto Sans"/>
              </a:rPr>
              <a:t>Functional composition</a:t>
            </a:r>
          </a:p>
        </p:txBody>
      </p:sp>
      <p:sp>
        <p:nvSpPr>
          <p:cNvPr id="25" name="Freeform 24"/>
          <p:cNvSpPr/>
          <p:nvPr/>
        </p:nvSpPr>
        <p:spPr>
          <a:xfrm>
            <a:off x="4983480" y="1828800"/>
            <a:ext cx="1170432" cy="704088"/>
          </a:xfrm>
          <a:custGeom>
            <a:avLst/>
            <a:gdLst/>
            <a:ahLst/>
            <a:cxnLst/>
            <a:rect l="l" t="t" r="r" b="b"/>
            <a:pathLst>
              <a:path w="1280" h="770">
                <a:moveTo>
                  <a:pt x="0" y="0"/>
                </a:moveTo>
                <a:lnTo>
                  <a:pt x="1180" y="0"/>
                </a:lnTo>
                <a:lnTo>
                  <a:pt x="1180" y="323"/>
                </a:lnTo>
                <a:lnTo>
                  <a:pt x="1202" y="336"/>
                </a:lnTo>
                <a:lnTo>
                  <a:pt x="1223" y="348"/>
                </a:lnTo>
                <a:lnTo>
                  <a:pt x="1242" y="360"/>
                </a:lnTo>
                <a:lnTo>
                  <a:pt x="1258" y="372"/>
                </a:lnTo>
                <a:lnTo>
                  <a:pt x="1270" y="384"/>
                </a:lnTo>
                <a:lnTo>
                  <a:pt x="1278" y="396"/>
                </a:lnTo>
                <a:lnTo>
                  <a:pt x="1280" y="408"/>
                </a:lnTo>
                <a:lnTo>
                  <a:pt x="1278" y="420"/>
                </a:lnTo>
                <a:lnTo>
                  <a:pt x="1270" y="432"/>
                </a:lnTo>
                <a:lnTo>
                  <a:pt x="1258" y="444"/>
                </a:lnTo>
                <a:lnTo>
                  <a:pt x="1242" y="456"/>
                </a:lnTo>
                <a:lnTo>
                  <a:pt x="1223" y="469"/>
                </a:lnTo>
                <a:lnTo>
                  <a:pt x="1202" y="481"/>
                </a:lnTo>
                <a:lnTo>
                  <a:pt x="1180" y="493"/>
                </a:lnTo>
                <a:lnTo>
                  <a:pt x="1180" y="770"/>
                </a:lnTo>
                <a:lnTo>
                  <a:pt x="0" y="770"/>
                </a:lnTo>
                <a:lnTo>
                  <a:pt x="0" y="493"/>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65776" y="1869948"/>
            <a:ext cx="950976" cy="183062"/>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T4</a:t>
            </a:r>
          </a:p>
        </p:txBody>
      </p:sp>
      <p:sp>
        <p:nvSpPr>
          <p:cNvPr id="27" name="TextBox 26"/>
          <p:cNvSpPr txBox="1"/>
          <p:nvPr/>
        </p:nvSpPr>
        <p:spPr>
          <a:xfrm>
            <a:off x="5024628" y="2068189"/>
            <a:ext cx="1010412" cy="309798"/>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Node4</a:t>
            </a:r>
          </a:p>
        </p:txBody>
      </p:sp>
      <p:sp>
        <p:nvSpPr>
          <p:cNvPr id="28" name="Freeform 27"/>
          <p:cNvSpPr/>
          <p:nvPr/>
        </p:nvSpPr>
        <p:spPr>
          <a:xfrm>
            <a:off x="6062472" y="1828800"/>
            <a:ext cx="1170432" cy="704088"/>
          </a:xfrm>
          <a:custGeom>
            <a:avLst/>
            <a:gdLst/>
            <a:ahLst/>
            <a:cxnLst/>
            <a:rect l="l" t="t" r="r" b="b"/>
            <a:pathLst>
              <a:path w="1280" h="770">
                <a:moveTo>
                  <a:pt x="0" y="0"/>
                </a:moveTo>
                <a:lnTo>
                  <a:pt x="1180" y="0"/>
                </a:lnTo>
                <a:lnTo>
                  <a:pt x="1180" y="323"/>
                </a:lnTo>
                <a:lnTo>
                  <a:pt x="1202" y="336"/>
                </a:lnTo>
                <a:lnTo>
                  <a:pt x="1223" y="348"/>
                </a:lnTo>
                <a:lnTo>
                  <a:pt x="1242" y="360"/>
                </a:lnTo>
                <a:lnTo>
                  <a:pt x="1258" y="372"/>
                </a:lnTo>
                <a:lnTo>
                  <a:pt x="1270" y="384"/>
                </a:lnTo>
                <a:lnTo>
                  <a:pt x="1278" y="396"/>
                </a:lnTo>
                <a:lnTo>
                  <a:pt x="1280" y="408"/>
                </a:lnTo>
                <a:lnTo>
                  <a:pt x="1278" y="420"/>
                </a:lnTo>
                <a:lnTo>
                  <a:pt x="1270" y="432"/>
                </a:lnTo>
                <a:lnTo>
                  <a:pt x="1258" y="444"/>
                </a:lnTo>
                <a:lnTo>
                  <a:pt x="1242" y="456"/>
                </a:lnTo>
                <a:lnTo>
                  <a:pt x="1223" y="469"/>
                </a:lnTo>
                <a:lnTo>
                  <a:pt x="1202" y="481"/>
                </a:lnTo>
                <a:lnTo>
                  <a:pt x="1180" y="493"/>
                </a:lnTo>
                <a:lnTo>
                  <a:pt x="1180" y="770"/>
                </a:lnTo>
                <a:lnTo>
                  <a:pt x="0" y="770"/>
                </a:lnTo>
                <a:lnTo>
                  <a:pt x="0" y="493"/>
                </a:lnTo>
                <a:lnTo>
                  <a:pt x="22" y="481"/>
                </a:lnTo>
                <a:lnTo>
                  <a:pt x="43" y="469"/>
                </a:lnTo>
                <a:lnTo>
                  <a:pt x="62" y="456"/>
                </a:lnTo>
                <a:lnTo>
                  <a:pt x="78" y="444"/>
                </a:lnTo>
                <a:lnTo>
                  <a:pt x="90" y="432"/>
                </a:lnTo>
                <a:lnTo>
                  <a:pt x="98" y="420"/>
                </a:lnTo>
                <a:lnTo>
                  <a:pt x="100" y="408"/>
                </a:lnTo>
                <a:lnTo>
                  <a:pt x="98" y="396"/>
                </a:lnTo>
                <a:lnTo>
                  <a:pt x="90" y="384"/>
                </a:lnTo>
                <a:lnTo>
                  <a:pt x="78" y="372"/>
                </a:lnTo>
                <a:lnTo>
                  <a:pt x="62" y="360"/>
                </a:lnTo>
                <a:lnTo>
                  <a:pt x="43" y="348"/>
                </a:lnTo>
                <a:lnTo>
                  <a:pt x="22" y="336"/>
                </a:lnTo>
                <a:lnTo>
                  <a:pt x="0" y="323"/>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44768" y="1869948"/>
            <a:ext cx="950976" cy="183062"/>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T5</a:t>
            </a:r>
          </a:p>
        </p:txBody>
      </p:sp>
      <p:sp>
        <p:nvSpPr>
          <p:cNvPr id="30" name="TextBox 29"/>
          <p:cNvSpPr txBox="1"/>
          <p:nvPr/>
        </p:nvSpPr>
        <p:spPr>
          <a:xfrm>
            <a:off x="6103620" y="2068189"/>
            <a:ext cx="1010412" cy="309798"/>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Aligned</a:t>
            </a:r>
          </a:p>
        </p:txBody>
      </p:sp>
      <p:sp>
        <p:nvSpPr>
          <p:cNvPr id="31" name="Freeform 30"/>
          <p:cNvSpPr/>
          <p:nvPr/>
        </p:nvSpPr>
        <p:spPr>
          <a:xfrm>
            <a:off x="7141464" y="1828800"/>
            <a:ext cx="1078992" cy="704088"/>
          </a:xfrm>
          <a:custGeom>
            <a:avLst/>
            <a:gdLst/>
            <a:ahLst/>
            <a:cxnLst/>
            <a:rect l="l" t="t" r="r" b="b"/>
            <a:pathLst>
              <a:path w="1180" h="770">
                <a:moveTo>
                  <a:pt x="0" y="0"/>
                </a:moveTo>
                <a:lnTo>
                  <a:pt x="1180" y="0"/>
                </a:lnTo>
                <a:lnTo>
                  <a:pt x="1180" y="323"/>
                </a:lnTo>
                <a:lnTo>
                  <a:pt x="1180" y="770"/>
                </a:lnTo>
                <a:lnTo>
                  <a:pt x="0" y="770"/>
                </a:lnTo>
                <a:lnTo>
                  <a:pt x="0" y="493"/>
                </a:lnTo>
                <a:lnTo>
                  <a:pt x="22" y="481"/>
                </a:lnTo>
                <a:lnTo>
                  <a:pt x="43" y="469"/>
                </a:lnTo>
                <a:lnTo>
                  <a:pt x="62" y="456"/>
                </a:lnTo>
                <a:lnTo>
                  <a:pt x="78" y="444"/>
                </a:lnTo>
                <a:lnTo>
                  <a:pt x="90" y="432"/>
                </a:lnTo>
                <a:lnTo>
                  <a:pt x="98" y="420"/>
                </a:lnTo>
                <a:lnTo>
                  <a:pt x="100" y="408"/>
                </a:lnTo>
                <a:lnTo>
                  <a:pt x="98" y="396"/>
                </a:lnTo>
                <a:lnTo>
                  <a:pt x="90" y="384"/>
                </a:lnTo>
                <a:lnTo>
                  <a:pt x="78" y="372"/>
                </a:lnTo>
                <a:lnTo>
                  <a:pt x="62" y="360"/>
                </a:lnTo>
                <a:lnTo>
                  <a:pt x="43" y="348"/>
                </a:lnTo>
                <a:lnTo>
                  <a:pt x="22" y="336"/>
                </a:lnTo>
                <a:lnTo>
                  <a:pt x="0" y="323"/>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23760" y="1869948"/>
            <a:ext cx="950976" cy="183062"/>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T6</a:t>
            </a:r>
          </a:p>
        </p:txBody>
      </p:sp>
      <p:sp>
        <p:nvSpPr>
          <p:cNvPr id="33" name="TextBox 32"/>
          <p:cNvSpPr txBox="1"/>
          <p:nvPr/>
        </p:nvSpPr>
        <p:spPr>
          <a:xfrm>
            <a:off x="7182612" y="2068189"/>
            <a:ext cx="1010412" cy="309798"/>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mimalloc</a:t>
            </a:r>
          </a:p>
        </p:txBody>
      </p:sp>
      <p:cxnSp>
        <p:nvCxnSpPr>
          <p:cNvPr id="34" name="Connector 33"/>
          <p:cNvCxnSpPr/>
          <p:nvPr/>
        </p:nvCxnSpPr>
        <p:spPr>
          <a:xfrm>
            <a:off x="6583680" y="2578608"/>
            <a:ext cx="0" cy="246888"/>
          </a:xfrm>
          <a:prstGeom prst="line">
            <a:avLst/>
          </a:prstGeom>
          <a:ln w="1651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937760" y="2871216"/>
            <a:ext cx="3310128" cy="429768"/>
          </a:xfrm>
          <a:prstGeom prst="roundRect">
            <a:avLst>
              <a:gd name="adj" fmla="val 6000"/>
            </a:avLst>
          </a:prstGeom>
          <a:solidFill>
            <a:srgbClr val="FFFFFF"/>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960620" y="2875788"/>
            <a:ext cx="3264408" cy="420623"/>
          </a:xfrm>
          <a:prstGeom prst="rect">
            <a:avLst/>
          </a:prstGeom>
          <a:noFill/>
        </p:spPr>
        <p:txBody>
          <a:bodyPr wrap="square" lIns="22860" tIns="0" rIns="22860" bIns="0" anchor="ctr">
            <a:noAutofit/>
          </a:bodyPr>
          <a:lstStyle/>
          <a:p>
            <a:pPr algn="ctr">
              <a:lnSpc>
                <a:spcPct val="108000"/>
              </a:lnSpc>
              <a:spcBef>
                <a:spcPts val="0"/>
              </a:spcBef>
              <a:spcAft>
                <a:spcPts val="0"/>
              </a:spcAft>
            </a:pPr>
            <a:r>
              <a:rPr sz="1210" b="1">
                <a:solidFill>
                  <a:srgbClr val="041447"/>
                </a:solidFill>
                <a:latin typeface="Noto Sans"/>
              </a:rPr>
              <a:t>LayoutAwareChunkedStore</a:t>
            </a:r>
          </a:p>
        </p:txBody>
      </p:sp>
      <p:sp>
        <p:nvSpPr>
          <p:cNvPr id="37" name="TextBox 36"/>
          <p:cNvSpPr txBox="1"/>
          <p:nvPr/>
        </p:nvSpPr>
        <p:spPr>
          <a:xfrm>
            <a:off x="4864608" y="3429000"/>
            <a:ext cx="3547872" cy="210312"/>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041447"/>
                </a:solidFill>
                <a:latin typeface="Noto Sans"/>
              </a:rPr>
              <a:t>T4 ⊕ T5 ⊕ T6 → StorageOrgan</a:t>
            </a:r>
          </a:p>
        </p:txBody>
      </p:sp>
      <p:sp>
        <p:nvSpPr>
          <p:cNvPr id="38" name="Rectangle 37"/>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The storage organ is not an extra 19th slot; it realises the selected axes together.</a:t>
            </a:r>
          </a:p>
        </p:txBody>
      </p:sp>
    </p:spTree>
  </p:cSld>
  <p:clrMapOvr>
    <a:masterClrMapping/>
  </p:clrMapOvr>
</p:sld>
</file>

<file path=ppt/theme/theme1.xml><?xml version="1.0" encoding="utf-8"?>
<a:theme xmlns:a="http://schemas.openxmlformats.org/drawingml/2006/main" name="DB_theme">
  <a:themeElements>
    <a:clrScheme name="PAL-CD">
      <a:dk1>
        <a:srgbClr val="4C4D4D"/>
      </a:dk1>
      <a:lt1>
        <a:sysClr val="window" lastClr="FFFFFF"/>
      </a:lt1>
      <a:dk2>
        <a:srgbClr val="171616"/>
      </a:dk2>
      <a:lt2>
        <a:srgbClr val="E7E6E6"/>
      </a:lt2>
      <a:accent1>
        <a:srgbClr val="40B498"/>
      </a:accent1>
      <a:accent2>
        <a:srgbClr val="B1D285"/>
      </a:accent2>
      <a:accent3>
        <a:srgbClr val="1F8299"/>
      </a:accent3>
      <a:accent4>
        <a:srgbClr val="F9C611"/>
      </a:accent4>
      <a:accent5>
        <a:srgbClr val="EA4F30"/>
      </a:accent5>
      <a:accent6>
        <a:srgbClr val="994781"/>
      </a:accent6>
      <a:hlink>
        <a:srgbClr val="1F8299"/>
      </a:hlink>
      <a:folHlink>
        <a:srgbClr val="994781"/>
      </a:folHlink>
    </a:clrScheme>
    <a:fontScheme name="TUD CD">
      <a:majorFont>
        <a:latin typeface="Noto Sans"/>
        <a:ea typeface=""/>
        <a:cs typeface=""/>
      </a:majorFont>
      <a:minorFont>
        <a:latin typeface="Noto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200" dirty="0" err="1" smtClean="0"/>
        </a:defPPr>
      </a:lstStyle>
    </a:txDef>
  </a:objectDefaults>
  <a:extraClrSchemeLst/>
  <a:custClrLst>
    <a:custClr name="Brillantblau">
      <a:srgbClr val="00008C"/>
    </a:custClr>
    <a:custClr name="Blau 1">
      <a:srgbClr val="2F57B2"/>
    </a:custClr>
    <a:custClr name="Violett 1">
      <a:srgbClr val="7369BE"/>
    </a:custClr>
    <a:custClr name="Magenta 1">
      <a:srgbClr val="BC1589"/>
    </a:custClr>
    <a:custClr name="Rot 1">
      <a:srgbClr val="D20F41"/>
    </a:custClr>
    <a:custClr name="Orange 1">
      <a:srgbClr val="C85000"/>
    </a:custClr>
    <a:custClr name="Gelb 1">
      <a:srgbClr val="FFC700"/>
    </a:custClr>
    <a:custClr name="Oliv 1">
      <a:srgbClr val="767A23"/>
    </a:custClr>
    <a:custClr name="Grün 1">
      <a:srgbClr val="007D4B"/>
    </a:custClr>
    <a:custClr name="Türkis 1">
      <a:srgbClr val="0A777F"/>
    </a:custClr>
    <a:custClr name="Dunkelblau">
      <a:srgbClr val="001450"/>
    </a:custClr>
    <a:custClr name="Blau 2">
      <a:srgbClr val="97C6FF"/>
    </a:custClr>
    <a:custClr name="Violett 2">
      <a:srgbClr val="C8C8FF"/>
    </a:custClr>
    <a:custClr name="Magenta 2">
      <a:srgbClr val="FFB9FF"/>
    </a:custClr>
    <a:custClr name="Rot 2">
      <a:srgbClr val="FFAAA5"/>
    </a:custClr>
    <a:custClr name="Orange 2">
      <a:srgbClr val="FFBE78"/>
    </a:custClr>
    <a:custClr name="Gelb 2">
      <a:srgbClr val="FFE483"/>
    </a:custClr>
    <a:custClr name="Oliv 2">
      <a:srgbClr val="D2DC46"/>
    </a:custClr>
    <a:custClr name="Grün 2">
      <a:srgbClr val="8CE6AA"/>
    </a:custClr>
    <a:custClr name="Türkis 2">
      <a:srgbClr val="8CE6D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Schwarz">
      <a:srgbClr val="000000"/>
    </a:custClr>
    <a:custClr name="Weiß">
      <a:srgbClr val="FFFFFF"/>
    </a:custClr>
    <a:custClr name="Grau 100">
      <a:srgbClr val="323F4B"/>
    </a:custClr>
    <a:custClr name="Grau 80">
      <a:srgbClr val="566371"/>
    </a:custClr>
    <a:custClr name="Grau 60">
      <a:srgbClr val="7D8894"/>
    </a:custClr>
    <a:custClr name="Grau 40">
      <a:srgbClr val="A5AEB8"/>
    </a:custClr>
    <a:custClr name="Grau 20">
      <a:srgbClr val="D0D5DC"/>
    </a:custClr>
    <a:custClr name="Grau 10">
      <a:srgbClr val="E7E9E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DB_template_26v2.potx" id="{346595A6-02AF-417F-B415-CE76A098590B}" vid="{48E7935D-9E50-4D71-ABDC-0DDEEDD198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1">
      <a:majorFont>
        <a:latin typeface="Muli"/>
        <a:ea typeface=""/>
        <a:cs typeface=""/>
      </a:majorFont>
      <a:minorFont>
        <a:latin typeface="Mul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1">
      <a:majorFont>
        <a:latin typeface="Muli"/>
        <a:ea typeface=""/>
        <a:cs typeface=""/>
      </a:majorFont>
      <a:minorFont>
        <a:latin typeface="Mul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6885</Words>
  <Application>Microsoft Office PowerPoint</Application>
  <PresentationFormat>Bildschirmpräsentation (16:9)</PresentationFormat>
  <Paragraphs>870</Paragraphs>
  <Slides>23</Slides>
  <Notes>23</Notes>
  <HiddenSlides>8</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23</vt:i4>
      </vt:variant>
    </vt:vector>
  </HeadingPairs>
  <TitlesOfParts>
    <vt:vector size="28" baseType="lpstr">
      <vt:lpstr>Arial</vt:lpstr>
      <vt:lpstr>DejaVu Sans Mono</vt:lpstr>
      <vt:lpstr>Muli</vt:lpstr>
      <vt:lpstr>Noto Sans</vt:lpstr>
      <vt:lpstr>DB_theme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 Engine — revised after the Habich rehearsal</dc:title>
  <dc:subject>Thesis-ordered scientific presentation; 19-minute route</dc:subject>
  <dc:creator>Benjamin-Elias Probst</dc:creator>
  <cp:keywords>PRT-ART; Cache Engine; design spaces; measurement; TU Dresden</cp:keywords>
  <cp:lastModifiedBy>Benjamin-Elias Probst</cp:lastModifiedBy>
  <cp:revision>44</cp:revision>
  <cp:lastPrinted>2017-08-03T12:32:02Z</cp:lastPrinted>
  <dcterms:created xsi:type="dcterms:W3CDTF">2025-09-12T10:00:42Z</dcterms:created>
  <dcterms:modified xsi:type="dcterms:W3CDTF">2026-09-18T12:31:53Z</dcterms:modified>
</cp:coreProperties>
</file>