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8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55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CoCo-trie: Data-aware compression and indexing of strings (datasets and string-dictionary framing): https://www.sciencedirect.com/science/article/pii/S0306437923001527
- Barnard hardware overview: https://compendium.hpc.tu-dresden.de/jobs_and_resources/hardware_overview/
- Intel Xeon Platinum 8470 specifications (Sapphire Rapids, AVX-512): https://www.intel.com/content/www/us/en/products/sku/231728/intel-xeon-platinum-8470-processor-105m-cache-2-00-ghz/specifications.html
- perf stat hybrid support (cpu_core / cpu_atom): https://man7.org/linux/man-pages/man1/perf-stat.1.html
- Intel Advisor cache simulation and 64-byte default cache line: https://www.intel.com/content/www/us/en/docs/advisor/user-guide/2024-1/cachesim-cacheline-size.html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Barnard hardware overview: https://compendium.hpc.tu-dresden.de/jobs_and_resources/hardware_overview/
- Intel Xeon Platinum 8470 specs: https://www.intel.com/content/www/us/en/products/sku/231728/intel-xeon-platinum-8470-processor-105m-cache-2-00-ghz/specifications.html
- perf stat hybrid support for cpu_core and cpu_atom PMUs: https://man7.org/linux/man-pages/man1/perf-stat.1.html
- Intel Advisor MAP and cache simulation (cache line size / utilization / footprint): https://www.intel.com/content/www/us/en/docs/advisor/user-guide/2024-1/cachesim-cacheline-size.html
- Intel Advisor cache simulation mode: https://www.intel.com/content/www/us/en/docs/advisor/user-guide/2024-0/cachesim-mode.html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CoCo-trie dataset portfolio and preprocessing: https://www.sciencedirect.com/science/article/pii/S0306437923001527
- Two-level massive string dictionaries (extension datasets such as enwiki-titles, aol-queries, uk-2002, webbase-2001): https://www.sciencedirect.com/science/article/pii/S0306437924001480
- YCSB core workloads A–F: https://github.com/brianfrankcooper/YCSB/wiki/Core-Workloads
- YCSB core properties and workload configuration: https://github.com/brianfrankcooper/YCSB/wiki/Core-Properties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ART paper: https://db.in.tum.de/~leis/papers/ART.pdf
- HOT repository/paper entry: https://github.com/speedskater/hot
- Masstree paper: https://www.read.seas.harvard.edu/~kohler/pubs/mao12cache.pdf
- YCSB-C reference harness: https://github.com/basicthinker/YCSB-C
- CoCo-trie paper: https://www.sciencedirect.com/science/article/pii/S0306437923001527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Termin-4 freeze items synthesize the prior Termin-3 sources: CoCo-trie datasets, YCSB workload semantics, perf hybrid support, Barnard hardware overview, and Intel Advisor cache-simulation documentation.
- CoCo-trie datasets: https://www.sciencedirect.com/science/article/pii/S0306437923001527
- YCSB core workloads: https://github.com/brianfrankcooper/YCSB/wiki/Core-Workloads
- perf hybrid support: https://man7.org/linux/man-pages/man1/perf-stat.1.html
- Barnard hardware overview: https://compendium.hpc.tu-dresden.de/jobs_and_resources/hardware_overview/
- Intel Advisor MAP cache simulation: https://www.intel.com/content/www/us/en/docs/advisor/user-guide/2024-1/cachesim-cacheline-size.html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| Termin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Termin 3 | Benchmark-, Datensatz- und Messplan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Ziel: eine reproduzierbare Vergleichsstudie auf festen Plattformen, festen Datensätzen und festen Metriken – mit PRT-ART als einziger neuer Implementierung.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543800" y="1828800"/>
            <a:ext cx="3657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778240" y="1828800"/>
            <a:ext cx="0" cy="2468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0012680" y="1828800"/>
            <a:ext cx="0" cy="2468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79792" y="122529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Plattformen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79792" y="1481328"/>
            <a:ext cx="14081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lokal hybrid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+ Barnard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Scalar | AVX2 | AVX-512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549640" y="324612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0FDFA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714232" y="337413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Datensätze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14232" y="3630168"/>
            <a:ext cx="14081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6× CoCo-trie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Pflichtsatz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url | dna | …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9784080" y="109728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948672" y="122529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Messung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48672" y="1481328"/>
            <a:ext cx="14081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perf stat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+ Intel Advisor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p99 | Misses | CLU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85800" y="288036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05256" y="2852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Pflichtplattformen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5256" y="3063240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lokales Hybrid-System (P-/E-Cores getrennt) und ZIH Barnard mit AVX-512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85800" y="3538728"/>
            <a:ext cx="128016" cy="128016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05256" y="3511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Pflichtdatensätze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5256" y="3721608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alle sechs CoCo-trie-Datensätze als gemeinsames, reproduzierbares Kernportfolio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85800" y="419709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905256" y="4169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Pflichtbaselines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05256" y="4379976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PRT-ART selbst, plus Wrapper um ART, HOT, Masstree, B+-Baum und Hash-Baselines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85800" y="485546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905256" y="4828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Pflichtausgabe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05256" y="5038344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Roh-CSV/JSON, HDR-Histogramme und getrennte Counter-Auswertung je Plattformpfad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11631168" y="64739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| Termin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Pflichtplattformen und Messstack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lokal für Entwicklung und Gegenprüfung; Barnard für homogene AVX-512-Läufe.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67512" y="1545336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Lokales Hybrid-System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1801368"/>
            <a:ext cx="2734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Intel Core i7-1270P (Nutzergerät)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P- und E-Cores separat messen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Scalar + AVX2 als Pflichtpfade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Entwicklung, Mikrobenchmarks, frühe Fehlersuche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F0FDFA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67512" y="3831336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ZIH Barnard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4087368"/>
            <a:ext cx="2734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2× Xeon Platinum 8470 pro Node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Sapphire Rapids, AVX-512-fähig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Slurm-Batchläufe auf homogenen Serverkernen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Referenzplattform für skalierende CPU-Messungen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251960" y="2331720"/>
            <a:ext cx="6309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251960" y="4617720"/>
            <a:ext cx="6309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155448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233672" y="1819656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33672" y="2075688"/>
            <a:ext cx="1225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Scalar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AVX2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AVX-512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715000" y="1691640"/>
            <a:ext cx="173736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879592" y="181965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Pinning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79592" y="2075688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Single P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Single 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All-P / All-E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799832" y="1819656"/>
            <a:ext cx="1453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perf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99832" y="2075688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cycles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branches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LLC / dTLB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9601200" y="169164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765792" y="1819656"/>
            <a:ext cx="1453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Advisor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65792" y="2075688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MAP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CLU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Footprint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4069080" y="3977640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233672" y="410565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Hybrid-Regel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33672" y="4361688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cpu_core/* und cpu_atom/* getrennt; keine vermischten Event-Gruppen.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6355080" y="3977640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519672" y="410565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Output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19672" y="4361688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Roh-CSV/JSON je Lauf + HDR-Histogramm pro Konfiguration.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8641080" y="3977640"/>
            <a:ext cx="2743200" cy="1261872"/>
          </a:xfrm>
          <a:prstGeom prst="roundRect">
            <a:avLst>
              <a:gd name="adj" fmla="val 5797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8805672" y="41056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Zielgröße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805672" y="4361688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Durchsatz, p50/p95/p99, Miss-Raten und Cache-Line-Utilization nebeneinander statt zu einem Mischwert verrechnet.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4114800" y="5715000"/>
            <a:ext cx="7315200" cy="347472"/>
          </a:xfrm>
          <a:prstGeom prst="roundRect">
            <a:avLst>
              <a:gd name="adj" fmla="val 21053"/>
            </a:avLst>
          </a:prstGeom>
          <a:solidFill>
            <a:srgbClr val="F0FDF4"/>
          </a:solidFill>
          <a:ln>
            <a:solidFill>
              <a:srgbClr val="F0FDF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A34A"/>
                </a:solidFill>
              </a:rPr>
              <a:t>Messpolitik: gleiche Datensätze + gleiche Workloads + gleiche ISA-Kennzeichnung + getrennte PMUs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11631168" y="64739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| Termin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Pflichtdaten und Workload-Familien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 sechs CoCo-trie-Datensätze bleiben im Kernportfolio; Workloads werden getrennt nach Ursache und Mischlast betrachtet.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Datensätze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13232" y="181965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url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07568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lange Keys, lange gemeinsame Präfixe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0FDFA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770632" y="181965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dna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70632" y="207568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kleines Alphabet, extreme Wiederholung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13232" y="273405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tpcds-id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299008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datenbanknahe IDs, geordnete Schlüsselräume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6060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0FDFA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2770632" y="273405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trec-terms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70632" y="299008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Such-/Term-Wörterbücher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13232" y="364845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protein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" y="390448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biologische Sequenzen, kleines Alphabet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5204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0FDFA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770632" y="364845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xml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70632" y="390448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strukturierte Strings mit Präfixmustern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Reproduzierbarer Datenpfad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303520"/>
            <a:ext cx="3657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94360" y="498348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58952" y="5204418"/>
            <a:ext cx="658368" cy="28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Quelle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1645920" y="498348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761332" y="5116072"/>
            <a:ext cx="722376" cy="21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 err="1">
                <a:solidFill>
                  <a:srgbClr val="1F2937"/>
                </a:solidFill>
              </a:rPr>
              <a:t>Prüf-summe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2697480" y="498348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2811780" y="5166360"/>
            <a:ext cx="658368" cy="35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Byte-Key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3749040" y="498348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885211" y="5166360"/>
            <a:ext cx="704088" cy="32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Harness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4892040" y="13716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Workload-Blöcke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46320" y="169164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5010912" y="181965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Microbenchmarks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10912" y="20756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Exact hit/miss, Prefix hit/miss, Prefix enumeration, Build, Insert, Update, Delete</a:t>
            </a:r>
            <a:endParaRPr lang="en-US" sz="1230" dirty="0"/>
          </a:p>
        </p:txBody>
      </p:sp>
      <p:sp>
        <p:nvSpPr>
          <p:cNvPr id="39" name="Shape 37"/>
          <p:cNvSpPr/>
          <p:nvPr/>
        </p:nvSpPr>
        <p:spPr>
          <a:xfrm>
            <a:off x="4846320" y="27889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5010912" y="291693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YCSB-inspirierte Mischlasten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10912" y="3172968"/>
            <a:ext cx="2825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A–F als Semantikvorlage: read-only, read-mostly, latest, short ranges, RMW</a:t>
            </a:r>
            <a:endParaRPr lang="en-US" sz="1230" dirty="0"/>
          </a:p>
        </p:txBody>
      </p:sp>
      <p:sp>
        <p:nvSpPr>
          <p:cNvPr id="42" name="Shape 40"/>
          <p:cNvSpPr/>
          <p:nvPr/>
        </p:nvSpPr>
        <p:spPr>
          <a:xfrm>
            <a:off x="4846320" y="384048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5010912" y="396849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Ordnungsmodi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010912" y="4224528"/>
            <a:ext cx="2825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unsortiert | lokal geordnet | lexikographisch</a:t>
            </a:r>
            <a:endParaRPr lang="en-US" sz="1230" dirty="0"/>
          </a:p>
        </p:txBody>
      </p:sp>
      <p:sp>
        <p:nvSpPr>
          <p:cNvPr id="45" name="Shape 43"/>
          <p:cNvSpPr/>
          <p:nvPr/>
        </p:nvSpPr>
        <p:spPr>
          <a:xfrm>
            <a:off x="4846320" y="489204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5010912" y="5020056"/>
            <a:ext cx="2825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Value-Modi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10912" y="5276088"/>
            <a:ext cx="2825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inline | external handle  •  Umschaltpunkt als eigene Messachse</a:t>
            </a:r>
            <a:endParaRPr lang="en-US" sz="1230" dirty="0"/>
          </a:p>
        </p:txBody>
      </p:sp>
      <p:sp>
        <p:nvSpPr>
          <p:cNvPr id="48" name="Shape 46"/>
          <p:cNvSpPr/>
          <p:nvPr/>
        </p:nvSpPr>
        <p:spPr>
          <a:xfrm>
            <a:off x="8366760" y="1691640"/>
            <a:ext cx="3291840" cy="4069080"/>
          </a:xfrm>
          <a:prstGeom prst="roundRect">
            <a:avLst>
              <a:gd name="adj" fmla="val 2222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8531352" y="1819656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Wiederholungsregel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531352" y="2075688"/>
            <a:ext cx="2962656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5 Läufe je Konfiguration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Rohwerte bleiben getrennt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HDR-Histogramme statt arithmetischer Mittel für Perzentile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Erweiterungspool (z. B. enwiki-titles, aol-queries, uk-2002, webbase-2001) nur nachgelagert</a:t>
            </a:r>
            <a:endParaRPr lang="en-US" sz="1230" dirty="0"/>
          </a:p>
        </p:txBody>
      </p:sp>
      <p:sp>
        <p:nvSpPr>
          <p:cNvPr id="51" name="Text 49"/>
          <p:cNvSpPr/>
          <p:nvPr/>
        </p:nvSpPr>
        <p:spPr>
          <a:xfrm>
            <a:off x="11631168" y="64739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| Termin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Baselines, Fairness und Permutationskorridor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wird selbst implementiert; Fremdalgorithmen kommen über Wrapper auf bestehende Referenzimplementierungen in denselben Harness.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Pflicht-Wrappers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>
            <a:solidFill>
              <a:srgbClr val="D1D5DB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190" b="1" dirty="0">
                <a:solidFill>
                  <a:srgbClr val="2563EB"/>
                </a:solidFill>
              </a:rPr>
              <a:t>PRT-ART</a:t>
            </a:r>
            <a:r>
              <a:rPr lang="en-US" sz="1190" dirty="0">
                <a:solidFill>
                  <a:srgbClr val="1F2937"/>
                </a:solidFill>
              </a:rPr>
              <a:t>  eigene C++23-Implementierung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190" b="1" dirty="0">
                <a:solidFill>
                  <a:srgbClr val="0F172A"/>
                </a:solidFill>
              </a:rPr>
              <a:t>ART</a:t>
            </a:r>
            <a:r>
              <a:rPr lang="en-US" sz="1190" dirty="0">
                <a:solidFill>
                  <a:srgbClr val="1F2937"/>
                </a:solidFill>
              </a:rPr>
              <a:t>  libart / optional UnoDB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548640" y="2825496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190" b="1" dirty="0">
                <a:solidFill>
                  <a:srgbClr val="0F172A"/>
                </a:solidFill>
              </a:rPr>
              <a:t>HOT</a:t>
            </a:r>
            <a:r>
              <a:rPr lang="en-US" sz="1190" dirty="0">
                <a:solidFill>
                  <a:srgbClr val="1F2937"/>
                </a:solidFill>
              </a:rPr>
              <a:t>  speedskater/hot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548640" y="3392424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190" b="1" dirty="0">
                <a:solidFill>
                  <a:srgbClr val="0F172A"/>
                </a:solidFill>
              </a:rPr>
              <a:t>Masstree</a:t>
            </a:r>
            <a:r>
              <a:rPr lang="en-US" sz="1190" dirty="0">
                <a:solidFill>
                  <a:srgbClr val="1F2937"/>
                </a:solidFill>
              </a:rPr>
              <a:t>  masstree-beta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190" b="1" dirty="0">
                <a:solidFill>
                  <a:srgbClr val="0F172A"/>
                </a:solidFill>
              </a:rPr>
              <a:t>B+-Baum</a:t>
            </a:r>
            <a:r>
              <a:rPr lang="en-US" sz="1190" dirty="0">
                <a:solidFill>
                  <a:srgbClr val="1F2937"/>
                </a:solidFill>
              </a:rPr>
              <a:t>  leichter Referenzpfad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190" b="1" dirty="0">
                <a:solidFill>
                  <a:srgbClr val="0F172A"/>
                </a:solidFill>
              </a:rPr>
              <a:t>Hash</a:t>
            </a:r>
            <a:r>
              <a:rPr lang="en-US" sz="1190" dirty="0">
                <a:solidFill>
                  <a:srgbClr val="1F2937"/>
                </a:solidFill>
              </a:rPr>
              <a:t>  absl::flat_hash_map / node_hash_map</a:t>
            </a:r>
            <a:endParaRPr lang="en-US" sz="119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Direkte Literatur-Nachbarn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5650992"/>
            <a:ext cx="868680" cy="301752"/>
          </a:xfrm>
          <a:prstGeom prst="roundRect">
            <a:avLst>
              <a:gd name="adj" fmla="val 24242"/>
            </a:avLst>
          </a:prstGeom>
          <a:solidFill>
            <a:srgbClr val="F3F4F6"/>
          </a:solidFill>
          <a:ln>
            <a:solidFill>
              <a:srgbClr val="F3F4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START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527048" y="5650992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F3F4F6"/>
          </a:solidFill>
          <a:ln>
            <a:solidFill>
              <a:srgbClr val="F3F4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CSS-tree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532888" y="5650992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F3F4F6"/>
          </a:solidFill>
          <a:ln>
            <a:solidFill>
              <a:srgbClr val="F3F4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CSB+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538728" y="5650992"/>
            <a:ext cx="822960" cy="301752"/>
          </a:xfrm>
          <a:prstGeom prst="roundRect">
            <a:avLst>
              <a:gd name="adj" fmla="val 24242"/>
            </a:avLst>
          </a:prstGeom>
          <a:solidFill>
            <a:srgbClr val="F3F4F6"/>
          </a:solidFill>
          <a:ln>
            <a:solidFill>
              <a:srgbClr val="F3F4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B²-tree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66928" y="6016752"/>
            <a:ext cx="1005840" cy="301752"/>
          </a:xfrm>
          <a:prstGeom prst="roundRect">
            <a:avLst>
              <a:gd name="adj" fmla="val 24242"/>
            </a:avLst>
          </a:prstGeom>
          <a:solidFill>
            <a:srgbClr val="F3F4F6"/>
          </a:solidFill>
          <a:ln>
            <a:solidFill>
              <a:srgbClr val="F3F4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CoCo-trie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3063240" cy="2788920"/>
          </a:xfrm>
          <a:prstGeom prst="roundRect">
            <a:avLst>
              <a:gd name="adj" fmla="val 2623"/>
            </a:avLst>
          </a:prstGeom>
          <a:solidFill>
            <a:srgbClr val="F0FDFA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28032" y="1728216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8"/>
                </a:solidFill>
              </a:rPr>
              <a:t>Fairnessregeln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28032" y="1984248"/>
            <a:ext cx="273405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Wrapper statt Re-Implementierung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gleiche Datensätze und gleiche Workloads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N/A statt künstlicher Emulation nicht unterstützter Operationen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Common-Denominator-Modus und PRT-ART-Native-Modus getrennt berichten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8046720" y="16002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8211312" y="1728216"/>
            <a:ext cx="3282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Permutationsachse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11312" y="1984248"/>
            <a:ext cx="328269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Plattform × ISA × Ordnungsmodus × Value-Modus × Workload × Datensatz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Die Matrix darf groß sein, wird aber in Kern- und Erweiterungskorridor getrennt ausgewiesen.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4937760" y="5669280"/>
            <a:ext cx="6309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956048" y="54681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92040" y="587044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</a:rPr>
              <a:t>PL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07608" y="54681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943600" y="587044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</a:rPr>
              <a:t>ISA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59168" y="5468112"/>
            <a:ext cx="384048" cy="384048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995160" y="587044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</a:rPr>
              <a:t>ORD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10728" y="5468112"/>
            <a:ext cx="384048" cy="384048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8046720" y="587044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</a:rPr>
              <a:t>VAL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62288" y="54681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9098280" y="587044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</a:rPr>
              <a:t>WL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213848" y="54681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10149840" y="587044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</a:rPr>
              <a:t>DS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631168" y="64739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PRT-ART | Termin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Termin 3 jetzt festzieht – und was Termin 4 einfrieren muss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3 beantwortet nicht mehr, wie PRT-ART gebaut wird, sondern wie PRT-ART reproduzierbar gemessen wird.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5111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Termin 3 ist fest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12140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22960" y="213055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16152" y="20848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 dirty="0">
                <a:solidFill>
                  <a:srgbClr val="0F172A"/>
                </a:solidFill>
              </a:rPr>
              <a:t>zwei Pflichtplattformen: lokal hybrid + Barnard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22960" y="2660904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16152" y="26151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 dirty="0">
                <a:solidFill>
                  <a:srgbClr val="0F172A"/>
                </a:solidFill>
              </a:rPr>
              <a:t>drei ISA-Pfade: Scalar, AVX2, AVX-512 (wenn verfügbar)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822960" y="318211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22960" y="3191256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6152" y="31455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 dirty="0">
                <a:solidFill>
                  <a:srgbClr val="0F172A"/>
                </a:solidFill>
              </a:rPr>
              <a:t>sechs Pflichtdatensätze aus CoCo-trie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822960" y="3712464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22960" y="372160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16152" y="36758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</a:rPr>
              <a:t>Pflicht-Wrappers für ART, HOT, Masstree, B+-Baum und Hash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822960" y="4242816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16152" y="42062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</a:rPr>
              <a:t>perf + Advisor als gemeinsamer Messstack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22960" y="477316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22960" y="478231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16152" y="47365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</a:rPr>
              <a:t>5 getrennte Wiederholungen und Histogramm-basierte Auswertung</a:t>
            </a:r>
            <a:endParaRPr lang="en-US" sz="1310" dirty="0"/>
          </a:p>
        </p:txBody>
      </p:sp>
      <p:sp>
        <p:nvSpPr>
          <p:cNvPr id="26" name="Shape 24"/>
          <p:cNvSpPr/>
          <p:nvPr/>
        </p:nvSpPr>
        <p:spPr>
          <a:xfrm>
            <a:off x="6263640" y="1554480"/>
            <a:ext cx="5376672" cy="4389120"/>
          </a:xfrm>
          <a:prstGeom prst="roundRect">
            <a:avLst>
              <a:gd name="adj" fmla="val 1667"/>
            </a:avLst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428232" y="1682496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Termin 4 muss noch einfrieren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10528" y="21214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510528" y="213055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03720" y="20756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F172A"/>
                </a:solidFill>
              </a:rPr>
              <a:t>welche Baselines neben dem Pflichtsatz wirklich build-stabil in den Messkorridor kommen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6510528" y="277977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510528" y="278892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273405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F172A"/>
                </a:solidFill>
              </a:rPr>
              <a:t>welche Permutationen zum Pflichtsatz gehören und welche nur in Nachtläufe wandern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6510528" y="343814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6510528" y="344728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33924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F172A"/>
                </a:solidFill>
              </a:rPr>
              <a:t>welche Overlay-/Fingerprint-Pfade methodisch fair genug für den Kernbenchmark sind</a:t>
            </a:r>
            <a:endParaRPr lang="en-US" sz="1260" dirty="0"/>
          </a:p>
        </p:txBody>
      </p:sp>
      <p:sp>
        <p:nvSpPr>
          <p:cNvPr id="37" name="Shape 35"/>
          <p:cNvSpPr/>
          <p:nvPr/>
        </p:nvSpPr>
        <p:spPr>
          <a:xfrm>
            <a:off x="6510528" y="409651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510528" y="4105656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03720" y="405079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F172A"/>
                </a:solidFill>
              </a:rPr>
              <a:t>welche Common-Denominator-Regeln für Inline-Values und Ordnungsmodi verbindlich werden</a:t>
            </a:r>
            <a:endParaRPr lang="en-US" sz="1260" dirty="0"/>
          </a:p>
        </p:txBody>
      </p:sp>
      <p:sp>
        <p:nvSpPr>
          <p:cNvPr id="40" name="Shape 38"/>
          <p:cNvSpPr/>
          <p:nvPr/>
        </p:nvSpPr>
        <p:spPr>
          <a:xfrm>
            <a:off x="6510528" y="475488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510528" y="4764024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03720" y="47091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F172A"/>
                </a:solidFill>
              </a:rPr>
              <a:t>welcher Minimalumfang die erste Diplomarbeitsphase </a:t>
            </a:r>
            <a:r>
              <a:rPr lang="en-US" sz="1260" dirty="0" err="1">
                <a:solidFill>
                  <a:srgbClr val="0F172A"/>
                </a:solidFill>
              </a:rPr>
              <a:t>tatsächlich</a:t>
            </a:r>
            <a:r>
              <a:rPr lang="en-US" sz="1260" dirty="0">
                <a:solidFill>
                  <a:srgbClr val="0F172A"/>
                </a:solidFill>
              </a:rPr>
              <a:t> </a:t>
            </a:r>
            <a:r>
              <a:rPr lang="en-US" sz="1260" dirty="0" err="1">
                <a:solidFill>
                  <a:srgbClr val="0F172A"/>
                </a:solidFill>
              </a:rPr>
              <a:t>trägt</a:t>
            </a:r>
            <a:r>
              <a:rPr lang="en-US" sz="1260" dirty="0">
                <a:solidFill>
                  <a:srgbClr val="0F172A"/>
                </a:solidFill>
              </a:rPr>
              <a:t> -&gt; </a:t>
            </a:r>
            <a:r>
              <a:rPr lang="en-US" sz="1260" dirty="0" err="1">
                <a:solidFill>
                  <a:srgbClr val="0F172A"/>
                </a:solidFill>
              </a:rPr>
              <a:t>Finalisierung</a:t>
            </a:r>
            <a:r>
              <a:rPr lang="en-US" sz="1260" dirty="0">
                <a:solidFill>
                  <a:srgbClr val="0F172A"/>
                </a:solidFill>
              </a:rPr>
              <a:t> des </a:t>
            </a:r>
            <a:r>
              <a:rPr lang="en-US" sz="1260" dirty="0" err="1">
                <a:solidFill>
                  <a:srgbClr val="0F172A"/>
                </a:solidFill>
              </a:rPr>
              <a:t>Arbeitsplans</a:t>
            </a:r>
            <a:endParaRPr lang="en-US" sz="1260" dirty="0"/>
          </a:p>
        </p:txBody>
      </p:sp>
      <p:sp>
        <p:nvSpPr>
          <p:cNvPr id="43" name="Text 41"/>
          <p:cNvSpPr/>
          <p:nvPr/>
        </p:nvSpPr>
        <p:spPr>
          <a:xfrm>
            <a:off x="2514600" y="6153912"/>
            <a:ext cx="7132320" cy="347472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Übergang zu Termin 4: Scope-Freeze + finale Forschungsfrage + verbindliche Pflichtmatrix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631168" y="647395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1462</Words>
  <Application>Microsoft Office PowerPoint</Application>
  <PresentationFormat>Breitbild</PresentationFormat>
  <Paragraphs>172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– Termin 3: Benchmark-, Datensatz- und Messplan</dc:title>
  <dc:subject>PRT-ART Termin 3</dc:subject>
  <dc:creator>OpenAI</dc:creator>
  <cp:lastModifiedBy>Benjamin-Elias Probst</cp:lastModifiedBy>
  <cp:revision>4</cp:revision>
  <dcterms:created xsi:type="dcterms:W3CDTF">2026-04-09T02:55:13Z</dcterms:created>
  <dcterms:modified xsi:type="dcterms:W3CDTF">2026-04-09T06:42:02Z</dcterms:modified>
</cp:coreProperties>
</file>